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88" r:id="rId3"/>
    <p:sldId id="257" r:id="rId4"/>
    <p:sldId id="261" r:id="rId5"/>
    <p:sldId id="289" r:id="rId6"/>
    <p:sldId id="290" r:id="rId7"/>
    <p:sldId id="291" r:id="rId8"/>
    <p:sldId id="265" r:id="rId9"/>
    <p:sldId id="269" r:id="rId10"/>
    <p:sldId id="273" r:id="rId11"/>
    <p:sldId id="284" r:id="rId12"/>
    <p:sldId id="292" r:id="rId13"/>
    <p:sldId id="293" r:id="rId14"/>
    <p:sldId id="296" r:id="rId15"/>
    <p:sldId id="29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C22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872" autoAdjust="0"/>
  </p:normalViewPr>
  <p:slideViewPr>
    <p:cSldViewPr snapToGrid="0">
      <p:cViewPr varScale="1">
        <p:scale>
          <a:sx n="86" d="100"/>
          <a:sy n="86" d="100"/>
        </p:scale>
        <p:origin x="14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ED7F9-DB58-4FC3-85F3-7920AF3E9D42}" type="datetimeFigureOut">
              <a:rPr lang="fr-FR" smtClean="0"/>
              <a:t>21/05/2026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F9080-C9D5-43B2-99BC-07807BB32E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0046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F9080-C9D5-43B2-99BC-07807BB32E5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7607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Afin d’aider nos modèles a reconnaitre les vrais et les faux billets, nous avons crée d’autres variables à partir de celles que nous avions.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F9080-C9D5-43B2-99BC-07807BB32E59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9587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7776D-2872-FCC2-8159-C8513EF5A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041B3C7-AF2F-E533-AE1C-9A04C8DD9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9924B36-DABD-C0BF-8125-838E8DCDC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19292A-BA4B-D78E-DD0D-4DBFC9E55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F9080-C9D5-43B2-99BC-07807BB32E59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2558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6DF88-269F-32AF-16E8-0B5AF89FA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2A5BF6B-51F0-F6C6-18A6-C91417975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AA50C01-D3EB-4B9D-C176-0DFBA250D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88B5BF-53D5-8172-30F8-9FC4C9D93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F9080-C9D5-43B2-99BC-07807BB32E59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2011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75F11-A438-6054-1007-E94FF1D00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8F9F4AB-EAF4-B348-79DC-B2FAC4D34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7A077DA-9F57-E08D-D5D4-F9BAB52DA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F3372D-688D-059D-4FB3-9CA3DD78D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F9080-C9D5-43B2-99BC-07807BB32E59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3723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J’ai choisi ici les variables qui permettent le plus de différencier les vrais des faux billets</a:t>
            </a:r>
          </a:p>
          <a:p>
            <a:r>
              <a:rPr lang="fr-FR" dirty="0"/>
              <a:t>On voit que les vrais billets ont une dispersion beaucoup plus faible que les faux billets ce qui est logique car ils sont produits avec plus de précision.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F9080-C9D5-43B2-99BC-07807BB32E5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1299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ici utilisé la technique de l’écart interquartile IQR</a:t>
            </a:r>
          </a:p>
          <a:p>
            <a:r>
              <a:rPr lang="fr-FR" dirty="0"/>
              <a:t>Les </a:t>
            </a:r>
            <a:r>
              <a:rPr lang="fr-FR" dirty="0" err="1"/>
              <a:t>outliers</a:t>
            </a:r>
            <a:r>
              <a:rPr lang="fr-FR" dirty="0"/>
              <a:t> représentent les données qui dépassent d'une fois et demie la largeur de la "boîte central" du jeu de données, calculée entre le premier quartile (Q1) et le troisième quartile (Q3)</a:t>
            </a:r>
          </a:p>
          <a:p>
            <a:endParaRPr lang="fr-FR" dirty="0"/>
          </a:p>
          <a:p>
            <a:r>
              <a:rPr lang="fr-FR" dirty="0"/>
              <a:t>On voit ici clairement qu’en utilisant seulement les </a:t>
            </a:r>
            <a:r>
              <a:rPr lang="fr-FR" dirty="0" err="1"/>
              <a:t>outliers</a:t>
            </a:r>
            <a:r>
              <a:rPr lang="fr-FR" dirty="0"/>
              <a:t> on ne peut pas vraiment différencier les vrais des faux billets.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F9080-C9D5-43B2-99BC-07807BB32E59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7283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matrice montre que la fraude est fortement corrélée à la longueur (</a:t>
            </a:r>
            <a:r>
              <a:rPr lang="fr-FR" dirty="0" err="1"/>
              <a:t>lenght</a:t>
            </a:r>
            <a:r>
              <a:rPr lang="fr-FR" dirty="0"/>
              <a:t>) et à la somme des marges(</a:t>
            </a:r>
            <a:r>
              <a:rPr lang="fr-FR" dirty="0" err="1"/>
              <a:t>sum_margin</a:t>
            </a:r>
            <a:r>
              <a:rPr lang="fr-FR" dirty="0"/>
              <a:t>). On note aussi que certaines variables que j'ai créées sont des indicateurs plus puissants que les mesures d'origine (</a:t>
            </a:r>
            <a:r>
              <a:rPr lang="fr-FR" dirty="0" err="1"/>
              <a:t>sum_margin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/>
              <a:t>Plus le billet est court et plus ses marges totales sont grandes, plus il a de chances d'être faux.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F9080-C9D5-43B2-99BC-07807BB32E59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484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07DF6-655D-F71B-9EA2-CB4EB0F55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B20FB48-80CE-C34A-8C48-BDB25DE09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0E647D0-3A4B-D292-66F8-C5A6686DA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Juste avant la modélisation nous avons réalisé le split train/test et la normalisation des données de train</a:t>
            </a:r>
          </a:p>
          <a:p>
            <a:r>
              <a:rPr lang="fr-FR" dirty="0"/>
              <a:t>On ne fait pas </a:t>
            </a:r>
            <a:r>
              <a:rPr lang="fr-FR"/>
              <a:t>le fit des </a:t>
            </a:r>
            <a:r>
              <a:rPr lang="fr-FR" dirty="0"/>
              <a:t>données test afin de ne pas biaiser nos données</a:t>
            </a:r>
          </a:p>
          <a:p>
            <a:endParaRPr lang="fr-FR" dirty="0"/>
          </a:p>
          <a:p>
            <a:r>
              <a:rPr lang="fr-FR" dirty="0"/>
              <a:t>Rappel : </a:t>
            </a:r>
          </a:p>
          <a:p>
            <a:r>
              <a:rPr lang="fr-FR" dirty="0" err="1"/>
              <a:t>Precision</a:t>
            </a:r>
            <a:r>
              <a:rPr lang="fr-FR" dirty="0"/>
              <a:t> → “Quand il dit faux, a-t-il raison ?”</a:t>
            </a:r>
          </a:p>
          <a:p>
            <a:r>
              <a:rPr lang="fr-FR" dirty="0" err="1"/>
              <a:t>Recall</a:t>
            </a:r>
            <a:r>
              <a:rPr lang="fr-FR" dirty="0"/>
              <a:t> → “Rate-t-il des faux billets ?” 108/(108+2)</a:t>
            </a:r>
          </a:p>
          <a:p>
            <a:r>
              <a:rPr lang="fr-FR" dirty="0"/>
              <a:t>F1-score = “équilibre général entre les deux”</a:t>
            </a:r>
          </a:p>
          <a:p>
            <a:r>
              <a:rPr lang="fr-FR" dirty="0" err="1"/>
              <a:t>Accuracy</a:t>
            </a:r>
            <a:r>
              <a:rPr lang="fr-FR" dirty="0"/>
              <a:t> → “à quel pourcentage le modèle a raison globalement ?” = Nb total de prédictions correctes sur total</a:t>
            </a:r>
          </a:p>
          <a:p>
            <a:r>
              <a:rPr lang="fr-FR" dirty="0"/>
              <a:t>macro </a:t>
            </a:r>
            <a:r>
              <a:rPr lang="fr-FR" dirty="0" err="1"/>
              <a:t>avg</a:t>
            </a:r>
            <a:r>
              <a:rPr lang="fr-FR" dirty="0"/>
              <a:t> → Moyenne de score de la colonne</a:t>
            </a:r>
          </a:p>
          <a:p>
            <a:r>
              <a:rPr lang="fr-FR" dirty="0" err="1"/>
              <a:t>Weighted</a:t>
            </a:r>
            <a:r>
              <a:rPr lang="fr-FR" dirty="0"/>
              <a:t> </a:t>
            </a:r>
            <a:r>
              <a:rPr lang="fr-FR" dirty="0" err="1"/>
              <a:t>avg</a:t>
            </a:r>
            <a:r>
              <a:rPr lang="fr-FR" dirty="0"/>
              <a:t> → les grandes classes comptent plus</a:t>
            </a:r>
          </a:p>
          <a:p>
            <a:r>
              <a:rPr lang="fr-FR" dirty="0"/>
              <a:t>ROC - AUC → La capacité du modèle à séparer les vrais billets des faux billets (proche de 1 = mieux)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EBB83B-0D9D-7624-9033-8BDA81707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F9080-C9D5-43B2-99BC-07807BB32E59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2882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52640-E516-A948-BDB5-8B4B98E3D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9C54111-E53C-0109-97A1-49134DE8F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B36092F-E8D5-3CB7-73C0-30E473285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Même chose ici que précédemment, le modèle KNN est également très performant, mais il laisse passer un peu plus de faux billets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FF3331-0777-7498-FE9D-0D8AE45D6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F9080-C9D5-43B2-99BC-07807BB32E59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8647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4204F-E0C1-18D0-ADE3-46325939F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69F9FD3-0964-35F8-A59C-491208E9B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E8F0134-B2B3-9F3E-B92C-DD4BFB3EE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Même chose ici que précédemment, le modèle Random </a:t>
            </a:r>
            <a:r>
              <a:rPr lang="fr-FR" dirty="0" err="1"/>
              <a:t>forest</a:t>
            </a:r>
            <a:r>
              <a:rPr lang="fr-FR" dirty="0"/>
              <a:t> est également très performant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AD0E09-C906-0FDE-529F-0D47D112F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F9080-C9D5-43B2-99BC-07807BB32E59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3907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AEF97-6F10-C5E7-2EE3-4DAE6AC1A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172C02F-E8FE-4150-03F5-58ECC1037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66A62C5-FD97-ECCE-0148-75E868CE6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Même chose ici que précédemment, le modèle k-</a:t>
            </a:r>
            <a:r>
              <a:rPr lang="fr-FR" dirty="0" err="1"/>
              <a:t>means</a:t>
            </a:r>
            <a:r>
              <a:rPr lang="fr-FR" dirty="0"/>
              <a:t> est bon pour différencier les clusters de vrais et faux billets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 K-Means est un algorithme non supervisé : il ne connaît pas les vrais/faux billets à l’avance. Il cherche uniquement à regrouper les billets ayant des caractéristiques similaires</a:t>
            </a:r>
          </a:p>
          <a:p>
            <a:endParaRPr lang="fr-FR" dirty="0"/>
          </a:p>
          <a:p>
            <a:r>
              <a:rPr lang="fr-FR" dirty="0"/>
              <a:t>On a transformé </a:t>
            </a:r>
            <a:r>
              <a:rPr lang="fr-FR" dirty="0" err="1"/>
              <a:t>y_train</a:t>
            </a:r>
            <a:r>
              <a:rPr lang="fr-FR" dirty="0"/>
              <a:t> en </a:t>
            </a:r>
            <a:r>
              <a:rPr lang="fr-FR" dirty="0" err="1"/>
              <a:t>dataframe</a:t>
            </a:r>
            <a:r>
              <a:rPr lang="fr-FR" dirty="0"/>
              <a:t>, on a ensuite ajouté une colonne cluster qui contient les labels (0 ou 1) du modèle, ça nous a permis de savoir quel cluster correspondait aux vrai et aux faux billets.</a:t>
            </a:r>
          </a:p>
          <a:p>
            <a:r>
              <a:rPr lang="fr-FR" dirty="0"/>
              <a:t>On a ensuite attribué la bonne catégorie afin que les faux soient bien 1 et les vrai 0.</a:t>
            </a:r>
          </a:p>
          <a:p>
            <a:endParaRPr lang="fr-FR" dirty="0"/>
          </a:p>
          <a:p>
            <a:r>
              <a:rPr lang="fr-FR" dirty="0"/>
              <a:t>Ce graphique montre que la séparation entre les vrais et les faux billets est naturelle et nette. Le K-Means a identifié deux groupes homogènes en se basant uniquement sur la géométrie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DB26D6-B58B-B62C-65B6-E8D07A55A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F9080-C9D5-43B2-99BC-07807BB32E59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9258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FD7B-6E6F-D215-C1DB-CCB64E85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91DBCAD-ADFB-4250-B4DC-AB4B0CE8E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60FDDAF-91E2-90B0-690E-21BCFE4DB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Au vu des résultats obtenus par les différents modèles, nous avons choisis de sélectionner la régression logistique car c’est celui qui, à peu de choses près, différencie le mieux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9DB668-7B89-73C1-BD69-32D9161B7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F9080-C9D5-43B2-99BC-07807BB32E59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367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51CF4-3D53-488E-A8FC-96A20B099891}" type="datetime1">
              <a:rPr lang="fr-FR" smtClean="0"/>
              <a:t>21/05/2026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4391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5B31-5D12-4E75-A638-22B4AE1DF379}" type="datetime1">
              <a:rPr lang="fr-FR" smtClean="0"/>
              <a:t>21/05/2026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3942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17F4-85D9-4089-83FD-2E57E03511B5}" type="datetime1">
              <a:rPr lang="fr-FR" smtClean="0"/>
              <a:t>21/05/2026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0786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52B95-A677-4297-8341-3F1C27EECFCC}" type="datetime1">
              <a:rPr lang="fr-FR" smtClean="0"/>
              <a:t>21/05/2026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7922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542C9-EC51-4433-A309-41F481A4620D}" type="datetime1">
              <a:rPr lang="fr-FR" smtClean="0"/>
              <a:t>21/05/2026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1231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82C5E-C9AD-4EFC-8AA5-37D57B2AFF0A}" type="datetime1">
              <a:rPr lang="fr-FR" smtClean="0"/>
              <a:t>21/05/2026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72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E0A9F-771D-41BB-845F-6A7A17149F2E}" type="datetime1">
              <a:rPr lang="fr-FR" smtClean="0"/>
              <a:t>21/05/2026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3408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E697-865D-4913-BADC-D59112AC3370}" type="datetime1">
              <a:rPr lang="fr-FR" smtClean="0"/>
              <a:t>21/05/2026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406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6D308-A8D1-4E43-AE02-3FD0B46120BA}" type="datetime1">
              <a:rPr lang="fr-FR" smtClean="0"/>
              <a:t>21/05/2026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74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9E17D-9BFB-4E93-A5AE-B888EB4123E5}" type="datetime1">
              <a:rPr lang="fr-FR" smtClean="0"/>
              <a:t>21/05/2026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688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42BF-A910-4370-A223-15F585F6BD1A}" type="datetime1">
              <a:rPr lang="fr-FR" smtClean="0"/>
              <a:t>21/05/2026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6075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B5A76-B2C4-407B-92BF-30ED1F10452A}" type="datetime1">
              <a:rPr lang="fr-FR" smtClean="0"/>
              <a:t>21/05/2026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030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0A141-1CF7-443F-8F5C-1D83224500BD}" type="datetime1">
              <a:rPr lang="fr-FR" smtClean="0"/>
              <a:t>21/05/2026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8342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6A9EA-DCB7-45E0-BA70-73834A89D0AD}" type="datetime1">
              <a:rPr lang="fr-FR" smtClean="0"/>
              <a:t>21/05/2026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81236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60F9-1F62-47CE-9C3B-5283303AD28E}" type="datetime1">
              <a:rPr lang="fr-FR" smtClean="0"/>
              <a:t>21/05/2026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838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AF8B0-E792-4062-A8DE-05C24F86445D}" type="datetime1">
              <a:rPr lang="fr-FR" smtClean="0"/>
              <a:t>21/05/2026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439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A3D545-5CB1-4CF7-A90B-7C054B62EEB6}" type="datetime1">
              <a:rPr lang="fr-FR" smtClean="0"/>
              <a:t>21/05/2026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EB8DB5B-EED4-4E84-94B6-873B46059C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704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96F221-0093-FCB8-9841-AFF7D7008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3888" y="2605849"/>
            <a:ext cx="7766936" cy="1646302"/>
          </a:xfrm>
        </p:spPr>
        <p:txBody>
          <a:bodyPr/>
          <a:lstStyle/>
          <a:p>
            <a:pPr algn="ctr"/>
            <a:r>
              <a:rPr lang="fr-FR" dirty="0"/>
              <a:t>Détection de faux billets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AF6F031-64C0-DF53-FCE9-E3A8B6294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0824" y="6390526"/>
            <a:ext cx="2911175" cy="467474"/>
          </a:xfrm>
        </p:spPr>
        <p:txBody>
          <a:bodyPr/>
          <a:lstStyle/>
          <a:p>
            <a:pPr algn="ctr"/>
            <a:r>
              <a:rPr lang="fr-FR" dirty="0"/>
              <a:t>Evan Fol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B5A92D-75F8-9E28-5D81-D229BE204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534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D3C8A-57CF-0F42-FA61-316A3CF21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427186-7B0A-A9FB-F538-B1CFA6BDD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Table de départ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250DE6-4C28-F86C-5E8D-441A7B505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251" y="1582520"/>
            <a:ext cx="8975291" cy="4823967"/>
          </a:xfrm>
        </p:spPr>
        <p:txBody>
          <a:bodyPr>
            <a:normAutofit/>
          </a:bodyPr>
          <a:lstStyle/>
          <a:p>
            <a:r>
              <a:rPr lang="fr-FR" dirty="0"/>
              <a:t>Billets</a:t>
            </a:r>
          </a:p>
          <a:p>
            <a:pPr lvl="1"/>
            <a:r>
              <a:rPr lang="fr-FR" dirty="0"/>
              <a:t>Composition</a:t>
            </a:r>
          </a:p>
          <a:p>
            <a:pPr lvl="2"/>
            <a:r>
              <a:rPr lang="fr-FR" dirty="0"/>
              <a:t>7 Colonnes et 1500 lignes (1 ligne par billet)</a:t>
            </a:r>
          </a:p>
          <a:p>
            <a:pPr lvl="3"/>
            <a:r>
              <a:rPr lang="fr-FR" dirty="0"/>
              <a:t>Y (la valeur cible) est représentée par </a:t>
            </a:r>
            <a:r>
              <a:rPr lang="fr-FR" dirty="0" err="1"/>
              <a:t>is_genuine</a:t>
            </a:r>
            <a:r>
              <a:rPr lang="fr-FR" dirty="0"/>
              <a:t> (Vrai / Faux)</a:t>
            </a:r>
          </a:p>
          <a:p>
            <a:pPr lvl="3"/>
            <a:r>
              <a:rPr lang="fr-FR" dirty="0"/>
              <a:t>X (les valeurs prédictives) = Diagonale, taille à gauche et à droite, marge supérieure et inférieure et longueur (toutes les mesures sont en mm)</a:t>
            </a:r>
          </a:p>
          <a:p>
            <a:pPr lvl="2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CDE686-56A3-3047-AE08-036ED66A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2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771A93E-4517-9D50-6E81-507A21D684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54163"/>
          <a:stretch>
            <a:fillRect/>
          </a:stretch>
        </p:blipFill>
        <p:spPr>
          <a:xfrm>
            <a:off x="2018181" y="3914544"/>
            <a:ext cx="6125430" cy="202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A7B392-46BD-455C-B911-EE86D3C7E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Table de départ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15A69C-33B2-AC26-E06B-762BE657D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251" y="1582520"/>
            <a:ext cx="8975291" cy="4823967"/>
          </a:xfrm>
        </p:spPr>
        <p:txBody>
          <a:bodyPr>
            <a:normAutofit/>
          </a:bodyPr>
          <a:lstStyle/>
          <a:p>
            <a:r>
              <a:rPr lang="fr-FR" dirty="0"/>
              <a:t>Billets</a:t>
            </a:r>
          </a:p>
          <a:p>
            <a:pPr lvl="1"/>
            <a:r>
              <a:rPr lang="fr-FR" dirty="0"/>
              <a:t>Traitements</a:t>
            </a:r>
          </a:p>
          <a:p>
            <a:pPr lvl="2"/>
            <a:r>
              <a:rPr lang="fr-FR" dirty="0"/>
              <a:t>On a renommé </a:t>
            </a:r>
            <a:r>
              <a:rPr lang="fr-FR" dirty="0" err="1"/>
              <a:t>is_genuine</a:t>
            </a:r>
            <a:r>
              <a:rPr lang="fr-FR" dirty="0"/>
              <a:t> par </a:t>
            </a:r>
            <a:r>
              <a:rPr lang="fr-FR" dirty="0" err="1"/>
              <a:t>counterfeit</a:t>
            </a:r>
            <a:r>
              <a:rPr lang="fr-FR" dirty="0"/>
              <a:t> (contrefaçon) dans le but de simplifier l’analyse par la suite au niveau des matrices de confusions notamment</a:t>
            </a:r>
          </a:p>
          <a:p>
            <a:pPr lvl="2"/>
            <a:r>
              <a:rPr lang="fr-FR" dirty="0"/>
              <a:t>True = 0 et False = 1 (les vrais billets deviennent 0 et les faux 1)</a:t>
            </a:r>
          </a:p>
          <a:p>
            <a:pPr lvl="2"/>
            <a:r>
              <a:rPr lang="fr-FR" dirty="0"/>
              <a:t>Remplacement des valeurs vides de </a:t>
            </a:r>
            <a:r>
              <a:rPr lang="fr-FR" dirty="0" err="1"/>
              <a:t>margin_low</a:t>
            </a:r>
            <a:r>
              <a:rPr lang="fr-FR" dirty="0"/>
              <a:t> par  la moyenne afin de ne pas avoir d’erreurs par la suite</a:t>
            </a:r>
          </a:p>
          <a:p>
            <a:pPr lvl="2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C2B6FC-9466-5D82-31D7-2FB9A0BD7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3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27D199B-37F8-D3AD-82D4-A6E94DE0C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4232179"/>
            <a:ext cx="2400635" cy="168616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9F33BAC-0A0C-091D-4F46-5B8C23F83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899" y="4527495"/>
            <a:ext cx="7144747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9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0007C-695D-E1A5-B66E-B8AE2B0A2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35CCE5-E02A-3020-2CB1-5ADB44EDA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Analyse exploratoire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845EA4-D3F6-A969-8788-1282E50AA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552786"/>
            <a:ext cx="8596668" cy="2866190"/>
          </a:xfrm>
        </p:spPr>
        <p:txBody>
          <a:bodyPr>
            <a:normAutofit/>
          </a:bodyPr>
          <a:lstStyle/>
          <a:p>
            <a:r>
              <a:rPr lang="fr-FR" dirty="0"/>
              <a:t>L’aire</a:t>
            </a:r>
          </a:p>
          <a:p>
            <a:pPr lvl="1"/>
            <a:r>
              <a:rPr lang="fr-FR" dirty="0"/>
              <a:t>Taille * ((</a:t>
            </a:r>
            <a:r>
              <a:rPr lang="fr-FR" dirty="0" err="1"/>
              <a:t>Hauteur_gauche</a:t>
            </a:r>
            <a:r>
              <a:rPr lang="fr-FR" dirty="0"/>
              <a:t> + </a:t>
            </a:r>
            <a:r>
              <a:rPr lang="fr-FR" dirty="0" err="1"/>
              <a:t>Hauteur_droite</a:t>
            </a:r>
            <a:r>
              <a:rPr lang="fr-FR" dirty="0"/>
              <a:t>) / 2)</a:t>
            </a:r>
          </a:p>
          <a:p>
            <a:pPr lvl="1"/>
            <a:r>
              <a:rPr lang="fr-FR" dirty="0"/>
              <a:t>Permet d’avoir la taille globale d’un billet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5B3ECA-A182-9441-C138-0569CAF5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4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9BFA4FE1-25C1-0D46-E52D-D83ECDDA0A5E}"/>
              </a:ext>
            </a:extLst>
          </p:cNvPr>
          <p:cNvSpPr txBox="1">
            <a:spLocks/>
          </p:cNvSpPr>
          <p:nvPr/>
        </p:nvSpPr>
        <p:spPr>
          <a:xfrm>
            <a:off x="335664" y="1854372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3200" dirty="0"/>
              <a:t>I- Création de nouvelles variables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3569D65-7F66-133E-C192-7953777D6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504" y="4570092"/>
            <a:ext cx="6908327" cy="116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14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158D5-485D-79F8-1239-45977714A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5A21AF-A2FB-99C1-2A14-A0D40F07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Analyse exploratoire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F53EAD-68C5-7BF7-B577-A4064C40A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552786"/>
            <a:ext cx="8596668" cy="2866190"/>
          </a:xfrm>
        </p:spPr>
        <p:txBody>
          <a:bodyPr>
            <a:normAutofit/>
          </a:bodyPr>
          <a:lstStyle/>
          <a:p>
            <a:r>
              <a:rPr lang="fr-FR" dirty="0"/>
              <a:t>Différence des tailles</a:t>
            </a:r>
          </a:p>
          <a:p>
            <a:pPr lvl="1"/>
            <a:r>
              <a:rPr lang="fr-FR" dirty="0"/>
              <a:t>Valeur absolue (</a:t>
            </a:r>
            <a:r>
              <a:rPr lang="fr-FR" dirty="0" err="1"/>
              <a:t>Hauteur_droite</a:t>
            </a:r>
            <a:r>
              <a:rPr lang="fr-FR" dirty="0"/>
              <a:t> - </a:t>
            </a:r>
            <a:r>
              <a:rPr lang="fr-FR" dirty="0" err="1"/>
              <a:t>Hauteur_gauche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Mesure l’asymétrie des billets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6CCD04-B4CF-09FB-2B40-3A31538A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5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69339C4-6F64-61F9-EC18-6C646752D71C}"/>
              </a:ext>
            </a:extLst>
          </p:cNvPr>
          <p:cNvSpPr txBox="1">
            <a:spLocks/>
          </p:cNvSpPr>
          <p:nvPr/>
        </p:nvSpPr>
        <p:spPr>
          <a:xfrm>
            <a:off x="335664" y="1854372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3200" dirty="0"/>
              <a:t>I- Création de nouvelles variables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81D2B44-9AC8-A41F-D369-8A65B31CF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192" y="4352520"/>
            <a:ext cx="6670952" cy="149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8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E4223-FBA8-BDEF-B64E-B1D92197B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82F0C9-04D0-A65B-F989-A8293616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Analyse exploratoire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CE471C-0986-4177-7E47-177AD0831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552786"/>
            <a:ext cx="8596668" cy="2866190"/>
          </a:xfrm>
        </p:spPr>
        <p:txBody>
          <a:bodyPr>
            <a:normAutofit/>
          </a:bodyPr>
          <a:lstStyle/>
          <a:p>
            <a:r>
              <a:rPr lang="fr-FR" dirty="0"/>
              <a:t>Différence des marges</a:t>
            </a:r>
          </a:p>
          <a:p>
            <a:pPr lvl="1"/>
            <a:r>
              <a:rPr lang="fr-FR" dirty="0"/>
              <a:t>Valeur absolue (</a:t>
            </a:r>
            <a:r>
              <a:rPr lang="fr-FR" dirty="0" err="1"/>
              <a:t>Marge_haute</a:t>
            </a:r>
            <a:r>
              <a:rPr lang="fr-FR" dirty="0"/>
              <a:t> - Marge _basse)</a:t>
            </a:r>
          </a:p>
          <a:p>
            <a:pPr lvl="1"/>
            <a:r>
              <a:rPr lang="fr-FR" dirty="0"/>
              <a:t>Calcule le centrage vertical de l’impression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924CFB-6F68-EFF9-3784-7332EAC67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6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2FB33B6C-0555-6EEB-1032-2E9C3A42136F}"/>
              </a:ext>
            </a:extLst>
          </p:cNvPr>
          <p:cNvSpPr txBox="1">
            <a:spLocks/>
          </p:cNvSpPr>
          <p:nvPr/>
        </p:nvSpPr>
        <p:spPr>
          <a:xfrm>
            <a:off x="335664" y="1854372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3200" dirty="0"/>
              <a:t>I- Création de nouvelles variables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462A187-CE30-4121-0E16-1206D815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306" y="4419944"/>
            <a:ext cx="7404724" cy="148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07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2347C-74A0-1CA1-CD2C-B7FBE3FC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BBB3D3-7CA2-160C-D1EF-EB4E8170B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Analyse exploratoire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5A56AC-FEF4-CB6C-084E-C12274AAF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552786"/>
            <a:ext cx="8596668" cy="2866190"/>
          </a:xfrm>
        </p:spPr>
        <p:txBody>
          <a:bodyPr>
            <a:normAutofit/>
          </a:bodyPr>
          <a:lstStyle/>
          <a:p>
            <a:r>
              <a:rPr lang="fr-FR" dirty="0"/>
              <a:t>Somme des marges</a:t>
            </a:r>
          </a:p>
          <a:p>
            <a:pPr lvl="1"/>
            <a:r>
              <a:rPr lang="fr-FR" dirty="0" err="1"/>
              <a:t>Marge_haute</a:t>
            </a:r>
            <a:r>
              <a:rPr lang="fr-FR" dirty="0"/>
              <a:t> + Marge _basse</a:t>
            </a:r>
          </a:p>
          <a:p>
            <a:pPr lvl="1"/>
            <a:r>
              <a:rPr lang="fr-FR" dirty="0"/>
              <a:t>Permet d’avoir l’espace total non-imprimé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588697-3A7E-6179-7F25-E30A2795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7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AF683A02-E272-53CE-8596-C9CBB07A4DC9}"/>
              </a:ext>
            </a:extLst>
          </p:cNvPr>
          <p:cNvSpPr txBox="1">
            <a:spLocks/>
          </p:cNvSpPr>
          <p:nvPr/>
        </p:nvSpPr>
        <p:spPr>
          <a:xfrm>
            <a:off x="335664" y="1854372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3200" dirty="0"/>
              <a:t>I- Création de nouvelles variables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C12CEEE-22B1-AAE8-83A6-0B3E3F7AF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67" y="4430579"/>
            <a:ext cx="8213401" cy="148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4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D3AD4-E805-C74B-0B2C-C1267052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77EECF-7223-5A15-11DB-2381E0CDC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7765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4400" dirty="0"/>
              <a:t>Analyse exploratoire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BC0792-A1E3-32A5-0671-AEFF4E929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8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0AD44C35-8582-C8FE-AFF3-92D0D3764D25}"/>
              </a:ext>
            </a:extLst>
          </p:cNvPr>
          <p:cNvSpPr txBox="1">
            <a:spLocks/>
          </p:cNvSpPr>
          <p:nvPr/>
        </p:nvSpPr>
        <p:spPr>
          <a:xfrm>
            <a:off x="335664" y="698165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3200" dirty="0"/>
              <a:t>II- Visualisation des répartitions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2259C2A-056D-B0B2-2B00-BDB272CAA2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327" y="1269356"/>
            <a:ext cx="6304681" cy="558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80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80F5F-5774-3E31-0455-08ADD5BC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5306D0-F13C-38A5-57F9-EC7074AD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97963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4400" dirty="0"/>
              <a:t>Analyse exploratoire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5C5118-39DA-E9D0-C648-0A1BF584D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9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C4C5374-9235-83A6-0E8C-BAA08A7B53DF}"/>
              </a:ext>
            </a:extLst>
          </p:cNvPr>
          <p:cNvSpPr txBox="1">
            <a:spLocks/>
          </p:cNvSpPr>
          <p:nvPr/>
        </p:nvSpPr>
        <p:spPr>
          <a:xfrm>
            <a:off x="335664" y="1718763"/>
            <a:ext cx="9178450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3200" dirty="0"/>
              <a:t>III- Les </a:t>
            </a:r>
            <a:r>
              <a:rPr lang="fr-FR" sz="3200" dirty="0" err="1"/>
              <a:t>outliers</a:t>
            </a:r>
            <a:r>
              <a:rPr lang="fr-FR" sz="3200" dirty="0"/>
              <a:t> (</a:t>
            </a:r>
            <a:r>
              <a:rPr lang="fr-FR" sz="3200" dirty="0" err="1"/>
              <a:t>margin_up</a:t>
            </a:r>
            <a:r>
              <a:rPr lang="fr-FR" sz="3200" dirty="0"/>
              <a:t> et </a:t>
            </a:r>
            <a:r>
              <a:rPr lang="fr-FR" sz="3200" dirty="0" err="1"/>
              <a:t>margin_low</a:t>
            </a:r>
            <a:r>
              <a:rPr lang="fr-FR" sz="3200" dirty="0"/>
              <a:t>)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47F8967B-299A-31B3-FAE4-FF49BF277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543" y="3429000"/>
            <a:ext cx="4772691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60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39B4B-F06B-E10B-3712-BA082DF6C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87CEB7-F3DB-2CE0-1F2B-ED573400C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3950"/>
            <a:ext cx="8596668" cy="77112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/>
              <a:t>Analyse exploratoire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43825B-A4DA-C958-356F-7A60EBB9E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10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3E2FCF2F-E5E5-D45B-D14C-8D67F43F7660}"/>
              </a:ext>
            </a:extLst>
          </p:cNvPr>
          <p:cNvSpPr txBox="1">
            <a:spLocks/>
          </p:cNvSpPr>
          <p:nvPr/>
        </p:nvSpPr>
        <p:spPr>
          <a:xfrm>
            <a:off x="335664" y="1055077"/>
            <a:ext cx="8596668" cy="7711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3200" b="1" dirty="0"/>
              <a:t>IV- La matrice de corrélation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EE000F7-C502-A8CB-08CC-3939D1B70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926" y="1713240"/>
            <a:ext cx="5957484" cy="505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70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BB619-C9BF-3915-ADC4-E6AC1916E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D15F6F-2F41-0E2A-4209-AB7EA9F4E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3950"/>
            <a:ext cx="8596668" cy="77112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/>
              <a:t>Modélisation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19BEC4-54FA-02E0-C4D6-52C59B17B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11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D2A5C7DD-B4EA-597E-28E8-262C6CC1BEE5}"/>
              </a:ext>
            </a:extLst>
          </p:cNvPr>
          <p:cNvSpPr txBox="1">
            <a:spLocks/>
          </p:cNvSpPr>
          <p:nvPr/>
        </p:nvSpPr>
        <p:spPr>
          <a:xfrm>
            <a:off x="335664" y="1055077"/>
            <a:ext cx="8596668" cy="7711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3200" b="1" dirty="0"/>
              <a:t>I- La régression logistique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B949737-0F6D-2192-CF2A-CF81842B5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790" y="1594624"/>
            <a:ext cx="3412137" cy="59800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054FB97-30AE-8BE7-C822-58727FAFA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46" y="1594624"/>
            <a:ext cx="3851917" cy="5263376"/>
          </a:xfrm>
          <a:prstGeom prst="rect">
            <a:avLst/>
          </a:prstGeom>
        </p:spPr>
      </p:pic>
      <p:sp>
        <p:nvSpPr>
          <p:cNvPr id="10" name="Accolade fermante 9">
            <a:extLst>
              <a:ext uri="{FF2B5EF4-FFF2-40B4-BE49-F238E27FC236}">
                <a16:creationId xmlns:a16="http://schemas.microsoft.com/office/drawing/2014/main" id="{D5DDF70A-95D5-1285-0C11-DBC9CF7FC4EA}"/>
              </a:ext>
            </a:extLst>
          </p:cNvPr>
          <p:cNvSpPr/>
          <p:nvPr/>
        </p:nvSpPr>
        <p:spPr>
          <a:xfrm>
            <a:off x="4505093" y="1594624"/>
            <a:ext cx="401444" cy="526337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FE2AA28-2861-C93A-6F14-5F6F50AC07CC}"/>
              </a:ext>
            </a:extLst>
          </p:cNvPr>
          <p:cNvSpPr txBox="1"/>
          <p:nvPr/>
        </p:nvSpPr>
        <p:spPr>
          <a:xfrm>
            <a:off x="4906537" y="3429000"/>
            <a:ext cx="354608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Très bonne capacité globale de prédiction du modèle (</a:t>
            </a:r>
            <a:r>
              <a:rPr lang="fr-FR" sz="1400" dirty="0" err="1"/>
              <a:t>accuracy</a:t>
            </a:r>
            <a:r>
              <a:rPr lang="fr-FR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Précision excellente, il reconnait bien les vrais billets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Le </a:t>
            </a:r>
            <a:r>
              <a:rPr lang="fr-FR" sz="1400" dirty="0" err="1"/>
              <a:t>recall</a:t>
            </a:r>
            <a:r>
              <a:rPr lang="fr-FR" sz="1400" dirty="0"/>
              <a:t> de 98% indique que seulement 2% des contrefaçons n'ont pas été détectées.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Le ROC-AUC est très proche de 1 donc excellente capacité à séparer les vrais des faux</a:t>
            </a:r>
          </a:p>
        </p:txBody>
      </p:sp>
      <p:sp>
        <p:nvSpPr>
          <p:cNvPr id="12" name="Accolade ouvrante 11">
            <a:extLst>
              <a:ext uri="{FF2B5EF4-FFF2-40B4-BE49-F238E27FC236}">
                <a16:creationId xmlns:a16="http://schemas.microsoft.com/office/drawing/2014/main" id="{209E0C65-F781-B701-703A-4A4954973F5C}"/>
              </a:ext>
            </a:extLst>
          </p:cNvPr>
          <p:cNvSpPr/>
          <p:nvPr/>
        </p:nvSpPr>
        <p:spPr>
          <a:xfrm rot="16200000">
            <a:off x="9452296" y="708701"/>
            <a:ext cx="365124" cy="341213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D323917-7132-4A3E-97A9-1D104C4BBC71}"/>
              </a:ext>
            </a:extLst>
          </p:cNvPr>
          <p:cNvSpPr txBox="1"/>
          <p:nvPr/>
        </p:nvSpPr>
        <p:spPr>
          <a:xfrm>
            <a:off x="8324522" y="2614608"/>
            <a:ext cx="26206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La précision entre les jeux de données train et test est très proche, donc il n’y a pas de surentraînement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B42D6B-BFD0-1016-7A53-C15B35E0A047}"/>
              </a:ext>
            </a:extLst>
          </p:cNvPr>
          <p:cNvSpPr/>
          <p:nvPr/>
        </p:nvSpPr>
        <p:spPr>
          <a:xfrm>
            <a:off x="677334" y="5113175"/>
            <a:ext cx="3138886" cy="1380931"/>
          </a:xfrm>
          <a:prstGeom prst="rect">
            <a:avLst/>
          </a:prstGeom>
          <a:solidFill>
            <a:srgbClr val="90C226">
              <a:alpha val="0"/>
            </a:srgb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272BCB-58CB-A3FD-16D3-BCF7835E698B}"/>
              </a:ext>
            </a:extLst>
          </p:cNvPr>
          <p:cNvSpPr/>
          <p:nvPr/>
        </p:nvSpPr>
        <p:spPr>
          <a:xfrm>
            <a:off x="2108717" y="2365752"/>
            <a:ext cx="401217" cy="595366"/>
          </a:xfrm>
          <a:prstGeom prst="rect">
            <a:avLst/>
          </a:prstGeom>
          <a:solidFill>
            <a:srgbClr val="90C226">
              <a:alpha val="0"/>
            </a:srgb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37A20E-A65B-FA5F-9C41-E69C9EDD64C2}"/>
              </a:ext>
            </a:extLst>
          </p:cNvPr>
          <p:cNvSpPr/>
          <p:nvPr/>
        </p:nvSpPr>
        <p:spPr>
          <a:xfrm>
            <a:off x="2332653" y="3715617"/>
            <a:ext cx="1373647" cy="2955769"/>
          </a:xfrm>
          <a:prstGeom prst="rect">
            <a:avLst/>
          </a:prstGeom>
          <a:solidFill>
            <a:srgbClr val="90C226">
              <a:alpha val="0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A9F79C-D881-8C6A-9E7C-5AE07B373444}"/>
              </a:ext>
            </a:extLst>
          </p:cNvPr>
          <p:cNvSpPr/>
          <p:nvPr/>
        </p:nvSpPr>
        <p:spPr>
          <a:xfrm>
            <a:off x="1372466" y="2365752"/>
            <a:ext cx="628621" cy="595366"/>
          </a:xfrm>
          <a:prstGeom prst="rect">
            <a:avLst/>
          </a:prstGeom>
          <a:solidFill>
            <a:srgbClr val="90C226">
              <a:alpha val="0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24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/>
      <p:bldP spid="7" grpId="0" animBg="1"/>
      <p:bldP spid="7" grpId="1" animBg="1"/>
      <p:bldP spid="8" grpId="0" animBg="1"/>
      <p:bldP spid="8" grpId="1" animBg="1"/>
      <p:bldP spid="15" grpId="0" animBg="1"/>
      <p:bldP spid="15" grpId="1" animBg="1"/>
      <p:bldP spid="16" grpId="0" animBg="1"/>
      <p:bldP spid="1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BA248-1E18-B029-C835-4FE0518B4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561A85-29AF-8F61-4761-D227BD82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3950"/>
            <a:ext cx="8596668" cy="77112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/>
              <a:t>Modélisation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A1D42D-0847-DE80-0A32-3B7945BE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12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6991A15C-38E2-F187-4CDA-418031AF9E27}"/>
              </a:ext>
            </a:extLst>
          </p:cNvPr>
          <p:cNvSpPr txBox="1">
            <a:spLocks/>
          </p:cNvSpPr>
          <p:nvPr/>
        </p:nvSpPr>
        <p:spPr>
          <a:xfrm>
            <a:off x="335664" y="1055077"/>
            <a:ext cx="8596668" cy="7711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3200" b="1" dirty="0"/>
              <a:t>II- KNN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02D3AD4-96BD-6F6D-F81B-5C300F903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088" y="1620655"/>
            <a:ext cx="2690914" cy="45745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FA88F22-1F50-AE64-97DC-7F30B70E2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61" y="1620655"/>
            <a:ext cx="3778960" cy="5237345"/>
          </a:xfrm>
          <a:prstGeom prst="rect">
            <a:avLst/>
          </a:prstGeom>
        </p:spPr>
      </p:pic>
      <p:sp>
        <p:nvSpPr>
          <p:cNvPr id="9" name="Accolade ouvrante 8">
            <a:extLst>
              <a:ext uri="{FF2B5EF4-FFF2-40B4-BE49-F238E27FC236}">
                <a16:creationId xmlns:a16="http://schemas.microsoft.com/office/drawing/2014/main" id="{18D1FBC3-8FAE-DD96-3633-9CEB8FD86C79}"/>
              </a:ext>
            </a:extLst>
          </p:cNvPr>
          <p:cNvSpPr/>
          <p:nvPr/>
        </p:nvSpPr>
        <p:spPr>
          <a:xfrm rot="16200000">
            <a:off x="7745985" y="946046"/>
            <a:ext cx="365124" cy="269091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02A5D19-CA20-F365-BA79-103554861C22}"/>
              </a:ext>
            </a:extLst>
          </p:cNvPr>
          <p:cNvSpPr txBox="1"/>
          <p:nvPr/>
        </p:nvSpPr>
        <p:spPr>
          <a:xfrm>
            <a:off x="6618385" y="2491343"/>
            <a:ext cx="2620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Pas de surentraînement</a:t>
            </a:r>
          </a:p>
        </p:txBody>
      </p:sp>
    </p:spTree>
    <p:extLst>
      <p:ext uri="{BB962C8B-B14F-4D97-AF65-F5344CB8AC3E}">
        <p14:creationId xmlns:p14="http://schemas.microsoft.com/office/powerpoint/2010/main" val="39355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5A7DA-42AA-5884-E904-1B07DB5BD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E04B50-7296-2009-0188-C98DC46CC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3950"/>
            <a:ext cx="8596668" cy="77112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/>
              <a:t>Modélisation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0A6D64-57B2-57C7-8CAC-D5AEED94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13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1CF1F942-FDDA-403C-4CCA-8F207E16705C}"/>
              </a:ext>
            </a:extLst>
          </p:cNvPr>
          <p:cNvSpPr txBox="1">
            <a:spLocks/>
          </p:cNvSpPr>
          <p:nvPr/>
        </p:nvSpPr>
        <p:spPr>
          <a:xfrm>
            <a:off x="335664" y="1055077"/>
            <a:ext cx="8596668" cy="7711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3200" b="1" dirty="0"/>
              <a:t>III- Random </a:t>
            </a:r>
            <a:r>
              <a:rPr lang="fr-FR" sz="3200" b="1" dirty="0" err="1"/>
              <a:t>forest</a:t>
            </a:r>
            <a:endParaRPr lang="fr-FR" sz="3200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81DAC02-A30E-687D-14EB-D1F32F9E9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50" y="1626771"/>
            <a:ext cx="1762479" cy="45756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044B18F-A515-D130-D0F1-42FFE66BE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107" y="1626771"/>
            <a:ext cx="3690257" cy="5175472"/>
          </a:xfrm>
          <a:prstGeom prst="rect">
            <a:avLst/>
          </a:prstGeom>
        </p:spPr>
      </p:pic>
      <p:sp>
        <p:nvSpPr>
          <p:cNvPr id="11" name="Accolade ouvrante 10">
            <a:extLst>
              <a:ext uri="{FF2B5EF4-FFF2-40B4-BE49-F238E27FC236}">
                <a16:creationId xmlns:a16="http://schemas.microsoft.com/office/drawing/2014/main" id="{221A307E-A2C4-F511-51BA-A54F51046055}"/>
              </a:ext>
            </a:extLst>
          </p:cNvPr>
          <p:cNvSpPr/>
          <p:nvPr/>
        </p:nvSpPr>
        <p:spPr>
          <a:xfrm rot="16200000">
            <a:off x="7392129" y="1516659"/>
            <a:ext cx="365124" cy="176247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001FDCD-FE94-21D1-50B5-77CC3613257E}"/>
              </a:ext>
            </a:extLst>
          </p:cNvPr>
          <p:cNvSpPr txBox="1"/>
          <p:nvPr/>
        </p:nvSpPr>
        <p:spPr>
          <a:xfrm>
            <a:off x="6491732" y="2597737"/>
            <a:ext cx="2620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Pas de surentraînement</a:t>
            </a:r>
          </a:p>
        </p:txBody>
      </p:sp>
    </p:spTree>
    <p:extLst>
      <p:ext uri="{BB962C8B-B14F-4D97-AF65-F5344CB8AC3E}">
        <p14:creationId xmlns:p14="http://schemas.microsoft.com/office/powerpoint/2010/main" val="98446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CEAA-667D-E66D-1B03-A5A99C5D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4ED047-668B-0AF3-CBF1-AB9F52308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3950"/>
            <a:ext cx="8596668" cy="77112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/>
              <a:t>Modélisation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2E7EC30C-0BD4-F0EC-B587-3760DDD83716}"/>
              </a:ext>
            </a:extLst>
          </p:cNvPr>
          <p:cNvSpPr txBox="1">
            <a:spLocks/>
          </p:cNvSpPr>
          <p:nvPr/>
        </p:nvSpPr>
        <p:spPr>
          <a:xfrm>
            <a:off x="335664" y="1055077"/>
            <a:ext cx="8596668" cy="7711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3200" b="1" dirty="0"/>
              <a:t>IV- Analyse cluster K-</a:t>
            </a:r>
            <a:r>
              <a:rPr lang="fr-FR" sz="3200" b="1" dirty="0" err="1"/>
              <a:t>means</a:t>
            </a:r>
            <a:endParaRPr lang="fr-FR" sz="32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F2CA9E3-5127-AEA0-E743-8B392E1D5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18" y="2063857"/>
            <a:ext cx="4462571" cy="66819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881C932-BC14-F7AB-D617-193E72FCB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19" y="4505093"/>
            <a:ext cx="2262474" cy="66819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B13393C-0427-D5B6-3F4C-917BE3A46B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749" y="1222146"/>
            <a:ext cx="6300228" cy="5001778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A66FEE-39B4-B0F5-7D18-24896080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14</a:t>
            </a:fld>
            <a:endParaRPr lang="fr-FR" dirty="0"/>
          </a:p>
        </p:txBody>
      </p:sp>
      <p:sp>
        <p:nvSpPr>
          <p:cNvPr id="12" name="Accolade ouvrante 11">
            <a:extLst>
              <a:ext uri="{FF2B5EF4-FFF2-40B4-BE49-F238E27FC236}">
                <a16:creationId xmlns:a16="http://schemas.microsoft.com/office/drawing/2014/main" id="{2B2E74D1-0812-2B69-EE15-11F8456EBF9C}"/>
              </a:ext>
            </a:extLst>
          </p:cNvPr>
          <p:cNvSpPr/>
          <p:nvPr/>
        </p:nvSpPr>
        <p:spPr>
          <a:xfrm rot="16200000">
            <a:off x="2631785" y="810401"/>
            <a:ext cx="356839" cy="446257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ccolade ouvrante 12">
            <a:extLst>
              <a:ext uri="{FF2B5EF4-FFF2-40B4-BE49-F238E27FC236}">
                <a16:creationId xmlns:a16="http://schemas.microsoft.com/office/drawing/2014/main" id="{A08AC1F9-BC67-F873-03B4-5F4C2A0A8D52}"/>
              </a:ext>
            </a:extLst>
          </p:cNvPr>
          <p:cNvSpPr/>
          <p:nvPr/>
        </p:nvSpPr>
        <p:spPr>
          <a:xfrm rot="16200000">
            <a:off x="1531736" y="4279700"/>
            <a:ext cx="356839" cy="226247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D5568A5-41C8-B941-5F81-88556CF4F210}"/>
              </a:ext>
            </a:extLst>
          </p:cNvPr>
          <p:cNvSpPr txBox="1"/>
          <p:nvPr/>
        </p:nvSpPr>
        <p:spPr>
          <a:xfrm>
            <a:off x="1210003" y="3249722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On peut en déduire que le cluster 1 représente les faux billets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B7497CF-6A66-8871-BE7D-BBA2FF346C99}"/>
              </a:ext>
            </a:extLst>
          </p:cNvPr>
          <p:cNvSpPr txBox="1"/>
          <p:nvPr/>
        </p:nvSpPr>
        <p:spPr>
          <a:xfrm>
            <a:off x="426319" y="5697285"/>
            <a:ext cx="2567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Moyenne des valeurs de ces 2 variables pour chacun des clusters</a:t>
            </a:r>
          </a:p>
        </p:txBody>
      </p:sp>
    </p:spTree>
    <p:extLst>
      <p:ext uri="{BB962C8B-B14F-4D97-AF65-F5344CB8AC3E}">
        <p14:creationId xmlns:p14="http://schemas.microsoft.com/office/powerpoint/2010/main" val="148870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7ED08-76D6-F6BC-89BC-8658BE2C6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6ABB99-0D8B-12D7-9364-AD352D13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3950"/>
            <a:ext cx="8596668" cy="77112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/>
              <a:t>Modélisation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D3B78B6A-51B2-6901-384C-E14EE2349F9E}"/>
              </a:ext>
            </a:extLst>
          </p:cNvPr>
          <p:cNvSpPr txBox="1">
            <a:spLocks/>
          </p:cNvSpPr>
          <p:nvPr/>
        </p:nvSpPr>
        <p:spPr>
          <a:xfrm>
            <a:off x="335664" y="1055077"/>
            <a:ext cx="8596668" cy="77112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3200" b="1" dirty="0"/>
              <a:t>VI- Choix du modèle et test sur un autre échantillon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E491F1-D0C4-2F23-AA2D-D49D8241D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8DB5B-EED4-4E84-94B6-873B46059CF5}" type="slidenum">
              <a:rPr lang="fr-FR" smtClean="0"/>
              <a:t>15</a:t>
            </a:fld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CC793A5-937E-561F-B308-A42854AD7F10}"/>
              </a:ext>
            </a:extLst>
          </p:cNvPr>
          <p:cNvSpPr txBox="1"/>
          <p:nvPr/>
        </p:nvSpPr>
        <p:spPr>
          <a:xfrm>
            <a:off x="992459" y="1826204"/>
            <a:ext cx="57874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Modèle choisi : La régression logistique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Sauvegarde du modèle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Test du modèle sur le nouvel échantillon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C9BCAE67-02C9-E24F-C2E3-E80647358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996" y="5177311"/>
            <a:ext cx="3884003" cy="1251223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5D830957-A42A-972F-2D09-24733205B366}"/>
              </a:ext>
            </a:extLst>
          </p:cNvPr>
          <p:cNvSpPr txBox="1"/>
          <p:nvPr/>
        </p:nvSpPr>
        <p:spPr>
          <a:xfrm>
            <a:off x="2832410" y="4343741"/>
            <a:ext cx="3590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Résultats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7FE0620-56F2-A0B6-437B-CB18D1877BF2}"/>
              </a:ext>
            </a:extLst>
          </p:cNvPr>
          <p:cNvSpPr txBox="1"/>
          <p:nvPr/>
        </p:nvSpPr>
        <p:spPr>
          <a:xfrm>
            <a:off x="7136986" y="1731676"/>
            <a:ext cx="3590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Nouvel échantillon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D07234BF-30FE-173C-2D0F-100A6AB3D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941" y="2330791"/>
            <a:ext cx="4420217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6620</TotalTime>
  <Words>1003</Words>
  <Application>Microsoft Office PowerPoint</Application>
  <PresentationFormat>Grand écran</PresentationFormat>
  <Paragraphs>129</Paragraphs>
  <Slides>15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Aptos</vt:lpstr>
      <vt:lpstr>Arial</vt:lpstr>
      <vt:lpstr>Trebuchet MS</vt:lpstr>
      <vt:lpstr>Wingdings 3</vt:lpstr>
      <vt:lpstr>Facette</vt:lpstr>
      <vt:lpstr>Détection de faux billets</vt:lpstr>
      <vt:lpstr>Table de départ</vt:lpstr>
      <vt:lpstr>Table de départ</vt:lpstr>
      <vt:lpstr>Analyse exploratoire</vt:lpstr>
      <vt:lpstr>Analyse exploratoire</vt:lpstr>
      <vt:lpstr>Analyse exploratoire</vt:lpstr>
      <vt:lpstr>Analyse exploratoire</vt:lpstr>
      <vt:lpstr>Analyse exploratoire</vt:lpstr>
      <vt:lpstr>Analyse exploratoire</vt:lpstr>
      <vt:lpstr>Analyse exploratoire</vt:lpstr>
      <vt:lpstr>Modélisation</vt:lpstr>
      <vt:lpstr>Modélisation</vt:lpstr>
      <vt:lpstr>Modélisation</vt:lpstr>
      <vt:lpstr>Modélisation</vt:lpstr>
      <vt:lpstr>Modélisation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fol</dc:creator>
  <cp:lastModifiedBy>evan fol</cp:lastModifiedBy>
  <cp:revision>23</cp:revision>
  <dcterms:created xsi:type="dcterms:W3CDTF">2026-03-26T08:04:54Z</dcterms:created>
  <dcterms:modified xsi:type="dcterms:W3CDTF">2026-05-21T13:31:41Z</dcterms:modified>
</cp:coreProperties>
</file>