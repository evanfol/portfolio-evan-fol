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57" r:id="rId3"/>
    <p:sldId id="267" r:id="rId4"/>
    <p:sldId id="268" r:id="rId5"/>
    <p:sldId id="258" r:id="rId6"/>
    <p:sldId id="259" r:id="rId7"/>
    <p:sldId id="265" r:id="rId8"/>
    <p:sldId id="266" r:id="rId9"/>
    <p:sldId id="260" r:id="rId10"/>
    <p:sldId id="261" r:id="rId11"/>
    <p:sldId id="264" r:id="rId12"/>
    <p:sldId id="262" r:id="rId13"/>
    <p:sldId id="263"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777" autoAdjust="0"/>
  </p:normalViewPr>
  <p:slideViewPr>
    <p:cSldViewPr snapToGrid="0">
      <p:cViewPr varScale="1">
        <p:scale>
          <a:sx n="81" d="100"/>
          <a:sy n="81" d="100"/>
        </p:scale>
        <p:origin x="1110"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120D29-2E8A-44EE-B76D-A3777B5A7427}" type="datetimeFigureOut">
              <a:rPr lang="fr-FR" smtClean="0"/>
              <a:t>12/03/2026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4CC410-F54A-4D33-AD96-428C1FA84863}" type="slidenum">
              <a:rPr lang="fr-FR" smtClean="0"/>
              <a:t>‹N°›</a:t>
            </a:fld>
            <a:endParaRPr lang="fr-FR"/>
          </a:p>
        </p:txBody>
      </p:sp>
    </p:spTree>
    <p:extLst>
      <p:ext uri="{BB962C8B-B14F-4D97-AF65-F5344CB8AC3E}">
        <p14:creationId xmlns:p14="http://schemas.microsoft.com/office/powerpoint/2010/main" val="1458516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94CC410-F54A-4D33-AD96-428C1FA84863}" type="slidenum">
              <a:rPr lang="fr-FR" smtClean="0"/>
              <a:t>1</a:t>
            </a:fld>
            <a:endParaRPr lang="fr-FR"/>
          </a:p>
        </p:txBody>
      </p:sp>
    </p:spTree>
    <p:extLst>
      <p:ext uri="{BB962C8B-B14F-4D97-AF65-F5344CB8AC3E}">
        <p14:creationId xmlns:p14="http://schemas.microsoft.com/office/powerpoint/2010/main" val="3441205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Il y a également une table région que l’on a et qui contient le nom des régions et la liste des pays</a:t>
            </a:r>
          </a:p>
        </p:txBody>
      </p:sp>
      <p:sp>
        <p:nvSpPr>
          <p:cNvPr id="4" name="Espace réservé du numéro de diapositive 3"/>
          <p:cNvSpPr>
            <a:spLocks noGrp="1"/>
          </p:cNvSpPr>
          <p:nvPr>
            <p:ph type="sldNum" sz="quarter" idx="5"/>
          </p:nvPr>
        </p:nvSpPr>
        <p:spPr/>
        <p:txBody>
          <a:bodyPr/>
          <a:lstStyle/>
          <a:p>
            <a:fld id="{694CC410-F54A-4D33-AD96-428C1FA84863}" type="slidenum">
              <a:rPr lang="fr-FR" smtClean="0"/>
              <a:t>2</a:t>
            </a:fld>
            <a:endParaRPr lang="fr-FR"/>
          </a:p>
        </p:txBody>
      </p:sp>
    </p:spTree>
    <p:extLst>
      <p:ext uri="{BB962C8B-B14F-4D97-AF65-F5344CB8AC3E}">
        <p14:creationId xmlns:p14="http://schemas.microsoft.com/office/powerpoint/2010/main" val="665275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830B9-52E8-26AC-C88C-8C9EE1DEECB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5272DCD-350E-454D-6B29-024DA0B6E6E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60BFFCE-7667-EA09-F270-14C663B2339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948220A-B7DB-F6C5-5ECD-8C2DA5DF56CA}"/>
              </a:ext>
            </a:extLst>
          </p:cNvPr>
          <p:cNvSpPr>
            <a:spLocks noGrp="1"/>
          </p:cNvSpPr>
          <p:nvPr>
            <p:ph type="sldNum" sz="quarter" idx="5"/>
          </p:nvPr>
        </p:nvSpPr>
        <p:spPr/>
        <p:txBody>
          <a:bodyPr/>
          <a:lstStyle/>
          <a:p>
            <a:fld id="{694CC410-F54A-4D33-AD96-428C1FA84863}" type="slidenum">
              <a:rPr lang="fr-FR" smtClean="0"/>
              <a:t>3</a:t>
            </a:fld>
            <a:endParaRPr lang="fr-FR"/>
          </a:p>
        </p:txBody>
      </p:sp>
    </p:spTree>
    <p:extLst>
      <p:ext uri="{BB962C8B-B14F-4D97-AF65-F5344CB8AC3E}">
        <p14:creationId xmlns:p14="http://schemas.microsoft.com/office/powerpoint/2010/main" val="2685237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156B3-4E24-054B-B963-26CCEAFD0A5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55C69C8-7487-3B5E-578C-B6BD8DAF1B8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2CE611B-F467-29AB-B3A9-A21BA0E5995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DD134C2-4A92-E331-050A-2FD26346FC3B}"/>
              </a:ext>
            </a:extLst>
          </p:cNvPr>
          <p:cNvSpPr>
            <a:spLocks noGrp="1"/>
          </p:cNvSpPr>
          <p:nvPr>
            <p:ph type="sldNum" sz="quarter" idx="5"/>
          </p:nvPr>
        </p:nvSpPr>
        <p:spPr/>
        <p:txBody>
          <a:bodyPr/>
          <a:lstStyle/>
          <a:p>
            <a:fld id="{694CC410-F54A-4D33-AD96-428C1FA84863}" type="slidenum">
              <a:rPr lang="fr-FR" smtClean="0"/>
              <a:t>4</a:t>
            </a:fld>
            <a:endParaRPr lang="fr-FR"/>
          </a:p>
        </p:txBody>
      </p:sp>
    </p:spTree>
    <p:extLst>
      <p:ext uri="{BB962C8B-B14F-4D97-AF65-F5344CB8AC3E}">
        <p14:creationId xmlns:p14="http://schemas.microsoft.com/office/powerpoint/2010/main" val="11104644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810AC-08B7-4F98-CE1A-BD956870BFF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5CBD362-8FFA-1CF9-47CC-A13F98A4B59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CBD07BA-3FB9-2C16-7AEE-5F110561239B}"/>
              </a:ext>
            </a:extLst>
          </p:cNvPr>
          <p:cNvSpPr>
            <a:spLocks noGrp="1"/>
          </p:cNvSpPr>
          <p:nvPr>
            <p:ph type="body" idx="1"/>
          </p:nvPr>
        </p:nvSpPr>
        <p:spPr/>
        <p:txBody>
          <a:bodyPr/>
          <a:lstStyle/>
          <a:p>
            <a:r>
              <a:rPr lang="fr-FR" dirty="0"/>
              <a:t>1- J'ai créé une </a:t>
            </a:r>
            <a:r>
              <a:rPr lang="fr-FR" dirty="0" err="1"/>
              <a:t>DimYear</a:t>
            </a:r>
            <a:r>
              <a:rPr lang="fr-FR" dirty="0"/>
              <a:t> pour permettre des analyses temporelles comparatives cohérentes sur toutes les tables de faits</a:t>
            </a:r>
          </a:p>
          <a:p>
            <a:endParaRPr lang="fr-FR" dirty="0"/>
          </a:p>
          <a:p>
            <a:r>
              <a:rPr lang="fr-FR" dirty="0"/>
              <a:t>2- Séparer les dimensions (les axes d'analyse comme le pays ou l'année) des faits (les chiffres comme la mortalité) permet de croiser des données provenant de sources différentes de façon fluide</a:t>
            </a:r>
          </a:p>
          <a:p>
            <a:endParaRPr lang="fr-FR" dirty="0"/>
          </a:p>
          <a:p>
            <a:r>
              <a:rPr lang="fr-FR" dirty="0"/>
              <a:t>3- Table de faits (Population, </a:t>
            </a:r>
            <a:r>
              <a:rPr lang="fr-FR" dirty="0" err="1"/>
              <a:t>BasicAndSafelyManagedDrinkingWaterServices</a:t>
            </a:r>
            <a:r>
              <a:rPr lang="fr-FR" dirty="0"/>
              <a:t>, </a:t>
            </a:r>
            <a:r>
              <a:rPr lang="fr-FR" dirty="0" err="1"/>
              <a:t>Mortalityrateattributedtowater</a:t>
            </a:r>
            <a:r>
              <a:rPr lang="fr-FR" dirty="0"/>
              <a:t>, </a:t>
            </a:r>
            <a:r>
              <a:rPr lang="fr-FR" dirty="0" err="1"/>
              <a:t>politicalstability</a:t>
            </a:r>
            <a:r>
              <a:rPr lang="fr-FR" dirty="0"/>
              <a:t>)</a:t>
            </a:r>
          </a:p>
          <a:p>
            <a:endParaRPr lang="fr-FR" dirty="0"/>
          </a:p>
        </p:txBody>
      </p:sp>
      <p:sp>
        <p:nvSpPr>
          <p:cNvPr id="4" name="Espace réservé du numéro de diapositive 3">
            <a:extLst>
              <a:ext uri="{FF2B5EF4-FFF2-40B4-BE49-F238E27FC236}">
                <a16:creationId xmlns:a16="http://schemas.microsoft.com/office/drawing/2014/main" id="{8994F551-1E56-7E3D-6381-F63B78AA7D4B}"/>
              </a:ext>
            </a:extLst>
          </p:cNvPr>
          <p:cNvSpPr>
            <a:spLocks noGrp="1"/>
          </p:cNvSpPr>
          <p:nvPr>
            <p:ph type="sldNum" sz="quarter" idx="5"/>
          </p:nvPr>
        </p:nvSpPr>
        <p:spPr/>
        <p:txBody>
          <a:bodyPr/>
          <a:lstStyle/>
          <a:p>
            <a:fld id="{694CC410-F54A-4D33-AD96-428C1FA84863}" type="slidenum">
              <a:rPr lang="fr-FR" smtClean="0"/>
              <a:t>5</a:t>
            </a:fld>
            <a:endParaRPr lang="fr-FR"/>
          </a:p>
        </p:txBody>
      </p:sp>
    </p:spTree>
    <p:extLst>
      <p:ext uri="{BB962C8B-B14F-4D97-AF65-F5344CB8AC3E}">
        <p14:creationId xmlns:p14="http://schemas.microsoft.com/office/powerpoint/2010/main" val="24704197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Granularity</a:t>
            </a:r>
            <a:r>
              <a:rPr lang="fr-FR" dirty="0"/>
              <a:t> reliée seulement à population et </a:t>
            </a:r>
            <a:r>
              <a:rPr lang="fr-FR" dirty="0" err="1"/>
              <a:t>basicandsafelymanageddrinkingwaterservices</a:t>
            </a:r>
            <a:r>
              <a:rPr lang="fr-FR" dirty="0"/>
              <a:t> car les autres ne contiennent plus la colonne </a:t>
            </a:r>
            <a:r>
              <a:rPr lang="fr-FR" dirty="0" err="1"/>
              <a:t>granularity</a:t>
            </a:r>
            <a:r>
              <a:rPr lang="fr-FR" dirty="0"/>
              <a:t> </a:t>
            </a:r>
          </a:p>
          <a:p>
            <a:r>
              <a:rPr lang="fr-FR" dirty="0"/>
              <a:t>On a ici un modèle en constellation ce qui est préférable car toutes les tables ne contenaient pas les infos pour toutes les années et ne possédaient pas toutes la même granularité donc la création d’une seule table de fait aurait induit la création de doublons.</a:t>
            </a:r>
          </a:p>
        </p:txBody>
      </p:sp>
      <p:sp>
        <p:nvSpPr>
          <p:cNvPr id="4" name="Espace réservé du numéro de diapositive 3"/>
          <p:cNvSpPr>
            <a:spLocks noGrp="1"/>
          </p:cNvSpPr>
          <p:nvPr>
            <p:ph type="sldNum" sz="quarter" idx="5"/>
          </p:nvPr>
        </p:nvSpPr>
        <p:spPr/>
        <p:txBody>
          <a:bodyPr/>
          <a:lstStyle/>
          <a:p>
            <a:fld id="{694CC410-F54A-4D33-AD96-428C1FA84863}" type="slidenum">
              <a:rPr lang="fr-FR" smtClean="0"/>
              <a:t>6</a:t>
            </a:fld>
            <a:endParaRPr lang="fr-FR"/>
          </a:p>
        </p:txBody>
      </p:sp>
    </p:spTree>
    <p:extLst>
      <p:ext uri="{BB962C8B-B14F-4D97-AF65-F5344CB8AC3E}">
        <p14:creationId xmlns:p14="http://schemas.microsoft.com/office/powerpoint/2010/main" val="3950573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58808-BFA3-8A9D-4990-61967A83AEC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CDE6DEF-0615-0519-57E1-74E6E12393C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BF6BA75-A059-678C-0D67-95CF0168FDF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D2C1656-A5F2-E882-D425-186A6AF89068}"/>
              </a:ext>
            </a:extLst>
          </p:cNvPr>
          <p:cNvSpPr>
            <a:spLocks noGrp="1"/>
          </p:cNvSpPr>
          <p:nvPr>
            <p:ph type="sldNum" sz="quarter" idx="5"/>
          </p:nvPr>
        </p:nvSpPr>
        <p:spPr/>
        <p:txBody>
          <a:bodyPr/>
          <a:lstStyle/>
          <a:p>
            <a:fld id="{694CC410-F54A-4D33-AD96-428C1FA84863}" type="slidenum">
              <a:rPr lang="fr-FR" smtClean="0"/>
              <a:t>7</a:t>
            </a:fld>
            <a:endParaRPr lang="fr-FR"/>
          </a:p>
        </p:txBody>
      </p:sp>
    </p:spTree>
    <p:extLst>
      <p:ext uri="{BB962C8B-B14F-4D97-AF65-F5344CB8AC3E}">
        <p14:creationId xmlns:p14="http://schemas.microsoft.com/office/powerpoint/2010/main" val="3458662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0A4BF-16A9-D83C-E898-6D6D83417A9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1AA5CFA-4AEA-11B6-B926-661860E09CA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2F03F55-19C9-8D70-8971-ADBE6E99F3EE}"/>
              </a:ext>
            </a:extLst>
          </p:cNvPr>
          <p:cNvSpPr>
            <a:spLocks noGrp="1"/>
          </p:cNvSpPr>
          <p:nvPr>
            <p:ph type="body" idx="1"/>
          </p:nvPr>
        </p:nvSpPr>
        <p:spPr/>
        <p:txBody>
          <a:bodyPr/>
          <a:lstStyle/>
          <a:p>
            <a:r>
              <a:rPr lang="fr-FR" dirty="0"/>
              <a:t>Important pour le domaine 3</a:t>
            </a:r>
          </a:p>
        </p:txBody>
      </p:sp>
      <p:sp>
        <p:nvSpPr>
          <p:cNvPr id="4" name="Espace réservé du numéro de diapositive 3">
            <a:extLst>
              <a:ext uri="{FF2B5EF4-FFF2-40B4-BE49-F238E27FC236}">
                <a16:creationId xmlns:a16="http://schemas.microsoft.com/office/drawing/2014/main" id="{A91AA06D-4BC3-6A9A-F8F2-A4B6F4A814EE}"/>
              </a:ext>
            </a:extLst>
          </p:cNvPr>
          <p:cNvSpPr>
            <a:spLocks noGrp="1"/>
          </p:cNvSpPr>
          <p:nvPr>
            <p:ph type="sldNum" sz="quarter" idx="5"/>
          </p:nvPr>
        </p:nvSpPr>
        <p:spPr/>
        <p:txBody>
          <a:bodyPr/>
          <a:lstStyle/>
          <a:p>
            <a:fld id="{694CC410-F54A-4D33-AD96-428C1FA84863}" type="slidenum">
              <a:rPr lang="fr-FR" smtClean="0"/>
              <a:t>8</a:t>
            </a:fld>
            <a:endParaRPr lang="fr-FR"/>
          </a:p>
        </p:txBody>
      </p:sp>
    </p:spTree>
    <p:extLst>
      <p:ext uri="{BB962C8B-B14F-4D97-AF65-F5344CB8AC3E}">
        <p14:creationId xmlns:p14="http://schemas.microsoft.com/office/powerpoint/2010/main" val="1386220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Les infos fournis par le deuxième domaine apparaissent déjà dan la carte d’infos c’est pour ça qu’on ne l’a pas ajouté dans cette vue</a:t>
            </a:r>
          </a:p>
        </p:txBody>
      </p:sp>
      <p:sp>
        <p:nvSpPr>
          <p:cNvPr id="4" name="Espace réservé du numéro de diapositive 3"/>
          <p:cNvSpPr>
            <a:spLocks noGrp="1"/>
          </p:cNvSpPr>
          <p:nvPr>
            <p:ph type="sldNum" sz="quarter" idx="5"/>
          </p:nvPr>
        </p:nvSpPr>
        <p:spPr/>
        <p:txBody>
          <a:bodyPr/>
          <a:lstStyle/>
          <a:p>
            <a:fld id="{694CC410-F54A-4D33-AD96-428C1FA84863}" type="slidenum">
              <a:rPr lang="fr-FR" smtClean="0"/>
              <a:t>9</a:t>
            </a:fld>
            <a:endParaRPr lang="fr-FR"/>
          </a:p>
        </p:txBody>
      </p:sp>
    </p:spTree>
    <p:extLst>
      <p:ext uri="{BB962C8B-B14F-4D97-AF65-F5344CB8AC3E}">
        <p14:creationId xmlns:p14="http://schemas.microsoft.com/office/powerpoint/2010/main" val="8351272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table a une mise en forme conditionnelle basé sur l’accès à l’eau potable</a:t>
            </a:r>
          </a:p>
        </p:txBody>
      </p:sp>
      <p:sp>
        <p:nvSpPr>
          <p:cNvPr id="4" name="Espace réservé du numéro de diapositive 3"/>
          <p:cNvSpPr>
            <a:spLocks noGrp="1"/>
          </p:cNvSpPr>
          <p:nvPr>
            <p:ph type="sldNum" sz="quarter" idx="5"/>
          </p:nvPr>
        </p:nvSpPr>
        <p:spPr/>
        <p:txBody>
          <a:bodyPr/>
          <a:lstStyle/>
          <a:p>
            <a:fld id="{694CC410-F54A-4D33-AD96-428C1FA84863}" type="slidenum">
              <a:rPr lang="fr-FR" smtClean="0"/>
              <a:t>10</a:t>
            </a:fld>
            <a:endParaRPr lang="fr-FR"/>
          </a:p>
        </p:txBody>
      </p:sp>
    </p:spTree>
    <p:extLst>
      <p:ext uri="{BB962C8B-B14F-4D97-AF65-F5344CB8AC3E}">
        <p14:creationId xmlns:p14="http://schemas.microsoft.com/office/powerpoint/2010/main" val="10819370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Possibilité de filtrer le segment de sélection des pays pour ne pouvoir sélectionner que les pays stables</a:t>
            </a:r>
          </a:p>
          <a:p>
            <a:endParaRPr lang="fr-FR" dirty="0"/>
          </a:p>
          <a:p>
            <a:r>
              <a:rPr lang="fr-FR" dirty="0"/>
              <a:t>Pour chaque page les segments dates sont reliés afin que le filtres s’applique dans chacune des page et que la vue reste cohérente.</a:t>
            </a:r>
          </a:p>
        </p:txBody>
      </p:sp>
      <p:sp>
        <p:nvSpPr>
          <p:cNvPr id="4" name="Espace réservé du numéro de diapositive 3"/>
          <p:cNvSpPr>
            <a:spLocks noGrp="1"/>
          </p:cNvSpPr>
          <p:nvPr>
            <p:ph type="sldNum" sz="quarter" idx="5"/>
          </p:nvPr>
        </p:nvSpPr>
        <p:spPr/>
        <p:txBody>
          <a:bodyPr/>
          <a:lstStyle/>
          <a:p>
            <a:fld id="{694CC410-F54A-4D33-AD96-428C1FA84863}" type="slidenum">
              <a:rPr lang="fr-FR" smtClean="0"/>
              <a:t>12</a:t>
            </a:fld>
            <a:endParaRPr lang="fr-FR"/>
          </a:p>
        </p:txBody>
      </p:sp>
    </p:spTree>
    <p:extLst>
      <p:ext uri="{BB962C8B-B14F-4D97-AF65-F5344CB8AC3E}">
        <p14:creationId xmlns:p14="http://schemas.microsoft.com/office/powerpoint/2010/main" val="2215355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trouve ici des informations complémentaires sur le pays sélectionné </a:t>
            </a:r>
          </a:p>
        </p:txBody>
      </p:sp>
      <p:sp>
        <p:nvSpPr>
          <p:cNvPr id="4" name="Espace réservé du numéro de diapositive 3"/>
          <p:cNvSpPr>
            <a:spLocks noGrp="1"/>
          </p:cNvSpPr>
          <p:nvPr>
            <p:ph type="sldNum" sz="quarter" idx="5"/>
          </p:nvPr>
        </p:nvSpPr>
        <p:spPr/>
        <p:txBody>
          <a:bodyPr/>
          <a:lstStyle/>
          <a:p>
            <a:fld id="{694CC410-F54A-4D33-AD96-428C1FA84863}" type="slidenum">
              <a:rPr lang="fr-FR" smtClean="0"/>
              <a:t>13</a:t>
            </a:fld>
            <a:endParaRPr lang="fr-FR"/>
          </a:p>
        </p:txBody>
      </p:sp>
    </p:spTree>
    <p:extLst>
      <p:ext uri="{BB962C8B-B14F-4D97-AF65-F5344CB8AC3E}">
        <p14:creationId xmlns:p14="http://schemas.microsoft.com/office/powerpoint/2010/main" val="4143618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11C6B080-E6C3-4A5B-A0F0-B13970F9ADF1}" type="datetime1">
              <a:rPr lang="fr-FR" smtClean="0"/>
              <a:t>12/03/2026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FB8747B-2B08-4040-8EAF-D752BEE491D6}" type="slidenum">
              <a:rPr lang="fr-FR" smtClean="0"/>
              <a:t>‹N°›</a:t>
            </a:fld>
            <a:endParaRPr lang="fr-FR"/>
          </a:p>
        </p:txBody>
      </p:sp>
    </p:spTree>
    <p:extLst>
      <p:ext uri="{BB962C8B-B14F-4D97-AF65-F5344CB8AC3E}">
        <p14:creationId xmlns:p14="http://schemas.microsoft.com/office/powerpoint/2010/main" val="828634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208A5CF-D8F9-494C-91B1-A401E6D32905}" type="datetime1">
              <a:rPr lang="fr-FR" smtClean="0"/>
              <a:t>12/03/2026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FB8747B-2B08-4040-8EAF-D752BEE491D6}" type="slidenum">
              <a:rPr lang="fr-FR" smtClean="0"/>
              <a:t>‹N°›</a:t>
            </a:fld>
            <a:endParaRPr lang="fr-FR"/>
          </a:p>
        </p:txBody>
      </p:sp>
    </p:spTree>
    <p:extLst>
      <p:ext uri="{BB962C8B-B14F-4D97-AF65-F5344CB8AC3E}">
        <p14:creationId xmlns:p14="http://schemas.microsoft.com/office/powerpoint/2010/main" val="4013462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F9375175-C984-4B2A-B044-FB65E1E63A70}" type="datetime1">
              <a:rPr lang="fr-FR" smtClean="0"/>
              <a:t>12/03/2026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FB8747B-2B08-4040-8EAF-D752BEE491D6}" type="slidenum">
              <a:rPr lang="fr-FR" smtClean="0"/>
              <a:t>‹N°›</a:t>
            </a:fld>
            <a:endParaRPr lang="fr-FR"/>
          </a:p>
        </p:txBody>
      </p:sp>
    </p:spTree>
    <p:extLst>
      <p:ext uri="{BB962C8B-B14F-4D97-AF65-F5344CB8AC3E}">
        <p14:creationId xmlns:p14="http://schemas.microsoft.com/office/powerpoint/2010/main" val="217775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7577BC0D-E66C-469D-8EF1-1636BC5CDDB3}" type="datetime1">
              <a:rPr lang="fr-FR" smtClean="0"/>
              <a:t>12/03/2026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FB8747B-2B08-4040-8EAF-D752BEE491D6}" type="slidenum">
              <a:rPr lang="fr-FR" smtClean="0"/>
              <a:t>‹N°›</a:t>
            </a:fld>
            <a:endParaRPr lang="fr-FR"/>
          </a:p>
        </p:txBody>
      </p:sp>
    </p:spTree>
    <p:extLst>
      <p:ext uri="{BB962C8B-B14F-4D97-AF65-F5344CB8AC3E}">
        <p14:creationId xmlns:p14="http://schemas.microsoft.com/office/powerpoint/2010/main" val="1291018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99D67B57-7C18-4483-A7A8-885D346859C5}" type="datetime1">
              <a:rPr lang="fr-FR" smtClean="0"/>
              <a:t>12/03/2026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1FB8747B-2B08-4040-8EAF-D752BEE491D6}" type="slidenum">
              <a:rPr lang="fr-FR" smtClean="0"/>
              <a:t>‹N°›</a:t>
            </a:fld>
            <a:endParaRPr lang="fr-FR"/>
          </a:p>
        </p:txBody>
      </p:sp>
    </p:spTree>
    <p:extLst>
      <p:ext uri="{BB962C8B-B14F-4D97-AF65-F5344CB8AC3E}">
        <p14:creationId xmlns:p14="http://schemas.microsoft.com/office/powerpoint/2010/main" val="421195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0010FD5D-2F3B-4E62-A561-F22EBCE86653}" type="datetime1">
              <a:rPr lang="fr-FR" smtClean="0"/>
              <a:t>12/03/2026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1FB8747B-2B08-4040-8EAF-D752BEE491D6}" type="slidenum">
              <a:rPr lang="fr-FR" smtClean="0"/>
              <a:t>‹N°›</a:t>
            </a:fld>
            <a:endParaRPr lang="fr-FR"/>
          </a:p>
        </p:txBody>
      </p:sp>
    </p:spTree>
    <p:extLst>
      <p:ext uri="{BB962C8B-B14F-4D97-AF65-F5344CB8AC3E}">
        <p14:creationId xmlns:p14="http://schemas.microsoft.com/office/powerpoint/2010/main" val="3290095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FCC5CC-0DA1-4C7F-9C0A-06EE950001FD}" type="datetime1">
              <a:rPr lang="fr-FR" smtClean="0"/>
              <a:t>12/03/2026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1FB8747B-2B08-4040-8EAF-D752BEE491D6}" type="slidenum">
              <a:rPr lang="fr-FR" smtClean="0"/>
              <a:t>‹N°›</a:t>
            </a:fld>
            <a:endParaRPr lang="fr-FR"/>
          </a:p>
        </p:txBody>
      </p:sp>
    </p:spTree>
    <p:extLst>
      <p:ext uri="{BB962C8B-B14F-4D97-AF65-F5344CB8AC3E}">
        <p14:creationId xmlns:p14="http://schemas.microsoft.com/office/powerpoint/2010/main" val="137281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55E7D2A-85C4-47B6-9B71-9001534F8222}" type="datetime1">
              <a:rPr lang="fr-FR" smtClean="0"/>
              <a:t>12/03/2026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FB8747B-2B08-4040-8EAF-D752BEE491D6}" type="slidenum">
              <a:rPr lang="fr-FR" smtClean="0"/>
              <a:t>‹N°›</a:t>
            </a:fld>
            <a:endParaRPr lang="fr-FR"/>
          </a:p>
        </p:txBody>
      </p:sp>
    </p:spTree>
    <p:extLst>
      <p:ext uri="{BB962C8B-B14F-4D97-AF65-F5344CB8AC3E}">
        <p14:creationId xmlns:p14="http://schemas.microsoft.com/office/powerpoint/2010/main" val="3061550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D065561-A98E-4218-8312-1DC1B36BA605}" type="datetime1">
              <a:rPr lang="fr-FR" smtClean="0"/>
              <a:t>12/03/2026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FB8747B-2B08-4040-8EAF-D752BEE491D6}" type="slidenum">
              <a:rPr lang="fr-FR" smtClean="0"/>
              <a:t>‹N°›</a:t>
            </a:fld>
            <a:endParaRPr lang="fr-FR"/>
          </a:p>
        </p:txBody>
      </p:sp>
    </p:spTree>
    <p:extLst>
      <p:ext uri="{BB962C8B-B14F-4D97-AF65-F5344CB8AC3E}">
        <p14:creationId xmlns:p14="http://schemas.microsoft.com/office/powerpoint/2010/main" val="1999561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265B45B-E209-4548-A725-ED2EBA3C250A}" type="datetime1">
              <a:rPr lang="fr-FR" smtClean="0"/>
              <a:t>12/03/2026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FB8747B-2B08-4040-8EAF-D752BEE491D6}" type="slidenum">
              <a:rPr lang="fr-FR" smtClean="0"/>
              <a:t>‹N°›</a:t>
            </a:fld>
            <a:endParaRPr lang="fr-FR"/>
          </a:p>
        </p:txBody>
      </p:sp>
    </p:spTree>
    <p:extLst>
      <p:ext uri="{BB962C8B-B14F-4D97-AF65-F5344CB8AC3E}">
        <p14:creationId xmlns:p14="http://schemas.microsoft.com/office/powerpoint/2010/main" val="2589762013"/>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265B45B-E209-4548-A725-ED2EBA3C250A}" type="datetime1">
              <a:rPr lang="fr-FR" smtClean="0"/>
              <a:t>12/03/2026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FB8747B-2B08-4040-8EAF-D752BEE491D6}" type="slidenum">
              <a:rPr lang="fr-FR" smtClean="0"/>
              <a:t>‹N°›</a:t>
            </a:fld>
            <a:endParaRPr lang="fr-F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2509750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265B45B-E209-4548-A725-ED2EBA3C250A}" type="datetime1">
              <a:rPr lang="fr-FR" smtClean="0"/>
              <a:t>12/03/2026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FB8747B-2B08-4040-8EAF-D752BEE491D6}" type="slidenum">
              <a:rPr lang="fr-FR" smtClean="0"/>
              <a:t>‹N°›</a:t>
            </a:fld>
            <a:endParaRPr lang="fr-FR"/>
          </a:p>
        </p:txBody>
      </p:sp>
    </p:spTree>
    <p:extLst>
      <p:ext uri="{BB962C8B-B14F-4D97-AF65-F5344CB8AC3E}">
        <p14:creationId xmlns:p14="http://schemas.microsoft.com/office/powerpoint/2010/main" val="4240414749"/>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265B45B-E209-4548-A725-ED2EBA3C250A}" type="datetime1">
              <a:rPr lang="fr-FR" smtClean="0"/>
              <a:t>12/03/2026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FB8747B-2B08-4040-8EAF-D752BEE491D6}" type="slidenum">
              <a:rPr lang="fr-FR" smtClean="0"/>
              <a:t>‹N°›</a:t>
            </a:fld>
            <a:endParaRPr lang="fr-F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44192947"/>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265B45B-E209-4548-A725-ED2EBA3C250A}" type="datetime1">
              <a:rPr lang="fr-FR" smtClean="0"/>
              <a:t>12/03/2026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FB8747B-2B08-4040-8EAF-D752BEE491D6}" type="slidenum">
              <a:rPr lang="fr-FR" smtClean="0"/>
              <a:t>‹N°›</a:t>
            </a:fld>
            <a:endParaRPr lang="fr-FR"/>
          </a:p>
        </p:txBody>
      </p:sp>
    </p:spTree>
    <p:extLst>
      <p:ext uri="{BB962C8B-B14F-4D97-AF65-F5344CB8AC3E}">
        <p14:creationId xmlns:p14="http://schemas.microsoft.com/office/powerpoint/2010/main" val="3423087158"/>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A964A8E-C02D-487E-BCB5-01061BB1685D}" type="datetime1">
              <a:rPr lang="fr-FR" smtClean="0"/>
              <a:t>12/03/2026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FB8747B-2B08-4040-8EAF-D752BEE491D6}" type="slidenum">
              <a:rPr lang="fr-FR" smtClean="0"/>
              <a:t>‹N°›</a:t>
            </a:fld>
            <a:endParaRPr lang="fr-FR"/>
          </a:p>
        </p:txBody>
      </p:sp>
    </p:spTree>
    <p:extLst>
      <p:ext uri="{BB962C8B-B14F-4D97-AF65-F5344CB8AC3E}">
        <p14:creationId xmlns:p14="http://schemas.microsoft.com/office/powerpoint/2010/main" val="8229780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A627F15-9C83-4259-9D60-CB2BE38FB1A8}" type="datetime1">
              <a:rPr lang="fr-FR" smtClean="0"/>
              <a:t>12/03/2026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FB8747B-2B08-4040-8EAF-D752BEE491D6}" type="slidenum">
              <a:rPr lang="fr-FR" smtClean="0"/>
              <a:t>‹N°›</a:t>
            </a:fld>
            <a:endParaRPr lang="fr-FR"/>
          </a:p>
        </p:txBody>
      </p:sp>
    </p:spTree>
    <p:extLst>
      <p:ext uri="{BB962C8B-B14F-4D97-AF65-F5344CB8AC3E}">
        <p14:creationId xmlns:p14="http://schemas.microsoft.com/office/powerpoint/2010/main" val="2824546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265B45B-E209-4548-A725-ED2EBA3C250A}" type="datetime1">
              <a:rPr lang="fr-FR" smtClean="0"/>
              <a:t>12/03/2026</a:t>
            </a:fld>
            <a:endParaRPr lang="fr-F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FB8747B-2B08-4040-8EAF-D752BEE491D6}" type="slidenum">
              <a:rPr lang="fr-FR" smtClean="0"/>
              <a:t>‹N°›</a:t>
            </a:fld>
            <a:endParaRPr lang="fr-FR"/>
          </a:p>
        </p:txBody>
      </p:sp>
    </p:spTree>
    <p:extLst>
      <p:ext uri="{BB962C8B-B14F-4D97-AF65-F5344CB8AC3E}">
        <p14:creationId xmlns:p14="http://schemas.microsoft.com/office/powerpoint/2010/main" val="5482035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634A0A-AC7D-9B3B-6214-19536BB64DB7}"/>
              </a:ext>
            </a:extLst>
          </p:cNvPr>
          <p:cNvSpPr>
            <a:spLocks noGrp="1"/>
          </p:cNvSpPr>
          <p:nvPr>
            <p:ph type="ctrTitle"/>
          </p:nvPr>
        </p:nvSpPr>
        <p:spPr/>
        <p:txBody>
          <a:bodyPr/>
          <a:lstStyle/>
          <a:p>
            <a:r>
              <a:rPr lang="fr-FR" dirty="0"/>
              <a:t>Réalisation d’une étude sur l’eau potable</a:t>
            </a:r>
          </a:p>
        </p:txBody>
      </p:sp>
      <p:sp>
        <p:nvSpPr>
          <p:cNvPr id="3" name="Sous-titre 2">
            <a:extLst>
              <a:ext uri="{FF2B5EF4-FFF2-40B4-BE49-F238E27FC236}">
                <a16:creationId xmlns:a16="http://schemas.microsoft.com/office/drawing/2014/main" id="{F1331A65-2347-248B-A39D-7F670CD15D97}"/>
              </a:ext>
            </a:extLst>
          </p:cNvPr>
          <p:cNvSpPr>
            <a:spLocks noGrp="1"/>
          </p:cNvSpPr>
          <p:nvPr>
            <p:ph type="subTitle" idx="1"/>
          </p:nvPr>
        </p:nvSpPr>
        <p:spPr>
          <a:xfrm>
            <a:off x="0" y="6227085"/>
            <a:ext cx="2294562" cy="630915"/>
          </a:xfrm>
        </p:spPr>
        <p:txBody>
          <a:bodyPr anchor="ctr"/>
          <a:lstStyle/>
          <a:p>
            <a:r>
              <a:rPr lang="fr-FR" dirty="0"/>
              <a:t>Evan Fol</a:t>
            </a:r>
          </a:p>
        </p:txBody>
      </p:sp>
      <p:sp>
        <p:nvSpPr>
          <p:cNvPr id="4" name="Espace réservé du numéro de diapositive 3">
            <a:extLst>
              <a:ext uri="{FF2B5EF4-FFF2-40B4-BE49-F238E27FC236}">
                <a16:creationId xmlns:a16="http://schemas.microsoft.com/office/drawing/2014/main" id="{1B0F6C87-2EB9-B1DD-CF7A-CC49792284DF}"/>
              </a:ext>
            </a:extLst>
          </p:cNvPr>
          <p:cNvSpPr>
            <a:spLocks noGrp="1"/>
          </p:cNvSpPr>
          <p:nvPr>
            <p:ph type="sldNum" sz="quarter" idx="12"/>
          </p:nvPr>
        </p:nvSpPr>
        <p:spPr/>
        <p:txBody>
          <a:bodyPr/>
          <a:lstStyle/>
          <a:p>
            <a:fld id="{1FB8747B-2B08-4040-8EAF-D752BEE491D6}" type="slidenum">
              <a:rPr lang="fr-FR" smtClean="0"/>
              <a:t>1</a:t>
            </a:fld>
            <a:endParaRPr lang="fr-FR"/>
          </a:p>
        </p:txBody>
      </p:sp>
    </p:spTree>
    <p:extLst>
      <p:ext uri="{BB962C8B-B14F-4D97-AF65-F5344CB8AC3E}">
        <p14:creationId xmlns:p14="http://schemas.microsoft.com/office/powerpoint/2010/main" val="24875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55FC19-EFB7-88E0-7B07-01B3C74E7091}"/>
              </a:ext>
            </a:extLst>
          </p:cNvPr>
          <p:cNvSpPr>
            <a:spLocks noGrp="1"/>
          </p:cNvSpPr>
          <p:nvPr>
            <p:ph type="title"/>
          </p:nvPr>
        </p:nvSpPr>
        <p:spPr/>
        <p:txBody>
          <a:bodyPr/>
          <a:lstStyle/>
          <a:p>
            <a:r>
              <a:rPr lang="fr-FR" dirty="0"/>
              <a:t>Dictionnaire de données</a:t>
            </a:r>
          </a:p>
        </p:txBody>
      </p:sp>
      <p:pic>
        <p:nvPicPr>
          <p:cNvPr id="8" name="Espace réservé du contenu 7">
            <a:extLst>
              <a:ext uri="{FF2B5EF4-FFF2-40B4-BE49-F238E27FC236}">
                <a16:creationId xmlns:a16="http://schemas.microsoft.com/office/drawing/2014/main" id="{24EE8B92-EA7E-9F7F-A879-D531F0AEBF02}"/>
              </a:ext>
            </a:extLst>
          </p:cNvPr>
          <p:cNvPicPr>
            <a:picLocks noGrp="1" noChangeAspect="1"/>
          </p:cNvPicPr>
          <p:nvPr>
            <p:ph idx="1"/>
          </p:nvPr>
        </p:nvPicPr>
        <p:blipFill>
          <a:blip r:embed="rId3"/>
          <a:stretch>
            <a:fillRect/>
          </a:stretch>
        </p:blipFill>
        <p:spPr>
          <a:xfrm>
            <a:off x="677334" y="1382955"/>
            <a:ext cx="8759793" cy="5205852"/>
          </a:xfrm>
          <a:prstGeom prst="rect">
            <a:avLst/>
          </a:prstGeom>
        </p:spPr>
      </p:pic>
      <p:sp>
        <p:nvSpPr>
          <p:cNvPr id="4" name="Espace réservé du numéro de diapositive 3">
            <a:extLst>
              <a:ext uri="{FF2B5EF4-FFF2-40B4-BE49-F238E27FC236}">
                <a16:creationId xmlns:a16="http://schemas.microsoft.com/office/drawing/2014/main" id="{00D47A35-EDEC-A4ED-C12F-BE0E1570CAB8}"/>
              </a:ext>
            </a:extLst>
          </p:cNvPr>
          <p:cNvSpPr>
            <a:spLocks noGrp="1"/>
          </p:cNvSpPr>
          <p:nvPr>
            <p:ph type="sldNum" sz="quarter" idx="12"/>
          </p:nvPr>
        </p:nvSpPr>
        <p:spPr/>
        <p:txBody>
          <a:bodyPr/>
          <a:lstStyle/>
          <a:p>
            <a:fld id="{1FB8747B-2B08-4040-8EAF-D752BEE491D6}" type="slidenum">
              <a:rPr lang="fr-FR" smtClean="0"/>
              <a:t>2</a:t>
            </a:fld>
            <a:endParaRPr lang="fr-FR"/>
          </a:p>
        </p:txBody>
      </p:sp>
    </p:spTree>
    <p:extLst>
      <p:ext uri="{BB962C8B-B14F-4D97-AF65-F5344CB8AC3E}">
        <p14:creationId xmlns:p14="http://schemas.microsoft.com/office/powerpoint/2010/main" val="580024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9F402-D4FB-C102-10E2-4871E2B87D3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C2C9468-13A6-54C4-9230-3973246ED540}"/>
              </a:ext>
            </a:extLst>
          </p:cNvPr>
          <p:cNvSpPr>
            <a:spLocks noGrp="1"/>
          </p:cNvSpPr>
          <p:nvPr>
            <p:ph type="title"/>
          </p:nvPr>
        </p:nvSpPr>
        <p:spPr/>
        <p:txBody>
          <a:bodyPr/>
          <a:lstStyle/>
          <a:p>
            <a:r>
              <a:rPr lang="fr-FR" dirty="0" err="1"/>
              <a:t>Blueprint</a:t>
            </a:r>
            <a:endParaRPr lang="fr-FR" dirty="0"/>
          </a:p>
        </p:txBody>
      </p:sp>
      <p:sp>
        <p:nvSpPr>
          <p:cNvPr id="4" name="Espace réservé du numéro de diapositive 3">
            <a:extLst>
              <a:ext uri="{FF2B5EF4-FFF2-40B4-BE49-F238E27FC236}">
                <a16:creationId xmlns:a16="http://schemas.microsoft.com/office/drawing/2014/main" id="{66A4D01C-63FA-647C-1B90-D6F1DEED1F43}"/>
              </a:ext>
            </a:extLst>
          </p:cNvPr>
          <p:cNvSpPr>
            <a:spLocks noGrp="1"/>
          </p:cNvSpPr>
          <p:nvPr>
            <p:ph type="sldNum" sz="quarter" idx="12"/>
          </p:nvPr>
        </p:nvSpPr>
        <p:spPr/>
        <p:txBody>
          <a:bodyPr/>
          <a:lstStyle/>
          <a:p>
            <a:fld id="{1FB8747B-2B08-4040-8EAF-D752BEE491D6}" type="slidenum">
              <a:rPr lang="fr-FR" smtClean="0"/>
              <a:t>3</a:t>
            </a:fld>
            <a:endParaRPr lang="fr-FR"/>
          </a:p>
        </p:txBody>
      </p:sp>
      <p:pic>
        <p:nvPicPr>
          <p:cNvPr id="11" name="Image 10">
            <a:extLst>
              <a:ext uri="{FF2B5EF4-FFF2-40B4-BE49-F238E27FC236}">
                <a16:creationId xmlns:a16="http://schemas.microsoft.com/office/drawing/2014/main" id="{F794770E-4436-8963-7AD1-2CF54A8E44B2}"/>
              </a:ext>
            </a:extLst>
          </p:cNvPr>
          <p:cNvPicPr>
            <a:picLocks noChangeAspect="1"/>
          </p:cNvPicPr>
          <p:nvPr/>
        </p:nvPicPr>
        <p:blipFill>
          <a:blip r:embed="rId3"/>
          <a:stretch>
            <a:fillRect/>
          </a:stretch>
        </p:blipFill>
        <p:spPr>
          <a:xfrm>
            <a:off x="2661758" y="1328953"/>
            <a:ext cx="5757847" cy="4256494"/>
          </a:xfrm>
          <a:prstGeom prst="rect">
            <a:avLst/>
          </a:prstGeom>
        </p:spPr>
      </p:pic>
      <p:pic>
        <p:nvPicPr>
          <p:cNvPr id="12" name="Image 11">
            <a:extLst>
              <a:ext uri="{FF2B5EF4-FFF2-40B4-BE49-F238E27FC236}">
                <a16:creationId xmlns:a16="http://schemas.microsoft.com/office/drawing/2014/main" id="{379EAA01-1942-36C4-8C50-855C820987C7}"/>
              </a:ext>
            </a:extLst>
          </p:cNvPr>
          <p:cNvPicPr>
            <a:picLocks noChangeAspect="1"/>
          </p:cNvPicPr>
          <p:nvPr/>
        </p:nvPicPr>
        <p:blipFill>
          <a:blip r:embed="rId4"/>
          <a:srcRect t="5914" b="27687"/>
          <a:stretch>
            <a:fillRect/>
          </a:stretch>
        </p:blipFill>
        <p:spPr>
          <a:xfrm>
            <a:off x="2612572" y="5585447"/>
            <a:ext cx="5842660" cy="1069000"/>
          </a:xfrm>
          <a:prstGeom prst="rect">
            <a:avLst/>
          </a:prstGeom>
        </p:spPr>
      </p:pic>
    </p:spTree>
    <p:extLst>
      <p:ext uri="{BB962C8B-B14F-4D97-AF65-F5344CB8AC3E}">
        <p14:creationId xmlns:p14="http://schemas.microsoft.com/office/powerpoint/2010/main" val="3498341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AC881-705E-EC6A-9F81-CEF7C2B66BB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09988EF-B33D-6CF2-32CE-44B595032A20}"/>
              </a:ext>
            </a:extLst>
          </p:cNvPr>
          <p:cNvSpPr>
            <a:spLocks noGrp="1"/>
          </p:cNvSpPr>
          <p:nvPr>
            <p:ph type="title"/>
          </p:nvPr>
        </p:nvSpPr>
        <p:spPr/>
        <p:txBody>
          <a:bodyPr/>
          <a:lstStyle/>
          <a:p>
            <a:r>
              <a:rPr lang="fr-FR" dirty="0" err="1"/>
              <a:t>Blueprint</a:t>
            </a:r>
            <a:r>
              <a:rPr lang="fr-FR" dirty="0"/>
              <a:t> suite</a:t>
            </a:r>
          </a:p>
        </p:txBody>
      </p:sp>
      <p:sp>
        <p:nvSpPr>
          <p:cNvPr id="4" name="Espace réservé du numéro de diapositive 3">
            <a:extLst>
              <a:ext uri="{FF2B5EF4-FFF2-40B4-BE49-F238E27FC236}">
                <a16:creationId xmlns:a16="http://schemas.microsoft.com/office/drawing/2014/main" id="{75B516AF-0F73-233B-76CC-FBAFEE8C94CA}"/>
              </a:ext>
            </a:extLst>
          </p:cNvPr>
          <p:cNvSpPr>
            <a:spLocks noGrp="1"/>
          </p:cNvSpPr>
          <p:nvPr>
            <p:ph type="sldNum" sz="quarter" idx="12"/>
          </p:nvPr>
        </p:nvSpPr>
        <p:spPr/>
        <p:txBody>
          <a:bodyPr/>
          <a:lstStyle/>
          <a:p>
            <a:fld id="{1FB8747B-2B08-4040-8EAF-D752BEE491D6}" type="slidenum">
              <a:rPr lang="fr-FR" smtClean="0"/>
              <a:t>4</a:t>
            </a:fld>
            <a:endParaRPr lang="fr-FR"/>
          </a:p>
        </p:txBody>
      </p:sp>
      <p:pic>
        <p:nvPicPr>
          <p:cNvPr id="5" name="Image 4">
            <a:extLst>
              <a:ext uri="{FF2B5EF4-FFF2-40B4-BE49-F238E27FC236}">
                <a16:creationId xmlns:a16="http://schemas.microsoft.com/office/drawing/2014/main" id="{406135E1-B476-3636-9C5D-81B9AAD4ABBF}"/>
              </a:ext>
            </a:extLst>
          </p:cNvPr>
          <p:cNvPicPr>
            <a:picLocks noChangeAspect="1"/>
          </p:cNvPicPr>
          <p:nvPr/>
        </p:nvPicPr>
        <p:blipFill>
          <a:blip r:embed="rId3"/>
          <a:stretch>
            <a:fillRect/>
          </a:stretch>
        </p:blipFill>
        <p:spPr>
          <a:xfrm>
            <a:off x="4159926" y="1124300"/>
            <a:ext cx="4608417" cy="5555570"/>
          </a:xfrm>
          <a:prstGeom prst="rect">
            <a:avLst/>
          </a:prstGeom>
        </p:spPr>
      </p:pic>
      <p:pic>
        <p:nvPicPr>
          <p:cNvPr id="7" name="Image 6">
            <a:extLst>
              <a:ext uri="{FF2B5EF4-FFF2-40B4-BE49-F238E27FC236}">
                <a16:creationId xmlns:a16="http://schemas.microsoft.com/office/drawing/2014/main" id="{F0F1D69D-15E0-D870-69F0-A22ED32CAE2E}"/>
              </a:ext>
            </a:extLst>
          </p:cNvPr>
          <p:cNvPicPr>
            <a:picLocks noChangeAspect="1"/>
          </p:cNvPicPr>
          <p:nvPr/>
        </p:nvPicPr>
        <p:blipFill>
          <a:blip r:embed="rId4"/>
          <a:stretch>
            <a:fillRect/>
          </a:stretch>
        </p:blipFill>
        <p:spPr>
          <a:xfrm>
            <a:off x="4144488" y="783956"/>
            <a:ext cx="4631377" cy="390580"/>
          </a:xfrm>
          <a:prstGeom prst="rect">
            <a:avLst/>
          </a:prstGeom>
        </p:spPr>
      </p:pic>
    </p:spTree>
    <p:extLst>
      <p:ext uri="{BB962C8B-B14F-4D97-AF65-F5344CB8AC3E}">
        <p14:creationId xmlns:p14="http://schemas.microsoft.com/office/powerpoint/2010/main" val="279573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3E8FB-CB66-0AB7-38CC-C4A92082AAC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7837367-D5A8-9F23-1AC3-C9CD33B0F960}"/>
              </a:ext>
            </a:extLst>
          </p:cNvPr>
          <p:cNvSpPr>
            <a:spLocks noGrp="1"/>
          </p:cNvSpPr>
          <p:nvPr>
            <p:ph type="title"/>
          </p:nvPr>
        </p:nvSpPr>
        <p:spPr/>
        <p:txBody>
          <a:bodyPr/>
          <a:lstStyle/>
          <a:p>
            <a:r>
              <a:rPr lang="fr-FR" dirty="0"/>
              <a:t>Préparation des données (Power </a:t>
            </a:r>
            <a:r>
              <a:rPr lang="fr-FR" dirty="0" err="1"/>
              <a:t>Query</a:t>
            </a:r>
            <a:r>
              <a:rPr lang="fr-FR" dirty="0"/>
              <a:t>)</a:t>
            </a:r>
          </a:p>
        </p:txBody>
      </p:sp>
      <p:sp>
        <p:nvSpPr>
          <p:cNvPr id="4" name="Espace réservé du numéro de diapositive 3">
            <a:extLst>
              <a:ext uri="{FF2B5EF4-FFF2-40B4-BE49-F238E27FC236}">
                <a16:creationId xmlns:a16="http://schemas.microsoft.com/office/drawing/2014/main" id="{3C16D731-2283-E018-8888-17DCB9843A40}"/>
              </a:ext>
            </a:extLst>
          </p:cNvPr>
          <p:cNvSpPr>
            <a:spLocks noGrp="1"/>
          </p:cNvSpPr>
          <p:nvPr>
            <p:ph type="sldNum" sz="quarter" idx="12"/>
          </p:nvPr>
        </p:nvSpPr>
        <p:spPr/>
        <p:txBody>
          <a:bodyPr/>
          <a:lstStyle/>
          <a:p>
            <a:fld id="{1FB8747B-2B08-4040-8EAF-D752BEE491D6}" type="slidenum">
              <a:rPr lang="fr-FR" smtClean="0"/>
              <a:t>5</a:t>
            </a:fld>
            <a:endParaRPr lang="fr-FR"/>
          </a:p>
        </p:txBody>
      </p:sp>
      <p:sp>
        <p:nvSpPr>
          <p:cNvPr id="5" name="Espace réservé du contenu 4">
            <a:extLst>
              <a:ext uri="{FF2B5EF4-FFF2-40B4-BE49-F238E27FC236}">
                <a16:creationId xmlns:a16="http://schemas.microsoft.com/office/drawing/2014/main" id="{A98D08F2-662B-5E12-4D45-C287A72F8D34}"/>
              </a:ext>
            </a:extLst>
          </p:cNvPr>
          <p:cNvSpPr>
            <a:spLocks noGrp="1"/>
          </p:cNvSpPr>
          <p:nvPr>
            <p:ph idx="1"/>
          </p:nvPr>
        </p:nvSpPr>
        <p:spPr>
          <a:xfrm>
            <a:off x="677334" y="1646881"/>
            <a:ext cx="8596668" cy="5134063"/>
          </a:xfrm>
        </p:spPr>
        <p:txBody>
          <a:bodyPr/>
          <a:lstStyle/>
          <a:p>
            <a:r>
              <a:rPr lang="fr-FR" dirty="0"/>
              <a:t>Mise en forme des colonnes et de leur type pour respecter le dictionnaire de données (notamment au niveau des %)</a:t>
            </a:r>
          </a:p>
          <a:p>
            <a:endParaRPr lang="fr-FR" dirty="0"/>
          </a:p>
          <a:p>
            <a:r>
              <a:rPr lang="fr-FR" dirty="0"/>
              <a:t>Suppression de certaines colonnes inutiles comme </a:t>
            </a:r>
            <a:r>
              <a:rPr lang="fr-FR" dirty="0" err="1"/>
              <a:t>granularity</a:t>
            </a:r>
            <a:r>
              <a:rPr lang="fr-FR" dirty="0"/>
              <a:t> dans </a:t>
            </a:r>
            <a:r>
              <a:rPr lang="fr-FR" dirty="0" err="1"/>
              <a:t>mortality</a:t>
            </a:r>
            <a:r>
              <a:rPr lang="fr-FR" dirty="0"/>
              <a:t> rate et </a:t>
            </a:r>
            <a:r>
              <a:rPr lang="fr-FR" dirty="0" err="1"/>
              <a:t>political</a:t>
            </a:r>
            <a:r>
              <a:rPr lang="fr-FR" dirty="0"/>
              <a:t> </a:t>
            </a:r>
            <a:r>
              <a:rPr lang="fr-FR" dirty="0" err="1"/>
              <a:t>stability</a:t>
            </a:r>
            <a:r>
              <a:rPr lang="fr-FR" dirty="0"/>
              <a:t> pour  alléger le modèle</a:t>
            </a:r>
          </a:p>
          <a:p>
            <a:endParaRPr lang="fr-FR" dirty="0"/>
          </a:p>
          <a:p>
            <a:r>
              <a:rPr lang="fr-FR" dirty="0"/>
              <a:t>Modification de la table </a:t>
            </a:r>
            <a:r>
              <a:rPr lang="fr-FR" dirty="0" err="1"/>
              <a:t>RegionCountry</a:t>
            </a:r>
            <a:r>
              <a:rPr lang="fr-FR" dirty="0"/>
              <a:t> en table de dimension (</a:t>
            </a:r>
            <a:r>
              <a:rPr lang="fr-FR" dirty="0" err="1"/>
              <a:t>DimCountry</a:t>
            </a:r>
            <a:r>
              <a:rPr lang="fr-FR" dirty="0"/>
              <a:t>)</a:t>
            </a:r>
          </a:p>
          <a:p>
            <a:endParaRPr lang="fr-FR" dirty="0"/>
          </a:p>
          <a:p>
            <a:r>
              <a:rPr lang="fr-FR" dirty="0"/>
              <a:t>Création d’une table de dimension pour la granularité (</a:t>
            </a:r>
            <a:r>
              <a:rPr lang="fr-FR" dirty="0" err="1"/>
              <a:t>DimGranularity</a:t>
            </a:r>
            <a:r>
              <a:rPr lang="fr-FR" dirty="0"/>
              <a:t>)</a:t>
            </a:r>
          </a:p>
          <a:p>
            <a:endParaRPr lang="fr-FR" dirty="0"/>
          </a:p>
          <a:p>
            <a:r>
              <a:rPr lang="fr-FR" dirty="0"/>
              <a:t>Création d’une table de dimension pour les années (</a:t>
            </a:r>
            <a:r>
              <a:rPr lang="fr-FR" dirty="0" err="1"/>
              <a:t>DimYear</a:t>
            </a:r>
            <a:r>
              <a:rPr lang="fr-FR" dirty="0"/>
              <a:t>)</a:t>
            </a:r>
          </a:p>
          <a:p>
            <a:endParaRPr lang="fr-FR" dirty="0"/>
          </a:p>
          <a:p>
            <a:r>
              <a:rPr lang="fr-FR" dirty="0"/>
              <a:t>Nos tables de dimensions permettront ainsi de relier nos tables de faits</a:t>
            </a:r>
          </a:p>
        </p:txBody>
      </p:sp>
    </p:spTree>
    <p:extLst>
      <p:ext uri="{BB962C8B-B14F-4D97-AF65-F5344CB8AC3E}">
        <p14:creationId xmlns:p14="http://schemas.microsoft.com/office/powerpoint/2010/main" val="3915229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FC219-41B0-DFE4-A0F1-E6945853E867}"/>
              </a:ext>
            </a:extLst>
          </p:cNvPr>
          <p:cNvSpPr>
            <a:spLocks noGrp="1"/>
          </p:cNvSpPr>
          <p:nvPr>
            <p:ph type="title"/>
          </p:nvPr>
        </p:nvSpPr>
        <p:spPr/>
        <p:txBody>
          <a:bodyPr/>
          <a:lstStyle/>
          <a:p>
            <a:r>
              <a:rPr lang="fr-FR" dirty="0"/>
              <a:t>Présentation du modèle de données</a:t>
            </a:r>
          </a:p>
        </p:txBody>
      </p:sp>
      <p:pic>
        <p:nvPicPr>
          <p:cNvPr id="6" name="Espace réservé du contenu 5" descr="Une image contenant texte, capture d’écran, diagramme, Plan&#10;&#10;Le contenu généré par l’IA peut être incorrect.">
            <a:extLst>
              <a:ext uri="{FF2B5EF4-FFF2-40B4-BE49-F238E27FC236}">
                <a16:creationId xmlns:a16="http://schemas.microsoft.com/office/drawing/2014/main" id="{61AC1940-40CC-23CE-A176-4A681D8ABE0E}"/>
              </a:ext>
            </a:extLst>
          </p:cNvPr>
          <p:cNvPicPr>
            <a:picLocks noGrp="1" noChangeAspect="1"/>
          </p:cNvPicPr>
          <p:nvPr>
            <p:ph idx="1"/>
          </p:nvPr>
        </p:nvPicPr>
        <p:blipFill>
          <a:blip r:embed="rId3"/>
          <a:stretch>
            <a:fillRect/>
          </a:stretch>
        </p:blipFill>
        <p:spPr>
          <a:xfrm>
            <a:off x="677334" y="1488281"/>
            <a:ext cx="9047600" cy="4553081"/>
          </a:xfrm>
          <a:prstGeom prst="rect">
            <a:avLst/>
          </a:prstGeom>
        </p:spPr>
      </p:pic>
      <p:sp>
        <p:nvSpPr>
          <p:cNvPr id="4" name="Espace réservé du numéro de diapositive 3">
            <a:extLst>
              <a:ext uri="{FF2B5EF4-FFF2-40B4-BE49-F238E27FC236}">
                <a16:creationId xmlns:a16="http://schemas.microsoft.com/office/drawing/2014/main" id="{27E9001B-E972-8501-D027-FFE636E2DB3D}"/>
              </a:ext>
            </a:extLst>
          </p:cNvPr>
          <p:cNvSpPr>
            <a:spLocks noGrp="1"/>
          </p:cNvSpPr>
          <p:nvPr>
            <p:ph type="sldNum" sz="quarter" idx="12"/>
          </p:nvPr>
        </p:nvSpPr>
        <p:spPr/>
        <p:txBody>
          <a:bodyPr/>
          <a:lstStyle/>
          <a:p>
            <a:fld id="{1FB8747B-2B08-4040-8EAF-D752BEE491D6}" type="slidenum">
              <a:rPr lang="fr-FR" smtClean="0"/>
              <a:t>6</a:t>
            </a:fld>
            <a:endParaRPr lang="fr-FR"/>
          </a:p>
        </p:txBody>
      </p:sp>
      <p:sp>
        <p:nvSpPr>
          <p:cNvPr id="8" name="Accolade ouvrante 7">
            <a:extLst>
              <a:ext uri="{FF2B5EF4-FFF2-40B4-BE49-F238E27FC236}">
                <a16:creationId xmlns:a16="http://schemas.microsoft.com/office/drawing/2014/main" id="{F498C9AE-1ED3-DE6E-7318-D5BBEEFACC28}"/>
              </a:ext>
            </a:extLst>
          </p:cNvPr>
          <p:cNvSpPr/>
          <p:nvPr/>
        </p:nvSpPr>
        <p:spPr>
          <a:xfrm rot="10800000">
            <a:off x="8932332" y="1582641"/>
            <a:ext cx="266218" cy="1602160"/>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9" name="Accolade fermante 8">
            <a:extLst>
              <a:ext uri="{FF2B5EF4-FFF2-40B4-BE49-F238E27FC236}">
                <a16:creationId xmlns:a16="http://schemas.microsoft.com/office/drawing/2014/main" id="{4B70BD45-9899-45D7-B678-986B63D09462}"/>
              </a:ext>
            </a:extLst>
          </p:cNvPr>
          <p:cNvSpPr/>
          <p:nvPr/>
        </p:nvSpPr>
        <p:spPr>
          <a:xfrm>
            <a:off x="9410218" y="3703899"/>
            <a:ext cx="462987" cy="218761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0" name="ZoneTexte 9">
            <a:extLst>
              <a:ext uri="{FF2B5EF4-FFF2-40B4-BE49-F238E27FC236}">
                <a16:creationId xmlns:a16="http://schemas.microsoft.com/office/drawing/2014/main" id="{FF03DA6D-A1BA-7012-66EF-40EB14FD4FAC}"/>
              </a:ext>
            </a:extLst>
          </p:cNvPr>
          <p:cNvSpPr txBox="1"/>
          <p:nvPr/>
        </p:nvSpPr>
        <p:spPr>
          <a:xfrm>
            <a:off x="9965802" y="4613040"/>
            <a:ext cx="1747777" cy="369332"/>
          </a:xfrm>
          <a:prstGeom prst="rect">
            <a:avLst/>
          </a:prstGeom>
          <a:solidFill>
            <a:schemeClr val="bg1">
              <a:alpha val="50196"/>
            </a:schemeClr>
          </a:solidFill>
        </p:spPr>
        <p:txBody>
          <a:bodyPr wrap="square" rtlCol="0">
            <a:spAutoFit/>
          </a:bodyPr>
          <a:lstStyle/>
          <a:p>
            <a:r>
              <a:rPr lang="fr-FR" dirty="0"/>
              <a:t>Tables de faits</a:t>
            </a:r>
          </a:p>
        </p:txBody>
      </p:sp>
      <p:sp>
        <p:nvSpPr>
          <p:cNvPr id="11" name="ZoneTexte 10">
            <a:extLst>
              <a:ext uri="{FF2B5EF4-FFF2-40B4-BE49-F238E27FC236}">
                <a16:creationId xmlns:a16="http://schemas.microsoft.com/office/drawing/2014/main" id="{941B70D6-A85F-D7EF-A007-9836E619169D}"/>
              </a:ext>
            </a:extLst>
          </p:cNvPr>
          <p:cNvSpPr txBox="1"/>
          <p:nvPr/>
        </p:nvSpPr>
        <p:spPr>
          <a:xfrm>
            <a:off x="9583837" y="2199055"/>
            <a:ext cx="2511706" cy="369332"/>
          </a:xfrm>
          <a:prstGeom prst="rect">
            <a:avLst/>
          </a:prstGeom>
          <a:solidFill>
            <a:schemeClr val="bg1">
              <a:alpha val="50196"/>
            </a:schemeClr>
          </a:solidFill>
        </p:spPr>
        <p:txBody>
          <a:bodyPr wrap="square" rtlCol="0">
            <a:spAutoFit/>
          </a:bodyPr>
          <a:lstStyle/>
          <a:p>
            <a:r>
              <a:rPr lang="fr-FR" dirty="0"/>
              <a:t>Tables de dimensions</a:t>
            </a:r>
          </a:p>
        </p:txBody>
      </p:sp>
    </p:spTree>
    <p:extLst>
      <p:ext uri="{BB962C8B-B14F-4D97-AF65-F5344CB8AC3E}">
        <p14:creationId xmlns:p14="http://schemas.microsoft.com/office/powerpoint/2010/main" val="1334363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circle(in)">
                                      <p:cBhvr>
                                        <p:cTn id="10" dur="20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circle(in)">
                                      <p:cBhvr>
                                        <p:cTn id="15" dur="2000"/>
                                        <p:tgtEl>
                                          <p:spTgt spid="9"/>
                                        </p:tgtEl>
                                      </p:cBhvr>
                                    </p:animEffect>
                                  </p:childTnLst>
                                </p:cTn>
                              </p:par>
                              <p:par>
                                <p:cTn id="16" presetID="6" presetClass="entr" presetSubtype="16"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circle(in)">
                                      <p:cBhvr>
                                        <p:cTn id="18"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4F532-BD4B-A60A-B80F-CB1F1715497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D3A3B4B-ACC2-FEBB-0171-70103AB8A9EC}"/>
              </a:ext>
            </a:extLst>
          </p:cNvPr>
          <p:cNvSpPr>
            <a:spLocks noGrp="1"/>
          </p:cNvSpPr>
          <p:nvPr>
            <p:ph type="title"/>
          </p:nvPr>
        </p:nvSpPr>
        <p:spPr/>
        <p:txBody>
          <a:bodyPr/>
          <a:lstStyle/>
          <a:p>
            <a:r>
              <a:rPr lang="fr-FR" dirty="0"/>
              <a:t>Les mesures créées</a:t>
            </a:r>
          </a:p>
        </p:txBody>
      </p:sp>
      <p:sp>
        <p:nvSpPr>
          <p:cNvPr id="5" name="Espace réservé du contenu 4">
            <a:extLst>
              <a:ext uri="{FF2B5EF4-FFF2-40B4-BE49-F238E27FC236}">
                <a16:creationId xmlns:a16="http://schemas.microsoft.com/office/drawing/2014/main" id="{77DA2654-D463-ABB1-AD50-3A23F536C16B}"/>
              </a:ext>
            </a:extLst>
          </p:cNvPr>
          <p:cNvSpPr>
            <a:spLocks noGrp="1"/>
          </p:cNvSpPr>
          <p:nvPr>
            <p:ph idx="1"/>
          </p:nvPr>
        </p:nvSpPr>
        <p:spPr>
          <a:xfrm>
            <a:off x="677334" y="1763982"/>
            <a:ext cx="8596668" cy="4484418"/>
          </a:xfrm>
        </p:spPr>
        <p:txBody>
          <a:bodyPr>
            <a:normAutofit lnSpcReduction="10000"/>
          </a:bodyPr>
          <a:lstStyle/>
          <a:p>
            <a:r>
              <a:rPr lang="fr-FR" dirty="0"/>
              <a:t>7 mesures créées :</a:t>
            </a:r>
          </a:p>
          <a:p>
            <a:pPr lvl="1">
              <a:lnSpc>
                <a:spcPct val="160000"/>
              </a:lnSpc>
            </a:pPr>
            <a:r>
              <a:rPr lang="fr-FR" dirty="0"/>
              <a:t>1 pour la table </a:t>
            </a:r>
            <a:r>
              <a:rPr lang="fr-FR" dirty="0" err="1"/>
              <a:t>BasicAndSafelyManagedDrinkingWaterServices</a:t>
            </a:r>
            <a:r>
              <a:rPr lang="fr-FR" dirty="0"/>
              <a:t> :</a:t>
            </a:r>
          </a:p>
          <a:p>
            <a:pPr lvl="2">
              <a:lnSpc>
                <a:spcPct val="160000"/>
              </a:lnSpc>
            </a:pPr>
            <a:r>
              <a:rPr lang="fr-FR" dirty="0"/>
              <a:t>Ecart Base </a:t>
            </a:r>
            <a:r>
              <a:rPr lang="fr-FR" dirty="0" err="1"/>
              <a:t>access</a:t>
            </a:r>
            <a:r>
              <a:rPr lang="fr-FR" dirty="0"/>
              <a:t> Vs Safe </a:t>
            </a:r>
            <a:r>
              <a:rPr lang="fr-FR" dirty="0" err="1"/>
              <a:t>access</a:t>
            </a:r>
            <a:r>
              <a:rPr lang="fr-FR" dirty="0"/>
              <a:t> = permet de voir % de la population qui a l'accès de base mais pas encore l'accès sécurisé</a:t>
            </a:r>
          </a:p>
          <a:p>
            <a:pPr lvl="1"/>
            <a:r>
              <a:rPr lang="fr-FR" dirty="0"/>
              <a:t>1 pour la table stabilité politique :</a:t>
            </a:r>
          </a:p>
          <a:p>
            <a:pPr lvl="2">
              <a:lnSpc>
                <a:spcPct val="160000"/>
              </a:lnSpc>
            </a:pPr>
            <a:r>
              <a:rPr lang="fr-FR" dirty="0" err="1"/>
              <a:t>Stabilité_filtre</a:t>
            </a:r>
            <a:r>
              <a:rPr lang="fr-FR" dirty="0"/>
              <a:t> = fait la moyenne de la stabilité politique du pays sélectionné pour les années ou l’année sélectionnée et renvoie oui si &gt;0 non sinon</a:t>
            </a:r>
          </a:p>
          <a:p>
            <a:pPr lvl="1"/>
            <a:r>
              <a:rPr lang="fr-FR" dirty="0"/>
              <a:t>4 pour la table population :</a:t>
            </a:r>
          </a:p>
          <a:p>
            <a:pPr lvl="2">
              <a:lnSpc>
                <a:spcPct val="160000"/>
              </a:lnSpc>
            </a:pPr>
            <a:r>
              <a:rPr lang="fr-FR" dirty="0"/>
              <a:t>Population rurale = Renvoie la population rurale du pays sélectionné</a:t>
            </a:r>
          </a:p>
          <a:p>
            <a:pPr lvl="2"/>
            <a:r>
              <a:rPr lang="fr-FR" dirty="0"/>
              <a:t>Population urbaine = Renvoie la population urbaine du pays sélectionné</a:t>
            </a:r>
          </a:p>
          <a:p>
            <a:pPr lvl="2"/>
            <a:r>
              <a:rPr lang="fr-FR" dirty="0"/>
              <a:t>Population totale = Renvoie la population totale du pays sélectionné</a:t>
            </a:r>
          </a:p>
          <a:p>
            <a:pPr lvl="2"/>
            <a:r>
              <a:rPr lang="fr-FR" dirty="0"/>
              <a:t>Taux population urbaine = Calcul le taux de la population urbaine du pays sélectionné</a:t>
            </a:r>
          </a:p>
          <a:p>
            <a:pPr lvl="2"/>
            <a:endParaRPr lang="fr-FR" dirty="0"/>
          </a:p>
          <a:p>
            <a:pPr lvl="2"/>
            <a:endParaRPr lang="fr-FR" dirty="0"/>
          </a:p>
          <a:p>
            <a:pPr lvl="2"/>
            <a:endParaRPr lang="fr-FR" dirty="0"/>
          </a:p>
        </p:txBody>
      </p:sp>
    </p:spTree>
    <p:extLst>
      <p:ext uri="{BB962C8B-B14F-4D97-AF65-F5344CB8AC3E}">
        <p14:creationId xmlns:p14="http://schemas.microsoft.com/office/powerpoint/2010/main" val="1705193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circle(in)">
                                      <p:cBhvr>
                                        <p:cTn id="7" dur="2000"/>
                                        <p:tgtEl>
                                          <p:spTgt spid="5">
                                            <p:txEl>
                                              <p:pRg st="1" end="1"/>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circle(in)">
                                      <p:cBhvr>
                                        <p:cTn id="10" dur="2000"/>
                                        <p:tgtEl>
                                          <p:spTgt spid="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Effect transition="in" filter="circle(in)">
                                      <p:cBhvr>
                                        <p:cTn id="15" dur="2000"/>
                                        <p:tgtEl>
                                          <p:spTgt spid="5">
                                            <p:txEl>
                                              <p:pRg st="3" end="3"/>
                                            </p:txEl>
                                          </p:spTgt>
                                        </p:tgtEl>
                                      </p:cBhvr>
                                    </p:animEffect>
                                  </p:childTnLst>
                                </p:cTn>
                              </p:par>
                              <p:par>
                                <p:cTn id="16" presetID="6" presetClass="entr" presetSubtype="16" fill="hold" nodeType="with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Effect transition="in" filter="circle(in)">
                                      <p:cBhvr>
                                        <p:cTn id="18" dur="2000"/>
                                        <p:tgtEl>
                                          <p:spTgt spid="5">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animEffect transition="in" filter="circle(in)">
                                      <p:cBhvr>
                                        <p:cTn id="23" dur="2000"/>
                                        <p:tgtEl>
                                          <p:spTgt spid="5">
                                            <p:txEl>
                                              <p:pRg st="5" end="5"/>
                                            </p:txEl>
                                          </p:spTgt>
                                        </p:tgtEl>
                                      </p:cBhvr>
                                    </p:animEffect>
                                  </p:childTnLst>
                                </p:cTn>
                              </p:par>
                              <p:par>
                                <p:cTn id="24" presetID="6" presetClass="entr" presetSubtype="16" fill="hold" nodeType="withEffect">
                                  <p:stCondLst>
                                    <p:cond delay="0"/>
                                  </p:stCondLst>
                                  <p:childTnLst>
                                    <p:set>
                                      <p:cBhvr>
                                        <p:cTn id="25" dur="1" fill="hold">
                                          <p:stCondLst>
                                            <p:cond delay="0"/>
                                          </p:stCondLst>
                                        </p:cTn>
                                        <p:tgtEl>
                                          <p:spTgt spid="5">
                                            <p:txEl>
                                              <p:pRg st="6" end="6"/>
                                            </p:txEl>
                                          </p:spTgt>
                                        </p:tgtEl>
                                        <p:attrNameLst>
                                          <p:attrName>style.visibility</p:attrName>
                                        </p:attrNameLst>
                                      </p:cBhvr>
                                      <p:to>
                                        <p:strVal val="visible"/>
                                      </p:to>
                                    </p:set>
                                    <p:animEffect transition="in" filter="circle(in)">
                                      <p:cBhvr>
                                        <p:cTn id="26" dur="2000"/>
                                        <p:tgtEl>
                                          <p:spTgt spid="5">
                                            <p:txEl>
                                              <p:pRg st="6" end="6"/>
                                            </p:txEl>
                                          </p:spTgt>
                                        </p:tgtEl>
                                      </p:cBhvr>
                                    </p:animEffect>
                                  </p:childTnLst>
                                </p:cTn>
                              </p:par>
                              <p:par>
                                <p:cTn id="27" presetID="6" presetClass="entr" presetSubtype="16" fill="hold" nodeType="with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animEffect transition="in" filter="circle(in)">
                                      <p:cBhvr>
                                        <p:cTn id="29" dur="2000"/>
                                        <p:tgtEl>
                                          <p:spTgt spid="5">
                                            <p:txEl>
                                              <p:pRg st="7" end="7"/>
                                            </p:txEl>
                                          </p:spTgt>
                                        </p:tgtEl>
                                      </p:cBhvr>
                                    </p:animEffect>
                                  </p:childTnLst>
                                </p:cTn>
                              </p:par>
                              <p:par>
                                <p:cTn id="30" presetID="6" presetClass="entr" presetSubtype="16" fill="hold" nodeType="withEffect">
                                  <p:stCondLst>
                                    <p:cond delay="0"/>
                                  </p:stCondLst>
                                  <p:childTnLst>
                                    <p:set>
                                      <p:cBhvr>
                                        <p:cTn id="31" dur="1" fill="hold">
                                          <p:stCondLst>
                                            <p:cond delay="0"/>
                                          </p:stCondLst>
                                        </p:cTn>
                                        <p:tgtEl>
                                          <p:spTgt spid="5">
                                            <p:txEl>
                                              <p:pRg st="8" end="8"/>
                                            </p:txEl>
                                          </p:spTgt>
                                        </p:tgtEl>
                                        <p:attrNameLst>
                                          <p:attrName>style.visibility</p:attrName>
                                        </p:attrNameLst>
                                      </p:cBhvr>
                                      <p:to>
                                        <p:strVal val="visible"/>
                                      </p:to>
                                    </p:set>
                                    <p:animEffect transition="in" filter="circle(in)">
                                      <p:cBhvr>
                                        <p:cTn id="32" dur="2000"/>
                                        <p:tgtEl>
                                          <p:spTgt spid="5">
                                            <p:txEl>
                                              <p:pRg st="8" end="8"/>
                                            </p:txEl>
                                          </p:spTgt>
                                        </p:tgtEl>
                                      </p:cBhvr>
                                    </p:animEffect>
                                  </p:childTnLst>
                                </p:cTn>
                              </p:par>
                              <p:par>
                                <p:cTn id="33" presetID="6" presetClass="entr" presetSubtype="16" fill="hold" nodeType="withEffect">
                                  <p:stCondLst>
                                    <p:cond delay="0"/>
                                  </p:stCondLst>
                                  <p:childTnLst>
                                    <p:set>
                                      <p:cBhvr>
                                        <p:cTn id="34" dur="1" fill="hold">
                                          <p:stCondLst>
                                            <p:cond delay="0"/>
                                          </p:stCondLst>
                                        </p:cTn>
                                        <p:tgtEl>
                                          <p:spTgt spid="5">
                                            <p:txEl>
                                              <p:pRg st="9" end="9"/>
                                            </p:txEl>
                                          </p:spTgt>
                                        </p:tgtEl>
                                        <p:attrNameLst>
                                          <p:attrName>style.visibility</p:attrName>
                                        </p:attrNameLst>
                                      </p:cBhvr>
                                      <p:to>
                                        <p:strVal val="visible"/>
                                      </p:to>
                                    </p:set>
                                    <p:animEffect transition="in" filter="circle(in)">
                                      <p:cBhvr>
                                        <p:cTn id="35" dur="20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6EFFA-03F8-5486-772F-AC317BE04EE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4366692-5194-8428-63EF-8120191C59C8}"/>
              </a:ext>
            </a:extLst>
          </p:cNvPr>
          <p:cNvSpPr>
            <a:spLocks noGrp="1"/>
          </p:cNvSpPr>
          <p:nvPr>
            <p:ph type="title"/>
          </p:nvPr>
        </p:nvSpPr>
        <p:spPr/>
        <p:txBody>
          <a:bodyPr/>
          <a:lstStyle/>
          <a:p>
            <a:r>
              <a:rPr lang="fr-FR" dirty="0"/>
              <a:t>Les mesures créées</a:t>
            </a:r>
          </a:p>
        </p:txBody>
      </p:sp>
      <p:sp>
        <p:nvSpPr>
          <p:cNvPr id="5" name="Espace réservé du contenu 4">
            <a:extLst>
              <a:ext uri="{FF2B5EF4-FFF2-40B4-BE49-F238E27FC236}">
                <a16:creationId xmlns:a16="http://schemas.microsoft.com/office/drawing/2014/main" id="{54953EBA-B353-50FE-6823-8FA8BDE899F0}"/>
              </a:ext>
            </a:extLst>
          </p:cNvPr>
          <p:cNvSpPr>
            <a:spLocks noGrp="1"/>
          </p:cNvSpPr>
          <p:nvPr>
            <p:ph idx="1"/>
          </p:nvPr>
        </p:nvSpPr>
        <p:spPr>
          <a:xfrm>
            <a:off x="677334" y="1763982"/>
            <a:ext cx="8596668" cy="4484418"/>
          </a:xfrm>
        </p:spPr>
        <p:txBody>
          <a:bodyPr>
            <a:normAutofit/>
          </a:bodyPr>
          <a:lstStyle/>
          <a:p>
            <a:r>
              <a:rPr lang="fr-FR" dirty="0"/>
              <a:t>7 mesures créées :</a:t>
            </a:r>
          </a:p>
          <a:p>
            <a:pPr lvl="1">
              <a:lnSpc>
                <a:spcPct val="160000"/>
              </a:lnSpc>
            </a:pPr>
            <a:r>
              <a:rPr lang="fr-FR" dirty="0"/>
              <a:t>1 dernière pour la table </a:t>
            </a:r>
            <a:r>
              <a:rPr lang="fr-FR" dirty="0" err="1"/>
              <a:t>MortalityRateAttributedToWater</a:t>
            </a:r>
            <a:r>
              <a:rPr lang="fr-FR" dirty="0"/>
              <a:t> :</a:t>
            </a:r>
          </a:p>
          <a:p>
            <a:pPr lvl="2">
              <a:lnSpc>
                <a:spcPct val="160000"/>
              </a:lnSpc>
            </a:pPr>
            <a:r>
              <a:rPr lang="fr-FR" dirty="0"/>
              <a:t>Efficacité gouvernementale = Permet de calculer un taux d’efficacité gouvernementale sur 100 en se basant sur le taux d’accès à l’eau potable et taux de mortalité pour 100000 habitants pondéré</a:t>
            </a:r>
          </a:p>
          <a:p>
            <a:pPr lvl="2"/>
            <a:endParaRPr lang="fr-FR" dirty="0"/>
          </a:p>
          <a:p>
            <a:pPr lvl="2"/>
            <a:endParaRPr lang="fr-FR" dirty="0"/>
          </a:p>
        </p:txBody>
      </p:sp>
      <p:pic>
        <p:nvPicPr>
          <p:cNvPr id="4" name="Image 3" descr="Une image contenant texte, capture d’écran, Police, ligne&#10;&#10;Le contenu généré par l’IA peut être incorrect.">
            <a:extLst>
              <a:ext uri="{FF2B5EF4-FFF2-40B4-BE49-F238E27FC236}">
                <a16:creationId xmlns:a16="http://schemas.microsoft.com/office/drawing/2014/main" id="{6F1EFF56-B82F-FEEA-980C-5555D1B2926A}"/>
              </a:ext>
            </a:extLst>
          </p:cNvPr>
          <p:cNvPicPr>
            <a:picLocks noChangeAspect="1"/>
          </p:cNvPicPr>
          <p:nvPr/>
        </p:nvPicPr>
        <p:blipFill>
          <a:blip r:embed="rId3"/>
          <a:stretch>
            <a:fillRect/>
          </a:stretch>
        </p:blipFill>
        <p:spPr>
          <a:xfrm>
            <a:off x="822188" y="4138394"/>
            <a:ext cx="8306959" cy="1257475"/>
          </a:xfrm>
          <a:prstGeom prst="rect">
            <a:avLst/>
          </a:prstGeom>
        </p:spPr>
      </p:pic>
    </p:spTree>
    <p:extLst>
      <p:ext uri="{BB962C8B-B14F-4D97-AF65-F5344CB8AC3E}">
        <p14:creationId xmlns:p14="http://schemas.microsoft.com/office/powerpoint/2010/main" val="242938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AB9085D1-BE52-48D5-FDC4-D47ABFC845E6}"/>
              </a:ext>
            </a:extLst>
          </p:cNvPr>
          <p:cNvPicPr>
            <a:picLocks noChangeAspect="1"/>
          </p:cNvPicPr>
          <p:nvPr/>
        </p:nvPicPr>
        <p:blipFill>
          <a:blip r:embed="rId3"/>
          <a:stretch>
            <a:fillRect/>
          </a:stretch>
        </p:blipFill>
        <p:spPr>
          <a:xfrm>
            <a:off x="396859" y="1468348"/>
            <a:ext cx="8810525" cy="4954247"/>
          </a:xfrm>
          <a:prstGeom prst="rect">
            <a:avLst/>
          </a:prstGeom>
        </p:spPr>
      </p:pic>
      <p:sp>
        <p:nvSpPr>
          <p:cNvPr id="2" name="Titre 1">
            <a:extLst>
              <a:ext uri="{FF2B5EF4-FFF2-40B4-BE49-F238E27FC236}">
                <a16:creationId xmlns:a16="http://schemas.microsoft.com/office/drawing/2014/main" id="{F66BD305-F795-AD17-4446-A105B2909CCC}"/>
              </a:ext>
            </a:extLst>
          </p:cNvPr>
          <p:cNvSpPr>
            <a:spLocks noGrp="1"/>
          </p:cNvSpPr>
          <p:nvPr>
            <p:ph type="title"/>
          </p:nvPr>
        </p:nvSpPr>
        <p:spPr/>
        <p:txBody>
          <a:bodyPr>
            <a:normAutofit/>
          </a:bodyPr>
          <a:lstStyle/>
          <a:p>
            <a:pPr algn="ctr"/>
            <a:r>
              <a:rPr lang="fr-FR" sz="4400" dirty="0"/>
              <a:t>La Vue Mondiale</a:t>
            </a:r>
          </a:p>
        </p:txBody>
      </p:sp>
      <p:sp>
        <p:nvSpPr>
          <p:cNvPr id="4" name="Espace réservé du numéro de diapositive 3">
            <a:extLst>
              <a:ext uri="{FF2B5EF4-FFF2-40B4-BE49-F238E27FC236}">
                <a16:creationId xmlns:a16="http://schemas.microsoft.com/office/drawing/2014/main" id="{CA55934B-84C4-654D-B3D1-182AF5255A97}"/>
              </a:ext>
            </a:extLst>
          </p:cNvPr>
          <p:cNvSpPr>
            <a:spLocks noGrp="1"/>
          </p:cNvSpPr>
          <p:nvPr>
            <p:ph type="sldNum" sz="quarter" idx="12"/>
          </p:nvPr>
        </p:nvSpPr>
        <p:spPr/>
        <p:txBody>
          <a:bodyPr/>
          <a:lstStyle/>
          <a:p>
            <a:fld id="{1FB8747B-2B08-4040-8EAF-D752BEE491D6}" type="slidenum">
              <a:rPr lang="fr-FR" smtClean="0"/>
              <a:t>9</a:t>
            </a:fld>
            <a:endParaRPr lang="fr-FR"/>
          </a:p>
        </p:txBody>
      </p:sp>
      <p:sp>
        <p:nvSpPr>
          <p:cNvPr id="3" name="Rectangle 2">
            <a:extLst>
              <a:ext uri="{FF2B5EF4-FFF2-40B4-BE49-F238E27FC236}">
                <a16:creationId xmlns:a16="http://schemas.microsoft.com/office/drawing/2014/main" id="{95DE8F05-5AAD-0BA1-D88C-92D7F9569011}"/>
              </a:ext>
            </a:extLst>
          </p:cNvPr>
          <p:cNvSpPr/>
          <p:nvPr/>
        </p:nvSpPr>
        <p:spPr>
          <a:xfrm>
            <a:off x="5700642" y="1472322"/>
            <a:ext cx="3573359" cy="3719109"/>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Flèche : droite 4">
            <a:extLst>
              <a:ext uri="{FF2B5EF4-FFF2-40B4-BE49-F238E27FC236}">
                <a16:creationId xmlns:a16="http://schemas.microsoft.com/office/drawing/2014/main" id="{88F866E7-E68D-273B-15A6-70B17C16D7F8}"/>
              </a:ext>
            </a:extLst>
          </p:cNvPr>
          <p:cNvSpPr/>
          <p:nvPr/>
        </p:nvSpPr>
        <p:spPr>
          <a:xfrm>
            <a:off x="9300440" y="1757145"/>
            <a:ext cx="963271" cy="430566"/>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CD38A888-8D5B-4003-327E-027F7194B856}"/>
              </a:ext>
            </a:extLst>
          </p:cNvPr>
          <p:cNvSpPr txBox="1"/>
          <p:nvPr/>
        </p:nvSpPr>
        <p:spPr>
          <a:xfrm>
            <a:off x="10263713" y="1491412"/>
            <a:ext cx="1848050" cy="923330"/>
          </a:xfrm>
          <a:prstGeom prst="rect">
            <a:avLst/>
          </a:prstGeom>
          <a:solidFill>
            <a:srgbClr val="FFFFFF">
              <a:alpha val="50196"/>
            </a:srgbClr>
          </a:solidFill>
          <a:ln>
            <a:solidFill>
              <a:schemeClr val="accent5"/>
            </a:solidFill>
          </a:ln>
        </p:spPr>
        <p:txBody>
          <a:bodyPr wrap="square" rtlCol="0">
            <a:spAutoFit/>
          </a:bodyPr>
          <a:lstStyle/>
          <a:p>
            <a:r>
              <a:rPr lang="fr-FR" dirty="0"/>
              <a:t>Carte d’info sur l’accès à l’eau dans le monde</a:t>
            </a:r>
          </a:p>
        </p:txBody>
      </p:sp>
      <p:sp>
        <p:nvSpPr>
          <p:cNvPr id="8" name="Rectangle 7">
            <a:extLst>
              <a:ext uri="{FF2B5EF4-FFF2-40B4-BE49-F238E27FC236}">
                <a16:creationId xmlns:a16="http://schemas.microsoft.com/office/drawing/2014/main" id="{4D72F478-185E-DA24-88F8-0B7F1FDF947A}"/>
              </a:ext>
            </a:extLst>
          </p:cNvPr>
          <p:cNvSpPr/>
          <p:nvPr/>
        </p:nvSpPr>
        <p:spPr>
          <a:xfrm>
            <a:off x="316857" y="2879386"/>
            <a:ext cx="5367847" cy="2299005"/>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lèche : droite 8">
            <a:extLst>
              <a:ext uri="{FF2B5EF4-FFF2-40B4-BE49-F238E27FC236}">
                <a16:creationId xmlns:a16="http://schemas.microsoft.com/office/drawing/2014/main" id="{45D22D30-23E3-5F1E-81B1-5F38EC5CC2E6}"/>
              </a:ext>
            </a:extLst>
          </p:cNvPr>
          <p:cNvSpPr/>
          <p:nvPr/>
        </p:nvSpPr>
        <p:spPr>
          <a:xfrm>
            <a:off x="5684704" y="3663127"/>
            <a:ext cx="4556576" cy="53348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3B7804A3-4BE6-FD43-A6BB-92D4702EE256}"/>
              </a:ext>
            </a:extLst>
          </p:cNvPr>
          <p:cNvSpPr txBox="1"/>
          <p:nvPr/>
        </p:nvSpPr>
        <p:spPr>
          <a:xfrm>
            <a:off x="10267719" y="3429000"/>
            <a:ext cx="1848050" cy="923330"/>
          </a:xfrm>
          <a:prstGeom prst="rect">
            <a:avLst/>
          </a:prstGeom>
          <a:solidFill>
            <a:srgbClr val="FFFFFF">
              <a:alpha val="50196"/>
            </a:srgbClr>
          </a:solidFill>
          <a:ln>
            <a:solidFill>
              <a:schemeClr val="accent5"/>
            </a:solidFill>
          </a:ln>
        </p:spPr>
        <p:txBody>
          <a:bodyPr wrap="square" rtlCol="0">
            <a:spAutoFit/>
          </a:bodyPr>
          <a:lstStyle/>
          <a:p>
            <a:r>
              <a:rPr lang="fr-FR" dirty="0"/>
              <a:t>2 domaines d’expertises au niveau mondial</a:t>
            </a:r>
          </a:p>
        </p:txBody>
      </p:sp>
      <p:sp>
        <p:nvSpPr>
          <p:cNvPr id="11" name="Rectangle 10">
            <a:extLst>
              <a:ext uri="{FF2B5EF4-FFF2-40B4-BE49-F238E27FC236}">
                <a16:creationId xmlns:a16="http://schemas.microsoft.com/office/drawing/2014/main" id="{60809752-4278-ADCB-03CC-EF38A2AC2307}"/>
              </a:ext>
            </a:extLst>
          </p:cNvPr>
          <p:cNvSpPr/>
          <p:nvPr/>
        </p:nvSpPr>
        <p:spPr>
          <a:xfrm>
            <a:off x="2481157" y="5276272"/>
            <a:ext cx="6710679" cy="1211300"/>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Flèche : droite 11">
            <a:extLst>
              <a:ext uri="{FF2B5EF4-FFF2-40B4-BE49-F238E27FC236}">
                <a16:creationId xmlns:a16="http://schemas.microsoft.com/office/drawing/2014/main" id="{B237907E-812F-3CEB-F7F2-827217152962}"/>
              </a:ext>
            </a:extLst>
          </p:cNvPr>
          <p:cNvSpPr/>
          <p:nvPr/>
        </p:nvSpPr>
        <p:spPr>
          <a:xfrm>
            <a:off x="9300441" y="5513940"/>
            <a:ext cx="967278" cy="53348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B431AD96-7053-7596-06E3-56E22D91A627}"/>
              </a:ext>
            </a:extLst>
          </p:cNvPr>
          <p:cNvSpPr txBox="1"/>
          <p:nvPr/>
        </p:nvSpPr>
        <p:spPr>
          <a:xfrm>
            <a:off x="10294158" y="5457517"/>
            <a:ext cx="1848050" cy="923330"/>
          </a:xfrm>
          <a:prstGeom prst="rect">
            <a:avLst/>
          </a:prstGeom>
          <a:solidFill>
            <a:srgbClr val="FFFFFF">
              <a:alpha val="50196"/>
            </a:srgbClr>
          </a:solidFill>
          <a:ln>
            <a:solidFill>
              <a:schemeClr val="accent5"/>
            </a:solidFill>
          </a:ln>
        </p:spPr>
        <p:txBody>
          <a:bodyPr wrap="square" rtlCol="0">
            <a:spAutoFit/>
          </a:bodyPr>
          <a:lstStyle/>
          <a:p>
            <a:r>
              <a:rPr lang="fr-FR" dirty="0"/>
              <a:t>4 indicateurs à suivre niveau mondial</a:t>
            </a:r>
          </a:p>
        </p:txBody>
      </p:sp>
      <p:sp>
        <p:nvSpPr>
          <p:cNvPr id="14" name="Rectangle 13">
            <a:extLst>
              <a:ext uri="{FF2B5EF4-FFF2-40B4-BE49-F238E27FC236}">
                <a16:creationId xmlns:a16="http://schemas.microsoft.com/office/drawing/2014/main" id="{786E776C-46BB-ABC7-036C-3465B59DD52D}"/>
              </a:ext>
            </a:extLst>
          </p:cNvPr>
          <p:cNvSpPr/>
          <p:nvPr/>
        </p:nvSpPr>
        <p:spPr>
          <a:xfrm>
            <a:off x="396861" y="5178390"/>
            <a:ext cx="1980016" cy="1407064"/>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6" name="Connecteur droit avec flèche 15">
            <a:extLst>
              <a:ext uri="{FF2B5EF4-FFF2-40B4-BE49-F238E27FC236}">
                <a16:creationId xmlns:a16="http://schemas.microsoft.com/office/drawing/2014/main" id="{DF952039-9ABF-67EB-8595-8F9D878FB32C}"/>
              </a:ext>
            </a:extLst>
          </p:cNvPr>
          <p:cNvCxnSpPr>
            <a:cxnSpLocks/>
          </p:cNvCxnSpPr>
          <p:nvPr/>
        </p:nvCxnSpPr>
        <p:spPr>
          <a:xfrm>
            <a:off x="2376877" y="6585454"/>
            <a:ext cx="799460" cy="132980"/>
          </a:xfrm>
          <a:prstGeom prst="straightConnector1">
            <a:avLst/>
          </a:prstGeom>
          <a:ln w="57150">
            <a:tailEnd type="triangle"/>
          </a:ln>
        </p:spPr>
        <p:style>
          <a:lnRef idx="1">
            <a:schemeClr val="accent5"/>
          </a:lnRef>
          <a:fillRef idx="0">
            <a:schemeClr val="accent5"/>
          </a:fillRef>
          <a:effectRef idx="0">
            <a:schemeClr val="accent5"/>
          </a:effectRef>
          <a:fontRef idx="minor">
            <a:schemeClr val="tx1"/>
          </a:fontRef>
        </p:style>
      </p:cxnSp>
      <p:sp>
        <p:nvSpPr>
          <p:cNvPr id="18" name="ZoneTexte 17">
            <a:extLst>
              <a:ext uri="{FF2B5EF4-FFF2-40B4-BE49-F238E27FC236}">
                <a16:creationId xmlns:a16="http://schemas.microsoft.com/office/drawing/2014/main" id="{24259CF4-A762-A0D2-4B16-3A197E2372F4}"/>
              </a:ext>
            </a:extLst>
          </p:cNvPr>
          <p:cNvSpPr txBox="1"/>
          <p:nvPr/>
        </p:nvSpPr>
        <p:spPr>
          <a:xfrm>
            <a:off x="3176337" y="6466537"/>
            <a:ext cx="1980016" cy="369332"/>
          </a:xfrm>
          <a:prstGeom prst="rect">
            <a:avLst/>
          </a:prstGeom>
          <a:noFill/>
        </p:spPr>
        <p:txBody>
          <a:bodyPr wrap="square" rtlCol="0">
            <a:spAutoFit/>
          </a:bodyPr>
          <a:lstStyle/>
          <a:p>
            <a:r>
              <a:rPr lang="fr-FR" dirty="0"/>
              <a:t>Filtre des années</a:t>
            </a:r>
          </a:p>
        </p:txBody>
      </p:sp>
      <p:sp>
        <p:nvSpPr>
          <p:cNvPr id="19" name="Rectangle 18">
            <a:extLst>
              <a:ext uri="{FF2B5EF4-FFF2-40B4-BE49-F238E27FC236}">
                <a16:creationId xmlns:a16="http://schemas.microsoft.com/office/drawing/2014/main" id="{C98CF7B2-9AFF-E0BB-9AF1-5F05606E4E69}"/>
              </a:ext>
            </a:extLst>
          </p:cNvPr>
          <p:cNvSpPr/>
          <p:nvPr/>
        </p:nvSpPr>
        <p:spPr>
          <a:xfrm>
            <a:off x="3705726" y="1757145"/>
            <a:ext cx="925202" cy="706922"/>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0" name="Connecteur droit avec flèche 19">
            <a:extLst>
              <a:ext uri="{FF2B5EF4-FFF2-40B4-BE49-F238E27FC236}">
                <a16:creationId xmlns:a16="http://schemas.microsoft.com/office/drawing/2014/main" id="{00F468E6-9433-B7C2-8FA8-5913D19711AF}"/>
              </a:ext>
            </a:extLst>
          </p:cNvPr>
          <p:cNvCxnSpPr>
            <a:cxnSpLocks/>
          </p:cNvCxnSpPr>
          <p:nvPr/>
        </p:nvCxnSpPr>
        <p:spPr>
          <a:xfrm flipV="1">
            <a:off x="4646867" y="1270000"/>
            <a:ext cx="2754960" cy="529352"/>
          </a:xfrm>
          <a:prstGeom prst="straightConnector1">
            <a:avLst/>
          </a:prstGeom>
          <a:ln w="57150">
            <a:tailEnd type="triangle"/>
          </a:ln>
        </p:spPr>
        <p:style>
          <a:lnRef idx="1">
            <a:schemeClr val="accent5"/>
          </a:lnRef>
          <a:fillRef idx="0">
            <a:schemeClr val="accent5"/>
          </a:fillRef>
          <a:effectRef idx="0">
            <a:schemeClr val="accent5"/>
          </a:effectRef>
          <a:fontRef idx="minor">
            <a:schemeClr val="tx1"/>
          </a:fontRef>
        </p:style>
      </p:cxnSp>
      <p:sp>
        <p:nvSpPr>
          <p:cNvPr id="22" name="ZoneTexte 21">
            <a:extLst>
              <a:ext uri="{FF2B5EF4-FFF2-40B4-BE49-F238E27FC236}">
                <a16:creationId xmlns:a16="http://schemas.microsoft.com/office/drawing/2014/main" id="{42F9B4EA-4C97-140E-9BD8-413EC32606EB}"/>
              </a:ext>
            </a:extLst>
          </p:cNvPr>
          <p:cNvSpPr txBox="1"/>
          <p:nvPr/>
        </p:nvSpPr>
        <p:spPr>
          <a:xfrm>
            <a:off x="7401827" y="1034638"/>
            <a:ext cx="2806227" cy="369332"/>
          </a:xfrm>
          <a:prstGeom prst="rect">
            <a:avLst/>
          </a:prstGeom>
          <a:solidFill>
            <a:srgbClr val="FFFFFF">
              <a:alpha val="50196"/>
            </a:srgbClr>
          </a:solidFill>
          <a:ln>
            <a:solidFill>
              <a:srgbClr val="C00000"/>
            </a:solidFill>
          </a:ln>
        </p:spPr>
        <p:txBody>
          <a:bodyPr wrap="square" rtlCol="0">
            <a:spAutoFit/>
          </a:bodyPr>
          <a:lstStyle/>
          <a:p>
            <a:r>
              <a:rPr lang="fr-FR" dirty="0"/>
              <a:t>Passer à la vue Régionale</a:t>
            </a:r>
          </a:p>
        </p:txBody>
      </p:sp>
    </p:spTree>
    <p:extLst>
      <p:ext uri="{BB962C8B-B14F-4D97-AF65-F5344CB8AC3E}">
        <p14:creationId xmlns:p14="http://schemas.microsoft.com/office/powerpoint/2010/main" val="2393334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circle(in)">
                                      <p:cBhvr>
                                        <p:cTn id="10" dur="2000"/>
                                        <p:tgtEl>
                                          <p:spTgt spid="5"/>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7">
                                            <p:bg/>
                                          </p:spTgt>
                                        </p:tgtEl>
                                        <p:attrNameLst>
                                          <p:attrName>style.visibility</p:attrName>
                                        </p:attrNameLst>
                                      </p:cBhvr>
                                      <p:to>
                                        <p:strVal val="visible"/>
                                      </p:to>
                                    </p:set>
                                    <p:animEffect transition="in" filter="circle(in)">
                                      <p:cBhvr>
                                        <p:cTn id="13" dur="2000"/>
                                        <p:tgtEl>
                                          <p:spTgt spid="7">
                                            <p:bg/>
                                          </p:spTgt>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7">
                                            <p:txEl>
                                              <p:pRg st="0" end="0"/>
                                            </p:txEl>
                                          </p:spTgt>
                                        </p:tgtEl>
                                        <p:attrNameLst>
                                          <p:attrName>style.visibility</p:attrName>
                                        </p:attrNameLst>
                                      </p:cBhvr>
                                      <p:to>
                                        <p:strVal val="visible"/>
                                      </p:to>
                                    </p:set>
                                    <p:animEffect transition="in" filter="circle(in)">
                                      <p:cBhvr>
                                        <p:cTn id="16" dur="2000"/>
                                        <p:tgtEl>
                                          <p:spTgt spid="7">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1" nodeType="clickEffect">
                                  <p:stCondLst>
                                    <p:cond delay="0"/>
                                  </p:stCondLst>
                                  <p:childTnLst>
                                    <p:animEffect transition="out" filter="fade">
                                      <p:cBhvr>
                                        <p:cTn id="20" dur="500"/>
                                        <p:tgtEl>
                                          <p:spTgt spid="3"/>
                                        </p:tgtEl>
                                      </p:cBhvr>
                                    </p:animEffect>
                                    <p:set>
                                      <p:cBhvr>
                                        <p:cTn id="21" dur="1" fill="hold">
                                          <p:stCondLst>
                                            <p:cond delay="499"/>
                                          </p:stCondLst>
                                        </p:cTn>
                                        <p:tgtEl>
                                          <p:spTgt spid="3"/>
                                        </p:tgtEl>
                                        <p:attrNameLst>
                                          <p:attrName>style.visibility</p:attrName>
                                        </p:attrNameLst>
                                      </p:cBhvr>
                                      <p:to>
                                        <p:strVal val="hidden"/>
                                      </p:to>
                                    </p:set>
                                  </p:childTnLst>
                                </p:cTn>
                              </p:par>
                              <p:par>
                                <p:cTn id="22" presetID="10" presetClass="exit" presetSubtype="0" fill="hold" grpId="1" nodeType="withEffect">
                                  <p:stCondLst>
                                    <p:cond delay="0"/>
                                  </p:stCondLst>
                                  <p:childTnLst>
                                    <p:animEffect transition="out" filter="fade">
                                      <p:cBhvr>
                                        <p:cTn id="23" dur="500"/>
                                        <p:tgtEl>
                                          <p:spTgt spid="5"/>
                                        </p:tgtEl>
                                      </p:cBhvr>
                                    </p:animEffect>
                                    <p:set>
                                      <p:cBhvr>
                                        <p:cTn id="24" dur="1" fill="hold">
                                          <p:stCondLst>
                                            <p:cond delay="499"/>
                                          </p:stCondLst>
                                        </p:cTn>
                                        <p:tgtEl>
                                          <p:spTgt spid="5"/>
                                        </p:tgtEl>
                                        <p:attrNameLst>
                                          <p:attrName>style.visibility</p:attrName>
                                        </p:attrNameLst>
                                      </p:cBhvr>
                                      <p:to>
                                        <p:strVal val="hidden"/>
                                      </p:to>
                                    </p:set>
                                  </p:childTnLst>
                                </p:cTn>
                              </p:par>
                              <p:par>
                                <p:cTn id="25" presetID="10" presetClass="exit" presetSubtype="0" fill="hold" grpId="1" nodeType="withEffect">
                                  <p:stCondLst>
                                    <p:cond delay="0"/>
                                  </p:stCondLst>
                                  <p:childTnLst>
                                    <p:animEffect transition="out" filter="fade">
                                      <p:cBhvr>
                                        <p:cTn id="26" dur="500"/>
                                        <p:tgtEl>
                                          <p:spTgt spid="7">
                                            <p:txEl>
                                              <p:pRg st="0" end="0"/>
                                            </p:txEl>
                                          </p:spTgt>
                                        </p:tgtEl>
                                      </p:cBhvr>
                                    </p:animEffect>
                                    <p:set>
                                      <p:cBhvr>
                                        <p:cTn id="27" dur="1" fill="hold">
                                          <p:stCondLst>
                                            <p:cond delay="499"/>
                                          </p:stCondLst>
                                        </p:cTn>
                                        <p:tgtEl>
                                          <p:spTgt spid="7">
                                            <p:txEl>
                                              <p:pRg st="0" end="0"/>
                                            </p:txEl>
                                          </p:spTgt>
                                        </p:tgtEl>
                                        <p:attrNameLst>
                                          <p:attrName>style.visibility</p:attrName>
                                        </p:attrNameLst>
                                      </p:cBhvr>
                                      <p:to>
                                        <p:strVal val="hidden"/>
                                      </p:to>
                                    </p:set>
                                  </p:childTnLst>
                                </p:cTn>
                              </p:par>
                              <p:par>
                                <p:cTn id="28" presetID="10" presetClass="exit" presetSubtype="0" fill="hold" grpId="1" nodeType="withEffect">
                                  <p:stCondLst>
                                    <p:cond delay="0"/>
                                  </p:stCondLst>
                                  <p:childTnLst>
                                    <p:animEffect transition="out" filter="fade">
                                      <p:cBhvr>
                                        <p:cTn id="29" dur="500"/>
                                        <p:tgtEl>
                                          <p:spTgt spid="7">
                                            <p:bg/>
                                          </p:spTgt>
                                        </p:tgtEl>
                                      </p:cBhvr>
                                    </p:animEffect>
                                    <p:set>
                                      <p:cBhvr>
                                        <p:cTn id="30" dur="1" fill="hold">
                                          <p:stCondLst>
                                            <p:cond delay="499"/>
                                          </p:stCondLst>
                                        </p:cTn>
                                        <p:tgtEl>
                                          <p:spTgt spid="7">
                                            <p:bg/>
                                          </p:spTgt>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circle(in)">
                                      <p:cBhvr>
                                        <p:cTn id="35" dur="2000"/>
                                        <p:tgtEl>
                                          <p:spTgt spid="8"/>
                                        </p:tgtEl>
                                      </p:cBhvr>
                                    </p:animEffect>
                                  </p:childTnLst>
                                </p:cTn>
                              </p:par>
                              <p:par>
                                <p:cTn id="36" presetID="6" presetClass="entr" presetSubtype="16"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circle(in)">
                                      <p:cBhvr>
                                        <p:cTn id="38" dur="2000"/>
                                        <p:tgtEl>
                                          <p:spTgt spid="9"/>
                                        </p:tgtEl>
                                      </p:cBhvr>
                                    </p:animEffect>
                                  </p:childTnLst>
                                </p:cTn>
                              </p:par>
                              <p:par>
                                <p:cTn id="39" presetID="6" presetClass="entr" presetSubtype="16"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circle(in)">
                                      <p:cBhvr>
                                        <p:cTn id="41" dur="20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1" nodeType="clickEffect">
                                  <p:stCondLst>
                                    <p:cond delay="0"/>
                                  </p:stCondLst>
                                  <p:childTnLst>
                                    <p:animEffect transition="out" filter="fade">
                                      <p:cBhvr>
                                        <p:cTn id="45" dur="500"/>
                                        <p:tgtEl>
                                          <p:spTgt spid="8"/>
                                        </p:tgtEl>
                                      </p:cBhvr>
                                    </p:animEffect>
                                    <p:set>
                                      <p:cBhvr>
                                        <p:cTn id="46" dur="1" fill="hold">
                                          <p:stCondLst>
                                            <p:cond delay="499"/>
                                          </p:stCondLst>
                                        </p:cTn>
                                        <p:tgtEl>
                                          <p:spTgt spid="8"/>
                                        </p:tgtEl>
                                        <p:attrNameLst>
                                          <p:attrName>style.visibility</p:attrName>
                                        </p:attrNameLst>
                                      </p:cBhvr>
                                      <p:to>
                                        <p:strVal val="hidden"/>
                                      </p:to>
                                    </p:set>
                                  </p:childTnLst>
                                </p:cTn>
                              </p:par>
                              <p:par>
                                <p:cTn id="47" presetID="10" presetClass="exit" presetSubtype="0" fill="hold" grpId="1" nodeType="withEffect">
                                  <p:stCondLst>
                                    <p:cond delay="0"/>
                                  </p:stCondLst>
                                  <p:childTnLst>
                                    <p:animEffect transition="out" filter="fade">
                                      <p:cBhvr>
                                        <p:cTn id="48" dur="500"/>
                                        <p:tgtEl>
                                          <p:spTgt spid="9"/>
                                        </p:tgtEl>
                                      </p:cBhvr>
                                    </p:animEffect>
                                    <p:set>
                                      <p:cBhvr>
                                        <p:cTn id="49" dur="1" fill="hold">
                                          <p:stCondLst>
                                            <p:cond delay="499"/>
                                          </p:stCondLst>
                                        </p:cTn>
                                        <p:tgtEl>
                                          <p:spTgt spid="9"/>
                                        </p:tgtEl>
                                        <p:attrNameLst>
                                          <p:attrName>style.visibility</p:attrName>
                                        </p:attrNameLst>
                                      </p:cBhvr>
                                      <p:to>
                                        <p:strVal val="hidden"/>
                                      </p:to>
                                    </p:set>
                                  </p:childTnLst>
                                </p:cTn>
                              </p:par>
                              <p:par>
                                <p:cTn id="50" presetID="10" presetClass="exit" presetSubtype="0" fill="hold" grpId="1" nodeType="withEffect">
                                  <p:stCondLst>
                                    <p:cond delay="0"/>
                                  </p:stCondLst>
                                  <p:childTnLst>
                                    <p:animEffect transition="out" filter="fade">
                                      <p:cBhvr>
                                        <p:cTn id="51" dur="500"/>
                                        <p:tgtEl>
                                          <p:spTgt spid="10"/>
                                        </p:tgtEl>
                                      </p:cBhvr>
                                    </p:animEffect>
                                    <p:set>
                                      <p:cBhvr>
                                        <p:cTn id="52" dur="1" fill="hold">
                                          <p:stCondLst>
                                            <p:cond delay="499"/>
                                          </p:stCondLst>
                                        </p:cTn>
                                        <p:tgtEl>
                                          <p:spTgt spid="10"/>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circle(in)">
                                      <p:cBhvr>
                                        <p:cTn id="57" dur="2000"/>
                                        <p:tgtEl>
                                          <p:spTgt spid="11"/>
                                        </p:tgtEl>
                                      </p:cBhvr>
                                    </p:animEffect>
                                  </p:childTnLst>
                                </p:cTn>
                              </p:par>
                              <p:par>
                                <p:cTn id="58" presetID="6" presetClass="entr" presetSubtype="16" fill="hold" grpId="0" nodeType="with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circle(in)">
                                      <p:cBhvr>
                                        <p:cTn id="60" dur="2000"/>
                                        <p:tgtEl>
                                          <p:spTgt spid="12"/>
                                        </p:tgtEl>
                                      </p:cBhvr>
                                    </p:animEffect>
                                  </p:childTnLst>
                                </p:cTn>
                              </p:par>
                              <p:par>
                                <p:cTn id="61" presetID="6" presetClass="entr" presetSubtype="16" fill="hold" grpId="0" nodeType="with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circle(in)">
                                      <p:cBhvr>
                                        <p:cTn id="63" dur="2000"/>
                                        <p:tgtEl>
                                          <p:spTgt spid="13"/>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xit" presetSubtype="0" fill="hold" grpId="1" nodeType="clickEffect">
                                  <p:stCondLst>
                                    <p:cond delay="0"/>
                                  </p:stCondLst>
                                  <p:childTnLst>
                                    <p:animEffect transition="out" filter="fade">
                                      <p:cBhvr>
                                        <p:cTn id="67" dur="500"/>
                                        <p:tgtEl>
                                          <p:spTgt spid="11"/>
                                        </p:tgtEl>
                                      </p:cBhvr>
                                    </p:animEffect>
                                    <p:set>
                                      <p:cBhvr>
                                        <p:cTn id="68" dur="1" fill="hold">
                                          <p:stCondLst>
                                            <p:cond delay="499"/>
                                          </p:stCondLst>
                                        </p:cTn>
                                        <p:tgtEl>
                                          <p:spTgt spid="11"/>
                                        </p:tgtEl>
                                        <p:attrNameLst>
                                          <p:attrName>style.visibility</p:attrName>
                                        </p:attrNameLst>
                                      </p:cBhvr>
                                      <p:to>
                                        <p:strVal val="hidden"/>
                                      </p:to>
                                    </p:set>
                                  </p:childTnLst>
                                </p:cTn>
                              </p:par>
                              <p:par>
                                <p:cTn id="69" presetID="10" presetClass="exit" presetSubtype="0" fill="hold" grpId="1" nodeType="withEffect">
                                  <p:stCondLst>
                                    <p:cond delay="0"/>
                                  </p:stCondLst>
                                  <p:childTnLst>
                                    <p:animEffect transition="out" filter="fade">
                                      <p:cBhvr>
                                        <p:cTn id="70" dur="500"/>
                                        <p:tgtEl>
                                          <p:spTgt spid="12"/>
                                        </p:tgtEl>
                                      </p:cBhvr>
                                    </p:animEffect>
                                    <p:set>
                                      <p:cBhvr>
                                        <p:cTn id="71" dur="1" fill="hold">
                                          <p:stCondLst>
                                            <p:cond delay="499"/>
                                          </p:stCondLst>
                                        </p:cTn>
                                        <p:tgtEl>
                                          <p:spTgt spid="12"/>
                                        </p:tgtEl>
                                        <p:attrNameLst>
                                          <p:attrName>style.visibility</p:attrName>
                                        </p:attrNameLst>
                                      </p:cBhvr>
                                      <p:to>
                                        <p:strVal val="hidden"/>
                                      </p:to>
                                    </p:set>
                                  </p:childTnLst>
                                </p:cTn>
                              </p:par>
                              <p:par>
                                <p:cTn id="72" presetID="10" presetClass="exit" presetSubtype="0" fill="hold" grpId="1" nodeType="withEffect">
                                  <p:stCondLst>
                                    <p:cond delay="0"/>
                                  </p:stCondLst>
                                  <p:childTnLst>
                                    <p:animEffect transition="out" filter="fade">
                                      <p:cBhvr>
                                        <p:cTn id="73" dur="500"/>
                                        <p:tgtEl>
                                          <p:spTgt spid="13"/>
                                        </p:tgtEl>
                                      </p:cBhvr>
                                    </p:animEffect>
                                    <p:set>
                                      <p:cBhvr>
                                        <p:cTn id="74" dur="1" fill="hold">
                                          <p:stCondLst>
                                            <p:cond delay="499"/>
                                          </p:stCondLst>
                                        </p:cTn>
                                        <p:tgtEl>
                                          <p:spTgt spid="13"/>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6" presetClass="entr" presetSubtype="16" fill="hold" grpId="0" nodeType="click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circle(in)">
                                      <p:cBhvr>
                                        <p:cTn id="79" dur="2000"/>
                                        <p:tgtEl>
                                          <p:spTgt spid="14"/>
                                        </p:tgtEl>
                                      </p:cBhvr>
                                    </p:animEffect>
                                  </p:childTnLst>
                                </p:cTn>
                              </p:par>
                              <p:par>
                                <p:cTn id="80" presetID="6" presetClass="entr" presetSubtype="16" fill="hold" nodeType="withEffect">
                                  <p:stCondLst>
                                    <p:cond delay="0"/>
                                  </p:stCondLst>
                                  <p:childTnLst>
                                    <p:set>
                                      <p:cBhvr>
                                        <p:cTn id="81" dur="1" fill="hold">
                                          <p:stCondLst>
                                            <p:cond delay="0"/>
                                          </p:stCondLst>
                                        </p:cTn>
                                        <p:tgtEl>
                                          <p:spTgt spid="16"/>
                                        </p:tgtEl>
                                        <p:attrNameLst>
                                          <p:attrName>style.visibility</p:attrName>
                                        </p:attrNameLst>
                                      </p:cBhvr>
                                      <p:to>
                                        <p:strVal val="visible"/>
                                      </p:to>
                                    </p:set>
                                    <p:animEffect transition="in" filter="circle(in)">
                                      <p:cBhvr>
                                        <p:cTn id="82" dur="2000"/>
                                        <p:tgtEl>
                                          <p:spTgt spid="16"/>
                                        </p:tgtEl>
                                      </p:cBhvr>
                                    </p:animEffect>
                                  </p:childTnLst>
                                </p:cTn>
                              </p:par>
                              <p:par>
                                <p:cTn id="83" presetID="6" presetClass="entr" presetSubtype="16" fill="hold" grpId="0" nodeType="with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circle(in)">
                                      <p:cBhvr>
                                        <p:cTn id="85" dur="2000"/>
                                        <p:tgtEl>
                                          <p:spTgt spid="18"/>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xit" presetSubtype="0" fill="hold" grpId="1" nodeType="clickEffect">
                                  <p:stCondLst>
                                    <p:cond delay="0"/>
                                  </p:stCondLst>
                                  <p:childTnLst>
                                    <p:animEffect transition="out" filter="fade">
                                      <p:cBhvr>
                                        <p:cTn id="89" dur="500"/>
                                        <p:tgtEl>
                                          <p:spTgt spid="14"/>
                                        </p:tgtEl>
                                      </p:cBhvr>
                                    </p:animEffect>
                                    <p:set>
                                      <p:cBhvr>
                                        <p:cTn id="90" dur="1" fill="hold">
                                          <p:stCondLst>
                                            <p:cond delay="499"/>
                                          </p:stCondLst>
                                        </p:cTn>
                                        <p:tgtEl>
                                          <p:spTgt spid="14"/>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500"/>
                                        <p:tgtEl>
                                          <p:spTgt spid="16"/>
                                        </p:tgtEl>
                                      </p:cBhvr>
                                    </p:animEffect>
                                    <p:set>
                                      <p:cBhvr>
                                        <p:cTn id="93" dur="1" fill="hold">
                                          <p:stCondLst>
                                            <p:cond delay="499"/>
                                          </p:stCondLst>
                                        </p:cTn>
                                        <p:tgtEl>
                                          <p:spTgt spid="16"/>
                                        </p:tgtEl>
                                        <p:attrNameLst>
                                          <p:attrName>style.visibility</p:attrName>
                                        </p:attrNameLst>
                                      </p:cBhvr>
                                      <p:to>
                                        <p:strVal val="hidden"/>
                                      </p:to>
                                    </p:set>
                                  </p:childTnLst>
                                </p:cTn>
                              </p:par>
                              <p:par>
                                <p:cTn id="94" presetID="10" presetClass="exit" presetSubtype="0" fill="hold" grpId="1" nodeType="withEffect">
                                  <p:stCondLst>
                                    <p:cond delay="0"/>
                                  </p:stCondLst>
                                  <p:childTnLst>
                                    <p:animEffect transition="out" filter="fade">
                                      <p:cBhvr>
                                        <p:cTn id="95" dur="500"/>
                                        <p:tgtEl>
                                          <p:spTgt spid="18"/>
                                        </p:tgtEl>
                                      </p:cBhvr>
                                    </p:animEffect>
                                    <p:set>
                                      <p:cBhvr>
                                        <p:cTn id="96" dur="1" fill="hold">
                                          <p:stCondLst>
                                            <p:cond delay="499"/>
                                          </p:stCondLst>
                                        </p:cTn>
                                        <p:tgtEl>
                                          <p:spTgt spid="18"/>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6" presetClass="entr" presetSubtype="16" fill="hold" grpId="0" nodeType="clickEffect">
                                  <p:stCondLst>
                                    <p:cond delay="0"/>
                                  </p:stCondLst>
                                  <p:childTnLst>
                                    <p:set>
                                      <p:cBhvr>
                                        <p:cTn id="100" dur="1" fill="hold">
                                          <p:stCondLst>
                                            <p:cond delay="0"/>
                                          </p:stCondLst>
                                        </p:cTn>
                                        <p:tgtEl>
                                          <p:spTgt spid="19"/>
                                        </p:tgtEl>
                                        <p:attrNameLst>
                                          <p:attrName>style.visibility</p:attrName>
                                        </p:attrNameLst>
                                      </p:cBhvr>
                                      <p:to>
                                        <p:strVal val="visible"/>
                                      </p:to>
                                    </p:set>
                                    <p:animEffect transition="in" filter="circle(in)">
                                      <p:cBhvr>
                                        <p:cTn id="101" dur="2000"/>
                                        <p:tgtEl>
                                          <p:spTgt spid="19"/>
                                        </p:tgtEl>
                                      </p:cBhvr>
                                    </p:animEffect>
                                  </p:childTnLst>
                                </p:cTn>
                              </p:par>
                              <p:par>
                                <p:cTn id="102" presetID="6" presetClass="entr" presetSubtype="16" fill="hold" nodeType="withEffect">
                                  <p:stCondLst>
                                    <p:cond delay="0"/>
                                  </p:stCondLst>
                                  <p:childTnLst>
                                    <p:set>
                                      <p:cBhvr>
                                        <p:cTn id="103" dur="1" fill="hold">
                                          <p:stCondLst>
                                            <p:cond delay="0"/>
                                          </p:stCondLst>
                                        </p:cTn>
                                        <p:tgtEl>
                                          <p:spTgt spid="20"/>
                                        </p:tgtEl>
                                        <p:attrNameLst>
                                          <p:attrName>style.visibility</p:attrName>
                                        </p:attrNameLst>
                                      </p:cBhvr>
                                      <p:to>
                                        <p:strVal val="visible"/>
                                      </p:to>
                                    </p:set>
                                    <p:animEffect transition="in" filter="circle(in)">
                                      <p:cBhvr>
                                        <p:cTn id="104" dur="2000"/>
                                        <p:tgtEl>
                                          <p:spTgt spid="20"/>
                                        </p:tgtEl>
                                      </p:cBhvr>
                                    </p:animEffect>
                                  </p:childTnLst>
                                </p:cTn>
                              </p:par>
                              <p:par>
                                <p:cTn id="105" presetID="6" presetClass="entr" presetSubtype="16" fill="hold" grpId="0" nodeType="with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circle(in)">
                                      <p:cBhvr>
                                        <p:cTn id="107" dur="2000"/>
                                        <p:tgtEl>
                                          <p:spTgt spid="22"/>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xit" presetSubtype="0" fill="hold" grpId="1" nodeType="clickEffect">
                                  <p:stCondLst>
                                    <p:cond delay="0"/>
                                  </p:stCondLst>
                                  <p:childTnLst>
                                    <p:animEffect transition="out" filter="fade">
                                      <p:cBhvr>
                                        <p:cTn id="111" dur="500"/>
                                        <p:tgtEl>
                                          <p:spTgt spid="19"/>
                                        </p:tgtEl>
                                      </p:cBhvr>
                                    </p:animEffect>
                                    <p:set>
                                      <p:cBhvr>
                                        <p:cTn id="112" dur="1" fill="hold">
                                          <p:stCondLst>
                                            <p:cond delay="499"/>
                                          </p:stCondLst>
                                        </p:cTn>
                                        <p:tgtEl>
                                          <p:spTgt spid="1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
                                        </p:tgtEl>
                                      </p:cBhvr>
                                    </p:animEffect>
                                    <p:set>
                                      <p:cBhvr>
                                        <p:cTn id="115" dur="1" fill="hold">
                                          <p:stCondLst>
                                            <p:cond delay="499"/>
                                          </p:stCondLst>
                                        </p:cTn>
                                        <p:tgtEl>
                                          <p:spTgt spid="2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2"/>
                                        </p:tgtEl>
                                      </p:cBhvr>
                                    </p:animEffect>
                                    <p:set>
                                      <p:cBhvr>
                                        <p:cTn id="118"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5" grpId="0" animBg="1"/>
      <p:bldP spid="5" grpId="1" animBg="1"/>
      <p:bldP spid="7" grpId="0" build="allAtOnce" animBg="1"/>
      <p:bldP spid="7" grpId="1" build="allAtOnce"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8" grpId="0"/>
      <p:bldP spid="18" grpId="1"/>
      <p:bldP spid="19" grpId="0" animBg="1"/>
      <p:bldP spid="19" grpId="1" animBg="1"/>
      <p:bldP spid="22" grpId="0" animBg="1"/>
      <p:bldP spid="22"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882EF-90ED-9986-B088-035F8553CE7B}"/>
            </a:ext>
          </a:extLst>
        </p:cNvPr>
        <p:cNvGrpSpPr/>
        <p:nvPr/>
      </p:nvGrpSpPr>
      <p:grpSpPr>
        <a:xfrm>
          <a:off x="0" y="0"/>
          <a:ext cx="0" cy="0"/>
          <a:chOff x="0" y="0"/>
          <a:chExt cx="0" cy="0"/>
        </a:xfrm>
      </p:grpSpPr>
      <p:pic>
        <p:nvPicPr>
          <p:cNvPr id="6" name="Image 5">
            <a:extLst>
              <a:ext uri="{FF2B5EF4-FFF2-40B4-BE49-F238E27FC236}">
                <a16:creationId xmlns:a16="http://schemas.microsoft.com/office/drawing/2014/main" id="{0CC015B8-C423-97B4-8EA1-CBE9BDD21D10}"/>
              </a:ext>
            </a:extLst>
          </p:cNvPr>
          <p:cNvPicPr>
            <a:picLocks noChangeAspect="1"/>
          </p:cNvPicPr>
          <p:nvPr/>
        </p:nvPicPr>
        <p:blipFill>
          <a:blip r:embed="rId3"/>
          <a:stretch>
            <a:fillRect/>
          </a:stretch>
        </p:blipFill>
        <p:spPr>
          <a:xfrm>
            <a:off x="326062" y="1402035"/>
            <a:ext cx="8659898" cy="4879836"/>
          </a:xfrm>
          <a:prstGeom prst="rect">
            <a:avLst/>
          </a:prstGeom>
        </p:spPr>
      </p:pic>
      <p:sp>
        <p:nvSpPr>
          <p:cNvPr id="2" name="Titre 1">
            <a:extLst>
              <a:ext uri="{FF2B5EF4-FFF2-40B4-BE49-F238E27FC236}">
                <a16:creationId xmlns:a16="http://schemas.microsoft.com/office/drawing/2014/main" id="{B8095FC4-5128-D310-9916-071305BE005F}"/>
              </a:ext>
            </a:extLst>
          </p:cNvPr>
          <p:cNvSpPr>
            <a:spLocks noGrp="1"/>
          </p:cNvSpPr>
          <p:nvPr>
            <p:ph type="title"/>
          </p:nvPr>
        </p:nvSpPr>
        <p:spPr/>
        <p:txBody>
          <a:bodyPr>
            <a:normAutofit/>
          </a:bodyPr>
          <a:lstStyle/>
          <a:p>
            <a:pPr algn="ctr"/>
            <a:r>
              <a:rPr lang="fr-FR" sz="4400" dirty="0"/>
              <a:t>La Vue Régionale</a:t>
            </a:r>
          </a:p>
        </p:txBody>
      </p:sp>
      <p:sp>
        <p:nvSpPr>
          <p:cNvPr id="4" name="Espace réservé du numéro de diapositive 3">
            <a:extLst>
              <a:ext uri="{FF2B5EF4-FFF2-40B4-BE49-F238E27FC236}">
                <a16:creationId xmlns:a16="http://schemas.microsoft.com/office/drawing/2014/main" id="{A2A4C137-6FF2-35C4-F15B-448155122474}"/>
              </a:ext>
            </a:extLst>
          </p:cNvPr>
          <p:cNvSpPr>
            <a:spLocks noGrp="1"/>
          </p:cNvSpPr>
          <p:nvPr>
            <p:ph type="sldNum" sz="quarter" idx="12"/>
          </p:nvPr>
        </p:nvSpPr>
        <p:spPr/>
        <p:txBody>
          <a:bodyPr/>
          <a:lstStyle/>
          <a:p>
            <a:fld id="{1FB8747B-2B08-4040-8EAF-D752BEE491D6}" type="slidenum">
              <a:rPr lang="fr-FR" smtClean="0"/>
              <a:t>10</a:t>
            </a:fld>
            <a:endParaRPr lang="fr-FR"/>
          </a:p>
        </p:txBody>
      </p:sp>
      <p:sp>
        <p:nvSpPr>
          <p:cNvPr id="9" name="Rectangle 8">
            <a:extLst>
              <a:ext uri="{FF2B5EF4-FFF2-40B4-BE49-F238E27FC236}">
                <a16:creationId xmlns:a16="http://schemas.microsoft.com/office/drawing/2014/main" id="{D94DA872-62BE-F816-01E8-F862E72D2104}"/>
              </a:ext>
            </a:extLst>
          </p:cNvPr>
          <p:cNvSpPr/>
          <p:nvPr/>
        </p:nvSpPr>
        <p:spPr>
          <a:xfrm>
            <a:off x="4401140" y="1367969"/>
            <a:ext cx="4872862" cy="1211300"/>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Flèche : droite 9">
            <a:extLst>
              <a:ext uri="{FF2B5EF4-FFF2-40B4-BE49-F238E27FC236}">
                <a16:creationId xmlns:a16="http://schemas.microsoft.com/office/drawing/2014/main" id="{487C0CCE-235A-73CA-735A-8A6A90E8969F}"/>
              </a:ext>
            </a:extLst>
          </p:cNvPr>
          <p:cNvSpPr/>
          <p:nvPr/>
        </p:nvSpPr>
        <p:spPr>
          <a:xfrm>
            <a:off x="9363005" y="1757145"/>
            <a:ext cx="664144" cy="34651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53F10424-C320-A398-FCF4-10F2ABE2D611}"/>
              </a:ext>
            </a:extLst>
          </p:cNvPr>
          <p:cNvSpPr txBox="1"/>
          <p:nvPr/>
        </p:nvSpPr>
        <p:spPr>
          <a:xfrm>
            <a:off x="10057606" y="1607234"/>
            <a:ext cx="1848050" cy="646331"/>
          </a:xfrm>
          <a:prstGeom prst="rect">
            <a:avLst/>
          </a:prstGeom>
          <a:solidFill>
            <a:srgbClr val="FFFFFF">
              <a:alpha val="50196"/>
            </a:srgbClr>
          </a:solidFill>
          <a:ln>
            <a:solidFill>
              <a:schemeClr val="accent5"/>
            </a:solidFill>
          </a:ln>
        </p:spPr>
        <p:txBody>
          <a:bodyPr wrap="square" rtlCol="0">
            <a:spAutoFit/>
          </a:bodyPr>
          <a:lstStyle/>
          <a:p>
            <a:r>
              <a:rPr lang="fr-FR" dirty="0"/>
              <a:t>Table avec détails de pays </a:t>
            </a:r>
          </a:p>
        </p:txBody>
      </p:sp>
      <p:sp>
        <p:nvSpPr>
          <p:cNvPr id="12" name="Rectangle 11">
            <a:extLst>
              <a:ext uri="{FF2B5EF4-FFF2-40B4-BE49-F238E27FC236}">
                <a16:creationId xmlns:a16="http://schemas.microsoft.com/office/drawing/2014/main" id="{E574A92D-7AE5-3248-E6E1-A2058BC4AA3A}"/>
              </a:ext>
            </a:extLst>
          </p:cNvPr>
          <p:cNvSpPr/>
          <p:nvPr/>
        </p:nvSpPr>
        <p:spPr>
          <a:xfrm>
            <a:off x="370422" y="2603213"/>
            <a:ext cx="8877141" cy="2299005"/>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Flèche : droite 12">
            <a:extLst>
              <a:ext uri="{FF2B5EF4-FFF2-40B4-BE49-F238E27FC236}">
                <a16:creationId xmlns:a16="http://schemas.microsoft.com/office/drawing/2014/main" id="{1A4E90DB-360F-06FD-4F64-CAC78BC2A381}"/>
              </a:ext>
            </a:extLst>
          </p:cNvPr>
          <p:cNvSpPr/>
          <p:nvPr/>
        </p:nvSpPr>
        <p:spPr>
          <a:xfrm>
            <a:off x="9326880" y="3595975"/>
            <a:ext cx="967278" cy="53348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9262E171-C751-E5FB-136D-523DEE05ED28}"/>
              </a:ext>
            </a:extLst>
          </p:cNvPr>
          <p:cNvSpPr txBox="1"/>
          <p:nvPr/>
        </p:nvSpPr>
        <p:spPr>
          <a:xfrm>
            <a:off x="10267719" y="3429000"/>
            <a:ext cx="1848050" cy="923330"/>
          </a:xfrm>
          <a:prstGeom prst="rect">
            <a:avLst/>
          </a:prstGeom>
          <a:solidFill>
            <a:srgbClr val="FFFFFF">
              <a:alpha val="50196"/>
            </a:srgbClr>
          </a:solidFill>
          <a:ln>
            <a:solidFill>
              <a:schemeClr val="accent5"/>
            </a:solidFill>
          </a:ln>
        </p:spPr>
        <p:txBody>
          <a:bodyPr wrap="square" rtlCol="0">
            <a:spAutoFit/>
          </a:bodyPr>
          <a:lstStyle/>
          <a:p>
            <a:r>
              <a:rPr lang="fr-FR" dirty="0"/>
              <a:t>3 domaines d’expertises au niveau Régional</a:t>
            </a:r>
          </a:p>
        </p:txBody>
      </p:sp>
      <p:sp>
        <p:nvSpPr>
          <p:cNvPr id="15" name="Rectangle 14">
            <a:extLst>
              <a:ext uri="{FF2B5EF4-FFF2-40B4-BE49-F238E27FC236}">
                <a16:creationId xmlns:a16="http://schemas.microsoft.com/office/drawing/2014/main" id="{000693B1-A40C-133D-C3E4-D027340DC1EA}"/>
              </a:ext>
            </a:extLst>
          </p:cNvPr>
          <p:cNvSpPr/>
          <p:nvPr/>
        </p:nvSpPr>
        <p:spPr>
          <a:xfrm>
            <a:off x="3243714" y="5146169"/>
            <a:ext cx="5742246" cy="1126175"/>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Flèche : droite 15">
            <a:extLst>
              <a:ext uri="{FF2B5EF4-FFF2-40B4-BE49-F238E27FC236}">
                <a16:creationId xmlns:a16="http://schemas.microsoft.com/office/drawing/2014/main" id="{4C29524B-8DEF-752F-7350-B9E46221EE0A}"/>
              </a:ext>
            </a:extLst>
          </p:cNvPr>
          <p:cNvSpPr/>
          <p:nvPr/>
        </p:nvSpPr>
        <p:spPr>
          <a:xfrm>
            <a:off x="9300441" y="5513940"/>
            <a:ext cx="967278" cy="53348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5A56F733-D3CE-8AAE-848D-9C42950C0414}"/>
              </a:ext>
            </a:extLst>
          </p:cNvPr>
          <p:cNvSpPr txBox="1"/>
          <p:nvPr/>
        </p:nvSpPr>
        <p:spPr>
          <a:xfrm>
            <a:off x="10294158" y="5316807"/>
            <a:ext cx="1848050" cy="923330"/>
          </a:xfrm>
          <a:prstGeom prst="rect">
            <a:avLst/>
          </a:prstGeom>
          <a:solidFill>
            <a:srgbClr val="FFFFFF">
              <a:alpha val="50196"/>
            </a:srgbClr>
          </a:solidFill>
          <a:ln>
            <a:solidFill>
              <a:schemeClr val="accent5"/>
            </a:solidFill>
          </a:ln>
        </p:spPr>
        <p:txBody>
          <a:bodyPr wrap="square" rtlCol="0">
            <a:spAutoFit/>
          </a:bodyPr>
          <a:lstStyle/>
          <a:p>
            <a:r>
              <a:rPr lang="fr-FR" dirty="0"/>
              <a:t>4 indicateurs à suivre niveau régional</a:t>
            </a:r>
          </a:p>
        </p:txBody>
      </p:sp>
      <p:sp>
        <p:nvSpPr>
          <p:cNvPr id="18" name="Rectangle 17">
            <a:extLst>
              <a:ext uri="{FF2B5EF4-FFF2-40B4-BE49-F238E27FC236}">
                <a16:creationId xmlns:a16="http://schemas.microsoft.com/office/drawing/2014/main" id="{7979ED8D-3A9E-FAD8-8389-9E7C7BD24A26}"/>
              </a:ext>
            </a:extLst>
          </p:cNvPr>
          <p:cNvSpPr/>
          <p:nvPr/>
        </p:nvSpPr>
        <p:spPr>
          <a:xfrm>
            <a:off x="424049" y="4926162"/>
            <a:ext cx="2752287" cy="1346182"/>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9" name="Connecteur droit avec flèche 18">
            <a:extLst>
              <a:ext uri="{FF2B5EF4-FFF2-40B4-BE49-F238E27FC236}">
                <a16:creationId xmlns:a16="http://schemas.microsoft.com/office/drawing/2014/main" id="{6FEF4FF9-794E-97A3-90AC-CED5A9D85C7A}"/>
              </a:ext>
            </a:extLst>
          </p:cNvPr>
          <p:cNvCxnSpPr>
            <a:cxnSpLocks/>
            <a:endCxn id="20" idx="1"/>
          </p:cNvCxnSpPr>
          <p:nvPr/>
        </p:nvCxnSpPr>
        <p:spPr>
          <a:xfrm>
            <a:off x="1895614" y="6285473"/>
            <a:ext cx="1280722" cy="365730"/>
          </a:xfrm>
          <a:prstGeom prst="straightConnector1">
            <a:avLst/>
          </a:prstGeom>
          <a:ln w="57150">
            <a:tailEnd type="triangle"/>
          </a:ln>
        </p:spPr>
        <p:style>
          <a:lnRef idx="1">
            <a:schemeClr val="accent5"/>
          </a:lnRef>
          <a:fillRef idx="0">
            <a:schemeClr val="accent5"/>
          </a:fillRef>
          <a:effectRef idx="0">
            <a:schemeClr val="accent5"/>
          </a:effectRef>
          <a:fontRef idx="minor">
            <a:schemeClr val="tx1"/>
          </a:fontRef>
        </p:style>
      </p:cxnSp>
      <p:sp>
        <p:nvSpPr>
          <p:cNvPr id="20" name="ZoneTexte 19">
            <a:extLst>
              <a:ext uri="{FF2B5EF4-FFF2-40B4-BE49-F238E27FC236}">
                <a16:creationId xmlns:a16="http://schemas.microsoft.com/office/drawing/2014/main" id="{4B2CB403-34F8-A9A9-FCB8-7C0833A8145F}"/>
              </a:ext>
            </a:extLst>
          </p:cNvPr>
          <p:cNvSpPr txBox="1"/>
          <p:nvPr/>
        </p:nvSpPr>
        <p:spPr>
          <a:xfrm>
            <a:off x="3176336" y="6466537"/>
            <a:ext cx="3532471" cy="369332"/>
          </a:xfrm>
          <a:prstGeom prst="rect">
            <a:avLst/>
          </a:prstGeom>
          <a:noFill/>
        </p:spPr>
        <p:txBody>
          <a:bodyPr wrap="square" rtlCol="0">
            <a:spAutoFit/>
          </a:bodyPr>
          <a:lstStyle/>
          <a:p>
            <a:r>
              <a:rPr lang="fr-FR" dirty="0"/>
              <a:t>Filtre des années et des régions</a:t>
            </a:r>
          </a:p>
        </p:txBody>
      </p:sp>
      <p:sp>
        <p:nvSpPr>
          <p:cNvPr id="21" name="Rectangle 20">
            <a:extLst>
              <a:ext uri="{FF2B5EF4-FFF2-40B4-BE49-F238E27FC236}">
                <a16:creationId xmlns:a16="http://schemas.microsoft.com/office/drawing/2014/main" id="{DC7CF341-4822-AA91-AC09-304415624E71}"/>
              </a:ext>
            </a:extLst>
          </p:cNvPr>
          <p:cNvSpPr/>
          <p:nvPr/>
        </p:nvSpPr>
        <p:spPr>
          <a:xfrm>
            <a:off x="3459999" y="1730190"/>
            <a:ext cx="925202" cy="706922"/>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2" name="Connecteur droit avec flèche 21">
            <a:extLst>
              <a:ext uri="{FF2B5EF4-FFF2-40B4-BE49-F238E27FC236}">
                <a16:creationId xmlns:a16="http://schemas.microsoft.com/office/drawing/2014/main" id="{FA3F2C0F-5580-1E45-198E-A8B20B0E766D}"/>
              </a:ext>
            </a:extLst>
          </p:cNvPr>
          <p:cNvCxnSpPr>
            <a:cxnSpLocks/>
          </p:cNvCxnSpPr>
          <p:nvPr/>
        </p:nvCxnSpPr>
        <p:spPr>
          <a:xfrm flipV="1">
            <a:off x="4401140" y="1211138"/>
            <a:ext cx="2754960" cy="529352"/>
          </a:xfrm>
          <a:prstGeom prst="straightConnector1">
            <a:avLst/>
          </a:prstGeom>
          <a:ln w="57150">
            <a:tailEnd type="triangle"/>
          </a:ln>
        </p:spPr>
        <p:style>
          <a:lnRef idx="1">
            <a:schemeClr val="accent5"/>
          </a:lnRef>
          <a:fillRef idx="0">
            <a:schemeClr val="accent5"/>
          </a:fillRef>
          <a:effectRef idx="0">
            <a:schemeClr val="accent5"/>
          </a:effectRef>
          <a:fontRef idx="minor">
            <a:schemeClr val="tx1"/>
          </a:fontRef>
        </p:style>
      </p:cxnSp>
      <p:sp>
        <p:nvSpPr>
          <p:cNvPr id="25" name="ZoneTexte 24">
            <a:extLst>
              <a:ext uri="{FF2B5EF4-FFF2-40B4-BE49-F238E27FC236}">
                <a16:creationId xmlns:a16="http://schemas.microsoft.com/office/drawing/2014/main" id="{97D3A946-0E4C-3163-0C9F-141825C6269D}"/>
              </a:ext>
            </a:extLst>
          </p:cNvPr>
          <p:cNvSpPr txBox="1"/>
          <p:nvPr/>
        </p:nvSpPr>
        <p:spPr>
          <a:xfrm>
            <a:off x="7156100" y="974756"/>
            <a:ext cx="2806227" cy="369332"/>
          </a:xfrm>
          <a:prstGeom prst="rect">
            <a:avLst/>
          </a:prstGeom>
          <a:solidFill>
            <a:srgbClr val="FFFFFF">
              <a:alpha val="50196"/>
            </a:srgbClr>
          </a:solidFill>
          <a:ln>
            <a:solidFill>
              <a:srgbClr val="C00000"/>
            </a:solidFill>
          </a:ln>
        </p:spPr>
        <p:txBody>
          <a:bodyPr wrap="square" rtlCol="0">
            <a:spAutoFit/>
          </a:bodyPr>
          <a:lstStyle/>
          <a:p>
            <a:r>
              <a:rPr lang="fr-FR" dirty="0"/>
              <a:t>Passer à la vue Nationale</a:t>
            </a:r>
          </a:p>
        </p:txBody>
      </p:sp>
    </p:spTree>
    <p:extLst>
      <p:ext uri="{BB962C8B-B14F-4D97-AF65-F5344CB8AC3E}">
        <p14:creationId xmlns:p14="http://schemas.microsoft.com/office/powerpoint/2010/main" val="50960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circle(in)">
                                      <p:cBhvr>
                                        <p:cTn id="10" dur="2000"/>
                                        <p:tgtEl>
                                          <p:spTgt spid="10"/>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11">
                                            <p:bg/>
                                          </p:spTgt>
                                        </p:tgtEl>
                                        <p:attrNameLst>
                                          <p:attrName>style.visibility</p:attrName>
                                        </p:attrNameLst>
                                      </p:cBhvr>
                                      <p:to>
                                        <p:strVal val="visible"/>
                                      </p:to>
                                    </p:set>
                                    <p:animEffect transition="in" filter="circle(in)">
                                      <p:cBhvr>
                                        <p:cTn id="13" dur="2000"/>
                                        <p:tgtEl>
                                          <p:spTgt spid="11">
                                            <p:bg/>
                                          </p:spTgt>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11">
                                            <p:txEl>
                                              <p:pRg st="0" end="0"/>
                                            </p:txEl>
                                          </p:spTgt>
                                        </p:tgtEl>
                                        <p:attrNameLst>
                                          <p:attrName>style.visibility</p:attrName>
                                        </p:attrNameLst>
                                      </p:cBhvr>
                                      <p:to>
                                        <p:strVal val="visible"/>
                                      </p:to>
                                    </p:set>
                                    <p:animEffect transition="in" filter="circle(in)">
                                      <p:cBhvr>
                                        <p:cTn id="16" dur="2000"/>
                                        <p:tgtEl>
                                          <p:spTgt spid="11">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1" nodeType="clickEffect">
                                  <p:stCondLst>
                                    <p:cond delay="0"/>
                                  </p:stCondLst>
                                  <p:childTnLst>
                                    <p:animEffect transition="out" filter="fade">
                                      <p:cBhvr>
                                        <p:cTn id="20" dur="500"/>
                                        <p:tgtEl>
                                          <p:spTgt spid="9"/>
                                        </p:tgtEl>
                                      </p:cBhvr>
                                    </p:animEffect>
                                    <p:set>
                                      <p:cBhvr>
                                        <p:cTn id="21" dur="1" fill="hold">
                                          <p:stCondLst>
                                            <p:cond delay="499"/>
                                          </p:stCondLst>
                                        </p:cTn>
                                        <p:tgtEl>
                                          <p:spTgt spid="9"/>
                                        </p:tgtEl>
                                        <p:attrNameLst>
                                          <p:attrName>style.visibility</p:attrName>
                                        </p:attrNameLst>
                                      </p:cBhvr>
                                      <p:to>
                                        <p:strVal val="hidden"/>
                                      </p:to>
                                    </p:set>
                                  </p:childTnLst>
                                </p:cTn>
                              </p:par>
                              <p:par>
                                <p:cTn id="22" presetID="10" presetClass="exit" presetSubtype="0" fill="hold" grpId="1" nodeType="withEffect">
                                  <p:stCondLst>
                                    <p:cond delay="0"/>
                                  </p:stCondLst>
                                  <p:childTnLst>
                                    <p:animEffect transition="out" filter="fade">
                                      <p:cBhvr>
                                        <p:cTn id="23" dur="500"/>
                                        <p:tgtEl>
                                          <p:spTgt spid="10"/>
                                        </p:tgtEl>
                                      </p:cBhvr>
                                    </p:animEffect>
                                    <p:set>
                                      <p:cBhvr>
                                        <p:cTn id="24" dur="1" fill="hold">
                                          <p:stCondLst>
                                            <p:cond delay="499"/>
                                          </p:stCondLst>
                                        </p:cTn>
                                        <p:tgtEl>
                                          <p:spTgt spid="10"/>
                                        </p:tgtEl>
                                        <p:attrNameLst>
                                          <p:attrName>style.visibility</p:attrName>
                                        </p:attrNameLst>
                                      </p:cBhvr>
                                      <p:to>
                                        <p:strVal val="hidden"/>
                                      </p:to>
                                    </p:set>
                                  </p:childTnLst>
                                </p:cTn>
                              </p:par>
                              <p:par>
                                <p:cTn id="25" presetID="10" presetClass="exit" presetSubtype="0" fill="hold" grpId="1" nodeType="withEffect">
                                  <p:stCondLst>
                                    <p:cond delay="0"/>
                                  </p:stCondLst>
                                  <p:childTnLst>
                                    <p:animEffect transition="out" filter="fade">
                                      <p:cBhvr>
                                        <p:cTn id="26" dur="500"/>
                                        <p:tgtEl>
                                          <p:spTgt spid="11">
                                            <p:txEl>
                                              <p:pRg st="0" end="0"/>
                                            </p:txEl>
                                          </p:spTgt>
                                        </p:tgtEl>
                                      </p:cBhvr>
                                    </p:animEffect>
                                    <p:set>
                                      <p:cBhvr>
                                        <p:cTn id="27" dur="1" fill="hold">
                                          <p:stCondLst>
                                            <p:cond delay="499"/>
                                          </p:stCondLst>
                                        </p:cTn>
                                        <p:tgtEl>
                                          <p:spTgt spid="11">
                                            <p:txEl>
                                              <p:pRg st="0" end="0"/>
                                            </p:txEl>
                                          </p:spTgt>
                                        </p:tgtEl>
                                        <p:attrNameLst>
                                          <p:attrName>style.visibility</p:attrName>
                                        </p:attrNameLst>
                                      </p:cBhvr>
                                      <p:to>
                                        <p:strVal val="hidden"/>
                                      </p:to>
                                    </p:set>
                                  </p:childTnLst>
                                </p:cTn>
                              </p:par>
                              <p:par>
                                <p:cTn id="28" presetID="10" presetClass="exit" presetSubtype="0" fill="hold" grpId="1" nodeType="withEffect">
                                  <p:stCondLst>
                                    <p:cond delay="0"/>
                                  </p:stCondLst>
                                  <p:childTnLst>
                                    <p:animEffect transition="out" filter="fade">
                                      <p:cBhvr>
                                        <p:cTn id="29" dur="500"/>
                                        <p:tgtEl>
                                          <p:spTgt spid="11">
                                            <p:bg/>
                                          </p:spTgt>
                                        </p:tgtEl>
                                      </p:cBhvr>
                                    </p:animEffect>
                                    <p:set>
                                      <p:cBhvr>
                                        <p:cTn id="30" dur="1" fill="hold">
                                          <p:stCondLst>
                                            <p:cond delay="499"/>
                                          </p:stCondLst>
                                        </p:cTn>
                                        <p:tgtEl>
                                          <p:spTgt spid="11">
                                            <p:bg/>
                                          </p:spTgt>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circle(in)">
                                      <p:cBhvr>
                                        <p:cTn id="35" dur="2000"/>
                                        <p:tgtEl>
                                          <p:spTgt spid="12"/>
                                        </p:tgtEl>
                                      </p:cBhvr>
                                    </p:animEffect>
                                  </p:childTnLst>
                                </p:cTn>
                              </p:par>
                              <p:par>
                                <p:cTn id="36" presetID="6" presetClass="entr" presetSubtype="16"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circle(in)">
                                      <p:cBhvr>
                                        <p:cTn id="38" dur="2000"/>
                                        <p:tgtEl>
                                          <p:spTgt spid="13"/>
                                        </p:tgtEl>
                                      </p:cBhvr>
                                    </p:animEffect>
                                  </p:childTnLst>
                                </p:cTn>
                              </p:par>
                              <p:par>
                                <p:cTn id="39" presetID="6" presetClass="entr" presetSubtype="16"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circle(in)">
                                      <p:cBhvr>
                                        <p:cTn id="41" dur="20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1" nodeType="clickEffect">
                                  <p:stCondLst>
                                    <p:cond delay="0"/>
                                  </p:stCondLst>
                                  <p:childTnLst>
                                    <p:animEffect transition="out" filter="fade">
                                      <p:cBhvr>
                                        <p:cTn id="45" dur="500"/>
                                        <p:tgtEl>
                                          <p:spTgt spid="12"/>
                                        </p:tgtEl>
                                      </p:cBhvr>
                                    </p:animEffect>
                                    <p:set>
                                      <p:cBhvr>
                                        <p:cTn id="46" dur="1" fill="hold">
                                          <p:stCondLst>
                                            <p:cond delay="499"/>
                                          </p:stCondLst>
                                        </p:cTn>
                                        <p:tgtEl>
                                          <p:spTgt spid="12"/>
                                        </p:tgtEl>
                                        <p:attrNameLst>
                                          <p:attrName>style.visibility</p:attrName>
                                        </p:attrNameLst>
                                      </p:cBhvr>
                                      <p:to>
                                        <p:strVal val="hidden"/>
                                      </p:to>
                                    </p:set>
                                  </p:childTnLst>
                                </p:cTn>
                              </p:par>
                              <p:par>
                                <p:cTn id="47" presetID="10" presetClass="exit" presetSubtype="0" fill="hold" grpId="1" nodeType="withEffect">
                                  <p:stCondLst>
                                    <p:cond delay="0"/>
                                  </p:stCondLst>
                                  <p:childTnLst>
                                    <p:animEffect transition="out" filter="fade">
                                      <p:cBhvr>
                                        <p:cTn id="48" dur="500"/>
                                        <p:tgtEl>
                                          <p:spTgt spid="13"/>
                                        </p:tgtEl>
                                      </p:cBhvr>
                                    </p:animEffect>
                                    <p:set>
                                      <p:cBhvr>
                                        <p:cTn id="49" dur="1" fill="hold">
                                          <p:stCondLst>
                                            <p:cond delay="499"/>
                                          </p:stCondLst>
                                        </p:cTn>
                                        <p:tgtEl>
                                          <p:spTgt spid="13"/>
                                        </p:tgtEl>
                                        <p:attrNameLst>
                                          <p:attrName>style.visibility</p:attrName>
                                        </p:attrNameLst>
                                      </p:cBhvr>
                                      <p:to>
                                        <p:strVal val="hidden"/>
                                      </p:to>
                                    </p:set>
                                  </p:childTnLst>
                                </p:cTn>
                              </p:par>
                              <p:par>
                                <p:cTn id="50" presetID="10" presetClass="exit" presetSubtype="0" fill="hold" grpId="1" nodeType="withEffect">
                                  <p:stCondLst>
                                    <p:cond delay="0"/>
                                  </p:stCondLst>
                                  <p:childTnLst>
                                    <p:animEffect transition="out" filter="fade">
                                      <p:cBhvr>
                                        <p:cTn id="51" dur="500"/>
                                        <p:tgtEl>
                                          <p:spTgt spid="14"/>
                                        </p:tgtEl>
                                      </p:cBhvr>
                                    </p:animEffect>
                                    <p:set>
                                      <p:cBhvr>
                                        <p:cTn id="52" dur="1" fill="hold">
                                          <p:stCondLst>
                                            <p:cond delay="499"/>
                                          </p:stCondLst>
                                        </p:cTn>
                                        <p:tgtEl>
                                          <p:spTgt spid="14"/>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circle(in)">
                                      <p:cBhvr>
                                        <p:cTn id="57" dur="2000"/>
                                        <p:tgtEl>
                                          <p:spTgt spid="15"/>
                                        </p:tgtEl>
                                      </p:cBhvr>
                                    </p:animEffect>
                                  </p:childTnLst>
                                </p:cTn>
                              </p:par>
                              <p:par>
                                <p:cTn id="58" presetID="6" presetClass="entr" presetSubtype="16" fill="hold" grpId="0"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circle(in)">
                                      <p:cBhvr>
                                        <p:cTn id="60" dur="2000"/>
                                        <p:tgtEl>
                                          <p:spTgt spid="16"/>
                                        </p:tgtEl>
                                      </p:cBhvr>
                                    </p:animEffect>
                                  </p:childTnLst>
                                </p:cTn>
                              </p:par>
                              <p:par>
                                <p:cTn id="61" presetID="6" presetClass="entr" presetSubtype="16" fill="hold" grpId="0" nodeType="with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circle(in)">
                                      <p:cBhvr>
                                        <p:cTn id="63" dur="2000"/>
                                        <p:tgtEl>
                                          <p:spTgt spid="17"/>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xit" presetSubtype="0" fill="hold" grpId="1" nodeType="clickEffect">
                                  <p:stCondLst>
                                    <p:cond delay="0"/>
                                  </p:stCondLst>
                                  <p:childTnLst>
                                    <p:animEffect transition="out" filter="fade">
                                      <p:cBhvr>
                                        <p:cTn id="67" dur="500"/>
                                        <p:tgtEl>
                                          <p:spTgt spid="15"/>
                                        </p:tgtEl>
                                      </p:cBhvr>
                                    </p:animEffect>
                                    <p:set>
                                      <p:cBhvr>
                                        <p:cTn id="68" dur="1" fill="hold">
                                          <p:stCondLst>
                                            <p:cond delay="499"/>
                                          </p:stCondLst>
                                        </p:cTn>
                                        <p:tgtEl>
                                          <p:spTgt spid="15"/>
                                        </p:tgtEl>
                                        <p:attrNameLst>
                                          <p:attrName>style.visibility</p:attrName>
                                        </p:attrNameLst>
                                      </p:cBhvr>
                                      <p:to>
                                        <p:strVal val="hidden"/>
                                      </p:to>
                                    </p:set>
                                  </p:childTnLst>
                                </p:cTn>
                              </p:par>
                              <p:par>
                                <p:cTn id="69" presetID="10" presetClass="exit" presetSubtype="0" fill="hold" grpId="1" nodeType="withEffect">
                                  <p:stCondLst>
                                    <p:cond delay="0"/>
                                  </p:stCondLst>
                                  <p:childTnLst>
                                    <p:animEffect transition="out" filter="fade">
                                      <p:cBhvr>
                                        <p:cTn id="70" dur="500"/>
                                        <p:tgtEl>
                                          <p:spTgt spid="16"/>
                                        </p:tgtEl>
                                      </p:cBhvr>
                                    </p:animEffect>
                                    <p:set>
                                      <p:cBhvr>
                                        <p:cTn id="71" dur="1" fill="hold">
                                          <p:stCondLst>
                                            <p:cond delay="499"/>
                                          </p:stCondLst>
                                        </p:cTn>
                                        <p:tgtEl>
                                          <p:spTgt spid="16"/>
                                        </p:tgtEl>
                                        <p:attrNameLst>
                                          <p:attrName>style.visibility</p:attrName>
                                        </p:attrNameLst>
                                      </p:cBhvr>
                                      <p:to>
                                        <p:strVal val="hidden"/>
                                      </p:to>
                                    </p:set>
                                  </p:childTnLst>
                                </p:cTn>
                              </p:par>
                              <p:par>
                                <p:cTn id="72" presetID="10" presetClass="exit" presetSubtype="0" fill="hold" grpId="1" nodeType="withEffect">
                                  <p:stCondLst>
                                    <p:cond delay="0"/>
                                  </p:stCondLst>
                                  <p:childTnLst>
                                    <p:animEffect transition="out" filter="fade">
                                      <p:cBhvr>
                                        <p:cTn id="73" dur="500"/>
                                        <p:tgtEl>
                                          <p:spTgt spid="17"/>
                                        </p:tgtEl>
                                      </p:cBhvr>
                                    </p:animEffect>
                                    <p:set>
                                      <p:cBhvr>
                                        <p:cTn id="74" dur="1" fill="hold">
                                          <p:stCondLst>
                                            <p:cond delay="499"/>
                                          </p:stCondLst>
                                        </p:cTn>
                                        <p:tgtEl>
                                          <p:spTgt spid="17"/>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6" presetClass="entr" presetSubtype="16" fill="hold" grpId="0" nodeType="click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circle(in)">
                                      <p:cBhvr>
                                        <p:cTn id="79" dur="2000"/>
                                        <p:tgtEl>
                                          <p:spTgt spid="18"/>
                                        </p:tgtEl>
                                      </p:cBhvr>
                                    </p:animEffect>
                                  </p:childTnLst>
                                </p:cTn>
                              </p:par>
                              <p:par>
                                <p:cTn id="80" presetID="6" presetClass="entr" presetSubtype="16" fill="hold"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circle(in)">
                                      <p:cBhvr>
                                        <p:cTn id="82" dur="2000"/>
                                        <p:tgtEl>
                                          <p:spTgt spid="19"/>
                                        </p:tgtEl>
                                      </p:cBhvr>
                                    </p:animEffect>
                                  </p:childTnLst>
                                </p:cTn>
                              </p:par>
                              <p:par>
                                <p:cTn id="83" presetID="6" presetClass="entr" presetSubtype="16"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circle(in)">
                                      <p:cBhvr>
                                        <p:cTn id="85" dur="2000"/>
                                        <p:tgtEl>
                                          <p:spTgt spid="20"/>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xit" presetSubtype="0" fill="hold" grpId="1" nodeType="clickEffect">
                                  <p:stCondLst>
                                    <p:cond delay="0"/>
                                  </p:stCondLst>
                                  <p:childTnLst>
                                    <p:animEffect transition="out" filter="fade">
                                      <p:cBhvr>
                                        <p:cTn id="89" dur="500"/>
                                        <p:tgtEl>
                                          <p:spTgt spid="18"/>
                                        </p:tgtEl>
                                      </p:cBhvr>
                                    </p:animEffect>
                                    <p:set>
                                      <p:cBhvr>
                                        <p:cTn id="90" dur="1" fill="hold">
                                          <p:stCondLst>
                                            <p:cond delay="499"/>
                                          </p:stCondLst>
                                        </p:cTn>
                                        <p:tgtEl>
                                          <p:spTgt spid="18"/>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500"/>
                                        <p:tgtEl>
                                          <p:spTgt spid="19"/>
                                        </p:tgtEl>
                                      </p:cBhvr>
                                    </p:animEffect>
                                    <p:set>
                                      <p:cBhvr>
                                        <p:cTn id="93" dur="1" fill="hold">
                                          <p:stCondLst>
                                            <p:cond delay="499"/>
                                          </p:stCondLst>
                                        </p:cTn>
                                        <p:tgtEl>
                                          <p:spTgt spid="19"/>
                                        </p:tgtEl>
                                        <p:attrNameLst>
                                          <p:attrName>style.visibility</p:attrName>
                                        </p:attrNameLst>
                                      </p:cBhvr>
                                      <p:to>
                                        <p:strVal val="hidden"/>
                                      </p:to>
                                    </p:set>
                                  </p:childTnLst>
                                </p:cTn>
                              </p:par>
                              <p:par>
                                <p:cTn id="94" presetID="10" presetClass="exit" presetSubtype="0" fill="hold" grpId="1" nodeType="withEffect">
                                  <p:stCondLst>
                                    <p:cond delay="0"/>
                                  </p:stCondLst>
                                  <p:childTnLst>
                                    <p:animEffect transition="out" filter="fade">
                                      <p:cBhvr>
                                        <p:cTn id="95" dur="500"/>
                                        <p:tgtEl>
                                          <p:spTgt spid="20"/>
                                        </p:tgtEl>
                                      </p:cBhvr>
                                    </p:animEffect>
                                    <p:set>
                                      <p:cBhvr>
                                        <p:cTn id="96" dur="1" fill="hold">
                                          <p:stCondLst>
                                            <p:cond delay="499"/>
                                          </p:stCondLst>
                                        </p:cTn>
                                        <p:tgtEl>
                                          <p:spTgt spid="20"/>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6" presetClass="entr" presetSubtype="16" fill="hold" grpId="0" nodeType="clickEffect">
                                  <p:stCondLst>
                                    <p:cond delay="0"/>
                                  </p:stCondLst>
                                  <p:childTnLst>
                                    <p:set>
                                      <p:cBhvr>
                                        <p:cTn id="100" dur="1" fill="hold">
                                          <p:stCondLst>
                                            <p:cond delay="0"/>
                                          </p:stCondLst>
                                        </p:cTn>
                                        <p:tgtEl>
                                          <p:spTgt spid="21"/>
                                        </p:tgtEl>
                                        <p:attrNameLst>
                                          <p:attrName>style.visibility</p:attrName>
                                        </p:attrNameLst>
                                      </p:cBhvr>
                                      <p:to>
                                        <p:strVal val="visible"/>
                                      </p:to>
                                    </p:set>
                                    <p:animEffect transition="in" filter="circle(in)">
                                      <p:cBhvr>
                                        <p:cTn id="101" dur="2000"/>
                                        <p:tgtEl>
                                          <p:spTgt spid="21"/>
                                        </p:tgtEl>
                                      </p:cBhvr>
                                    </p:animEffect>
                                  </p:childTnLst>
                                </p:cTn>
                              </p:par>
                              <p:par>
                                <p:cTn id="102" presetID="6" presetClass="entr" presetSubtype="16" fill="hold" nodeType="withEffect">
                                  <p:stCondLst>
                                    <p:cond delay="0"/>
                                  </p:stCondLst>
                                  <p:childTnLst>
                                    <p:set>
                                      <p:cBhvr>
                                        <p:cTn id="103" dur="1" fill="hold">
                                          <p:stCondLst>
                                            <p:cond delay="0"/>
                                          </p:stCondLst>
                                        </p:cTn>
                                        <p:tgtEl>
                                          <p:spTgt spid="22"/>
                                        </p:tgtEl>
                                        <p:attrNameLst>
                                          <p:attrName>style.visibility</p:attrName>
                                        </p:attrNameLst>
                                      </p:cBhvr>
                                      <p:to>
                                        <p:strVal val="visible"/>
                                      </p:to>
                                    </p:set>
                                    <p:animEffect transition="in" filter="circle(in)">
                                      <p:cBhvr>
                                        <p:cTn id="104" dur="2000"/>
                                        <p:tgtEl>
                                          <p:spTgt spid="22"/>
                                        </p:tgtEl>
                                      </p:cBhvr>
                                    </p:animEffect>
                                  </p:childTnLst>
                                </p:cTn>
                              </p:par>
                              <p:par>
                                <p:cTn id="105" presetID="6" presetClass="entr" presetSubtype="16" fill="hold" grpId="0" nodeType="withEffect">
                                  <p:stCondLst>
                                    <p:cond delay="0"/>
                                  </p:stCondLst>
                                  <p:childTnLst>
                                    <p:set>
                                      <p:cBhvr>
                                        <p:cTn id="106" dur="1" fill="hold">
                                          <p:stCondLst>
                                            <p:cond delay="0"/>
                                          </p:stCondLst>
                                        </p:cTn>
                                        <p:tgtEl>
                                          <p:spTgt spid="25"/>
                                        </p:tgtEl>
                                        <p:attrNameLst>
                                          <p:attrName>style.visibility</p:attrName>
                                        </p:attrNameLst>
                                      </p:cBhvr>
                                      <p:to>
                                        <p:strVal val="visible"/>
                                      </p:to>
                                    </p:set>
                                    <p:animEffect transition="in" filter="circle(in)">
                                      <p:cBhvr>
                                        <p:cTn id="107" dur="2000"/>
                                        <p:tgtEl>
                                          <p:spTgt spid="25"/>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xit" presetSubtype="0" fill="hold" grpId="1" nodeType="clickEffect">
                                  <p:stCondLst>
                                    <p:cond delay="0"/>
                                  </p:stCondLst>
                                  <p:childTnLst>
                                    <p:animEffect transition="out" filter="fade">
                                      <p:cBhvr>
                                        <p:cTn id="111" dur="500"/>
                                        <p:tgtEl>
                                          <p:spTgt spid="21"/>
                                        </p:tgtEl>
                                      </p:cBhvr>
                                    </p:animEffect>
                                    <p:set>
                                      <p:cBhvr>
                                        <p:cTn id="112" dur="1" fill="hold">
                                          <p:stCondLst>
                                            <p:cond delay="499"/>
                                          </p:stCondLst>
                                        </p:cTn>
                                        <p:tgtEl>
                                          <p:spTgt spid="21"/>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2"/>
                                        </p:tgtEl>
                                      </p:cBhvr>
                                    </p:animEffect>
                                    <p:set>
                                      <p:cBhvr>
                                        <p:cTn id="115" dur="1" fill="hold">
                                          <p:stCondLst>
                                            <p:cond delay="499"/>
                                          </p:stCondLst>
                                        </p:cTn>
                                        <p:tgtEl>
                                          <p:spTgt spid="22"/>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5"/>
                                        </p:tgtEl>
                                      </p:cBhvr>
                                    </p:animEffect>
                                    <p:set>
                                      <p:cBhvr>
                                        <p:cTn id="118"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1" grpId="0" build="allAtOnce" animBg="1"/>
      <p:bldP spid="11" grpId="1" build="allAtOnce"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20" grpId="0"/>
      <p:bldP spid="20" grpId="1"/>
      <p:bldP spid="21" grpId="0" animBg="1"/>
      <p:bldP spid="21" grpId="1" animBg="1"/>
      <p:bldP spid="25" grpId="0" animBg="1"/>
      <p:bldP spid="25"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34B4A-AE5E-5A8D-A3D0-39B01C395CA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9D3CA4F-3088-B3DA-CD84-59B6DFA0ADD1}"/>
              </a:ext>
            </a:extLst>
          </p:cNvPr>
          <p:cNvSpPr>
            <a:spLocks noGrp="1"/>
          </p:cNvSpPr>
          <p:nvPr>
            <p:ph type="title"/>
          </p:nvPr>
        </p:nvSpPr>
        <p:spPr/>
        <p:txBody>
          <a:bodyPr>
            <a:normAutofit/>
          </a:bodyPr>
          <a:lstStyle/>
          <a:p>
            <a:pPr algn="ctr"/>
            <a:r>
              <a:rPr lang="fr-FR" sz="4400" dirty="0"/>
              <a:t>La Vue Régionale</a:t>
            </a:r>
          </a:p>
        </p:txBody>
      </p:sp>
      <p:pic>
        <p:nvPicPr>
          <p:cNvPr id="7" name="Espace réservé du contenu 6" descr="Une image contenant texte, capture d’écran, Police, nombre&#10;&#10;Le contenu généré par l’IA peut être incorrect.">
            <a:extLst>
              <a:ext uri="{FF2B5EF4-FFF2-40B4-BE49-F238E27FC236}">
                <a16:creationId xmlns:a16="http://schemas.microsoft.com/office/drawing/2014/main" id="{754F23B2-8366-7442-3E25-C8E2A9C64F99}"/>
              </a:ext>
            </a:extLst>
          </p:cNvPr>
          <p:cNvPicPr>
            <a:picLocks noGrp="1" noChangeAspect="1"/>
          </p:cNvPicPr>
          <p:nvPr>
            <p:ph idx="1"/>
          </p:nvPr>
        </p:nvPicPr>
        <p:blipFill>
          <a:blip r:embed="rId2"/>
          <a:stretch>
            <a:fillRect/>
          </a:stretch>
        </p:blipFill>
        <p:spPr>
          <a:xfrm>
            <a:off x="824367" y="1488281"/>
            <a:ext cx="1557092" cy="4938660"/>
          </a:xfrm>
          <a:prstGeom prst="rect">
            <a:avLst/>
          </a:prstGeom>
        </p:spPr>
      </p:pic>
      <p:sp>
        <p:nvSpPr>
          <p:cNvPr id="23" name="Flèche : droite 22">
            <a:extLst>
              <a:ext uri="{FF2B5EF4-FFF2-40B4-BE49-F238E27FC236}">
                <a16:creationId xmlns:a16="http://schemas.microsoft.com/office/drawing/2014/main" id="{CF598726-ADD7-A385-980E-C633A3B15115}"/>
              </a:ext>
            </a:extLst>
          </p:cNvPr>
          <p:cNvSpPr/>
          <p:nvPr/>
        </p:nvSpPr>
        <p:spPr>
          <a:xfrm>
            <a:off x="2528492" y="3031111"/>
            <a:ext cx="2954216" cy="16077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2CF1B8E1-B483-6FBE-C19F-64F263DAA274}"/>
              </a:ext>
            </a:extLst>
          </p:cNvPr>
          <p:cNvSpPr txBox="1"/>
          <p:nvPr/>
        </p:nvSpPr>
        <p:spPr>
          <a:xfrm>
            <a:off x="5629741" y="3437930"/>
            <a:ext cx="4129238" cy="923330"/>
          </a:xfrm>
          <a:prstGeom prst="rect">
            <a:avLst/>
          </a:prstGeom>
          <a:noFill/>
        </p:spPr>
        <p:txBody>
          <a:bodyPr wrap="square" rtlCol="0">
            <a:spAutoFit/>
          </a:bodyPr>
          <a:lstStyle/>
          <a:p>
            <a:r>
              <a:rPr lang="fr-FR" dirty="0"/>
              <a:t>Possibilité de filtrer les 3 visuels des domaines pour n’avoir que les pays stables</a:t>
            </a:r>
          </a:p>
        </p:txBody>
      </p:sp>
    </p:spTree>
    <p:extLst>
      <p:ext uri="{BB962C8B-B14F-4D97-AF65-F5344CB8AC3E}">
        <p14:creationId xmlns:p14="http://schemas.microsoft.com/office/powerpoint/2010/main" val="3795324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AB8E8-4B87-F39C-82D0-041F546D78F8}"/>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8CBC11EE-D75B-7808-7C98-C0777872091A}"/>
              </a:ext>
            </a:extLst>
          </p:cNvPr>
          <p:cNvPicPr>
            <a:picLocks noChangeAspect="1"/>
          </p:cNvPicPr>
          <p:nvPr/>
        </p:nvPicPr>
        <p:blipFill>
          <a:blip r:embed="rId3"/>
          <a:stretch>
            <a:fillRect/>
          </a:stretch>
        </p:blipFill>
        <p:spPr>
          <a:xfrm>
            <a:off x="401649" y="1411559"/>
            <a:ext cx="8585721" cy="4836841"/>
          </a:xfrm>
          <a:prstGeom prst="rect">
            <a:avLst/>
          </a:prstGeom>
        </p:spPr>
      </p:pic>
      <p:sp>
        <p:nvSpPr>
          <p:cNvPr id="2" name="Titre 1">
            <a:extLst>
              <a:ext uri="{FF2B5EF4-FFF2-40B4-BE49-F238E27FC236}">
                <a16:creationId xmlns:a16="http://schemas.microsoft.com/office/drawing/2014/main" id="{E7ABFAE8-A32B-C131-DEF2-99A6E2BB04C1}"/>
              </a:ext>
            </a:extLst>
          </p:cNvPr>
          <p:cNvSpPr>
            <a:spLocks noGrp="1"/>
          </p:cNvSpPr>
          <p:nvPr>
            <p:ph type="title"/>
          </p:nvPr>
        </p:nvSpPr>
        <p:spPr/>
        <p:txBody>
          <a:bodyPr>
            <a:normAutofit/>
          </a:bodyPr>
          <a:lstStyle/>
          <a:p>
            <a:pPr algn="ctr"/>
            <a:r>
              <a:rPr lang="fr-FR" sz="4400" dirty="0"/>
              <a:t>La Vue Nationale</a:t>
            </a:r>
          </a:p>
        </p:txBody>
      </p:sp>
      <p:sp>
        <p:nvSpPr>
          <p:cNvPr id="4" name="Espace réservé du numéro de diapositive 3">
            <a:extLst>
              <a:ext uri="{FF2B5EF4-FFF2-40B4-BE49-F238E27FC236}">
                <a16:creationId xmlns:a16="http://schemas.microsoft.com/office/drawing/2014/main" id="{36FA66F8-C3D8-F2A3-00D8-7A1E8ACDF932}"/>
              </a:ext>
            </a:extLst>
          </p:cNvPr>
          <p:cNvSpPr>
            <a:spLocks noGrp="1"/>
          </p:cNvSpPr>
          <p:nvPr>
            <p:ph type="sldNum" sz="quarter" idx="12"/>
          </p:nvPr>
        </p:nvSpPr>
        <p:spPr/>
        <p:txBody>
          <a:bodyPr/>
          <a:lstStyle/>
          <a:p>
            <a:fld id="{1FB8747B-2B08-4040-8EAF-D752BEE491D6}" type="slidenum">
              <a:rPr lang="fr-FR" smtClean="0"/>
              <a:t>12</a:t>
            </a:fld>
            <a:endParaRPr lang="fr-FR"/>
          </a:p>
        </p:txBody>
      </p:sp>
      <p:sp>
        <p:nvSpPr>
          <p:cNvPr id="9" name="Rectangle 8">
            <a:extLst>
              <a:ext uri="{FF2B5EF4-FFF2-40B4-BE49-F238E27FC236}">
                <a16:creationId xmlns:a16="http://schemas.microsoft.com/office/drawing/2014/main" id="{6E5FE38B-6512-DEA8-569A-00CCEF94FDB0}"/>
              </a:ext>
            </a:extLst>
          </p:cNvPr>
          <p:cNvSpPr/>
          <p:nvPr/>
        </p:nvSpPr>
        <p:spPr>
          <a:xfrm>
            <a:off x="5555513" y="1491916"/>
            <a:ext cx="1414918" cy="496044"/>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Flèche : droite 9">
            <a:extLst>
              <a:ext uri="{FF2B5EF4-FFF2-40B4-BE49-F238E27FC236}">
                <a16:creationId xmlns:a16="http://schemas.microsoft.com/office/drawing/2014/main" id="{7CB13C5B-31C2-F37B-AFAC-125BE2A6A1B4}"/>
              </a:ext>
            </a:extLst>
          </p:cNvPr>
          <p:cNvSpPr/>
          <p:nvPr/>
        </p:nvSpPr>
        <p:spPr>
          <a:xfrm rot="18887836">
            <a:off x="6946638" y="993379"/>
            <a:ext cx="867111" cy="34651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8CD83F2B-3169-99D4-5D35-77EB9E64944B}"/>
              </a:ext>
            </a:extLst>
          </p:cNvPr>
          <p:cNvSpPr txBox="1"/>
          <p:nvPr/>
        </p:nvSpPr>
        <p:spPr>
          <a:xfrm>
            <a:off x="7672403" y="198800"/>
            <a:ext cx="1166163" cy="646331"/>
          </a:xfrm>
          <a:prstGeom prst="rect">
            <a:avLst/>
          </a:prstGeom>
          <a:solidFill>
            <a:srgbClr val="FFFFFF">
              <a:alpha val="50196"/>
            </a:srgbClr>
          </a:solidFill>
          <a:ln>
            <a:solidFill>
              <a:schemeClr val="accent5"/>
            </a:solidFill>
          </a:ln>
        </p:spPr>
        <p:txBody>
          <a:bodyPr wrap="square" rtlCol="0">
            <a:spAutoFit/>
          </a:bodyPr>
          <a:lstStyle/>
          <a:p>
            <a:r>
              <a:rPr lang="fr-FR" dirty="0"/>
              <a:t>Sélection du pays</a:t>
            </a:r>
          </a:p>
        </p:txBody>
      </p:sp>
      <p:sp>
        <p:nvSpPr>
          <p:cNvPr id="12" name="Rectangle 11">
            <a:extLst>
              <a:ext uri="{FF2B5EF4-FFF2-40B4-BE49-F238E27FC236}">
                <a16:creationId xmlns:a16="http://schemas.microsoft.com/office/drawing/2014/main" id="{64E0EDA1-D7C0-88B8-F4F9-EA3A3EE54B69}"/>
              </a:ext>
            </a:extLst>
          </p:cNvPr>
          <p:cNvSpPr/>
          <p:nvPr/>
        </p:nvSpPr>
        <p:spPr>
          <a:xfrm>
            <a:off x="396861" y="2146047"/>
            <a:ext cx="8877141" cy="2622028"/>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Flèche : droite 12">
            <a:extLst>
              <a:ext uri="{FF2B5EF4-FFF2-40B4-BE49-F238E27FC236}">
                <a16:creationId xmlns:a16="http://schemas.microsoft.com/office/drawing/2014/main" id="{04133C58-BE28-8C6C-E770-9A09F854B8F7}"/>
              </a:ext>
            </a:extLst>
          </p:cNvPr>
          <p:cNvSpPr/>
          <p:nvPr/>
        </p:nvSpPr>
        <p:spPr>
          <a:xfrm>
            <a:off x="9326880" y="3265265"/>
            <a:ext cx="967278" cy="53348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089BC870-288A-AD36-4399-EF6938C102B7}"/>
              </a:ext>
            </a:extLst>
          </p:cNvPr>
          <p:cNvSpPr txBox="1"/>
          <p:nvPr/>
        </p:nvSpPr>
        <p:spPr>
          <a:xfrm>
            <a:off x="10294158" y="3070343"/>
            <a:ext cx="1848050" cy="923330"/>
          </a:xfrm>
          <a:prstGeom prst="rect">
            <a:avLst/>
          </a:prstGeom>
          <a:solidFill>
            <a:srgbClr val="FFFFFF">
              <a:alpha val="50196"/>
            </a:srgbClr>
          </a:solidFill>
          <a:ln>
            <a:solidFill>
              <a:schemeClr val="accent5"/>
            </a:solidFill>
          </a:ln>
        </p:spPr>
        <p:txBody>
          <a:bodyPr wrap="square" rtlCol="0">
            <a:spAutoFit/>
          </a:bodyPr>
          <a:lstStyle/>
          <a:p>
            <a:r>
              <a:rPr lang="fr-FR" dirty="0"/>
              <a:t>3 domaines d’expertises au niveau National</a:t>
            </a:r>
          </a:p>
        </p:txBody>
      </p:sp>
      <p:sp>
        <p:nvSpPr>
          <p:cNvPr id="15" name="Rectangle 14">
            <a:extLst>
              <a:ext uri="{FF2B5EF4-FFF2-40B4-BE49-F238E27FC236}">
                <a16:creationId xmlns:a16="http://schemas.microsoft.com/office/drawing/2014/main" id="{FB3F277F-0751-83AB-0779-C485DDFB80E1}"/>
              </a:ext>
            </a:extLst>
          </p:cNvPr>
          <p:cNvSpPr/>
          <p:nvPr/>
        </p:nvSpPr>
        <p:spPr>
          <a:xfrm>
            <a:off x="2498663" y="5097749"/>
            <a:ext cx="6395080" cy="1126175"/>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Flèche : droite 15">
            <a:extLst>
              <a:ext uri="{FF2B5EF4-FFF2-40B4-BE49-F238E27FC236}">
                <a16:creationId xmlns:a16="http://schemas.microsoft.com/office/drawing/2014/main" id="{54466C33-1506-3090-0A93-067B03283BFC}"/>
              </a:ext>
            </a:extLst>
          </p:cNvPr>
          <p:cNvSpPr/>
          <p:nvPr/>
        </p:nvSpPr>
        <p:spPr>
          <a:xfrm>
            <a:off x="8998317" y="5513940"/>
            <a:ext cx="1269402" cy="533487"/>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6B5BC54F-67AD-C642-0840-61943ECEF582}"/>
              </a:ext>
            </a:extLst>
          </p:cNvPr>
          <p:cNvSpPr txBox="1"/>
          <p:nvPr/>
        </p:nvSpPr>
        <p:spPr>
          <a:xfrm>
            <a:off x="10294158" y="5316807"/>
            <a:ext cx="1848050" cy="923330"/>
          </a:xfrm>
          <a:prstGeom prst="rect">
            <a:avLst/>
          </a:prstGeom>
          <a:solidFill>
            <a:srgbClr val="FFFFFF">
              <a:alpha val="50196"/>
            </a:srgbClr>
          </a:solidFill>
          <a:ln>
            <a:solidFill>
              <a:schemeClr val="accent5"/>
            </a:solidFill>
          </a:ln>
        </p:spPr>
        <p:txBody>
          <a:bodyPr wrap="square" rtlCol="0">
            <a:spAutoFit/>
          </a:bodyPr>
          <a:lstStyle/>
          <a:p>
            <a:r>
              <a:rPr lang="fr-FR" dirty="0"/>
              <a:t>4 indicateurs à suivre niveau National</a:t>
            </a:r>
          </a:p>
        </p:txBody>
      </p:sp>
      <p:sp>
        <p:nvSpPr>
          <p:cNvPr id="18" name="Rectangle 17">
            <a:extLst>
              <a:ext uri="{FF2B5EF4-FFF2-40B4-BE49-F238E27FC236}">
                <a16:creationId xmlns:a16="http://schemas.microsoft.com/office/drawing/2014/main" id="{F07A6A20-2156-A91E-0F53-2AA03AC462C3}"/>
              </a:ext>
            </a:extLst>
          </p:cNvPr>
          <p:cNvSpPr/>
          <p:nvPr/>
        </p:nvSpPr>
        <p:spPr>
          <a:xfrm>
            <a:off x="424049" y="4768075"/>
            <a:ext cx="2030393" cy="1504269"/>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9" name="Connecteur droit avec flèche 18">
            <a:extLst>
              <a:ext uri="{FF2B5EF4-FFF2-40B4-BE49-F238E27FC236}">
                <a16:creationId xmlns:a16="http://schemas.microsoft.com/office/drawing/2014/main" id="{23826CBD-2B4F-3ACF-D151-0063E2066B68}"/>
              </a:ext>
            </a:extLst>
          </p:cNvPr>
          <p:cNvCxnSpPr>
            <a:cxnSpLocks/>
            <a:endCxn id="20" idx="1"/>
          </p:cNvCxnSpPr>
          <p:nvPr/>
        </p:nvCxnSpPr>
        <p:spPr>
          <a:xfrm>
            <a:off x="1895614" y="6285473"/>
            <a:ext cx="1280722" cy="365730"/>
          </a:xfrm>
          <a:prstGeom prst="straightConnector1">
            <a:avLst/>
          </a:prstGeom>
          <a:ln w="57150">
            <a:tailEnd type="triangle"/>
          </a:ln>
        </p:spPr>
        <p:style>
          <a:lnRef idx="1">
            <a:schemeClr val="accent5"/>
          </a:lnRef>
          <a:fillRef idx="0">
            <a:schemeClr val="accent5"/>
          </a:fillRef>
          <a:effectRef idx="0">
            <a:schemeClr val="accent5"/>
          </a:effectRef>
          <a:fontRef idx="minor">
            <a:schemeClr val="tx1"/>
          </a:fontRef>
        </p:style>
      </p:cxnSp>
      <p:sp>
        <p:nvSpPr>
          <p:cNvPr id="20" name="ZoneTexte 19">
            <a:extLst>
              <a:ext uri="{FF2B5EF4-FFF2-40B4-BE49-F238E27FC236}">
                <a16:creationId xmlns:a16="http://schemas.microsoft.com/office/drawing/2014/main" id="{760A34CB-CA07-BB85-0346-D8B477AD0EE3}"/>
              </a:ext>
            </a:extLst>
          </p:cNvPr>
          <p:cNvSpPr txBox="1"/>
          <p:nvPr/>
        </p:nvSpPr>
        <p:spPr>
          <a:xfrm>
            <a:off x="3176336" y="6466537"/>
            <a:ext cx="3532471" cy="369332"/>
          </a:xfrm>
          <a:prstGeom prst="rect">
            <a:avLst/>
          </a:prstGeom>
          <a:noFill/>
        </p:spPr>
        <p:txBody>
          <a:bodyPr wrap="square" rtlCol="0">
            <a:spAutoFit/>
          </a:bodyPr>
          <a:lstStyle/>
          <a:p>
            <a:r>
              <a:rPr lang="fr-FR" dirty="0"/>
              <a:t>Filtre des années</a:t>
            </a:r>
          </a:p>
        </p:txBody>
      </p:sp>
      <p:sp>
        <p:nvSpPr>
          <p:cNvPr id="21" name="Rectangle 20">
            <a:extLst>
              <a:ext uri="{FF2B5EF4-FFF2-40B4-BE49-F238E27FC236}">
                <a16:creationId xmlns:a16="http://schemas.microsoft.com/office/drawing/2014/main" id="{D9D2EAA1-23BE-F990-DA3F-C7CD30628D88}"/>
              </a:ext>
            </a:extLst>
          </p:cNvPr>
          <p:cNvSpPr/>
          <p:nvPr/>
        </p:nvSpPr>
        <p:spPr>
          <a:xfrm>
            <a:off x="7697515" y="1386040"/>
            <a:ext cx="1414917" cy="771561"/>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2" name="Connecteur droit avec flèche 21">
            <a:extLst>
              <a:ext uri="{FF2B5EF4-FFF2-40B4-BE49-F238E27FC236}">
                <a16:creationId xmlns:a16="http://schemas.microsoft.com/office/drawing/2014/main" id="{F78023AA-F99D-043E-862F-283866A8B78D}"/>
              </a:ext>
            </a:extLst>
          </p:cNvPr>
          <p:cNvCxnSpPr>
            <a:cxnSpLocks/>
            <a:stCxn id="21" idx="0"/>
            <a:endCxn id="23" idx="1"/>
          </p:cNvCxnSpPr>
          <p:nvPr/>
        </p:nvCxnSpPr>
        <p:spPr>
          <a:xfrm flipV="1">
            <a:off x="8404974" y="608884"/>
            <a:ext cx="1166534" cy="777156"/>
          </a:xfrm>
          <a:prstGeom prst="straightConnector1">
            <a:avLst/>
          </a:prstGeom>
          <a:ln w="57150">
            <a:tailEnd type="triangle"/>
          </a:ln>
        </p:spPr>
        <p:style>
          <a:lnRef idx="1">
            <a:schemeClr val="accent5"/>
          </a:lnRef>
          <a:fillRef idx="0">
            <a:schemeClr val="accent5"/>
          </a:fillRef>
          <a:effectRef idx="0">
            <a:schemeClr val="accent5"/>
          </a:effectRef>
          <a:fontRef idx="minor">
            <a:schemeClr val="tx1"/>
          </a:fontRef>
        </p:style>
      </p:cxnSp>
      <p:sp>
        <p:nvSpPr>
          <p:cNvPr id="23" name="ZoneTexte 22">
            <a:extLst>
              <a:ext uri="{FF2B5EF4-FFF2-40B4-BE49-F238E27FC236}">
                <a16:creationId xmlns:a16="http://schemas.microsoft.com/office/drawing/2014/main" id="{A3C889D1-0E48-665E-D70B-D796ABCACCA6}"/>
              </a:ext>
            </a:extLst>
          </p:cNvPr>
          <p:cNvSpPr txBox="1"/>
          <p:nvPr/>
        </p:nvSpPr>
        <p:spPr>
          <a:xfrm>
            <a:off x="9571508" y="424218"/>
            <a:ext cx="2527589" cy="369332"/>
          </a:xfrm>
          <a:prstGeom prst="rect">
            <a:avLst/>
          </a:prstGeom>
          <a:solidFill>
            <a:srgbClr val="FFFFFF">
              <a:alpha val="50196"/>
            </a:srgbClr>
          </a:solidFill>
          <a:ln>
            <a:solidFill>
              <a:srgbClr val="C00000"/>
            </a:solidFill>
          </a:ln>
        </p:spPr>
        <p:txBody>
          <a:bodyPr wrap="square" rtlCol="0">
            <a:spAutoFit/>
          </a:bodyPr>
          <a:lstStyle/>
          <a:p>
            <a:r>
              <a:rPr lang="fr-FR" dirty="0"/>
              <a:t>Infos complémentaires</a:t>
            </a:r>
          </a:p>
        </p:txBody>
      </p:sp>
    </p:spTree>
    <p:extLst>
      <p:ext uri="{BB962C8B-B14F-4D97-AF65-F5344CB8AC3E}">
        <p14:creationId xmlns:p14="http://schemas.microsoft.com/office/powerpoint/2010/main" val="150457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circle(in)">
                                      <p:cBhvr>
                                        <p:cTn id="10" dur="2000"/>
                                        <p:tgtEl>
                                          <p:spTgt spid="10"/>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11">
                                            <p:bg/>
                                          </p:spTgt>
                                        </p:tgtEl>
                                        <p:attrNameLst>
                                          <p:attrName>style.visibility</p:attrName>
                                        </p:attrNameLst>
                                      </p:cBhvr>
                                      <p:to>
                                        <p:strVal val="visible"/>
                                      </p:to>
                                    </p:set>
                                    <p:animEffect transition="in" filter="circle(in)">
                                      <p:cBhvr>
                                        <p:cTn id="13" dur="2000"/>
                                        <p:tgtEl>
                                          <p:spTgt spid="11">
                                            <p:bg/>
                                          </p:spTgt>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11">
                                            <p:txEl>
                                              <p:pRg st="0" end="0"/>
                                            </p:txEl>
                                          </p:spTgt>
                                        </p:tgtEl>
                                        <p:attrNameLst>
                                          <p:attrName>style.visibility</p:attrName>
                                        </p:attrNameLst>
                                      </p:cBhvr>
                                      <p:to>
                                        <p:strVal val="visible"/>
                                      </p:to>
                                    </p:set>
                                    <p:animEffect transition="in" filter="circle(in)">
                                      <p:cBhvr>
                                        <p:cTn id="16" dur="2000"/>
                                        <p:tgtEl>
                                          <p:spTgt spid="11">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1" nodeType="clickEffect">
                                  <p:stCondLst>
                                    <p:cond delay="0"/>
                                  </p:stCondLst>
                                  <p:childTnLst>
                                    <p:animEffect transition="out" filter="fade">
                                      <p:cBhvr>
                                        <p:cTn id="20" dur="500"/>
                                        <p:tgtEl>
                                          <p:spTgt spid="9"/>
                                        </p:tgtEl>
                                      </p:cBhvr>
                                    </p:animEffect>
                                    <p:set>
                                      <p:cBhvr>
                                        <p:cTn id="21" dur="1" fill="hold">
                                          <p:stCondLst>
                                            <p:cond delay="499"/>
                                          </p:stCondLst>
                                        </p:cTn>
                                        <p:tgtEl>
                                          <p:spTgt spid="9"/>
                                        </p:tgtEl>
                                        <p:attrNameLst>
                                          <p:attrName>style.visibility</p:attrName>
                                        </p:attrNameLst>
                                      </p:cBhvr>
                                      <p:to>
                                        <p:strVal val="hidden"/>
                                      </p:to>
                                    </p:set>
                                  </p:childTnLst>
                                </p:cTn>
                              </p:par>
                              <p:par>
                                <p:cTn id="22" presetID="10" presetClass="exit" presetSubtype="0" fill="hold" grpId="1" nodeType="withEffect">
                                  <p:stCondLst>
                                    <p:cond delay="0"/>
                                  </p:stCondLst>
                                  <p:childTnLst>
                                    <p:animEffect transition="out" filter="fade">
                                      <p:cBhvr>
                                        <p:cTn id="23" dur="500"/>
                                        <p:tgtEl>
                                          <p:spTgt spid="10"/>
                                        </p:tgtEl>
                                      </p:cBhvr>
                                    </p:animEffect>
                                    <p:set>
                                      <p:cBhvr>
                                        <p:cTn id="24" dur="1" fill="hold">
                                          <p:stCondLst>
                                            <p:cond delay="499"/>
                                          </p:stCondLst>
                                        </p:cTn>
                                        <p:tgtEl>
                                          <p:spTgt spid="10"/>
                                        </p:tgtEl>
                                        <p:attrNameLst>
                                          <p:attrName>style.visibility</p:attrName>
                                        </p:attrNameLst>
                                      </p:cBhvr>
                                      <p:to>
                                        <p:strVal val="hidden"/>
                                      </p:to>
                                    </p:set>
                                  </p:childTnLst>
                                </p:cTn>
                              </p:par>
                              <p:par>
                                <p:cTn id="25" presetID="10" presetClass="exit" presetSubtype="0" fill="hold" grpId="1" nodeType="withEffect">
                                  <p:stCondLst>
                                    <p:cond delay="0"/>
                                  </p:stCondLst>
                                  <p:childTnLst>
                                    <p:animEffect transition="out" filter="fade">
                                      <p:cBhvr>
                                        <p:cTn id="26" dur="500"/>
                                        <p:tgtEl>
                                          <p:spTgt spid="11">
                                            <p:txEl>
                                              <p:pRg st="0" end="0"/>
                                            </p:txEl>
                                          </p:spTgt>
                                        </p:tgtEl>
                                      </p:cBhvr>
                                    </p:animEffect>
                                    <p:set>
                                      <p:cBhvr>
                                        <p:cTn id="27" dur="1" fill="hold">
                                          <p:stCondLst>
                                            <p:cond delay="499"/>
                                          </p:stCondLst>
                                        </p:cTn>
                                        <p:tgtEl>
                                          <p:spTgt spid="11">
                                            <p:txEl>
                                              <p:pRg st="0" end="0"/>
                                            </p:txEl>
                                          </p:spTgt>
                                        </p:tgtEl>
                                        <p:attrNameLst>
                                          <p:attrName>style.visibility</p:attrName>
                                        </p:attrNameLst>
                                      </p:cBhvr>
                                      <p:to>
                                        <p:strVal val="hidden"/>
                                      </p:to>
                                    </p:set>
                                  </p:childTnLst>
                                </p:cTn>
                              </p:par>
                              <p:par>
                                <p:cTn id="28" presetID="10" presetClass="exit" presetSubtype="0" fill="hold" grpId="1" nodeType="withEffect">
                                  <p:stCondLst>
                                    <p:cond delay="0"/>
                                  </p:stCondLst>
                                  <p:childTnLst>
                                    <p:animEffect transition="out" filter="fade">
                                      <p:cBhvr>
                                        <p:cTn id="29" dur="500"/>
                                        <p:tgtEl>
                                          <p:spTgt spid="11">
                                            <p:bg/>
                                          </p:spTgt>
                                        </p:tgtEl>
                                      </p:cBhvr>
                                    </p:animEffect>
                                    <p:set>
                                      <p:cBhvr>
                                        <p:cTn id="30" dur="1" fill="hold">
                                          <p:stCondLst>
                                            <p:cond delay="499"/>
                                          </p:stCondLst>
                                        </p:cTn>
                                        <p:tgtEl>
                                          <p:spTgt spid="11">
                                            <p:bg/>
                                          </p:spTgt>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circle(in)">
                                      <p:cBhvr>
                                        <p:cTn id="35" dur="2000"/>
                                        <p:tgtEl>
                                          <p:spTgt spid="12"/>
                                        </p:tgtEl>
                                      </p:cBhvr>
                                    </p:animEffect>
                                  </p:childTnLst>
                                </p:cTn>
                              </p:par>
                              <p:par>
                                <p:cTn id="36" presetID="6" presetClass="entr" presetSubtype="16"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circle(in)">
                                      <p:cBhvr>
                                        <p:cTn id="38" dur="2000"/>
                                        <p:tgtEl>
                                          <p:spTgt spid="13"/>
                                        </p:tgtEl>
                                      </p:cBhvr>
                                    </p:animEffect>
                                  </p:childTnLst>
                                </p:cTn>
                              </p:par>
                              <p:par>
                                <p:cTn id="39" presetID="6" presetClass="entr" presetSubtype="16"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circle(in)">
                                      <p:cBhvr>
                                        <p:cTn id="41" dur="20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1" nodeType="clickEffect">
                                  <p:stCondLst>
                                    <p:cond delay="0"/>
                                  </p:stCondLst>
                                  <p:childTnLst>
                                    <p:animEffect transition="out" filter="fade">
                                      <p:cBhvr>
                                        <p:cTn id="45" dur="500"/>
                                        <p:tgtEl>
                                          <p:spTgt spid="12"/>
                                        </p:tgtEl>
                                      </p:cBhvr>
                                    </p:animEffect>
                                    <p:set>
                                      <p:cBhvr>
                                        <p:cTn id="46" dur="1" fill="hold">
                                          <p:stCondLst>
                                            <p:cond delay="499"/>
                                          </p:stCondLst>
                                        </p:cTn>
                                        <p:tgtEl>
                                          <p:spTgt spid="12"/>
                                        </p:tgtEl>
                                        <p:attrNameLst>
                                          <p:attrName>style.visibility</p:attrName>
                                        </p:attrNameLst>
                                      </p:cBhvr>
                                      <p:to>
                                        <p:strVal val="hidden"/>
                                      </p:to>
                                    </p:set>
                                  </p:childTnLst>
                                </p:cTn>
                              </p:par>
                              <p:par>
                                <p:cTn id="47" presetID="10" presetClass="exit" presetSubtype="0" fill="hold" grpId="1" nodeType="withEffect">
                                  <p:stCondLst>
                                    <p:cond delay="0"/>
                                  </p:stCondLst>
                                  <p:childTnLst>
                                    <p:animEffect transition="out" filter="fade">
                                      <p:cBhvr>
                                        <p:cTn id="48" dur="500"/>
                                        <p:tgtEl>
                                          <p:spTgt spid="13"/>
                                        </p:tgtEl>
                                      </p:cBhvr>
                                    </p:animEffect>
                                    <p:set>
                                      <p:cBhvr>
                                        <p:cTn id="49" dur="1" fill="hold">
                                          <p:stCondLst>
                                            <p:cond delay="499"/>
                                          </p:stCondLst>
                                        </p:cTn>
                                        <p:tgtEl>
                                          <p:spTgt spid="13"/>
                                        </p:tgtEl>
                                        <p:attrNameLst>
                                          <p:attrName>style.visibility</p:attrName>
                                        </p:attrNameLst>
                                      </p:cBhvr>
                                      <p:to>
                                        <p:strVal val="hidden"/>
                                      </p:to>
                                    </p:set>
                                  </p:childTnLst>
                                </p:cTn>
                              </p:par>
                              <p:par>
                                <p:cTn id="50" presetID="10" presetClass="exit" presetSubtype="0" fill="hold" grpId="1" nodeType="withEffect">
                                  <p:stCondLst>
                                    <p:cond delay="0"/>
                                  </p:stCondLst>
                                  <p:childTnLst>
                                    <p:animEffect transition="out" filter="fade">
                                      <p:cBhvr>
                                        <p:cTn id="51" dur="500"/>
                                        <p:tgtEl>
                                          <p:spTgt spid="14"/>
                                        </p:tgtEl>
                                      </p:cBhvr>
                                    </p:animEffect>
                                    <p:set>
                                      <p:cBhvr>
                                        <p:cTn id="52" dur="1" fill="hold">
                                          <p:stCondLst>
                                            <p:cond delay="499"/>
                                          </p:stCondLst>
                                        </p:cTn>
                                        <p:tgtEl>
                                          <p:spTgt spid="14"/>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circle(in)">
                                      <p:cBhvr>
                                        <p:cTn id="57" dur="2000"/>
                                        <p:tgtEl>
                                          <p:spTgt spid="15"/>
                                        </p:tgtEl>
                                      </p:cBhvr>
                                    </p:animEffect>
                                  </p:childTnLst>
                                </p:cTn>
                              </p:par>
                              <p:par>
                                <p:cTn id="58" presetID="6" presetClass="entr" presetSubtype="16" fill="hold" grpId="0"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circle(in)">
                                      <p:cBhvr>
                                        <p:cTn id="60" dur="2000"/>
                                        <p:tgtEl>
                                          <p:spTgt spid="16"/>
                                        </p:tgtEl>
                                      </p:cBhvr>
                                    </p:animEffect>
                                  </p:childTnLst>
                                </p:cTn>
                              </p:par>
                              <p:par>
                                <p:cTn id="61" presetID="6" presetClass="entr" presetSubtype="16" fill="hold" grpId="0" nodeType="with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circle(in)">
                                      <p:cBhvr>
                                        <p:cTn id="63" dur="2000"/>
                                        <p:tgtEl>
                                          <p:spTgt spid="17"/>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xit" presetSubtype="0" fill="hold" grpId="1" nodeType="clickEffect">
                                  <p:stCondLst>
                                    <p:cond delay="0"/>
                                  </p:stCondLst>
                                  <p:childTnLst>
                                    <p:animEffect transition="out" filter="fade">
                                      <p:cBhvr>
                                        <p:cTn id="67" dur="500"/>
                                        <p:tgtEl>
                                          <p:spTgt spid="15"/>
                                        </p:tgtEl>
                                      </p:cBhvr>
                                    </p:animEffect>
                                    <p:set>
                                      <p:cBhvr>
                                        <p:cTn id="68" dur="1" fill="hold">
                                          <p:stCondLst>
                                            <p:cond delay="499"/>
                                          </p:stCondLst>
                                        </p:cTn>
                                        <p:tgtEl>
                                          <p:spTgt spid="15"/>
                                        </p:tgtEl>
                                        <p:attrNameLst>
                                          <p:attrName>style.visibility</p:attrName>
                                        </p:attrNameLst>
                                      </p:cBhvr>
                                      <p:to>
                                        <p:strVal val="hidden"/>
                                      </p:to>
                                    </p:set>
                                  </p:childTnLst>
                                </p:cTn>
                              </p:par>
                              <p:par>
                                <p:cTn id="69" presetID="10" presetClass="exit" presetSubtype="0" fill="hold" grpId="1" nodeType="withEffect">
                                  <p:stCondLst>
                                    <p:cond delay="0"/>
                                  </p:stCondLst>
                                  <p:childTnLst>
                                    <p:animEffect transition="out" filter="fade">
                                      <p:cBhvr>
                                        <p:cTn id="70" dur="500"/>
                                        <p:tgtEl>
                                          <p:spTgt spid="16"/>
                                        </p:tgtEl>
                                      </p:cBhvr>
                                    </p:animEffect>
                                    <p:set>
                                      <p:cBhvr>
                                        <p:cTn id="71" dur="1" fill="hold">
                                          <p:stCondLst>
                                            <p:cond delay="499"/>
                                          </p:stCondLst>
                                        </p:cTn>
                                        <p:tgtEl>
                                          <p:spTgt spid="16"/>
                                        </p:tgtEl>
                                        <p:attrNameLst>
                                          <p:attrName>style.visibility</p:attrName>
                                        </p:attrNameLst>
                                      </p:cBhvr>
                                      <p:to>
                                        <p:strVal val="hidden"/>
                                      </p:to>
                                    </p:set>
                                  </p:childTnLst>
                                </p:cTn>
                              </p:par>
                              <p:par>
                                <p:cTn id="72" presetID="10" presetClass="exit" presetSubtype="0" fill="hold" grpId="1" nodeType="withEffect">
                                  <p:stCondLst>
                                    <p:cond delay="0"/>
                                  </p:stCondLst>
                                  <p:childTnLst>
                                    <p:animEffect transition="out" filter="fade">
                                      <p:cBhvr>
                                        <p:cTn id="73" dur="500"/>
                                        <p:tgtEl>
                                          <p:spTgt spid="17"/>
                                        </p:tgtEl>
                                      </p:cBhvr>
                                    </p:animEffect>
                                    <p:set>
                                      <p:cBhvr>
                                        <p:cTn id="74" dur="1" fill="hold">
                                          <p:stCondLst>
                                            <p:cond delay="499"/>
                                          </p:stCondLst>
                                        </p:cTn>
                                        <p:tgtEl>
                                          <p:spTgt spid="17"/>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6" presetClass="entr" presetSubtype="16" fill="hold" grpId="0" nodeType="click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circle(in)">
                                      <p:cBhvr>
                                        <p:cTn id="79" dur="2000"/>
                                        <p:tgtEl>
                                          <p:spTgt spid="18"/>
                                        </p:tgtEl>
                                      </p:cBhvr>
                                    </p:animEffect>
                                  </p:childTnLst>
                                </p:cTn>
                              </p:par>
                              <p:par>
                                <p:cTn id="80" presetID="6" presetClass="entr" presetSubtype="16" fill="hold"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circle(in)">
                                      <p:cBhvr>
                                        <p:cTn id="82" dur="2000"/>
                                        <p:tgtEl>
                                          <p:spTgt spid="19"/>
                                        </p:tgtEl>
                                      </p:cBhvr>
                                    </p:animEffect>
                                  </p:childTnLst>
                                </p:cTn>
                              </p:par>
                              <p:par>
                                <p:cTn id="83" presetID="6" presetClass="entr" presetSubtype="16"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circle(in)">
                                      <p:cBhvr>
                                        <p:cTn id="85" dur="2000"/>
                                        <p:tgtEl>
                                          <p:spTgt spid="20"/>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xit" presetSubtype="0" fill="hold" grpId="1" nodeType="clickEffect">
                                  <p:stCondLst>
                                    <p:cond delay="0"/>
                                  </p:stCondLst>
                                  <p:childTnLst>
                                    <p:animEffect transition="out" filter="fade">
                                      <p:cBhvr>
                                        <p:cTn id="89" dur="500"/>
                                        <p:tgtEl>
                                          <p:spTgt spid="18"/>
                                        </p:tgtEl>
                                      </p:cBhvr>
                                    </p:animEffect>
                                    <p:set>
                                      <p:cBhvr>
                                        <p:cTn id="90" dur="1" fill="hold">
                                          <p:stCondLst>
                                            <p:cond delay="499"/>
                                          </p:stCondLst>
                                        </p:cTn>
                                        <p:tgtEl>
                                          <p:spTgt spid="18"/>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500"/>
                                        <p:tgtEl>
                                          <p:spTgt spid="19"/>
                                        </p:tgtEl>
                                      </p:cBhvr>
                                    </p:animEffect>
                                    <p:set>
                                      <p:cBhvr>
                                        <p:cTn id="93" dur="1" fill="hold">
                                          <p:stCondLst>
                                            <p:cond delay="499"/>
                                          </p:stCondLst>
                                        </p:cTn>
                                        <p:tgtEl>
                                          <p:spTgt spid="19"/>
                                        </p:tgtEl>
                                        <p:attrNameLst>
                                          <p:attrName>style.visibility</p:attrName>
                                        </p:attrNameLst>
                                      </p:cBhvr>
                                      <p:to>
                                        <p:strVal val="hidden"/>
                                      </p:to>
                                    </p:set>
                                  </p:childTnLst>
                                </p:cTn>
                              </p:par>
                              <p:par>
                                <p:cTn id="94" presetID="10" presetClass="exit" presetSubtype="0" fill="hold" grpId="1" nodeType="withEffect">
                                  <p:stCondLst>
                                    <p:cond delay="0"/>
                                  </p:stCondLst>
                                  <p:childTnLst>
                                    <p:animEffect transition="out" filter="fade">
                                      <p:cBhvr>
                                        <p:cTn id="95" dur="500"/>
                                        <p:tgtEl>
                                          <p:spTgt spid="20"/>
                                        </p:tgtEl>
                                      </p:cBhvr>
                                    </p:animEffect>
                                    <p:set>
                                      <p:cBhvr>
                                        <p:cTn id="96" dur="1" fill="hold">
                                          <p:stCondLst>
                                            <p:cond delay="499"/>
                                          </p:stCondLst>
                                        </p:cTn>
                                        <p:tgtEl>
                                          <p:spTgt spid="20"/>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6" presetClass="entr" presetSubtype="16" fill="hold" grpId="0" nodeType="clickEffect">
                                  <p:stCondLst>
                                    <p:cond delay="0"/>
                                  </p:stCondLst>
                                  <p:childTnLst>
                                    <p:set>
                                      <p:cBhvr>
                                        <p:cTn id="100" dur="1" fill="hold">
                                          <p:stCondLst>
                                            <p:cond delay="0"/>
                                          </p:stCondLst>
                                        </p:cTn>
                                        <p:tgtEl>
                                          <p:spTgt spid="21"/>
                                        </p:tgtEl>
                                        <p:attrNameLst>
                                          <p:attrName>style.visibility</p:attrName>
                                        </p:attrNameLst>
                                      </p:cBhvr>
                                      <p:to>
                                        <p:strVal val="visible"/>
                                      </p:to>
                                    </p:set>
                                    <p:animEffect transition="in" filter="circle(in)">
                                      <p:cBhvr>
                                        <p:cTn id="101" dur="2000"/>
                                        <p:tgtEl>
                                          <p:spTgt spid="21"/>
                                        </p:tgtEl>
                                      </p:cBhvr>
                                    </p:animEffect>
                                  </p:childTnLst>
                                </p:cTn>
                              </p:par>
                              <p:par>
                                <p:cTn id="102" presetID="6" presetClass="entr" presetSubtype="16" fill="hold" nodeType="withEffect">
                                  <p:stCondLst>
                                    <p:cond delay="0"/>
                                  </p:stCondLst>
                                  <p:childTnLst>
                                    <p:set>
                                      <p:cBhvr>
                                        <p:cTn id="103" dur="1" fill="hold">
                                          <p:stCondLst>
                                            <p:cond delay="0"/>
                                          </p:stCondLst>
                                        </p:cTn>
                                        <p:tgtEl>
                                          <p:spTgt spid="22"/>
                                        </p:tgtEl>
                                        <p:attrNameLst>
                                          <p:attrName>style.visibility</p:attrName>
                                        </p:attrNameLst>
                                      </p:cBhvr>
                                      <p:to>
                                        <p:strVal val="visible"/>
                                      </p:to>
                                    </p:set>
                                    <p:animEffect transition="in" filter="circle(in)">
                                      <p:cBhvr>
                                        <p:cTn id="104" dur="2000"/>
                                        <p:tgtEl>
                                          <p:spTgt spid="22"/>
                                        </p:tgtEl>
                                      </p:cBhvr>
                                    </p:animEffect>
                                  </p:childTnLst>
                                </p:cTn>
                              </p:par>
                              <p:par>
                                <p:cTn id="105" presetID="6" presetClass="entr" presetSubtype="16" fill="hold" grpId="0" nodeType="withEffect">
                                  <p:stCondLst>
                                    <p:cond delay="0"/>
                                  </p:stCondLst>
                                  <p:childTnLst>
                                    <p:set>
                                      <p:cBhvr>
                                        <p:cTn id="106" dur="1" fill="hold">
                                          <p:stCondLst>
                                            <p:cond delay="0"/>
                                          </p:stCondLst>
                                        </p:cTn>
                                        <p:tgtEl>
                                          <p:spTgt spid="23"/>
                                        </p:tgtEl>
                                        <p:attrNameLst>
                                          <p:attrName>style.visibility</p:attrName>
                                        </p:attrNameLst>
                                      </p:cBhvr>
                                      <p:to>
                                        <p:strVal val="visible"/>
                                      </p:to>
                                    </p:set>
                                    <p:animEffect transition="in" filter="circle(in)">
                                      <p:cBhvr>
                                        <p:cTn id="107" dur="2000"/>
                                        <p:tgtEl>
                                          <p:spTgt spid="23"/>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xit" presetSubtype="0" fill="hold" grpId="1" nodeType="clickEffect">
                                  <p:stCondLst>
                                    <p:cond delay="0"/>
                                  </p:stCondLst>
                                  <p:childTnLst>
                                    <p:animEffect transition="out" filter="fade">
                                      <p:cBhvr>
                                        <p:cTn id="111" dur="500"/>
                                        <p:tgtEl>
                                          <p:spTgt spid="21"/>
                                        </p:tgtEl>
                                      </p:cBhvr>
                                    </p:animEffect>
                                    <p:set>
                                      <p:cBhvr>
                                        <p:cTn id="112" dur="1" fill="hold">
                                          <p:stCondLst>
                                            <p:cond delay="499"/>
                                          </p:stCondLst>
                                        </p:cTn>
                                        <p:tgtEl>
                                          <p:spTgt spid="21"/>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2"/>
                                        </p:tgtEl>
                                      </p:cBhvr>
                                    </p:animEffect>
                                    <p:set>
                                      <p:cBhvr>
                                        <p:cTn id="115" dur="1" fill="hold">
                                          <p:stCondLst>
                                            <p:cond delay="499"/>
                                          </p:stCondLst>
                                        </p:cTn>
                                        <p:tgtEl>
                                          <p:spTgt spid="22"/>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3"/>
                                        </p:tgtEl>
                                      </p:cBhvr>
                                    </p:animEffect>
                                    <p:set>
                                      <p:cBhvr>
                                        <p:cTn id="118" dur="1" fill="hold">
                                          <p:stCondLst>
                                            <p:cond delay="499"/>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1" grpId="0" build="allAtOnce" animBg="1"/>
      <p:bldP spid="11" grpId="1" build="allAtOnce"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20" grpId="0"/>
      <p:bldP spid="20" grpId="1"/>
      <p:bldP spid="21" grpId="0" animBg="1"/>
      <p:bldP spid="21" grpId="1" animBg="1"/>
      <p:bldP spid="23" grpId="0" animBg="1"/>
      <p:bldP spid="23"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538E0-EF69-8854-3829-00E230CD2615}"/>
            </a:ext>
          </a:extLst>
        </p:cNvPr>
        <p:cNvGrpSpPr/>
        <p:nvPr/>
      </p:nvGrpSpPr>
      <p:grpSpPr>
        <a:xfrm>
          <a:off x="0" y="0"/>
          <a:ext cx="0" cy="0"/>
          <a:chOff x="0" y="0"/>
          <a:chExt cx="0" cy="0"/>
        </a:xfrm>
      </p:grpSpPr>
      <p:pic>
        <p:nvPicPr>
          <p:cNvPr id="6" name="Image 5">
            <a:extLst>
              <a:ext uri="{FF2B5EF4-FFF2-40B4-BE49-F238E27FC236}">
                <a16:creationId xmlns:a16="http://schemas.microsoft.com/office/drawing/2014/main" id="{01D3CDD9-051A-5D76-9A6F-5855C073FC69}"/>
              </a:ext>
            </a:extLst>
          </p:cNvPr>
          <p:cNvPicPr>
            <a:picLocks noChangeAspect="1"/>
          </p:cNvPicPr>
          <p:nvPr/>
        </p:nvPicPr>
        <p:blipFill>
          <a:blip r:embed="rId3"/>
          <a:stretch>
            <a:fillRect/>
          </a:stretch>
        </p:blipFill>
        <p:spPr>
          <a:xfrm>
            <a:off x="393783" y="1529816"/>
            <a:ext cx="8729407" cy="4905728"/>
          </a:xfrm>
          <a:prstGeom prst="rect">
            <a:avLst/>
          </a:prstGeom>
        </p:spPr>
      </p:pic>
      <p:sp>
        <p:nvSpPr>
          <p:cNvPr id="2" name="Titre 1">
            <a:extLst>
              <a:ext uri="{FF2B5EF4-FFF2-40B4-BE49-F238E27FC236}">
                <a16:creationId xmlns:a16="http://schemas.microsoft.com/office/drawing/2014/main" id="{CD9F2B0E-65BA-D0CD-3009-8E85567E2963}"/>
              </a:ext>
            </a:extLst>
          </p:cNvPr>
          <p:cNvSpPr>
            <a:spLocks noGrp="1"/>
          </p:cNvSpPr>
          <p:nvPr>
            <p:ph type="title"/>
          </p:nvPr>
        </p:nvSpPr>
        <p:spPr/>
        <p:txBody>
          <a:bodyPr>
            <a:normAutofit/>
          </a:bodyPr>
          <a:lstStyle/>
          <a:p>
            <a:pPr algn="ctr"/>
            <a:r>
              <a:rPr lang="fr-FR" sz="4400" dirty="0"/>
              <a:t>Les infos complémentaires</a:t>
            </a:r>
          </a:p>
        </p:txBody>
      </p:sp>
      <p:sp>
        <p:nvSpPr>
          <p:cNvPr id="4" name="Espace réservé du numéro de diapositive 3">
            <a:extLst>
              <a:ext uri="{FF2B5EF4-FFF2-40B4-BE49-F238E27FC236}">
                <a16:creationId xmlns:a16="http://schemas.microsoft.com/office/drawing/2014/main" id="{B0849CC2-6417-CA5F-779E-C2788D2F9127}"/>
              </a:ext>
            </a:extLst>
          </p:cNvPr>
          <p:cNvSpPr>
            <a:spLocks noGrp="1"/>
          </p:cNvSpPr>
          <p:nvPr>
            <p:ph type="sldNum" sz="quarter" idx="12"/>
          </p:nvPr>
        </p:nvSpPr>
        <p:spPr/>
        <p:txBody>
          <a:bodyPr/>
          <a:lstStyle/>
          <a:p>
            <a:fld id="{1FB8747B-2B08-4040-8EAF-D752BEE491D6}" type="slidenum">
              <a:rPr lang="fr-FR" smtClean="0"/>
              <a:t>13</a:t>
            </a:fld>
            <a:endParaRPr lang="fr-FR"/>
          </a:p>
        </p:txBody>
      </p:sp>
      <p:sp>
        <p:nvSpPr>
          <p:cNvPr id="10" name="Rectangle 9">
            <a:extLst>
              <a:ext uri="{FF2B5EF4-FFF2-40B4-BE49-F238E27FC236}">
                <a16:creationId xmlns:a16="http://schemas.microsoft.com/office/drawing/2014/main" id="{E2CD66A2-CC84-3A85-AD78-0C09067DB994}"/>
              </a:ext>
            </a:extLst>
          </p:cNvPr>
          <p:cNvSpPr/>
          <p:nvPr/>
        </p:nvSpPr>
        <p:spPr>
          <a:xfrm>
            <a:off x="2917997" y="1533658"/>
            <a:ext cx="1634751" cy="1320799"/>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64371A02-668B-2E6C-21CE-B9CF5987C4DC}"/>
              </a:ext>
            </a:extLst>
          </p:cNvPr>
          <p:cNvSpPr/>
          <p:nvPr/>
        </p:nvSpPr>
        <p:spPr>
          <a:xfrm>
            <a:off x="4658565" y="1445427"/>
            <a:ext cx="4426636" cy="2481680"/>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D99A1217-6D8E-E9B9-33AB-7E18B7EDED6C}"/>
              </a:ext>
            </a:extLst>
          </p:cNvPr>
          <p:cNvSpPr/>
          <p:nvPr/>
        </p:nvSpPr>
        <p:spPr>
          <a:xfrm>
            <a:off x="209516" y="2854457"/>
            <a:ext cx="4419016" cy="3566810"/>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8F66EA1D-A591-BD87-7107-087F61B52DA3}"/>
              </a:ext>
            </a:extLst>
          </p:cNvPr>
          <p:cNvSpPr/>
          <p:nvPr/>
        </p:nvSpPr>
        <p:spPr>
          <a:xfrm>
            <a:off x="4658565" y="3924807"/>
            <a:ext cx="4426636" cy="2481680"/>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CF2099EB-FFF0-36D9-DA66-30FA89CE06BF}"/>
              </a:ext>
            </a:extLst>
          </p:cNvPr>
          <p:cNvSpPr txBox="1"/>
          <p:nvPr/>
        </p:nvSpPr>
        <p:spPr>
          <a:xfrm>
            <a:off x="4246254" y="1533658"/>
            <a:ext cx="306494" cy="369332"/>
          </a:xfrm>
          <a:prstGeom prst="rect">
            <a:avLst/>
          </a:prstGeom>
          <a:noFill/>
        </p:spPr>
        <p:txBody>
          <a:bodyPr wrap="none" rtlCol="0">
            <a:spAutoFit/>
          </a:bodyPr>
          <a:lstStyle/>
          <a:p>
            <a:r>
              <a:rPr lang="fr-FR" dirty="0">
                <a:solidFill>
                  <a:schemeClr val="accent5"/>
                </a:solidFill>
              </a:rPr>
              <a:t>1</a:t>
            </a:r>
          </a:p>
        </p:txBody>
      </p:sp>
      <p:sp>
        <p:nvSpPr>
          <p:cNvPr id="15" name="ZoneTexte 14">
            <a:extLst>
              <a:ext uri="{FF2B5EF4-FFF2-40B4-BE49-F238E27FC236}">
                <a16:creationId xmlns:a16="http://schemas.microsoft.com/office/drawing/2014/main" id="{490AB7FE-5E37-61F7-69B8-DCE38E63F1FD}"/>
              </a:ext>
            </a:extLst>
          </p:cNvPr>
          <p:cNvSpPr txBox="1"/>
          <p:nvPr/>
        </p:nvSpPr>
        <p:spPr>
          <a:xfrm>
            <a:off x="8748674" y="1430647"/>
            <a:ext cx="306494" cy="369332"/>
          </a:xfrm>
          <a:prstGeom prst="rect">
            <a:avLst/>
          </a:prstGeom>
          <a:noFill/>
        </p:spPr>
        <p:txBody>
          <a:bodyPr wrap="none" rtlCol="0">
            <a:spAutoFit/>
          </a:bodyPr>
          <a:lstStyle/>
          <a:p>
            <a:r>
              <a:rPr lang="fr-FR" dirty="0">
                <a:solidFill>
                  <a:schemeClr val="accent5"/>
                </a:solidFill>
              </a:rPr>
              <a:t>2</a:t>
            </a:r>
          </a:p>
        </p:txBody>
      </p:sp>
      <p:sp>
        <p:nvSpPr>
          <p:cNvPr id="16" name="ZoneTexte 15">
            <a:extLst>
              <a:ext uri="{FF2B5EF4-FFF2-40B4-BE49-F238E27FC236}">
                <a16:creationId xmlns:a16="http://schemas.microsoft.com/office/drawing/2014/main" id="{25A8BEE0-7EF9-679B-5596-22A69A46CDBD}"/>
              </a:ext>
            </a:extLst>
          </p:cNvPr>
          <p:cNvSpPr txBox="1"/>
          <p:nvPr/>
        </p:nvSpPr>
        <p:spPr>
          <a:xfrm>
            <a:off x="4133237" y="3983777"/>
            <a:ext cx="306494" cy="369332"/>
          </a:xfrm>
          <a:prstGeom prst="rect">
            <a:avLst/>
          </a:prstGeom>
          <a:noFill/>
        </p:spPr>
        <p:txBody>
          <a:bodyPr wrap="none" rtlCol="0">
            <a:spAutoFit/>
          </a:bodyPr>
          <a:lstStyle/>
          <a:p>
            <a:r>
              <a:rPr lang="fr-FR" dirty="0">
                <a:solidFill>
                  <a:schemeClr val="accent5"/>
                </a:solidFill>
              </a:rPr>
              <a:t>3</a:t>
            </a:r>
          </a:p>
        </p:txBody>
      </p:sp>
      <p:sp>
        <p:nvSpPr>
          <p:cNvPr id="17" name="ZoneTexte 16">
            <a:extLst>
              <a:ext uri="{FF2B5EF4-FFF2-40B4-BE49-F238E27FC236}">
                <a16:creationId xmlns:a16="http://schemas.microsoft.com/office/drawing/2014/main" id="{FFFB4031-A294-7A3B-4F4F-5D9C787FAC0E}"/>
              </a:ext>
            </a:extLst>
          </p:cNvPr>
          <p:cNvSpPr txBox="1"/>
          <p:nvPr/>
        </p:nvSpPr>
        <p:spPr>
          <a:xfrm>
            <a:off x="8748674" y="4980981"/>
            <a:ext cx="306494" cy="369332"/>
          </a:xfrm>
          <a:prstGeom prst="rect">
            <a:avLst/>
          </a:prstGeom>
          <a:noFill/>
        </p:spPr>
        <p:txBody>
          <a:bodyPr wrap="none" rtlCol="0">
            <a:spAutoFit/>
          </a:bodyPr>
          <a:lstStyle/>
          <a:p>
            <a:r>
              <a:rPr lang="fr-FR" dirty="0">
                <a:solidFill>
                  <a:schemeClr val="accent5"/>
                </a:solidFill>
              </a:rPr>
              <a:t>4</a:t>
            </a:r>
          </a:p>
        </p:txBody>
      </p:sp>
      <p:sp>
        <p:nvSpPr>
          <p:cNvPr id="18" name="ZoneTexte 17">
            <a:extLst>
              <a:ext uri="{FF2B5EF4-FFF2-40B4-BE49-F238E27FC236}">
                <a16:creationId xmlns:a16="http://schemas.microsoft.com/office/drawing/2014/main" id="{27BDE99D-F78B-3A27-15CF-E6EE19E81AFE}"/>
              </a:ext>
            </a:extLst>
          </p:cNvPr>
          <p:cNvSpPr txBox="1"/>
          <p:nvPr/>
        </p:nvSpPr>
        <p:spPr>
          <a:xfrm>
            <a:off x="9215156" y="1042621"/>
            <a:ext cx="306494" cy="369332"/>
          </a:xfrm>
          <a:prstGeom prst="rect">
            <a:avLst/>
          </a:prstGeom>
          <a:noFill/>
        </p:spPr>
        <p:txBody>
          <a:bodyPr wrap="none" rtlCol="0">
            <a:spAutoFit/>
          </a:bodyPr>
          <a:lstStyle/>
          <a:p>
            <a:r>
              <a:rPr lang="fr-FR" dirty="0">
                <a:solidFill>
                  <a:schemeClr val="accent5"/>
                </a:solidFill>
              </a:rPr>
              <a:t>1</a:t>
            </a:r>
          </a:p>
        </p:txBody>
      </p:sp>
      <p:sp>
        <p:nvSpPr>
          <p:cNvPr id="19" name="ZoneTexte 18">
            <a:extLst>
              <a:ext uri="{FF2B5EF4-FFF2-40B4-BE49-F238E27FC236}">
                <a16:creationId xmlns:a16="http://schemas.microsoft.com/office/drawing/2014/main" id="{EC56D716-E97F-61D1-B7CE-24D4F91D6274}"/>
              </a:ext>
            </a:extLst>
          </p:cNvPr>
          <p:cNvSpPr txBox="1"/>
          <p:nvPr/>
        </p:nvSpPr>
        <p:spPr>
          <a:xfrm>
            <a:off x="9217122" y="2228455"/>
            <a:ext cx="306494" cy="369332"/>
          </a:xfrm>
          <a:prstGeom prst="rect">
            <a:avLst/>
          </a:prstGeom>
          <a:noFill/>
        </p:spPr>
        <p:txBody>
          <a:bodyPr wrap="none" rtlCol="0">
            <a:spAutoFit/>
          </a:bodyPr>
          <a:lstStyle/>
          <a:p>
            <a:r>
              <a:rPr lang="fr-FR" dirty="0">
                <a:solidFill>
                  <a:schemeClr val="accent5"/>
                </a:solidFill>
              </a:rPr>
              <a:t>2</a:t>
            </a:r>
          </a:p>
        </p:txBody>
      </p:sp>
      <p:sp>
        <p:nvSpPr>
          <p:cNvPr id="20" name="ZoneTexte 19">
            <a:extLst>
              <a:ext uri="{FF2B5EF4-FFF2-40B4-BE49-F238E27FC236}">
                <a16:creationId xmlns:a16="http://schemas.microsoft.com/office/drawing/2014/main" id="{48AC4B6A-8603-1AEE-0687-ABF3D2437843}"/>
              </a:ext>
            </a:extLst>
          </p:cNvPr>
          <p:cNvSpPr txBox="1"/>
          <p:nvPr/>
        </p:nvSpPr>
        <p:spPr>
          <a:xfrm>
            <a:off x="9217124" y="3529121"/>
            <a:ext cx="306494" cy="369332"/>
          </a:xfrm>
          <a:prstGeom prst="rect">
            <a:avLst/>
          </a:prstGeom>
          <a:noFill/>
        </p:spPr>
        <p:txBody>
          <a:bodyPr wrap="none" rtlCol="0">
            <a:spAutoFit/>
          </a:bodyPr>
          <a:lstStyle/>
          <a:p>
            <a:r>
              <a:rPr lang="fr-FR" dirty="0">
                <a:solidFill>
                  <a:schemeClr val="accent5"/>
                </a:solidFill>
              </a:rPr>
              <a:t>3</a:t>
            </a:r>
          </a:p>
        </p:txBody>
      </p:sp>
      <p:sp>
        <p:nvSpPr>
          <p:cNvPr id="21" name="ZoneTexte 20">
            <a:extLst>
              <a:ext uri="{FF2B5EF4-FFF2-40B4-BE49-F238E27FC236}">
                <a16:creationId xmlns:a16="http://schemas.microsoft.com/office/drawing/2014/main" id="{2740F46D-C7EB-E705-931E-6E1A7D0D87CB}"/>
              </a:ext>
            </a:extLst>
          </p:cNvPr>
          <p:cNvSpPr txBox="1"/>
          <p:nvPr/>
        </p:nvSpPr>
        <p:spPr>
          <a:xfrm>
            <a:off x="9215156" y="4798419"/>
            <a:ext cx="306494" cy="369332"/>
          </a:xfrm>
          <a:prstGeom prst="rect">
            <a:avLst/>
          </a:prstGeom>
          <a:noFill/>
        </p:spPr>
        <p:txBody>
          <a:bodyPr wrap="none" rtlCol="0">
            <a:spAutoFit/>
          </a:bodyPr>
          <a:lstStyle/>
          <a:p>
            <a:r>
              <a:rPr lang="fr-FR" dirty="0">
                <a:solidFill>
                  <a:schemeClr val="accent5"/>
                </a:solidFill>
              </a:rPr>
              <a:t>4</a:t>
            </a:r>
          </a:p>
        </p:txBody>
      </p:sp>
      <p:sp>
        <p:nvSpPr>
          <p:cNvPr id="22" name="ZoneTexte 21">
            <a:extLst>
              <a:ext uri="{FF2B5EF4-FFF2-40B4-BE49-F238E27FC236}">
                <a16:creationId xmlns:a16="http://schemas.microsoft.com/office/drawing/2014/main" id="{CCB1E4EA-1744-C9A2-3E67-C32CB99306C5}"/>
              </a:ext>
            </a:extLst>
          </p:cNvPr>
          <p:cNvSpPr txBox="1"/>
          <p:nvPr/>
        </p:nvSpPr>
        <p:spPr>
          <a:xfrm>
            <a:off x="9521650" y="1042621"/>
            <a:ext cx="2415607" cy="369332"/>
          </a:xfrm>
          <a:prstGeom prst="rect">
            <a:avLst/>
          </a:prstGeom>
          <a:solidFill>
            <a:srgbClr val="FFFFFF">
              <a:alpha val="50196"/>
            </a:srgbClr>
          </a:solidFill>
          <a:ln>
            <a:solidFill>
              <a:schemeClr val="accent5"/>
            </a:solidFill>
          </a:ln>
        </p:spPr>
        <p:txBody>
          <a:bodyPr wrap="square" rtlCol="0">
            <a:spAutoFit/>
          </a:bodyPr>
          <a:lstStyle/>
          <a:p>
            <a:r>
              <a:rPr lang="fr-FR" dirty="0"/>
              <a:t>Choix de l’année</a:t>
            </a:r>
          </a:p>
        </p:txBody>
      </p:sp>
      <p:sp>
        <p:nvSpPr>
          <p:cNvPr id="23" name="ZoneTexte 22">
            <a:extLst>
              <a:ext uri="{FF2B5EF4-FFF2-40B4-BE49-F238E27FC236}">
                <a16:creationId xmlns:a16="http://schemas.microsoft.com/office/drawing/2014/main" id="{A0C9D4B6-2C59-8101-2F0B-DDFD94C676D3}"/>
              </a:ext>
            </a:extLst>
          </p:cNvPr>
          <p:cNvSpPr txBox="1"/>
          <p:nvPr/>
        </p:nvSpPr>
        <p:spPr>
          <a:xfrm>
            <a:off x="9513943" y="1799979"/>
            <a:ext cx="2415607" cy="1200329"/>
          </a:xfrm>
          <a:prstGeom prst="rect">
            <a:avLst/>
          </a:prstGeom>
          <a:solidFill>
            <a:srgbClr val="FFFFFF">
              <a:alpha val="50196"/>
            </a:srgbClr>
          </a:solidFill>
          <a:ln>
            <a:solidFill>
              <a:schemeClr val="accent5"/>
            </a:solidFill>
          </a:ln>
        </p:spPr>
        <p:txBody>
          <a:bodyPr wrap="square" rtlCol="0">
            <a:spAutoFit/>
          </a:bodyPr>
          <a:lstStyle/>
          <a:p>
            <a:r>
              <a:rPr lang="fr-FR" dirty="0"/>
              <a:t>Evolution de la population rurale vs totale au cours du temps</a:t>
            </a:r>
          </a:p>
        </p:txBody>
      </p:sp>
      <p:sp>
        <p:nvSpPr>
          <p:cNvPr id="24" name="ZoneTexte 23">
            <a:extLst>
              <a:ext uri="{FF2B5EF4-FFF2-40B4-BE49-F238E27FC236}">
                <a16:creationId xmlns:a16="http://schemas.microsoft.com/office/drawing/2014/main" id="{B34CAC90-3BCA-889A-0C88-BD2E58FE2DA4}"/>
              </a:ext>
            </a:extLst>
          </p:cNvPr>
          <p:cNvSpPr txBox="1"/>
          <p:nvPr/>
        </p:nvSpPr>
        <p:spPr>
          <a:xfrm>
            <a:off x="9523616" y="3288836"/>
            <a:ext cx="2415607" cy="923330"/>
          </a:xfrm>
          <a:prstGeom prst="rect">
            <a:avLst/>
          </a:prstGeom>
          <a:solidFill>
            <a:srgbClr val="FFFFFF">
              <a:alpha val="50196"/>
            </a:srgbClr>
          </a:solidFill>
          <a:ln>
            <a:solidFill>
              <a:schemeClr val="accent5"/>
            </a:solidFill>
          </a:ln>
        </p:spPr>
        <p:txBody>
          <a:bodyPr wrap="square" rtlCol="0">
            <a:spAutoFit/>
          </a:bodyPr>
          <a:lstStyle/>
          <a:p>
            <a:r>
              <a:rPr lang="fr-FR" dirty="0"/>
              <a:t>% total de l’accès à l’eau basic + </a:t>
            </a:r>
            <a:r>
              <a:rPr lang="fr-FR" dirty="0" err="1"/>
              <a:t>safe</a:t>
            </a:r>
            <a:r>
              <a:rPr lang="fr-FR" dirty="0"/>
              <a:t> du pays</a:t>
            </a:r>
          </a:p>
        </p:txBody>
      </p:sp>
      <p:sp>
        <p:nvSpPr>
          <p:cNvPr id="25" name="ZoneTexte 24">
            <a:extLst>
              <a:ext uri="{FF2B5EF4-FFF2-40B4-BE49-F238E27FC236}">
                <a16:creationId xmlns:a16="http://schemas.microsoft.com/office/drawing/2014/main" id="{276C2ADA-AD5A-849C-72D8-EF11201832E7}"/>
              </a:ext>
            </a:extLst>
          </p:cNvPr>
          <p:cNvSpPr txBox="1"/>
          <p:nvPr/>
        </p:nvSpPr>
        <p:spPr>
          <a:xfrm>
            <a:off x="9531322" y="4521420"/>
            <a:ext cx="2415607" cy="923330"/>
          </a:xfrm>
          <a:prstGeom prst="rect">
            <a:avLst/>
          </a:prstGeom>
          <a:solidFill>
            <a:srgbClr val="FFFFFF">
              <a:alpha val="50196"/>
            </a:srgbClr>
          </a:solidFill>
          <a:ln>
            <a:solidFill>
              <a:schemeClr val="accent5"/>
            </a:solidFill>
          </a:ln>
        </p:spPr>
        <p:txBody>
          <a:bodyPr wrap="square" rtlCol="0">
            <a:spAutoFit/>
          </a:bodyPr>
          <a:lstStyle/>
          <a:p>
            <a:r>
              <a:rPr lang="fr-FR" dirty="0"/>
              <a:t>Nombre de mort dus à l’eau insalubre en 2016 pour ce pays</a:t>
            </a:r>
          </a:p>
        </p:txBody>
      </p:sp>
      <p:sp>
        <p:nvSpPr>
          <p:cNvPr id="30" name="Rectangle 29">
            <a:extLst>
              <a:ext uri="{FF2B5EF4-FFF2-40B4-BE49-F238E27FC236}">
                <a16:creationId xmlns:a16="http://schemas.microsoft.com/office/drawing/2014/main" id="{607E50B0-403F-7901-7BBD-80918C13F7CA}"/>
              </a:ext>
            </a:extLst>
          </p:cNvPr>
          <p:cNvSpPr/>
          <p:nvPr/>
        </p:nvSpPr>
        <p:spPr>
          <a:xfrm>
            <a:off x="355794" y="1450774"/>
            <a:ext cx="385760" cy="370707"/>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ZoneTexte 31">
            <a:extLst>
              <a:ext uri="{FF2B5EF4-FFF2-40B4-BE49-F238E27FC236}">
                <a16:creationId xmlns:a16="http://schemas.microsoft.com/office/drawing/2014/main" id="{F3FF6B67-7961-AEE0-6454-FDF797B2AD1C}"/>
              </a:ext>
            </a:extLst>
          </p:cNvPr>
          <p:cNvSpPr txBox="1"/>
          <p:nvPr/>
        </p:nvSpPr>
        <p:spPr>
          <a:xfrm>
            <a:off x="728102" y="1452149"/>
            <a:ext cx="306494" cy="369332"/>
          </a:xfrm>
          <a:prstGeom prst="rect">
            <a:avLst/>
          </a:prstGeom>
          <a:noFill/>
        </p:spPr>
        <p:txBody>
          <a:bodyPr wrap="none" rtlCol="0">
            <a:spAutoFit/>
          </a:bodyPr>
          <a:lstStyle/>
          <a:p>
            <a:r>
              <a:rPr lang="fr-FR" dirty="0">
                <a:solidFill>
                  <a:schemeClr val="accent5"/>
                </a:solidFill>
              </a:rPr>
              <a:t>5</a:t>
            </a:r>
          </a:p>
        </p:txBody>
      </p:sp>
      <p:sp>
        <p:nvSpPr>
          <p:cNvPr id="33" name="ZoneTexte 32">
            <a:extLst>
              <a:ext uri="{FF2B5EF4-FFF2-40B4-BE49-F238E27FC236}">
                <a16:creationId xmlns:a16="http://schemas.microsoft.com/office/drawing/2014/main" id="{0323A403-4F64-0536-1AE5-EE504D73FECF}"/>
              </a:ext>
            </a:extLst>
          </p:cNvPr>
          <p:cNvSpPr txBox="1"/>
          <p:nvPr/>
        </p:nvSpPr>
        <p:spPr>
          <a:xfrm>
            <a:off x="9215156" y="5925109"/>
            <a:ext cx="306494" cy="369332"/>
          </a:xfrm>
          <a:prstGeom prst="rect">
            <a:avLst/>
          </a:prstGeom>
          <a:noFill/>
        </p:spPr>
        <p:txBody>
          <a:bodyPr wrap="none" rtlCol="0">
            <a:spAutoFit/>
          </a:bodyPr>
          <a:lstStyle/>
          <a:p>
            <a:r>
              <a:rPr lang="fr-FR" dirty="0">
                <a:solidFill>
                  <a:schemeClr val="accent5"/>
                </a:solidFill>
              </a:rPr>
              <a:t>5</a:t>
            </a:r>
          </a:p>
        </p:txBody>
      </p:sp>
      <p:sp>
        <p:nvSpPr>
          <p:cNvPr id="34" name="ZoneTexte 33">
            <a:extLst>
              <a:ext uri="{FF2B5EF4-FFF2-40B4-BE49-F238E27FC236}">
                <a16:creationId xmlns:a16="http://schemas.microsoft.com/office/drawing/2014/main" id="{DF18689B-EFA2-5C6C-0CEA-CA0DD3622E07}"/>
              </a:ext>
            </a:extLst>
          </p:cNvPr>
          <p:cNvSpPr txBox="1"/>
          <p:nvPr/>
        </p:nvSpPr>
        <p:spPr>
          <a:xfrm>
            <a:off x="9531322" y="5765883"/>
            <a:ext cx="2415607" cy="646331"/>
          </a:xfrm>
          <a:prstGeom prst="rect">
            <a:avLst/>
          </a:prstGeom>
          <a:solidFill>
            <a:srgbClr val="FFFFFF">
              <a:alpha val="50196"/>
            </a:srgbClr>
          </a:solidFill>
          <a:ln>
            <a:solidFill>
              <a:schemeClr val="accent5"/>
            </a:solidFill>
          </a:ln>
        </p:spPr>
        <p:txBody>
          <a:bodyPr wrap="square" rtlCol="0">
            <a:spAutoFit/>
          </a:bodyPr>
          <a:lstStyle/>
          <a:p>
            <a:r>
              <a:rPr lang="fr-FR" dirty="0"/>
              <a:t>Retour à la vue nationale</a:t>
            </a:r>
          </a:p>
        </p:txBody>
      </p:sp>
    </p:spTree>
    <p:extLst>
      <p:ext uri="{BB962C8B-B14F-4D97-AF65-F5344CB8AC3E}">
        <p14:creationId xmlns:p14="http://schemas.microsoft.com/office/powerpoint/2010/main" val="2668561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ircle(in)">
                                      <p:cBhvr>
                                        <p:cTn id="7" dur="2000"/>
                                        <p:tgtEl>
                                          <p:spTgt spid="14"/>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circle(in)">
                                      <p:cBhvr>
                                        <p:cTn id="10" dur="2000"/>
                                        <p:tgtEl>
                                          <p:spTgt spid="10"/>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ircle(in)">
                                      <p:cBhvr>
                                        <p:cTn id="13" dur="2000"/>
                                        <p:tgtEl>
                                          <p:spTgt spid="18"/>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circle(in)">
                                      <p:cBhvr>
                                        <p:cTn id="16" dur="20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1" nodeType="clickEffect">
                                  <p:stCondLst>
                                    <p:cond delay="0"/>
                                  </p:stCondLst>
                                  <p:childTnLst>
                                    <p:animEffect transition="out" filter="fade">
                                      <p:cBhvr>
                                        <p:cTn id="20" dur="500"/>
                                        <p:tgtEl>
                                          <p:spTgt spid="14"/>
                                        </p:tgtEl>
                                      </p:cBhvr>
                                    </p:animEffect>
                                    <p:set>
                                      <p:cBhvr>
                                        <p:cTn id="21" dur="1" fill="hold">
                                          <p:stCondLst>
                                            <p:cond delay="499"/>
                                          </p:stCondLst>
                                        </p:cTn>
                                        <p:tgtEl>
                                          <p:spTgt spid="14"/>
                                        </p:tgtEl>
                                        <p:attrNameLst>
                                          <p:attrName>style.visibility</p:attrName>
                                        </p:attrNameLst>
                                      </p:cBhvr>
                                      <p:to>
                                        <p:strVal val="hidden"/>
                                      </p:to>
                                    </p:set>
                                  </p:childTnLst>
                                </p:cTn>
                              </p:par>
                              <p:par>
                                <p:cTn id="22" presetID="10" presetClass="exit" presetSubtype="0" fill="hold" grpId="1" nodeType="withEffect">
                                  <p:stCondLst>
                                    <p:cond delay="0"/>
                                  </p:stCondLst>
                                  <p:childTnLst>
                                    <p:animEffect transition="out" filter="fade">
                                      <p:cBhvr>
                                        <p:cTn id="23" dur="500"/>
                                        <p:tgtEl>
                                          <p:spTgt spid="10"/>
                                        </p:tgtEl>
                                      </p:cBhvr>
                                    </p:animEffect>
                                    <p:set>
                                      <p:cBhvr>
                                        <p:cTn id="24" dur="1" fill="hold">
                                          <p:stCondLst>
                                            <p:cond delay="499"/>
                                          </p:stCondLst>
                                        </p:cTn>
                                        <p:tgtEl>
                                          <p:spTgt spid="10"/>
                                        </p:tgtEl>
                                        <p:attrNameLst>
                                          <p:attrName>style.visibility</p:attrName>
                                        </p:attrNameLst>
                                      </p:cBhvr>
                                      <p:to>
                                        <p:strVal val="hidden"/>
                                      </p:to>
                                    </p:set>
                                  </p:childTnLst>
                                </p:cTn>
                              </p:par>
                              <p:par>
                                <p:cTn id="25" presetID="10" presetClass="exit" presetSubtype="0" fill="hold" grpId="1" nodeType="withEffect">
                                  <p:stCondLst>
                                    <p:cond delay="0"/>
                                  </p:stCondLst>
                                  <p:childTnLst>
                                    <p:animEffect transition="out" filter="fade">
                                      <p:cBhvr>
                                        <p:cTn id="26" dur="500"/>
                                        <p:tgtEl>
                                          <p:spTgt spid="18"/>
                                        </p:tgtEl>
                                      </p:cBhvr>
                                    </p:animEffect>
                                    <p:set>
                                      <p:cBhvr>
                                        <p:cTn id="27" dur="1" fill="hold">
                                          <p:stCondLst>
                                            <p:cond delay="499"/>
                                          </p:stCondLst>
                                        </p:cTn>
                                        <p:tgtEl>
                                          <p:spTgt spid="18"/>
                                        </p:tgtEl>
                                        <p:attrNameLst>
                                          <p:attrName>style.visibility</p:attrName>
                                        </p:attrNameLst>
                                      </p:cBhvr>
                                      <p:to>
                                        <p:strVal val="hidden"/>
                                      </p:to>
                                    </p:set>
                                  </p:childTnLst>
                                </p:cTn>
                              </p:par>
                              <p:par>
                                <p:cTn id="28" presetID="10" presetClass="exit" presetSubtype="0" fill="hold" grpId="1" nodeType="withEffect">
                                  <p:stCondLst>
                                    <p:cond delay="0"/>
                                  </p:stCondLst>
                                  <p:childTnLst>
                                    <p:animEffect transition="out" filter="fade">
                                      <p:cBhvr>
                                        <p:cTn id="29" dur="500"/>
                                        <p:tgtEl>
                                          <p:spTgt spid="22"/>
                                        </p:tgtEl>
                                      </p:cBhvr>
                                    </p:animEffect>
                                    <p:set>
                                      <p:cBhvr>
                                        <p:cTn id="30" dur="1" fill="hold">
                                          <p:stCondLst>
                                            <p:cond delay="499"/>
                                          </p:stCondLst>
                                        </p:cTn>
                                        <p:tgtEl>
                                          <p:spTgt spid="2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circle(in)">
                                      <p:cBhvr>
                                        <p:cTn id="35" dur="2000"/>
                                        <p:tgtEl>
                                          <p:spTgt spid="11"/>
                                        </p:tgtEl>
                                      </p:cBhvr>
                                    </p:animEffect>
                                  </p:childTnLst>
                                </p:cTn>
                              </p:par>
                              <p:par>
                                <p:cTn id="36" presetID="6" presetClass="entr" presetSubtype="16"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circle(in)">
                                      <p:cBhvr>
                                        <p:cTn id="38" dur="2000"/>
                                        <p:tgtEl>
                                          <p:spTgt spid="15"/>
                                        </p:tgtEl>
                                      </p:cBhvr>
                                    </p:animEffect>
                                  </p:childTnLst>
                                </p:cTn>
                              </p:par>
                              <p:par>
                                <p:cTn id="39" presetID="6" presetClass="entr" presetSubtype="16"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circle(in)">
                                      <p:cBhvr>
                                        <p:cTn id="41" dur="2000"/>
                                        <p:tgtEl>
                                          <p:spTgt spid="19"/>
                                        </p:tgtEl>
                                      </p:cBhvr>
                                    </p:animEffect>
                                  </p:childTnLst>
                                </p:cTn>
                              </p:par>
                              <p:par>
                                <p:cTn id="42" presetID="6" presetClass="entr" presetSubtype="16"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circle(in)">
                                      <p:cBhvr>
                                        <p:cTn id="44" dur="200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1" nodeType="clickEffect">
                                  <p:stCondLst>
                                    <p:cond delay="0"/>
                                  </p:stCondLst>
                                  <p:childTnLst>
                                    <p:animEffect transition="out" filter="fade">
                                      <p:cBhvr>
                                        <p:cTn id="48" dur="500"/>
                                        <p:tgtEl>
                                          <p:spTgt spid="11"/>
                                        </p:tgtEl>
                                      </p:cBhvr>
                                    </p:animEffect>
                                    <p:set>
                                      <p:cBhvr>
                                        <p:cTn id="49" dur="1" fill="hold">
                                          <p:stCondLst>
                                            <p:cond delay="499"/>
                                          </p:stCondLst>
                                        </p:cTn>
                                        <p:tgtEl>
                                          <p:spTgt spid="11"/>
                                        </p:tgtEl>
                                        <p:attrNameLst>
                                          <p:attrName>style.visibility</p:attrName>
                                        </p:attrNameLst>
                                      </p:cBhvr>
                                      <p:to>
                                        <p:strVal val="hidden"/>
                                      </p:to>
                                    </p:set>
                                  </p:childTnLst>
                                </p:cTn>
                              </p:par>
                              <p:par>
                                <p:cTn id="50" presetID="10" presetClass="exit" presetSubtype="0" fill="hold" grpId="1" nodeType="withEffect">
                                  <p:stCondLst>
                                    <p:cond delay="0"/>
                                  </p:stCondLst>
                                  <p:childTnLst>
                                    <p:animEffect transition="out" filter="fade">
                                      <p:cBhvr>
                                        <p:cTn id="51" dur="500"/>
                                        <p:tgtEl>
                                          <p:spTgt spid="15"/>
                                        </p:tgtEl>
                                      </p:cBhvr>
                                    </p:animEffect>
                                    <p:set>
                                      <p:cBhvr>
                                        <p:cTn id="52" dur="1" fill="hold">
                                          <p:stCondLst>
                                            <p:cond delay="499"/>
                                          </p:stCondLst>
                                        </p:cTn>
                                        <p:tgtEl>
                                          <p:spTgt spid="15"/>
                                        </p:tgtEl>
                                        <p:attrNameLst>
                                          <p:attrName>style.visibility</p:attrName>
                                        </p:attrNameLst>
                                      </p:cBhvr>
                                      <p:to>
                                        <p:strVal val="hidden"/>
                                      </p:to>
                                    </p:set>
                                  </p:childTnLst>
                                </p:cTn>
                              </p:par>
                              <p:par>
                                <p:cTn id="53" presetID="10" presetClass="exit" presetSubtype="0" fill="hold" grpId="1" nodeType="withEffect">
                                  <p:stCondLst>
                                    <p:cond delay="0"/>
                                  </p:stCondLst>
                                  <p:childTnLst>
                                    <p:animEffect transition="out" filter="fade">
                                      <p:cBhvr>
                                        <p:cTn id="54" dur="500"/>
                                        <p:tgtEl>
                                          <p:spTgt spid="19"/>
                                        </p:tgtEl>
                                      </p:cBhvr>
                                    </p:animEffect>
                                    <p:set>
                                      <p:cBhvr>
                                        <p:cTn id="55" dur="1" fill="hold">
                                          <p:stCondLst>
                                            <p:cond delay="499"/>
                                          </p:stCondLst>
                                        </p:cTn>
                                        <p:tgtEl>
                                          <p:spTgt spid="19"/>
                                        </p:tgtEl>
                                        <p:attrNameLst>
                                          <p:attrName>style.visibility</p:attrName>
                                        </p:attrNameLst>
                                      </p:cBhvr>
                                      <p:to>
                                        <p:strVal val="hidden"/>
                                      </p:to>
                                    </p:set>
                                  </p:childTnLst>
                                </p:cTn>
                              </p:par>
                              <p:par>
                                <p:cTn id="56" presetID="10" presetClass="exit" presetSubtype="0" fill="hold" grpId="1" nodeType="withEffect">
                                  <p:stCondLst>
                                    <p:cond delay="0"/>
                                  </p:stCondLst>
                                  <p:childTnLst>
                                    <p:animEffect transition="out" filter="fade">
                                      <p:cBhvr>
                                        <p:cTn id="57" dur="500"/>
                                        <p:tgtEl>
                                          <p:spTgt spid="23"/>
                                        </p:tgtEl>
                                      </p:cBhvr>
                                    </p:animEffect>
                                    <p:set>
                                      <p:cBhvr>
                                        <p:cTn id="58" dur="1" fill="hold">
                                          <p:stCondLst>
                                            <p:cond delay="499"/>
                                          </p:stCondLst>
                                        </p:cTn>
                                        <p:tgtEl>
                                          <p:spTgt spid="23"/>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6" presetClass="entr" presetSubtype="16"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circle(in)">
                                      <p:cBhvr>
                                        <p:cTn id="63" dur="2000"/>
                                        <p:tgtEl>
                                          <p:spTgt spid="12"/>
                                        </p:tgtEl>
                                      </p:cBhvr>
                                    </p:animEffect>
                                  </p:childTnLst>
                                </p:cTn>
                              </p:par>
                              <p:par>
                                <p:cTn id="64" presetID="6" presetClass="entr" presetSubtype="16"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circle(in)">
                                      <p:cBhvr>
                                        <p:cTn id="66" dur="2000"/>
                                        <p:tgtEl>
                                          <p:spTgt spid="16"/>
                                        </p:tgtEl>
                                      </p:cBhvr>
                                    </p:animEffect>
                                  </p:childTnLst>
                                </p:cTn>
                              </p:par>
                              <p:par>
                                <p:cTn id="67" presetID="6" presetClass="entr" presetSubtype="16" fill="hold" grpId="0" nodeType="with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circle(in)">
                                      <p:cBhvr>
                                        <p:cTn id="69" dur="2000"/>
                                        <p:tgtEl>
                                          <p:spTgt spid="20"/>
                                        </p:tgtEl>
                                      </p:cBhvr>
                                    </p:animEffect>
                                  </p:childTnLst>
                                </p:cTn>
                              </p:par>
                              <p:par>
                                <p:cTn id="70" presetID="6" presetClass="entr" presetSubtype="16"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circle(in)">
                                      <p:cBhvr>
                                        <p:cTn id="72" dur="20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xit" presetSubtype="0" fill="hold" grpId="1" nodeType="clickEffect">
                                  <p:stCondLst>
                                    <p:cond delay="0"/>
                                  </p:stCondLst>
                                  <p:childTnLst>
                                    <p:animEffect transition="out" filter="fade">
                                      <p:cBhvr>
                                        <p:cTn id="76" dur="500"/>
                                        <p:tgtEl>
                                          <p:spTgt spid="12"/>
                                        </p:tgtEl>
                                      </p:cBhvr>
                                    </p:animEffect>
                                    <p:set>
                                      <p:cBhvr>
                                        <p:cTn id="77" dur="1" fill="hold">
                                          <p:stCondLst>
                                            <p:cond delay="499"/>
                                          </p:stCondLst>
                                        </p:cTn>
                                        <p:tgtEl>
                                          <p:spTgt spid="12"/>
                                        </p:tgtEl>
                                        <p:attrNameLst>
                                          <p:attrName>style.visibility</p:attrName>
                                        </p:attrNameLst>
                                      </p:cBhvr>
                                      <p:to>
                                        <p:strVal val="hidden"/>
                                      </p:to>
                                    </p:set>
                                  </p:childTnLst>
                                </p:cTn>
                              </p:par>
                              <p:par>
                                <p:cTn id="78" presetID="10" presetClass="exit" presetSubtype="0" fill="hold" grpId="1" nodeType="withEffect">
                                  <p:stCondLst>
                                    <p:cond delay="0"/>
                                  </p:stCondLst>
                                  <p:childTnLst>
                                    <p:animEffect transition="out" filter="fade">
                                      <p:cBhvr>
                                        <p:cTn id="79" dur="500"/>
                                        <p:tgtEl>
                                          <p:spTgt spid="16"/>
                                        </p:tgtEl>
                                      </p:cBhvr>
                                    </p:animEffect>
                                    <p:set>
                                      <p:cBhvr>
                                        <p:cTn id="80" dur="1" fill="hold">
                                          <p:stCondLst>
                                            <p:cond delay="499"/>
                                          </p:stCondLst>
                                        </p:cTn>
                                        <p:tgtEl>
                                          <p:spTgt spid="16"/>
                                        </p:tgtEl>
                                        <p:attrNameLst>
                                          <p:attrName>style.visibility</p:attrName>
                                        </p:attrNameLst>
                                      </p:cBhvr>
                                      <p:to>
                                        <p:strVal val="hidden"/>
                                      </p:to>
                                    </p:set>
                                  </p:childTnLst>
                                </p:cTn>
                              </p:par>
                              <p:par>
                                <p:cTn id="81" presetID="10" presetClass="exit" presetSubtype="0" fill="hold" grpId="1" nodeType="withEffect">
                                  <p:stCondLst>
                                    <p:cond delay="0"/>
                                  </p:stCondLst>
                                  <p:childTnLst>
                                    <p:animEffect transition="out" filter="fade">
                                      <p:cBhvr>
                                        <p:cTn id="82" dur="500"/>
                                        <p:tgtEl>
                                          <p:spTgt spid="20"/>
                                        </p:tgtEl>
                                      </p:cBhvr>
                                    </p:animEffect>
                                    <p:set>
                                      <p:cBhvr>
                                        <p:cTn id="83" dur="1" fill="hold">
                                          <p:stCondLst>
                                            <p:cond delay="499"/>
                                          </p:stCondLst>
                                        </p:cTn>
                                        <p:tgtEl>
                                          <p:spTgt spid="20"/>
                                        </p:tgtEl>
                                        <p:attrNameLst>
                                          <p:attrName>style.visibility</p:attrName>
                                        </p:attrNameLst>
                                      </p:cBhvr>
                                      <p:to>
                                        <p:strVal val="hidden"/>
                                      </p:to>
                                    </p:set>
                                  </p:childTnLst>
                                </p:cTn>
                              </p:par>
                              <p:par>
                                <p:cTn id="84" presetID="10" presetClass="exit" presetSubtype="0" fill="hold" grpId="1" nodeType="withEffect">
                                  <p:stCondLst>
                                    <p:cond delay="0"/>
                                  </p:stCondLst>
                                  <p:childTnLst>
                                    <p:animEffect transition="out" filter="fade">
                                      <p:cBhvr>
                                        <p:cTn id="85" dur="500"/>
                                        <p:tgtEl>
                                          <p:spTgt spid="24"/>
                                        </p:tgtEl>
                                      </p:cBhvr>
                                    </p:animEffect>
                                    <p:set>
                                      <p:cBhvr>
                                        <p:cTn id="86" dur="1" fill="hold">
                                          <p:stCondLst>
                                            <p:cond delay="499"/>
                                          </p:stCondLst>
                                        </p:cTn>
                                        <p:tgtEl>
                                          <p:spTgt spid="24"/>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6" presetClass="entr" presetSubtype="16" fill="hold" grpId="0" nodeType="clickEffect">
                                  <p:stCondLst>
                                    <p:cond delay="0"/>
                                  </p:stCondLst>
                                  <p:childTnLst>
                                    <p:set>
                                      <p:cBhvr>
                                        <p:cTn id="90" dur="1" fill="hold">
                                          <p:stCondLst>
                                            <p:cond delay="0"/>
                                          </p:stCondLst>
                                        </p:cTn>
                                        <p:tgtEl>
                                          <p:spTgt spid="13"/>
                                        </p:tgtEl>
                                        <p:attrNameLst>
                                          <p:attrName>style.visibility</p:attrName>
                                        </p:attrNameLst>
                                      </p:cBhvr>
                                      <p:to>
                                        <p:strVal val="visible"/>
                                      </p:to>
                                    </p:set>
                                    <p:animEffect transition="in" filter="circle(in)">
                                      <p:cBhvr>
                                        <p:cTn id="91" dur="2000"/>
                                        <p:tgtEl>
                                          <p:spTgt spid="13"/>
                                        </p:tgtEl>
                                      </p:cBhvr>
                                    </p:animEffect>
                                  </p:childTnLst>
                                </p:cTn>
                              </p:par>
                              <p:par>
                                <p:cTn id="92" presetID="6" presetClass="entr" presetSubtype="16" fill="hold" grpId="0" nodeType="withEffect">
                                  <p:stCondLst>
                                    <p:cond delay="0"/>
                                  </p:stCondLst>
                                  <p:childTnLst>
                                    <p:set>
                                      <p:cBhvr>
                                        <p:cTn id="93" dur="1" fill="hold">
                                          <p:stCondLst>
                                            <p:cond delay="0"/>
                                          </p:stCondLst>
                                        </p:cTn>
                                        <p:tgtEl>
                                          <p:spTgt spid="17"/>
                                        </p:tgtEl>
                                        <p:attrNameLst>
                                          <p:attrName>style.visibility</p:attrName>
                                        </p:attrNameLst>
                                      </p:cBhvr>
                                      <p:to>
                                        <p:strVal val="visible"/>
                                      </p:to>
                                    </p:set>
                                    <p:animEffect transition="in" filter="circle(in)">
                                      <p:cBhvr>
                                        <p:cTn id="94" dur="2000"/>
                                        <p:tgtEl>
                                          <p:spTgt spid="17"/>
                                        </p:tgtEl>
                                      </p:cBhvr>
                                    </p:animEffect>
                                  </p:childTnLst>
                                </p:cTn>
                              </p:par>
                              <p:par>
                                <p:cTn id="95" presetID="6" presetClass="entr" presetSubtype="16" fill="hold" grpId="0" nodeType="withEffect">
                                  <p:stCondLst>
                                    <p:cond delay="0"/>
                                  </p:stCondLst>
                                  <p:childTnLst>
                                    <p:set>
                                      <p:cBhvr>
                                        <p:cTn id="96" dur="1" fill="hold">
                                          <p:stCondLst>
                                            <p:cond delay="0"/>
                                          </p:stCondLst>
                                        </p:cTn>
                                        <p:tgtEl>
                                          <p:spTgt spid="21"/>
                                        </p:tgtEl>
                                        <p:attrNameLst>
                                          <p:attrName>style.visibility</p:attrName>
                                        </p:attrNameLst>
                                      </p:cBhvr>
                                      <p:to>
                                        <p:strVal val="visible"/>
                                      </p:to>
                                    </p:set>
                                    <p:animEffect transition="in" filter="circle(in)">
                                      <p:cBhvr>
                                        <p:cTn id="97" dur="2000"/>
                                        <p:tgtEl>
                                          <p:spTgt spid="21"/>
                                        </p:tgtEl>
                                      </p:cBhvr>
                                    </p:animEffect>
                                  </p:childTnLst>
                                </p:cTn>
                              </p:par>
                              <p:par>
                                <p:cTn id="98" presetID="6" presetClass="entr" presetSubtype="16" fill="hold" grpId="0" nodeType="with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circle(in)">
                                      <p:cBhvr>
                                        <p:cTn id="100" dur="2000"/>
                                        <p:tgtEl>
                                          <p:spTgt spid="25"/>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xit" presetSubtype="0" fill="hold" grpId="1" nodeType="clickEffect">
                                  <p:stCondLst>
                                    <p:cond delay="0"/>
                                  </p:stCondLst>
                                  <p:childTnLst>
                                    <p:animEffect transition="out" filter="fade">
                                      <p:cBhvr>
                                        <p:cTn id="104" dur="500"/>
                                        <p:tgtEl>
                                          <p:spTgt spid="13"/>
                                        </p:tgtEl>
                                      </p:cBhvr>
                                    </p:animEffect>
                                    <p:set>
                                      <p:cBhvr>
                                        <p:cTn id="105" dur="1" fill="hold">
                                          <p:stCondLst>
                                            <p:cond delay="499"/>
                                          </p:stCondLst>
                                        </p:cTn>
                                        <p:tgtEl>
                                          <p:spTgt spid="13"/>
                                        </p:tgtEl>
                                        <p:attrNameLst>
                                          <p:attrName>style.visibility</p:attrName>
                                        </p:attrNameLst>
                                      </p:cBhvr>
                                      <p:to>
                                        <p:strVal val="hidden"/>
                                      </p:to>
                                    </p:set>
                                  </p:childTnLst>
                                </p:cTn>
                              </p:par>
                              <p:par>
                                <p:cTn id="106" presetID="10" presetClass="exit" presetSubtype="0" fill="hold" grpId="1" nodeType="withEffect">
                                  <p:stCondLst>
                                    <p:cond delay="0"/>
                                  </p:stCondLst>
                                  <p:childTnLst>
                                    <p:animEffect transition="out" filter="fade">
                                      <p:cBhvr>
                                        <p:cTn id="107" dur="500"/>
                                        <p:tgtEl>
                                          <p:spTgt spid="17"/>
                                        </p:tgtEl>
                                      </p:cBhvr>
                                    </p:animEffect>
                                    <p:set>
                                      <p:cBhvr>
                                        <p:cTn id="108" dur="1" fill="hold">
                                          <p:stCondLst>
                                            <p:cond delay="499"/>
                                          </p:stCondLst>
                                        </p:cTn>
                                        <p:tgtEl>
                                          <p:spTgt spid="17"/>
                                        </p:tgtEl>
                                        <p:attrNameLst>
                                          <p:attrName>style.visibility</p:attrName>
                                        </p:attrNameLst>
                                      </p:cBhvr>
                                      <p:to>
                                        <p:strVal val="hidden"/>
                                      </p:to>
                                    </p:set>
                                  </p:childTnLst>
                                </p:cTn>
                              </p:par>
                              <p:par>
                                <p:cTn id="109" presetID="10" presetClass="exit" presetSubtype="0" fill="hold" grpId="1" nodeType="withEffect">
                                  <p:stCondLst>
                                    <p:cond delay="0"/>
                                  </p:stCondLst>
                                  <p:childTnLst>
                                    <p:animEffect transition="out" filter="fade">
                                      <p:cBhvr>
                                        <p:cTn id="110" dur="500"/>
                                        <p:tgtEl>
                                          <p:spTgt spid="21"/>
                                        </p:tgtEl>
                                      </p:cBhvr>
                                    </p:animEffect>
                                    <p:set>
                                      <p:cBhvr>
                                        <p:cTn id="111" dur="1" fill="hold">
                                          <p:stCondLst>
                                            <p:cond delay="499"/>
                                          </p:stCondLst>
                                        </p:cTn>
                                        <p:tgtEl>
                                          <p:spTgt spid="21"/>
                                        </p:tgtEl>
                                        <p:attrNameLst>
                                          <p:attrName>style.visibility</p:attrName>
                                        </p:attrNameLst>
                                      </p:cBhvr>
                                      <p:to>
                                        <p:strVal val="hidden"/>
                                      </p:to>
                                    </p:set>
                                  </p:childTnLst>
                                </p:cTn>
                              </p:par>
                              <p:par>
                                <p:cTn id="112" presetID="10" presetClass="exit" presetSubtype="0" fill="hold" grpId="1" nodeType="withEffect">
                                  <p:stCondLst>
                                    <p:cond delay="0"/>
                                  </p:stCondLst>
                                  <p:childTnLst>
                                    <p:animEffect transition="out" filter="fade">
                                      <p:cBhvr>
                                        <p:cTn id="113" dur="500"/>
                                        <p:tgtEl>
                                          <p:spTgt spid="25"/>
                                        </p:tgtEl>
                                      </p:cBhvr>
                                    </p:animEffect>
                                    <p:set>
                                      <p:cBhvr>
                                        <p:cTn id="114" dur="1" fill="hold">
                                          <p:stCondLst>
                                            <p:cond delay="499"/>
                                          </p:stCondLst>
                                        </p:cTn>
                                        <p:tgtEl>
                                          <p:spTgt spid="25"/>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6" presetClass="entr" presetSubtype="16" fill="hold" grpId="0" nodeType="clickEffect">
                                  <p:stCondLst>
                                    <p:cond delay="0"/>
                                  </p:stCondLst>
                                  <p:childTnLst>
                                    <p:set>
                                      <p:cBhvr>
                                        <p:cTn id="118" dur="1" fill="hold">
                                          <p:stCondLst>
                                            <p:cond delay="0"/>
                                          </p:stCondLst>
                                        </p:cTn>
                                        <p:tgtEl>
                                          <p:spTgt spid="30"/>
                                        </p:tgtEl>
                                        <p:attrNameLst>
                                          <p:attrName>style.visibility</p:attrName>
                                        </p:attrNameLst>
                                      </p:cBhvr>
                                      <p:to>
                                        <p:strVal val="visible"/>
                                      </p:to>
                                    </p:set>
                                    <p:animEffect transition="in" filter="circle(in)">
                                      <p:cBhvr>
                                        <p:cTn id="119" dur="2000"/>
                                        <p:tgtEl>
                                          <p:spTgt spid="30"/>
                                        </p:tgtEl>
                                      </p:cBhvr>
                                    </p:animEffect>
                                  </p:childTnLst>
                                </p:cTn>
                              </p:par>
                              <p:par>
                                <p:cTn id="120" presetID="6" presetClass="entr" presetSubtype="16" fill="hold" grpId="0" nodeType="with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circle(in)">
                                      <p:cBhvr>
                                        <p:cTn id="122" dur="2000"/>
                                        <p:tgtEl>
                                          <p:spTgt spid="32"/>
                                        </p:tgtEl>
                                      </p:cBhvr>
                                    </p:animEffect>
                                  </p:childTnLst>
                                </p:cTn>
                              </p:par>
                              <p:par>
                                <p:cTn id="123" presetID="6" presetClass="entr" presetSubtype="16" fill="hold" grpId="0" nodeType="withEffect">
                                  <p:stCondLst>
                                    <p:cond delay="0"/>
                                  </p:stCondLst>
                                  <p:childTnLst>
                                    <p:set>
                                      <p:cBhvr>
                                        <p:cTn id="124" dur="1" fill="hold">
                                          <p:stCondLst>
                                            <p:cond delay="0"/>
                                          </p:stCondLst>
                                        </p:cTn>
                                        <p:tgtEl>
                                          <p:spTgt spid="33"/>
                                        </p:tgtEl>
                                        <p:attrNameLst>
                                          <p:attrName>style.visibility</p:attrName>
                                        </p:attrNameLst>
                                      </p:cBhvr>
                                      <p:to>
                                        <p:strVal val="visible"/>
                                      </p:to>
                                    </p:set>
                                    <p:animEffect transition="in" filter="circle(in)">
                                      <p:cBhvr>
                                        <p:cTn id="125" dur="2000"/>
                                        <p:tgtEl>
                                          <p:spTgt spid="33"/>
                                        </p:tgtEl>
                                      </p:cBhvr>
                                    </p:animEffect>
                                  </p:childTnLst>
                                </p:cTn>
                              </p:par>
                              <p:par>
                                <p:cTn id="126" presetID="6" presetClass="entr" presetSubtype="16" fill="hold" grpId="0" nodeType="withEffect">
                                  <p:stCondLst>
                                    <p:cond delay="0"/>
                                  </p:stCondLst>
                                  <p:childTnLst>
                                    <p:set>
                                      <p:cBhvr>
                                        <p:cTn id="127" dur="1" fill="hold">
                                          <p:stCondLst>
                                            <p:cond delay="0"/>
                                          </p:stCondLst>
                                        </p:cTn>
                                        <p:tgtEl>
                                          <p:spTgt spid="34"/>
                                        </p:tgtEl>
                                        <p:attrNameLst>
                                          <p:attrName>style.visibility</p:attrName>
                                        </p:attrNameLst>
                                      </p:cBhvr>
                                      <p:to>
                                        <p:strVal val="visible"/>
                                      </p:to>
                                    </p:set>
                                    <p:animEffect transition="in" filter="circle(in)">
                                      <p:cBhvr>
                                        <p:cTn id="128" dur="2000"/>
                                        <p:tgtEl>
                                          <p:spTgt spid="34"/>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xit" presetSubtype="0" fill="hold" grpId="1" nodeType="clickEffect">
                                  <p:stCondLst>
                                    <p:cond delay="0"/>
                                  </p:stCondLst>
                                  <p:childTnLst>
                                    <p:animEffect transition="out" filter="fade">
                                      <p:cBhvr>
                                        <p:cTn id="132" dur="500"/>
                                        <p:tgtEl>
                                          <p:spTgt spid="30"/>
                                        </p:tgtEl>
                                      </p:cBhvr>
                                    </p:animEffect>
                                    <p:set>
                                      <p:cBhvr>
                                        <p:cTn id="133" dur="1" fill="hold">
                                          <p:stCondLst>
                                            <p:cond delay="499"/>
                                          </p:stCondLst>
                                        </p:cTn>
                                        <p:tgtEl>
                                          <p:spTgt spid="30"/>
                                        </p:tgtEl>
                                        <p:attrNameLst>
                                          <p:attrName>style.visibility</p:attrName>
                                        </p:attrNameLst>
                                      </p:cBhvr>
                                      <p:to>
                                        <p:strVal val="hidden"/>
                                      </p:to>
                                    </p:set>
                                  </p:childTnLst>
                                </p:cTn>
                              </p:par>
                              <p:par>
                                <p:cTn id="134" presetID="10" presetClass="exit" presetSubtype="0" fill="hold" grpId="1" nodeType="withEffect">
                                  <p:stCondLst>
                                    <p:cond delay="0"/>
                                  </p:stCondLst>
                                  <p:childTnLst>
                                    <p:animEffect transition="out" filter="fade">
                                      <p:cBhvr>
                                        <p:cTn id="135" dur="500"/>
                                        <p:tgtEl>
                                          <p:spTgt spid="32"/>
                                        </p:tgtEl>
                                      </p:cBhvr>
                                    </p:animEffect>
                                    <p:set>
                                      <p:cBhvr>
                                        <p:cTn id="136" dur="1" fill="hold">
                                          <p:stCondLst>
                                            <p:cond delay="499"/>
                                          </p:stCondLst>
                                        </p:cTn>
                                        <p:tgtEl>
                                          <p:spTgt spid="32"/>
                                        </p:tgtEl>
                                        <p:attrNameLst>
                                          <p:attrName>style.visibility</p:attrName>
                                        </p:attrNameLst>
                                      </p:cBhvr>
                                      <p:to>
                                        <p:strVal val="hidden"/>
                                      </p:to>
                                    </p:set>
                                  </p:childTnLst>
                                </p:cTn>
                              </p:par>
                              <p:par>
                                <p:cTn id="137" presetID="10" presetClass="exit" presetSubtype="0" fill="hold" grpId="1" nodeType="withEffect">
                                  <p:stCondLst>
                                    <p:cond delay="0"/>
                                  </p:stCondLst>
                                  <p:childTnLst>
                                    <p:animEffect transition="out" filter="fade">
                                      <p:cBhvr>
                                        <p:cTn id="138" dur="500"/>
                                        <p:tgtEl>
                                          <p:spTgt spid="33"/>
                                        </p:tgtEl>
                                      </p:cBhvr>
                                    </p:animEffect>
                                    <p:set>
                                      <p:cBhvr>
                                        <p:cTn id="139" dur="1" fill="hold">
                                          <p:stCondLst>
                                            <p:cond delay="499"/>
                                          </p:stCondLst>
                                        </p:cTn>
                                        <p:tgtEl>
                                          <p:spTgt spid="33"/>
                                        </p:tgtEl>
                                        <p:attrNameLst>
                                          <p:attrName>style.visibility</p:attrName>
                                        </p:attrNameLst>
                                      </p:cBhvr>
                                      <p:to>
                                        <p:strVal val="hidden"/>
                                      </p:to>
                                    </p:set>
                                  </p:childTnLst>
                                </p:cTn>
                              </p:par>
                              <p:par>
                                <p:cTn id="140" presetID="10" presetClass="exit" presetSubtype="0" fill="hold" grpId="1" nodeType="withEffect">
                                  <p:stCondLst>
                                    <p:cond delay="0"/>
                                  </p:stCondLst>
                                  <p:childTnLst>
                                    <p:animEffect transition="out" filter="fade">
                                      <p:cBhvr>
                                        <p:cTn id="141" dur="500"/>
                                        <p:tgtEl>
                                          <p:spTgt spid="34"/>
                                        </p:tgtEl>
                                      </p:cBhvr>
                                    </p:animEffect>
                                    <p:set>
                                      <p:cBhvr>
                                        <p:cTn id="142" dur="1" fill="hold">
                                          <p:stCondLst>
                                            <p:cond delay="499"/>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P spid="12" grpId="0" animBg="1"/>
      <p:bldP spid="12" grpId="1" animBg="1"/>
      <p:bldP spid="13" grpId="0" animBg="1"/>
      <p:bldP spid="13" grpId="1" animBg="1"/>
      <p:bldP spid="14" grpId="0"/>
      <p:bldP spid="14" grpId="1"/>
      <p:bldP spid="15" grpId="0"/>
      <p:bldP spid="15" grpId="1"/>
      <p:bldP spid="16" grpId="0"/>
      <p:bldP spid="16" grpId="1"/>
      <p:bldP spid="17" grpId="0"/>
      <p:bldP spid="17" grpId="1"/>
      <p:bldP spid="18" grpId="0"/>
      <p:bldP spid="18" grpId="1"/>
      <p:bldP spid="19" grpId="0"/>
      <p:bldP spid="19" grpId="1"/>
      <p:bldP spid="20" grpId="0"/>
      <p:bldP spid="20" grpId="1"/>
      <p:bldP spid="21" grpId="0"/>
      <p:bldP spid="21" grpId="1"/>
      <p:bldP spid="22" grpId="0" animBg="1"/>
      <p:bldP spid="22" grpId="1" animBg="1"/>
      <p:bldP spid="23" grpId="0" animBg="1"/>
      <p:bldP spid="23" grpId="1" animBg="1"/>
      <p:bldP spid="24" grpId="0" animBg="1"/>
      <p:bldP spid="24" grpId="1" animBg="1"/>
      <p:bldP spid="25" grpId="0" animBg="1"/>
      <p:bldP spid="25" grpId="1" animBg="1"/>
      <p:bldP spid="30" grpId="0" animBg="1"/>
      <p:bldP spid="30" grpId="1" animBg="1"/>
      <p:bldP spid="32" grpId="0"/>
      <p:bldP spid="32" grpId="1"/>
      <p:bldP spid="33" grpId="0"/>
      <p:bldP spid="33" grpId="1"/>
      <p:bldP spid="34" grpId="0" animBg="1"/>
      <p:bldP spid="34" grpId="1" animBg="1"/>
    </p:bldLst>
  </p:timing>
</p:sld>
</file>

<file path=ppt/theme/theme1.xml><?xml version="1.0" encoding="utf-8"?>
<a:theme xmlns:a="http://schemas.openxmlformats.org/drawingml/2006/main" name="Facette">
  <a:themeElements>
    <a:clrScheme name="Facett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403</TotalTime>
  <Words>707</Words>
  <Application>Microsoft Office PowerPoint</Application>
  <PresentationFormat>Grand écran</PresentationFormat>
  <Paragraphs>109</Paragraphs>
  <Slides>13</Slides>
  <Notes>12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13</vt:i4>
      </vt:variant>
    </vt:vector>
  </HeadingPairs>
  <TitlesOfParts>
    <vt:vector size="18" baseType="lpstr">
      <vt:lpstr>Aptos</vt:lpstr>
      <vt:lpstr>Arial</vt:lpstr>
      <vt:lpstr>Trebuchet MS</vt:lpstr>
      <vt:lpstr>Wingdings 3</vt:lpstr>
      <vt:lpstr>Facette</vt:lpstr>
      <vt:lpstr>Réalisation d’une étude sur l’eau potable</vt:lpstr>
      <vt:lpstr>Dictionnaire de données</vt:lpstr>
      <vt:lpstr>Blueprint</vt:lpstr>
      <vt:lpstr>Blueprint suite</vt:lpstr>
      <vt:lpstr>Préparation des données (Power Query)</vt:lpstr>
      <vt:lpstr>Présentation du modèle de données</vt:lpstr>
      <vt:lpstr>Les mesures créées</vt:lpstr>
      <vt:lpstr>Les mesures créées</vt:lpstr>
      <vt:lpstr>La Vue Mondiale</vt:lpstr>
      <vt:lpstr>La Vue Régionale</vt:lpstr>
      <vt:lpstr>La Vue Régionale</vt:lpstr>
      <vt:lpstr>La Vue Nationale</vt:lpstr>
      <vt:lpstr>Les infos complémentaires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evan fol</dc:creator>
  <cp:lastModifiedBy>evan fol</cp:lastModifiedBy>
  <cp:revision>19</cp:revision>
  <dcterms:created xsi:type="dcterms:W3CDTF">2026-02-17T13:57:57Z</dcterms:created>
  <dcterms:modified xsi:type="dcterms:W3CDTF">2026-03-12T19:20:00Z</dcterms:modified>
</cp:coreProperties>
</file>