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7" r:id="rId8"/>
    <p:sldId id="268" r:id="rId9"/>
    <p:sldId id="261" r:id="rId10"/>
    <p:sldId id="280" r:id="rId11"/>
    <p:sldId id="282" r:id="rId12"/>
    <p:sldId id="283" r:id="rId13"/>
    <p:sldId id="262" r:id="rId14"/>
    <p:sldId id="281" r:id="rId15"/>
    <p:sldId id="263" r:id="rId16"/>
    <p:sldId id="264" r:id="rId17"/>
    <p:sldId id="265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66" r:id="rId30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714" autoAdjust="0"/>
  </p:normalViewPr>
  <p:slideViewPr>
    <p:cSldViewPr snapToGrid="0">
      <p:cViewPr varScale="1">
        <p:scale>
          <a:sx n="110" d="100"/>
          <a:sy n="110" d="100"/>
        </p:scale>
        <p:origin x="1602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Base de données crée pour Laplace </a:t>
            </a:r>
            <a:r>
              <a:rPr lang="fr-FR" dirty="0" err="1"/>
              <a:t>immo</a:t>
            </a:r>
            <a:endParaRPr dirty="0"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6651547-566F-71D2-DE6F-A8104514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0EDADC25-925F-AE2D-0F1B-7C1DCE9F4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8634854D-EB59-C09C-5FB1-DDF484134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2BCDC3F1-040C-A777-EAE0-CAB4F8212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599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A4260CC-410C-C121-B3F1-E42E2F5D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2836C6C3-85AD-E29A-CFCD-521FEFCE1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E1E462E8-81E6-A110-E6A7-17A121800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22BED4CE-9AAE-9F53-2686-A250B49186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375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5706B940-2FD5-076A-EEF5-F5227492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>
            <a:extLst>
              <a:ext uri="{FF2B5EF4-FFF2-40B4-BE49-F238E27FC236}">
                <a16:creationId xmlns:a16="http://schemas.microsoft.com/office/drawing/2014/main" id="{4E2ABEBF-B8F5-2199-42FC-F282D311F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>
            <a:extLst>
              <a:ext uri="{FF2B5EF4-FFF2-40B4-BE49-F238E27FC236}">
                <a16:creationId xmlns:a16="http://schemas.microsoft.com/office/drawing/2014/main" id="{240E8733-7FFC-D944-F53C-82F44FF1A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Voici le code qui a permit la création de ma base de données sur SQLite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Une fois la structure de la base crée. J’ai du utiliser </a:t>
            </a:r>
            <a:r>
              <a:rPr lang="fr-FR" dirty="0" err="1"/>
              <a:t>powerquerry</a:t>
            </a:r>
            <a:r>
              <a:rPr lang="fr-FR" dirty="0"/>
              <a:t> afin d’assembler mes différentes tables pour créer exactement les tables correspondantes à mon schéma relationnel.</a:t>
            </a:r>
            <a:endParaRPr dirty="0"/>
          </a:p>
        </p:txBody>
      </p:sp>
      <p:sp>
        <p:nvSpPr>
          <p:cNvPr id="301" name="Google Shape;301;g25c099360e7_3_243:notes">
            <a:extLst>
              <a:ext uri="{FF2B5EF4-FFF2-40B4-BE49-F238E27FC236}">
                <a16:creationId xmlns:a16="http://schemas.microsoft.com/office/drawing/2014/main" id="{0885E179-422A-1CEA-BA61-4F0DB8650A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661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09EFB4C3-EA83-389D-2B2F-8105CDEA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>
            <a:extLst>
              <a:ext uri="{FF2B5EF4-FFF2-40B4-BE49-F238E27FC236}">
                <a16:creationId xmlns:a16="http://schemas.microsoft.com/office/drawing/2014/main" id="{0D4A1A16-2CE4-397B-1375-380E4D73D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>
            <a:extLst>
              <a:ext uri="{FF2B5EF4-FFF2-40B4-BE49-F238E27FC236}">
                <a16:creationId xmlns:a16="http://schemas.microsoft.com/office/drawing/2014/main" id="{B18ACE72-965D-0296-95DB-6C261E05D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g25c099360e7_3_243:notes">
            <a:extLst>
              <a:ext uri="{FF2B5EF4-FFF2-40B4-BE49-F238E27FC236}">
                <a16:creationId xmlns:a16="http://schemas.microsoft.com/office/drawing/2014/main" id="{590624DB-D59D-CE5C-CFD1-65624F365F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354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590E962E-5A22-02D0-C2C0-424DC140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>
            <a:extLst>
              <a:ext uri="{FF2B5EF4-FFF2-40B4-BE49-F238E27FC236}">
                <a16:creationId xmlns:a16="http://schemas.microsoft.com/office/drawing/2014/main" id="{1902F79D-ADF5-EA20-875E-BA94AAAA5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>
            <a:extLst>
              <a:ext uri="{FF2B5EF4-FFF2-40B4-BE49-F238E27FC236}">
                <a16:creationId xmlns:a16="http://schemas.microsoft.com/office/drawing/2014/main" id="{B6760221-C694-9650-42B9-AB970714E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utilise une colonne test avec une concaténation des toutes les colonnes importantes afin de trouver et supprimer les doublons qui correspondent à des ventes du même bien (15 ici) ceci permet d’avoir les données pour les biens séparés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Par la suite on sépare la table en vente qui contient toutes les lignes avec seulement les colonnes (date et valeur en plus d’Id_vente) et bien qui ne contient pas les doublons mais contient toutes les colonnes sauf (date et valeur)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la table Commune on fait la même chose sauf que l’on utilise cette fois </a:t>
            </a:r>
            <a:r>
              <a:rPr lang="fr-FR" dirty="0" err="1"/>
              <a:t>powerquerry</a:t>
            </a:r>
            <a:r>
              <a:rPr lang="fr-FR" dirty="0"/>
              <a:t> pour prendre les infos sur les populations de données communes afin de les mélanger avec les données géographiques pour obtenir notre table Commune finale</a:t>
            </a:r>
            <a:endParaRPr dirty="0"/>
          </a:p>
        </p:txBody>
      </p:sp>
      <p:sp>
        <p:nvSpPr>
          <p:cNvPr id="301" name="Google Shape;301;g25c099360e7_3_243:notes">
            <a:extLst>
              <a:ext uri="{FF2B5EF4-FFF2-40B4-BE49-F238E27FC236}">
                <a16:creationId xmlns:a16="http://schemas.microsoft.com/office/drawing/2014/main" id="{8E7BAC15-E23F-6571-AB3B-5CC3F91905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9130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>
          <a:extLst>
            <a:ext uri="{FF2B5EF4-FFF2-40B4-BE49-F238E27FC236}">
              <a16:creationId xmlns:a16="http://schemas.microsoft.com/office/drawing/2014/main" id="{D2D043D7-516F-4C1C-0404-B8B38554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>
            <a:extLst>
              <a:ext uri="{FF2B5EF4-FFF2-40B4-BE49-F238E27FC236}">
                <a16:creationId xmlns:a16="http://schemas.microsoft.com/office/drawing/2014/main" id="{48FC57C7-D167-030F-EE33-BA94F1AE7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>
            <a:extLst>
              <a:ext uri="{FF2B5EF4-FFF2-40B4-BE49-F238E27FC236}">
                <a16:creationId xmlns:a16="http://schemas.microsoft.com/office/drawing/2014/main" id="{55EF88EE-F72D-E7D7-DBF8-A96CBE508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Afin de supprimer la virgule et de la remplacer par un point pour éviter des bugs nous avons utiliser ce code</a:t>
            </a:r>
            <a:endParaRPr dirty="0"/>
          </a:p>
        </p:txBody>
      </p:sp>
      <p:sp>
        <p:nvSpPr>
          <p:cNvPr id="310" name="Google Shape;310;g25c099360e7_3_251:notes">
            <a:extLst>
              <a:ext uri="{FF2B5EF4-FFF2-40B4-BE49-F238E27FC236}">
                <a16:creationId xmlns:a16="http://schemas.microsoft.com/office/drawing/2014/main" id="{200C1FC6-4BD4-3198-0C8A-2A2DF8676B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345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peut voir ici le nombre total de vente d’appartements au premier semestre de 2020 ce qui nous donne une indication sur la dynamique du marché, à comparer avec les années précédentes pour avoir une meilleure visibilité sur l’évolution.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9120F86-7FCF-9489-4CF6-997569CE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E32B487-0607-CDD9-72FB-A6FEB9A35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03067138-09DD-0870-2BFB-89F2A6BE8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voit ici la répartition géographique des ventes ce qui nous informe sur le dynamisme des différentes régions par rapport à l’achat d’appartements.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Sans surprise l’Ile de France est la région de loin la plus dynamique.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905AE06-975E-7618-A574-3B0F06D152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2219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9812C9E-EB92-F119-28C0-976DAB67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D2C6D0F2-1B4A-140C-EF5B-0C3216523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0806D1E7-530C-578C-C871-D182835D20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Visibilité de la composition du marché en termes de nb de ventes par nb de pièce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 eux seuls les appartements de 1 à 3 pièces représentent plus de 80% des ventes !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AD1120F-68CE-5A16-A4F2-2D1F768F5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8678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21278D4-31F2-3533-269D-C1C84675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DB53EAE-93FB-ADFA-6ECD-71198C680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B3BDBBD-37EC-8513-3456-F2950C057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Liste des départements les plus chers, faire attention car comme on le verra certaines ventes font artificiellement gonfler ce chiffre.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prix du m² à Paris est presque deux fois plus élevé que le deuxième plus élevé qui sont les Hauts de Seine ce qui est intrigant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F448084-D3DA-7C10-3E16-478FE757F4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696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7F82888-5E3B-B591-1680-BABD865B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2A69CBA-096A-BAF8-0486-CE3B33E53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5AFB256-F450-E5D8-D7EC-FFA2169D3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Valeur de référence régionale pour l’île de France ce qui permet de comparer pour voir si il y a sur ou sous valorisation quand on regarde le prix au m² d’une maison dans cette région.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336581C-8F99-003A-9F27-2CFEB6EE2B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1551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4B52AFE-424A-AFC8-A199-F3970E37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7898152-81D1-2A7F-7C29-FAABFD83E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8464018-1998-596D-066E-2DB9D5D5C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voit que tous les appartements les plus chers sont en Ile de France , il peut s’agir d’</a:t>
            </a:r>
            <a:r>
              <a:rPr lang="fr-FR" dirty="0" err="1"/>
              <a:t>outliers</a:t>
            </a:r>
            <a:r>
              <a:rPr lang="fr-FR" dirty="0"/>
              <a:t> ce qui explique le prix extrêmement élevé du m² en Ile de France par rapport aux autres.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20CA83F-21CC-49D1-464F-4E0CF9D730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687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F75846B-759D-BF7B-7D29-D2EC1D2B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3B795E5-F4AD-B764-0ABA-FB13BA982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82CEC71D-40E8-DE10-2784-58F3D602E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voit qu’il y a une augmentation du nombre de vente au 2èm trimestre ce qui indique une croissance du marché.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4081FB56-F1CF-8A6E-EDED-875FAB1DBD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66794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565EA8F-27A9-ED1B-50BC-A7B3EBB3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5FB192A-2A33-D98F-1DC1-B9BFAF38F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AD4C841-6B8A-DAAC-9759-8A459D4C4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peut voir ici ou les grands appartements sont le plus et le moins chers en France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Une fois de plus l’Ile de France est devant avec un prix au m² 3 fois supérieur au deuxième qui est ici la réunion !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A46AD65-19ED-9F2B-9F86-38B32FB58A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321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90D6824-5174-2206-5EA5-CFE946FE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A9C5C3E-AC15-3F60-07D3-4849F65DE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08AD856A-F3C0-8720-9AAC-77ED7F0C9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Ces communes représentent les endroits en France ou le marché est le plus actif et comme on peut le voir la plupart se situent à Paris.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266BD92F-7C6B-2347-0C7B-5F0414C809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59470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1EB5DA1-C5EC-4480-CC61-A0B0D93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010A9FF-1CDD-E6EC-E2B6-7058639E2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EEE835D-6E6F-AD19-DD74-D51D6A180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peut ici voir la décote de 13% du prix au m² pour l’ajout d’une pièce supplémentaire et ce pour l’ensemble du territoire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CDA6AB5-9FAA-71CF-0206-884BDAF7CA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3402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FA33934-1642-4E8E-BFCB-C6F32DAF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D9F148B-3D9B-6768-3A86-F60198B4A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D3C97929-32EB-750B-BA5B-CDC7A0E37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Permet de voir plus en détail les disparités en fonction des départements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voit par exemple ici la forte différence entre la valeur foncière moyenne des Alpes Maritimes (06) qui est beaucoup plus élevée que celle des </a:t>
            </a:r>
            <a:r>
              <a:rPr lang="fr-FR" dirty="0" err="1"/>
              <a:t>Bouches-du-Rhônes</a:t>
            </a:r>
            <a:r>
              <a:rPr lang="fr-FR" dirty="0"/>
              <a:t> (13)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598A0ED-38E5-0722-2346-497E9D5DBD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217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27B7FE1-38D1-C681-F28C-D5B15E82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662CA5B-8A4B-7956-985E-2BFCF8A80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99329DA-E292-2E76-E01E-60097C718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On observe ici l’activité en termes de vente pour 1000 habitants dans les communes de plus de 10k habitants ce qui nous permet d’avoir un visuel sur la performance / attractivité de certaines communes.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Une </a:t>
            </a:r>
            <a:r>
              <a:rPr lang="fr-FR" dirty="0"/>
              <a:t>f</a:t>
            </a:r>
            <a:r>
              <a:rPr lang="fr-FR"/>
              <a:t>ois </a:t>
            </a:r>
            <a:r>
              <a:rPr lang="fr-FR" dirty="0"/>
              <a:t>de plus beaucoup de </a:t>
            </a:r>
            <a:r>
              <a:rPr lang="fr-FR"/>
              <a:t>communes parisiennes </a:t>
            </a:r>
            <a:r>
              <a:rPr lang="fr-FR" dirty="0"/>
              <a:t>se trouvent e tête ce qui reflète ce que l’on a observé dans les </a:t>
            </a:r>
            <a:r>
              <a:rPr lang="fr-FR"/>
              <a:t>requêtes précédentes.</a:t>
            </a: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9D566BC-73E1-7A4D-B479-50DADC7387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3401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Evan Fol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Objectif principal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fr-FR" dirty="0"/>
              <a:t>Créer une base de données décisionnelle pour mieux </a:t>
            </a:r>
            <a:r>
              <a:rPr lang="fr-FR" b="1" dirty="0"/>
              <a:t>prédire le prix de vente</a:t>
            </a:r>
            <a:r>
              <a:rPr lang="fr-FR" dirty="0"/>
              <a:t> des biens et aider les agences régionales à conseiller leurs clients.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Afin de respecter les RGPD il a été nécéssaire de nettoyer notre jeu de données de toutes informations personnelles.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177800" indent="-177800">
              <a:spcBef>
                <a:spcPts val="0"/>
              </a:spcBef>
            </a:pPr>
            <a:r>
              <a:rPr lang="fr" dirty="0"/>
              <a:t>Le seul fichier en contenant ici était celui sur les </a:t>
            </a:r>
            <a:r>
              <a:rPr lang="fr-FR" dirty="0"/>
              <a:t>données des valeurs foncières.</a:t>
            </a:r>
          </a:p>
          <a:p>
            <a:pPr marL="177800" indent="-177800">
              <a:spcBef>
                <a:spcPts val="0"/>
              </a:spcBef>
            </a:pPr>
            <a:endParaRPr lang="fr-FR" dirty="0"/>
          </a:p>
          <a:p>
            <a:pPr marL="177800" indent="-177800">
              <a:spcBef>
                <a:spcPts val="0"/>
              </a:spcBef>
            </a:pPr>
            <a:r>
              <a:rPr lang="fr-FR" dirty="0"/>
              <a:t>La dernière colonne contenait le nom de l’acquéreur que nous avons donc supprimé.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fr-FR" dirty="0"/>
              <a:t>Données des valeurs foncières extraites de DVF (Données des Valeurs Foncières)</a:t>
            </a:r>
          </a:p>
          <a:p>
            <a:pPr lvl="0">
              <a:spcBef>
                <a:spcPts val="0"/>
              </a:spcBef>
            </a:pPr>
            <a:endParaRPr lang="fr-FR" dirty="0"/>
          </a:p>
          <a:p>
            <a:pPr lvl="0">
              <a:spcBef>
                <a:spcPts val="0"/>
              </a:spcBef>
            </a:pPr>
            <a:endParaRPr lang="fr-FR" dirty="0"/>
          </a:p>
          <a:p>
            <a:pPr lvl="0">
              <a:spcBef>
                <a:spcPts val="0"/>
              </a:spcBef>
            </a:pPr>
            <a:r>
              <a:rPr lang="fr-FR" dirty="0"/>
              <a:t>Données INSEE sur les recensements des populations des différentes communes</a:t>
            </a:r>
          </a:p>
          <a:p>
            <a:pPr lvl="0">
              <a:spcBef>
                <a:spcPts val="0"/>
              </a:spcBef>
            </a:pPr>
            <a:endParaRPr lang="fr-FR" dirty="0"/>
          </a:p>
          <a:p>
            <a:pPr lvl="0">
              <a:spcBef>
                <a:spcPts val="0"/>
              </a:spcBef>
            </a:pPr>
            <a:endParaRPr lang="fr-FR" dirty="0"/>
          </a:p>
          <a:p>
            <a:pPr lvl="0">
              <a:spcBef>
                <a:spcPts val="0"/>
              </a:spcBef>
            </a:pPr>
            <a:r>
              <a:rPr lang="fr-FR" dirty="0"/>
              <a:t>Les données de </a:t>
            </a:r>
            <a:r>
              <a:rPr lang="fr-FR" dirty="0" err="1"/>
              <a:t>data.gouv</a:t>
            </a:r>
            <a:r>
              <a:rPr lang="fr-FR" dirty="0"/>
              <a:t> concernant le référentiel géographique français (Région, départements, communes,…)</a:t>
            </a:r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 (Valeurs foncières)</a:t>
            </a:r>
            <a:endParaRPr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316A86-BCDF-F569-CFB0-0C6514F60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7" y="1561678"/>
            <a:ext cx="8467805" cy="2020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6736720C-BA14-2913-2697-B04D19B0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3DD46FE4-31D7-59F7-20E3-D404F18926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 (Réf géographique)</a:t>
            </a:r>
            <a:endParaRPr b="0" dirty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1109B4BE-B695-A815-A4B8-13B1A8B5A2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1C2184-3F2E-6994-DB0D-6BDF0294E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24" y="1541454"/>
            <a:ext cx="8060551" cy="206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7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42EA9750-E554-49E0-B490-C6ECBA3E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5F79D279-61D9-080D-8ED1-92F176F5D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5051288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 (Données communes)</a:t>
            </a:r>
            <a:endParaRPr b="0" dirty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97FB574F-60A6-D2A5-B9B2-BD0FDED4E1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5F9D311-3290-779B-3A38-D73E3EB93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1" y="1623578"/>
            <a:ext cx="8130098" cy="18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3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830C2A-B093-33E1-9DA4-C3DF2065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750" y="1017748"/>
            <a:ext cx="5204499" cy="3998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B6F02A84-9D1B-8A34-8CAA-26524065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>
            <a:extLst>
              <a:ext uri="{FF2B5EF4-FFF2-40B4-BE49-F238E27FC236}">
                <a16:creationId xmlns:a16="http://schemas.microsoft.com/office/drawing/2014/main" id="{487F336B-DEE1-FCD1-A3FB-6D1D289CE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Création du code avec SQL power architect</a:t>
            </a:r>
            <a:endParaRPr b="0" dirty="0"/>
          </a:p>
        </p:txBody>
      </p:sp>
      <p:sp>
        <p:nvSpPr>
          <p:cNvPr id="306" name="Google Shape;306;p38">
            <a:extLst>
              <a:ext uri="{FF2B5EF4-FFF2-40B4-BE49-F238E27FC236}">
                <a16:creationId xmlns:a16="http://schemas.microsoft.com/office/drawing/2014/main" id="{4A1386EB-047F-B21E-7B33-C85E3A979C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21AEFD1-9BB0-EE10-1A98-67BEAAAD9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67" y="1017748"/>
            <a:ext cx="4031266" cy="39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9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EC3A1234-728A-51CD-5EDB-A5F1B03E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>
            <a:extLst>
              <a:ext uri="{FF2B5EF4-FFF2-40B4-BE49-F238E27FC236}">
                <a16:creationId xmlns:a16="http://schemas.microsoft.com/office/drawing/2014/main" id="{557D08C0-CE33-36A7-770C-1C35D22C8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955" y="471817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Création des tables excel correspondant aux tables SQL</a:t>
            </a:r>
            <a:endParaRPr b="0" dirty="0"/>
          </a:p>
        </p:txBody>
      </p:sp>
      <p:sp>
        <p:nvSpPr>
          <p:cNvPr id="306" name="Google Shape;306;p38">
            <a:extLst>
              <a:ext uri="{FF2B5EF4-FFF2-40B4-BE49-F238E27FC236}">
                <a16:creationId xmlns:a16="http://schemas.microsoft.com/office/drawing/2014/main" id="{2F6799D5-B0B8-E60B-5D4D-E3EAFE409E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42BED2-1FFC-A285-CF80-7BFB7C0AABC1}"/>
              </a:ext>
            </a:extLst>
          </p:cNvPr>
          <p:cNvSpPr txBox="1"/>
          <p:nvPr/>
        </p:nvSpPr>
        <p:spPr>
          <a:xfrm>
            <a:off x="906716" y="1944060"/>
            <a:ext cx="68618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Suppression de toutes nos colonnes non utilisées dans notre dictionnaire de données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Création des colonnes utiles (Insee_commune par agrégation du code département et du code commune et des colonnes Id_bien et Id_vente par auto-incrémentation)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Liaison de nos tables entre elle avec PowerQuerry afin d’obtenir exactement les infos que l’on veut dans nos tables finales</a:t>
            </a:r>
          </a:p>
        </p:txBody>
      </p:sp>
    </p:spTree>
    <p:extLst>
      <p:ext uri="{BB962C8B-B14F-4D97-AF65-F5344CB8AC3E}">
        <p14:creationId xmlns:p14="http://schemas.microsoft.com/office/powerpoint/2010/main" val="322905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1964C995-7CEA-4523-8CAF-723212EB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>
            <a:extLst>
              <a:ext uri="{FF2B5EF4-FFF2-40B4-BE49-F238E27FC236}">
                <a16:creationId xmlns:a16="http://schemas.microsoft.com/office/drawing/2014/main" id="{20E6FAFA-C7BF-1189-2372-C2FD1A5E89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955" y="471817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Création des tables excel correspondant aux tables SQL</a:t>
            </a:r>
            <a:endParaRPr b="0" dirty="0"/>
          </a:p>
        </p:txBody>
      </p:sp>
      <p:sp>
        <p:nvSpPr>
          <p:cNvPr id="306" name="Google Shape;306;p38">
            <a:extLst>
              <a:ext uri="{FF2B5EF4-FFF2-40B4-BE49-F238E27FC236}">
                <a16:creationId xmlns:a16="http://schemas.microsoft.com/office/drawing/2014/main" id="{0569E508-9ADF-6979-97E3-09F1D410E1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90687BE-A744-D08C-A652-B9557C22F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0" y="1449764"/>
            <a:ext cx="7590018" cy="28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1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7" y="156771"/>
            <a:ext cx="5827376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2DF0758A-1BAC-FEEC-8350-3EF5C21A96A7}"/>
              </a:ext>
            </a:extLst>
          </p:cNvPr>
          <p:cNvSpPr/>
          <p:nvPr/>
        </p:nvSpPr>
        <p:spPr>
          <a:xfrm>
            <a:off x="5764041" y="2755430"/>
            <a:ext cx="576303" cy="145997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36DA2F-F70E-EE99-1134-49C9A2101B6B}"/>
              </a:ext>
            </a:extLst>
          </p:cNvPr>
          <p:cNvSpPr txBox="1"/>
          <p:nvPr/>
        </p:nvSpPr>
        <p:spPr>
          <a:xfrm>
            <a:off x="6464495" y="2566819"/>
            <a:ext cx="1682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Données </a:t>
            </a:r>
          </a:p>
          <a:p>
            <a:r>
              <a:rPr lang="fr-FR" dirty="0"/>
              <a:t>présentes</a:t>
            </a:r>
          </a:p>
        </p:txBody>
      </p:sp>
      <p:sp>
        <p:nvSpPr>
          <p:cNvPr id="10" name="Accolade ouvrante 9">
            <a:extLst>
              <a:ext uri="{FF2B5EF4-FFF2-40B4-BE49-F238E27FC236}">
                <a16:creationId xmlns:a16="http://schemas.microsoft.com/office/drawing/2014/main" id="{35B1B99F-355E-5C95-DB93-9A1717399D11}"/>
              </a:ext>
            </a:extLst>
          </p:cNvPr>
          <p:cNvSpPr/>
          <p:nvPr/>
        </p:nvSpPr>
        <p:spPr>
          <a:xfrm>
            <a:off x="2254057" y="1121678"/>
            <a:ext cx="412303" cy="39367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43A2DE-290E-26D9-09C8-5200C7F973CC}"/>
              </a:ext>
            </a:extLst>
          </p:cNvPr>
          <p:cNvSpPr txBox="1"/>
          <p:nvPr/>
        </p:nvSpPr>
        <p:spPr>
          <a:xfrm>
            <a:off x="353224" y="2505264"/>
            <a:ext cx="1701050" cy="1169551"/>
          </a:xfrm>
          <a:prstGeom prst="rect">
            <a:avLst/>
          </a:prstGeom>
          <a:solidFill>
            <a:srgbClr val="FFFFFF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fr-FR"/>
              <a:t>Nos cinq </a:t>
            </a:r>
            <a:r>
              <a:rPr lang="fr-FR" dirty="0"/>
              <a:t>tables sont là, chacune avec ses colonnes détaillées dans le schéma relationnel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25472A-3CEE-45E0-95C6-2618BACC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360" y="1121677"/>
            <a:ext cx="2973530" cy="3936725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DDCCA10C-E139-C111-778D-6A03048C6029}"/>
              </a:ext>
            </a:extLst>
          </p:cNvPr>
          <p:cNvSpPr/>
          <p:nvPr/>
        </p:nvSpPr>
        <p:spPr>
          <a:xfrm>
            <a:off x="5455665" y="2755431"/>
            <a:ext cx="199785" cy="1459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BD2CAC66-5579-41ED-1AD7-F80B622B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>
            <a:extLst>
              <a:ext uri="{FF2B5EF4-FFF2-40B4-BE49-F238E27FC236}">
                <a16:creationId xmlns:a16="http://schemas.microsoft.com/office/drawing/2014/main" id="{3758A0BA-F21A-3EDC-21FC-47D4F439E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7" y="156771"/>
            <a:ext cx="5827376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>
            <a:extLst>
              <a:ext uri="{FF2B5EF4-FFF2-40B4-BE49-F238E27FC236}">
                <a16:creationId xmlns:a16="http://schemas.microsoft.com/office/drawing/2014/main" id="{18D26C2A-0B40-A3A1-A8F5-545590834B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F198C74-D7EE-8C76-A74D-581AEB7C5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7" y="1477387"/>
            <a:ext cx="4744112" cy="1543265"/>
          </a:xfrm>
          <a:prstGeom prst="rect">
            <a:avLst/>
          </a:prstGeom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00E12180-A474-18DD-A35C-F63826B525C3}"/>
              </a:ext>
            </a:extLst>
          </p:cNvPr>
          <p:cNvSpPr/>
          <p:nvPr/>
        </p:nvSpPr>
        <p:spPr>
          <a:xfrm rot="2703267">
            <a:off x="1465207" y="3211924"/>
            <a:ext cx="1313970" cy="699247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CE0D15-3491-574F-4338-53745091036F}"/>
              </a:ext>
            </a:extLst>
          </p:cNvPr>
          <p:cNvSpPr txBox="1"/>
          <p:nvPr/>
        </p:nvSpPr>
        <p:spPr>
          <a:xfrm>
            <a:off x="2950669" y="4119645"/>
            <a:ext cx="4049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Permet d’éviter les bugs liés aux « , » en les remplaçant par des « . »</a:t>
            </a:r>
          </a:p>
        </p:txBody>
      </p:sp>
    </p:spTree>
    <p:extLst>
      <p:ext uri="{BB962C8B-B14F-4D97-AF65-F5344CB8AC3E}">
        <p14:creationId xmlns:p14="http://schemas.microsoft.com/office/powerpoint/2010/main" val="293144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73639" y="295084"/>
            <a:ext cx="5135813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Les screenshot qui permettent de démontrer le bon chargement des données</a:t>
            </a:r>
            <a:endParaRPr sz="2400" b="0"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BA51FD1-D2E3-16B1-67DB-A650C3377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763" y="1705252"/>
            <a:ext cx="2561161" cy="2571636"/>
          </a:xfrm>
          <a:prstGeom prst="rect">
            <a:avLst/>
          </a:prstGeom>
        </p:spPr>
      </p:pic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71B68DE-B2D3-D537-0A44-8E166E6B2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153" y="1705252"/>
            <a:ext cx="4259481" cy="2512820"/>
          </a:xfrm>
          <a:prstGeom prst="rect">
            <a:avLst/>
          </a:prstGeom>
        </p:spPr>
      </p:pic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2FCEC58D-A4A0-8F04-50C0-A7F9B55E17CC}"/>
              </a:ext>
            </a:extLst>
          </p:cNvPr>
          <p:cNvSpPr/>
          <p:nvPr/>
        </p:nvSpPr>
        <p:spPr>
          <a:xfrm>
            <a:off x="1106501" y="1705252"/>
            <a:ext cx="345781" cy="15527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5C76368F-E461-F131-0815-CCC098D27966}"/>
              </a:ext>
            </a:extLst>
          </p:cNvPr>
          <p:cNvSpPr/>
          <p:nvPr/>
        </p:nvSpPr>
        <p:spPr>
          <a:xfrm>
            <a:off x="1115867" y="3335632"/>
            <a:ext cx="345781" cy="8824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CCC407-F04C-6B05-3F97-389F8CFD5EE5}"/>
              </a:ext>
            </a:extLst>
          </p:cNvPr>
          <p:cNvSpPr txBox="1"/>
          <p:nvPr/>
        </p:nvSpPr>
        <p:spPr>
          <a:xfrm>
            <a:off x="253897" y="1921008"/>
            <a:ext cx="728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Excel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D7A039-6C5E-AF15-D43F-93991D8C0F56}"/>
              </a:ext>
            </a:extLst>
          </p:cNvPr>
          <p:cNvSpPr txBox="1"/>
          <p:nvPr/>
        </p:nvSpPr>
        <p:spPr>
          <a:xfrm>
            <a:off x="161526" y="3582066"/>
            <a:ext cx="91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Base de données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8470BA4-CAB5-380E-EB91-76E398A2250E}"/>
              </a:ext>
            </a:extLst>
          </p:cNvPr>
          <p:cNvSpPr txBox="1"/>
          <p:nvPr/>
        </p:nvSpPr>
        <p:spPr>
          <a:xfrm>
            <a:off x="2346185" y="1272539"/>
            <a:ext cx="119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Vente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2A8353F-14E6-2399-A5B3-95B4A9EC4EDB}"/>
              </a:ext>
            </a:extLst>
          </p:cNvPr>
          <p:cNvSpPr txBox="1"/>
          <p:nvPr/>
        </p:nvSpPr>
        <p:spPr>
          <a:xfrm>
            <a:off x="5931021" y="1272539"/>
            <a:ext cx="113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Bien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38806" y="1826484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Nombre total d’appartements vendus au 1er semestre 2020.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E612FCA-14A9-1744-1499-BC3877C970A5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FC9382-B612-9C47-3124-F3A3D2752A81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Résultat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AF14F2-217E-AE6B-8678-26ADD777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13" y="2519904"/>
            <a:ext cx="4525006" cy="1590897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6AA034F-EFE0-9000-2958-EBC4B7F0D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325" y="2596856"/>
            <a:ext cx="198120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198BB46-61DD-EA7D-7FB1-1C1AC082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28334C1-207C-44CC-C106-8E22DFC3F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BC62750-69ED-1E5A-851E-64B1FF5BC2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11434F0-2027-CB00-0EA6-C46EB85EB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056534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nombre de ventes d’appartement par région pour le 1er semestre 2020.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B52796F-9490-C0AE-5D16-7B56E90BD4F3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27B997-0303-5BD8-4F28-BF27DBFB94D5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E6A057-DE9E-506E-D1A3-2C78BAE4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42" y="1848183"/>
            <a:ext cx="3463190" cy="2919080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EEA6185-E7B0-AB5A-A2EB-33250755F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967" y="2415351"/>
            <a:ext cx="36671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95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A734C4F-279B-63A9-1740-E40D719E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02BE4D4-9981-DDCB-A7CE-3BBE6128E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FC2E17D-A926-CA90-9658-FA7652BAE0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06146B11-464E-CAF4-53B4-ECF897284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des ventes d’appartements par le nombre de pièces.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B8B83F-B027-58B4-57A7-064B32585D99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B49296-1E67-3F38-1E96-30652E7F04C1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9A5E1F9-73A6-C4BA-0B7C-706B4869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39" y="1712466"/>
            <a:ext cx="2736758" cy="342954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0AE119-16B6-F038-9959-5A09372EE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577" y="1843591"/>
            <a:ext cx="3610479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0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A6122AB-A441-2781-E76E-2A9431B5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35AEF67-902D-82F4-8906-A57196708E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97ED708-205C-9A49-EB23-880DDBDCF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6D78AA3-5275-FA2C-CF8E-C7691A914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0585" y="1017748"/>
            <a:ext cx="60411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dirty="0"/>
              <a:t>Liste des 10 départements où le prix du mètre carré est le plus élevé.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7CB2D89-1AFF-32C9-B79D-5A25494C2D78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695A7F-8269-EC2B-D15E-7794569BE434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Résultat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97EE77-A7B4-6D37-7164-3B83214C6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733199"/>
            <a:ext cx="3734321" cy="309605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4382F0C-A828-1935-2483-EB5261A56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85814"/>
            <a:ext cx="23050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34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A69E535-4DAD-A829-43E1-BFD078C1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D7C577C-EB25-8679-4956-17D45E597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12CDB1A-1269-8BE8-8189-A0788FA71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495EC3F-F67F-0895-3AD3-CC9B27253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BEE5515-ABAE-454C-9CBC-DC0B8F26563D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DDD89C-0E7A-78D7-8997-250564C643B8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25D91C-6701-AAB7-FA9C-87504C1EC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862849"/>
            <a:ext cx="4177900" cy="301944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2E2BF1B-EA8B-C4CF-364F-0ECFFCCF4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607" y="2862914"/>
            <a:ext cx="2762636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27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F626DB3-B61F-512C-6C75-5D1E0FFB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51F67E3-FACB-0B70-A6E2-C12ED86D0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A70E3119-08CC-4B52-A672-F95EC3A28C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30D06CA-5ABF-C9A3-8558-106F7754F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7009354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appartements les plus chers avec la région et le nombre de mètres carrés.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A131012-2C42-7437-909B-18AC5AB9DEAE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E33B72-3EE2-8DF7-6977-936C991C3F27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72C29B-A4DF-C9E3-FED2-DE9EAC4E6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9" y="1769011"/>
            <a:ext cx="2692186" cy="3321069"/>
          </a:xfrm>
          <a:prstGeom prst="rect">
            <a:avLst/>
          </a:prstGeom>
        </p:spPr>
      </p:pic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50627A3-234A-AFB3-A555-77AE2E21E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130" y="2024063"/>
            <a:ext cx="37052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2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AC016ED-ED85-A5F5-4FCD-EDD8AFEE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4585D05-ADEE-5D80-C375-BAD7CC806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469A076-15ED-6EDC-DBC1-6E9174C5EB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5DC8BB3-6316-F73D-F7C1-2A270B23E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92483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Taux d’évolution du nombre de ventes entre le premier et le second trimestre de 2020.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6411E54-3222-C58B-CD64-E7BCFE9B2A69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1521F2-94FD-D60C-A735-64CC95614A13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C1BD93D-A639-36F6-6CCE-AF5C83A3C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275" y="2415881"/>
            <a:ext cx="3752850" cy="12382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4AFD0FA-B842-45C9-2298-755601AE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7" y="1760456"/>
            <a:ext cx="3150663" cy="328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78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AFE1C45-D1E1-A0C6-8D44-5A0F29ED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09AD72E-9D2A-7A78-F111-19DA95864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9ED53E72-CC0A-CF60-C29F-073F36A69C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CEEA35D9-F638-9681-66F2-143F54E20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947882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classement des régions par rapport au prix au mètre carré des appartement de plus de 4 pièces.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64B3C80-46B2-D687-112E-FF3EEDF6C8EE}"/>
              </a:ext>
            </a:extLst>
          </p:cNvPr>
          <p:cNvSpPr txBox="1"/>
          <p:nvPr/>
        </p:nvSpPr>
        <p:spPr>
          <a:xfrm>
            <a:off x="945136" y="1487881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DDBA678-BC56-C29D-5DFD-BA7F154F2ECA}"/>
              </a:ext>
            </a:extLst>
          </p:cNvPr>
          <p:cNvSpPr txBox="1"/>
          <p:nvPr/>
        </p:nvSpPr>
        <p:spPr>
          <a:xfrm>
            <a:off x="5216178" y="1487880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F5C79D-CC0F-825C-F1AD-D4D552DC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93" y="1929855"/>
            <a:ext cx="3405062" cy="30054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3CF9C4E-85F0-CF75-F98B-517604286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10679"/>
            <a:ext cx="235300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96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986EC36-1EF3-22A6-D3E7-ED50E2B4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CB0CDF9-29C6-8C61-A71F-B172D09052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0064E6C-9DE9-0307-9399-22AA667066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878AE9C-C142-5C3E-E06A-8F5C688A3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515738A-9027-E389-3125-EF066099EEC6}"/>
              </a:ext>
            </a:extLst>
          </p:cNvPr>
          <p:cNvSpPr txBox="1"/>
          <p:nvPr/>
        </p:nvSpPr>
        <p:spPr>
          <a:xfrm>
            <a:off x="952820" y="140617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412104-E172-7116-FCD4-8693F8F3AA5A}"/>
              </a:ext>
            </a:extLst>
          </p:cNvPr>
          <p:cNvSpPr txBox="1"/>
          <p:nvPr/>
        </p:nvSpPr>
        <p:spPr>
          <a:xfrm>
            <a:off x="5216178" y="1404689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D38DAC-0773-D19D-6391-64C23568D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833514"/>
            <a:ext cx="4124901" cy="3153215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2AFA01B-917D-4120-6EFA-7433F7C4A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2" y="1979920"/>
            <a:ext cx="37052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10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EDE35AC-03DC-DA54-8319-113C9A19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151B9A3-6DA6-8815-DD86-AA5863F2E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85EADD9-402B-87BE-B948-2F3B3763BB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4420CF3-FA92-FCA9-AB0C-11A54FC03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855674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Différence en pourcentage du prix au mètre carré entre un appartement de 2 pièces et un appartement de 3 pièces.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987AE28-26B3-2970-EAA8-58A727D1F90B}"/>
              </a:ext>
            </a:extLst>
          </p:cNvPr>
          <p:cNvSpPr txBox="1"/>
          <p:nvPr/>
        </p:nvSpPr>
        <p:spPr>
          <a:xfrm>
            <a:off x="952820" y="151866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E55BEF-C988-C691-1B49-B829B1AA7907}"/>
              </a:ext>
            </a:extLst>
          </p:cNvPr>
          <p:cNvSpPr txBox="1"/>
          <p:nvPr/>
        </p:nvSpPr>
        <p:spPr>
          <a:xfrm>
            <a:off x="5216178" y="1518668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45FDA9-74C1-A3A4-4CAC-97A2C83A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1" y="2047495"/>
            <a:ext cx="2399221" cy="28770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F94A1A7-DD99-C518-1507-6A6448180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868" y="2571750"/>
            <a:ext cx="3648584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2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D5CEFB2D-0F84-49AE-92E2-D9CF797F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8E7EF9A-ADBA-B23A-E9C0-037653228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7FC757B-9793-93F7-34F7-50DF73B09E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071365B9-954D-E23D-32AF-9EE762F84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579048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Les moyennes de valeurs foncières pour le top 3 des communes des départements 6, 13, 33, 59 et 69.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3AE5E5B-B903-AA12-B011-3EA2A0EFFB8A}"/>
              </a:ext>
            </a:extLst>
          </p:cNvPr>
          <p:cNvSpPr txBox="1"/>
          <p:nvPr/>
        </p:nvSpPr>
        <p:spPr>
          <a:xfrm>
            <a:off x="980993" y="1489370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D74A988-5BF1-A138-7786-BC899993DD2A}"/>
              </a:ext>
            </a:extLst>
          </p:cNvPr>
          <p:cNvSpPr txBox="1"/>
          <p:nvPr/>
        </p:nvSpPr>
        <p:spPr>
          <a:xfrm>
            <a:off x="5244351" y="1487881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57D24DE-5517-B957-BF76-E2E833189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62" y="1795658"/>
            <a:ext cx="2830932" cy="334784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AF6AB78-CA82-9406-25CC-47650FFF5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075" y="1842182"/>
            <a:ext cx="3187336" cy="309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45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EECCFE1-9E90-451F-3F83-0128F4BF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02A9EAF-EEF3-917A-DB96-071E0429E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7578E84-1F08-C964-2911-B6E3ADC4CF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A1C30EF6-C0C2-B665-084C-C420CB7B1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88641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Les 20 communes avec le plus de transactions pour 1000 habitants pour les communes qui dépassent les 10 000 habitants.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2941A3-D60D-6CAF-1D95-A45056CDE20E}"/>
              </a:ext>
            </a:extLst>
          </p:cNvPr>
          <p:cNvSpPr txBox="1"/>
          <p:nvPr/>
        </p:nvSpPr>
        <p:spPr>
          <a:xfrm>
            <a:off x="1180386" y="1505810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24C47F-BE9D-34E0-8FC2-0B4A8AB2FB47}"/>
              </a:ext>
            </a:extLst>
          </p:cNvPr>
          <p:cNvSpPr txBox="1"/>
          <p:nvPr/>
        </p:nvSpPr>
        <p:spPr>
          <a:xfrm>
            <a:off x="5443744" y="1504321"/>
            <a:ext cx="2387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1E7E55-FEFE-ADDC-4D13-B47C9C09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800762"/>
            <a:ext cx="4057057" cy="3024593"/>
          </a:xfrm>
          <a:prstGeom prst="rect">
            <a:avLst/>
          </a:prstGeom>
        </p:spPr>
      </p:pic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63D5990-D9CF-545D-8DF7-529E1D97F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384" y="1800762"/>
            <a:ext cx="3067537" cy="30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0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1285</Words>
  <Application>Microsoft Office PowerPoint</Application>
  <PresentationFormat>Affichage à l'écran (16:9)</PresentationFormat>
  <Paragraphs>176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Calibri</vt:lpstr>
      <vt:lpstr>Arial Black</vt:lpstr>
      <vt:lpstr>Arial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 (Valeurs foncières)</vt:lpstr>
      <vt:lpstr>L’extrait du dictionnaire des données (Réf géographique)</vt:lpstr>
      <vt:lpstr>L’extrait du dictionnaire des données (Données communes)</vt:lpstr>
      <vt:lpstr>Le schéma relationnel normalisé</vt:lpstr>
      <vt:lpstr>Création du code avec SQL power architect</vt:lpstr>
      <vt:lpstr>Création des tables excel correspondant aux tables SQL</vt:lpstr>
      <vt:lpstr>Création des tables excel correspondant aux tables SQL</vt:lpstr>
      <vt:lpstr>La base de données avec les tables créées et les données chargées</vt:lpstr>
      <vt:lpstr>La base de données avec les tables créées et les données chargées</vt:lpstr>
      <vt:lpstr>Les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evan</dc:creator>
  <cp:lastModifiedBy>evan fol</cp:lastModifiedBy>
  <cp:revision>21</cp:revision>
  <dcterms:modified xsi:type="dcterms:W3CDTF">2025-10-23T10:03:25Z</dcterms:modified>
</cp:coreProperties>
</file>