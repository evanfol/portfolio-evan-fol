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8" r:id="rId7"/>
    <p:sldId id="269" r:id="rId8"/>
    <p:sldId id="270" r:id="rId9"/>
    <p:sldId id="271" r:id="rId10"/>
    <p:sldId id="272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6571" autoAdjust="0"/>
  </p:normalViewPr>
  <p:slideViewPr>
    <p:cSldViewPr snapToGrid="0">
      <p:cViewPr varScale="1">
        <p:scale>
          <a:sx n="85" d="100"/>
          <a:sy n="85" d="100"/>
        </p:scale>
        <p:origin x="1512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2CF403-743E-4FEE-A2FC-1A6E712E566B}" type="datetimeFigureOut">
              <a:rPr lang="fr-FR" smtClean="0"/>
              <a:t>27/08/2025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41AFCF-F1A8-480F-BED0-9F68990DDCEB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60503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1. CONTRAT.CSV (orange)</a:t>
            </a:r>
          </a:p>
          <a:p>
            <a:r>
              <a:rPr lang="fr-FR" dirty="0"/>
              <a:t>Contient les informations liées aux contrats d’assurance logement.</a:t>
            </a:r>
          </a:p>
          <a:p>
            <a:r>
              <a:rPr lang="fr-FR" b="1" dirty="0"/>
              <a:t>Clé primaire</a:t>
            </a:r>
            <a:r>
              <a:rPr lang="fr-FR" dirty="0"/>
              <a:t> : Contrat_ID → identifiant unique de chaque contrat.</a:t>
            </a:r>
          </a:p>
          <a:p>
            <a:r>
              <a:rPr lang="fr-FR" b="1" dirty="0"/>
              <a:t>Clé secondaire</a:t>
            </a:r>
            <a:r>
              <a:rPr lang="fr-FR" dirty="0"/>
              <a:t> : Code_dep_code_commune → permet de relier le contrat à une commune précise.</a:t>
            </a:r>
          </a:p>
          <a:p>
            <a:r>
              <a:rPr lang="fr-FR" dirty="0"/>
              <a:t>Autres infos :</a:t>
            </a:r>
          </a:p>
          <a:p>
            <a:pPr lvl="1"/>
            <a:r>
              <a:rPr lang="fr-FR" dirty="0"/>
              <a:t>Adresse (No_voie, Type_de_voie, Voie, Code_postal)</a:t>
            </a:r>
          </a:p>
          <a:p>
            <a:pPr lvl="1"/>
            <a:r>
              <a:rPr lang="fr-FR" dirty="0"/>
              <a:t>Caractéristiques du logement (Surface, Type_local, Occupation)</a:t>
            </a:r>
          </a:p>
          <a:p>
            <a:pPr lvl="1"/>
            <a:r>
              <a:rPr lang="fr-FR" dirty="0"/>
              <a:t>Détails du contrat (Type_contrat, Formule, Valeur_declaree_biens)</a:t>
            </a:r>
          </a:p>
          <a:p>
            <a:pPr lvl="1"/>
            <a:r>
              <a:rPr lang="fr-FR" dirty="0"/>
              <a:t>Montant du contrat (Prix_cotisation_mensuel)</a:t>
            </a:r>
          </a:p>
          <a:p>
            <a:r>
              <a:rPr lang="fr-FR" b="1" dirty="0"/>
              <a:t>2. REGION.CSV (vert)</a:t>
            </a:r>
          </a:p>
          <a:p>
            <a:r>
              <a:rPr lang="fr-FR" dirty="0"/>
              <a:t>Contient les informations géographiques associées aux communes.</a:t>
            </a:r>
          </a:p>
          <a:p>
            <a:r>
              <a:rPr lang="fr-FR" b="1" dirty="0"/>
              <a:t>Clé primaire</a:t>
            </a:r>
            <a:r>
              <a:rPr lang="fr-FR" dirty="0"/>
              <a:t> : Code_dep_code_commune → identifiant unique pour rattacher les contrats.</a:t>
            </a:r>
          </a:p>
          <a:p>
            <a:r>
              <a:rPr lang="fr-FR" dirty="0"/>
              <a:t>Autres infos :</a:t>
            </a:r>
          </a:p>
          <a:p>
            <a:pPr lvl="1"/>
            <a:r>
              <a:rPr lang="fr-FR" dirty="0"/>
              <a:t>Région (reg_code, reg_nom)</a:t>
            </a:r>
          </a:p>
          <a:p>
            <a:pPr lvl="1"/>
            <a:r>
              <a:rPr lang="fr-FR" dirty="0"/>
              <a:t>Académie (aca_nom)</a:t>
            </a:r>
          </a:p>
          <a:p>
            <a:pPr lvl="1"/>
            <a:r>
              <a:rPr lang="fr-FR" dirty="0"/>
              <a:t>Département (dep_nom, dep_code)</a:t>
            </a:r>
          </a:p>
          <a:p>
            <a:pPr lvl="1"/>
            <a:r>
              <a:rPr lang="fr-FR" dirty="0"/>
              <a:t>Commune (com_nom_maj_court)</a:t>
            </a:r>
          </a:p>
          <a:p>
            <a:r>
              <a:rPr lang="fr-FR" b="1" dirty="0"/>
              <a:t>3. Relation entre les deux fichiers</a:t>
            </a:r>
          </a:p>
          <a:p>
            <a:r>
              <a:rPr lang="fr-FR" dirty="0"/>
              <a:t>La colonne </a:t>
            </a:r>
            <a:r>
              <a:rPr lang="fr-FR" b="1" dirty="0"/>
              <a:t>Code_dep_code_commune</a:t>
            </a:r>
            <a:r>
              <a:rPr lang="fr-FR" dirty="0"/>
              <a:t> est la clé de jointure entre les deux CSV.</a:t>
            </a:r>
          </a:p>
          <a:p>
            <a:r>
              <a:rPr lang="fr-FR" dirty="0"/>
              <a:t>Elle permet de relier un </a:t>
            </a:r>
            <a:r>
              <a:rPr lang="fr-FR" b="1" dirty="0"/>
              <a:t>contrat d’assurance</a:t>
            </a:r>
            <a:r>
              <a:rPr lang="fr-FR" dirty="0"/>
              <a:t> à sa </a:t>
            </a:r>
            <a:r>
              <a:rPr lang="fr-FR" b="1" dirty="0"/>
              <a:t>localisation géographique (région/département/commune)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41AFCF-F1A8-480F-BED0-9F68990DDCEB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88526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1. Table Contrat (à gauche)</a:t>
            </a:r>
          </a:p>
          <a:p>
            <a:r>
              <a:rPr lang="fr-FR" dirty="0"/>
              <a:t>Identifiant unique Contrat_ID (clé primaire).</a:t>
            </a:r>
          </a:p>
          <a:p>
            <a:r>
              <a:rPr lang="fr-FR" dirty="0"/>
              <a:t>Contient les infos sur le contrat d’assurance : adresse, logement, type de contrat, formule, valeur des biens, prix de cotisation…</a:t>
            </a:r>
          </a:p>
          <a:p>
            <a:r>
              <a:rPr lang="fr-FR" dirty="0"/>
              <a:t>Colonne clé étrangère : </a:t>
            </a:r>
            <a:r>
              <a:rPr lang="fr-FR" b="1" dirty="0"/>
              <a:t>Code_dep_code_commune</a:t>
            </a:r>
            <a:r>
              <a:rPr lang="fr-FR" dirty="0"/>
              <a:t>.</a:t>
            </a:r>
          </a:p>
          <a:p>
            <a:r>
              <a:rPr lang="fr-FR" b="1" dirty="0"/>
              <a:t>2. Table Region (à droite)</a:t>
            </a:r>
          </a:p>
          <a:p>
            <a:r>
              <a:rPr lang="fr-FR" dirty="0"/>
              <a:t>Identifiant unique Code_dep_code_commune (clé primaire).</a:t>
            </a:r>
          </a:p>
          <a:p>
            <a:r>
              <a:rPr lang="fr-FR" dirty="0"/>
              <a:t>Contient les infos géographiques : région, académie, département, commune.</a:t>
            </a:r>
          </a:p>
          <a:p>
            <a:r>
              <a:rPr lang="fr-FR" b="1" dirty="0"/>
              <a:t>3. Relation entre les deux tables</a:t>
            </a:r>
          </a:p>
          <a:p>
            <a:r>
              <a:rPr lang="fr-FR" dirty="0"/>
              <a:t>Le champ </a:t>
            </a:r>
            <a:r>
              <a:rPr lang="fr-FR" b="1" dirty="0"/>
              <a:t>Code_dep_code_commune</a:t>
            </a:r>
            <a:r>
              <a:rPr lang="fr-FR" dirty="0"/>
              <a:t> fait le lien :</a:t>
            </a:r>
          </a:p>
          <a:p>
            <a:pPr lvl="1"/>
            <a:r>
              <a:rPr lang="fr-FR" dirty="0"/>
              <a:t>Dans </a:t>
            </a:r>
            <a:r>
              <a:rPr lang="fr-FR" i="1" dirty="0"/>
              <a:t>Contrat</a:t>
            </a:r>
            <a:r>
              <a:rPr lang="fr-FR" dirty="0"/>
              <a:t>, c’est une </a:t>
            </a:r>
            <a:r>
              <a:rPr lang="fr-FR" b="1" dirty="0"/>
              <a:t>clé étrangère (FK)</a:t>
            </a:r>
            <a:r>
              <a:rPr lang="fr-FR" dirty="0"/>
              <a:t>.</a:t>
            </a:r>
          </a:p>
          <a:p>
            <a:pPr lvl="1"/>
            <a:r>
              <a:rPr lang="fr-FR" dirty="0"/>
              <a:t>Dans </a:t>
            </a:r>
            <a:r>
              <a:rPr lang="fr-FR" i="1" dirty="0"/>
              <a:t>Region</a:t>
            </a:r>
            <a:r>
              <a:rPr lang="fr-FR" dirty="0"/>
              <a:t>, c’est une </a:t>
            </a:r>
            <a:r>
              <a:rPr lang="fr-FR" b="1" dirty="0"/>
              <a:t>clé primaire (PK)</a:t>
            </a:r>
            <a:r>
              <a:rPr lang="fr-FR" dirty="0"/>
              <a:t>.</a:t>
            </a:r>
          </a:p>
          <a:p>
            <a:r>
              <a:rPr lang="fr-FR" dirty="0"/>
              <a:t>Ce lien permet d’associer chaque contrat à sa localisation géographique précise.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41AFCF-F1A8-480F-BED0-9F68990DDCEB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016301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074BF-8895-A248-733D-6FF9FF95E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8F32ECD-7A24-9D0A-B6BC-7DAC38C800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A93539D-5CDA-C71B-2728-EC7EB091A8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2- J’ai localisé l’erreur grâce au message d’erreur donné par SQLite</a:t>
            </a:r>
          </a:p>
          <a:p>
            <a:r>
              <a:rPr lang="fr-FR" dirty="0"/>
              <a:t>3- Sachant que le souci venait de la FK j’ai copié dans un tableur les deux colonnes afin de les comparer et voir les lignes qui posaient problème.</a:t>
            </a:r>
          </a:p>
          <a:p>
            <a:r>
              <a:rPr lang="fr-FR" dirty="0"/>
              <a:t>4- Ici la formule m’a permis de tester si la valeur de la FK existait dans la PK de Region.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91264FA-823D-942D-753D-815D203751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41AFCF-F1A8-480F-BED0-9F68990DDCEB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7779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83A29-1479-EFC3-CEA4-1D4153C99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9B759F8-10CE-6736-D081-AA7E206697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A4B7D1F-48C2-9EB9-537F-CB1C19E5E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6- Le code Insee est le code donné aux communes en fonction de sa géographie, il est différent du code postal et est unique pour chaque commune</a:t>
            </a:r>
          </a:p>
          <a:p>
            <a:r>
              <a:rPr lang="fr-FR" dirty="0"/>
              <a:t>7- On voit que pour une des lignes incorrect, l’adresse se situe à saint </a:t>
            </a:r>
            <a:r>
              <a:rPr lang="fr-FR" dirty="0" err="1"/>
              <a:t>paul</a:t>
            </a:r>
            <a:endParaRPr lang="fr-FR" dirty="0"/>
          </a:p>
          <a:p>
            <a:r>
              <a:rPr lang="fr-FR" dirty="0"/>
              <a:t>8- En recherchant st Paul dans Region on retrouve le code INSEE correct que l’on vient remplacer dans contrat et on le fait pour chaque ligne avec ce soucis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35DFA8D-88DB-6B99-E8AA-5528D2663B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41AFCF-F1A8-480F-BED0-9F68990DDCEB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04438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ABFA0-27D0-8872-9777-B044A0A8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B1ACB26-384D-3CEC-9979-CD298E34D1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2F8D74E-04B9-D7F5-D35B-4054FB9273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2- On utilise le code fourni avec SQL Power Architect ou on peut le rédiger soit même.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4A5445A-7CC1-07D9-08E1-C71E4F3CB5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41AFCF-F1A8-480F-BED0-9F68990DDCEB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387515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265B6-B411-5F22-D07B-9FFA53F63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887CDCC-0602-0712-CD77-486F48F01C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0EA19C9-9C3B-B079-902C-778DFC705D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Requête 1 :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Lister les numéros de contrats (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contrat_ID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avec leur surface pour la commune de Caen.</a:t>
            </a:r>
          </a:p>
          <a:p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Requête 2 :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Lister les numéros de contrats avec le type de contrat et leur formule pour les maisons du département 71.</a:t>
            </a:r>
          </a:p>
          <a:p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Requête 3 :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Lister le nom des régions de France.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Requête 4 :</a:t>
            </a:r>
            <a:r>
              <a:rPr lang="fr-FR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Quels sont les 5 contrats qui ont les surfaces les plus élevées 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69EE0F6-F078-68DD-AB81-5B5256A8B2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41AFCF-F1A8-480F-BED0-9F68990DDCEB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943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4409A-94BE-18CE-F182-F0E39488C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DC7400D-EFAB-8C9D-5CE3-17DBA49DA8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93E9F42-A8CD-DF4C-8CE9-C0759EFA1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Requête 5 :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Quel est le prix moyen de la cotisation mensuelle ?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Requête 6 :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Quel est le nombre de contrats pour chaque catégorie de prix de la valeur déclarée des biens ?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0CF552-FF4D-86AD-81C4-EE21AE579B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41AFCF-F1A8-480F-BED0-9F68990DDCEB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404935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D6176-4D4E-E6B5-B64B-B7CE39F11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662FC90-FD8C-53CC-B28C-A8BF87ADFE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DEE8EF0-883B-4F9B-B740-CCA01463B0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Requête 7 :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Quel est le nombre de formules “</a:t>
            </a:r>
            <a:r>
              <a:rPr lang="fr-F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integral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 sur la région Pays de la Loire 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Requête 8 :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Lister les numéros de contrats avec le type de contrat et leur formule pour les maisons du département 71.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E77CB10-B6A4-90A9-C2A8-675C7E89C1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41AFCF-F1A8-480F-BED0-9F68990DDCEB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99175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8FF09-BF8B-D25D-51D3-6730D6AB7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9B4A35E-5561-01D7-2B53-2E82F971B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16ABBE2-0877-2F35-9C6B-55ABA47FB8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Requête 9 :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Quelle est la surface moyenne des contrats à Paris 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Requête 10 :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Classement des 10 départements où le prix moyen de la cotisation est le plus élevé. 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E022CC7-30EE-5B9B-E1B5-E0679A1F04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41AFCF-F1A8-480F-BED0-9F68990DDCEB}" type="slidenum">
              <a:rPr lang="fr-FR" smtClean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41534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09355-AAA5-C396-D0E2-D65E058C6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30CF6A3-BD4F-CD22-00C8-DF07F8A754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F7FED87-991C-1A00-4C06-6406FE8F0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Requête 11 :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Liste des communes ayant eu au moins 150 contrats.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Requête 12 :</a:t>
            </a:r>
            <a:r>
              <a:rPr lang="fr-F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Quel est le nombre de contrats pour chaque région ?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09D1221-7586-612F-7E58-7BC38E5492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41AFCF-F1A8-480F-BED0-9F68990DDCEB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68841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D3E9FF-F83A-555B-143F-8F6902CAEB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26308D3-2728-D4C3-C5DE-3480F96AB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B31B4F-5182-80C9-42B8-C3E10AA67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AEBD-AA19-4458-981A-7A38F1A80347}" type="datetimeFigureOut">
              <a:rPr lang="fr-FR" smtClean="0"/>
              <a:t>27/08/2025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BDF27EE-FD07-C303-D7A3-E0449B5CF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C3E1ACE-1C8A-35E0-2CF2-4A3AE4F56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0552A-29DD-46F0-B9C0-0816E12EA43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81534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7684B3-36CF-9B71-D2BD-8E492A16B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0DC5D7C-5A98-5A7A-7AF1-77D310F08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AF47CB-1B8A-2B2E-884E-BA3D7975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AEBD-AA19-4458-981A-7A38F1A80347}" type="datetimeFigureOut">
              <a:rPr lang="fr-FR" smtClean="0"/>
              <a:t>27/08/2025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6091571-B902-46D8-DD5D-BC49E53D7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9B32B4D-C46C-8B3D-D13E-2151D980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0552A-29DD-46F0-B9C0-0816E12EA43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35287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E5476D-DBEA-41D7-ABF1-1D627DCED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F20E779-8337-B8C9-1B20-B6C51AD66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9F8806A-964A-06C4-DB27-D5071ED1E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AEBD-AA19-4458-981A-7A38F1A80347}" type="datetimeFigureOut">
              <a:rPr lang="fr-FR" smtClean="0"/>
              <a:t>27/08/2025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628234-EF43-94FD-E5DC-26E074EF1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F3B5EB-0449-FB6D-DBBF-12897BD28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0552A-29DD-46F0-B9C0-0816E12EA43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38899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4A2334-564F-87D6-9A96-8A7C02D60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9AEF043-A9AE-E44C-F941-F644822581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A0FEBB6-392C-6863-3B66-6342E2582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DAA95FE-97B3-6661-2A20-D500CDD83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AEBD-AA19-4458-981A-7A38F1A80347}" type="datetimeFigureOut">
              <a:rPr lang="fr-FR" smtClean="0"/>
              <a:t>27/08/2025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243F690-C4B8-D727-7A45-13C48CA58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8DFC7E1-427C-56AF-F345-A66A177DA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0552A-29DD-46F0-B9C0-0816E12EA43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09196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5D09DB-5841-BDDD-6425-CF8107713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9FAB62F-3D8E-760A-44BD-2658D6E46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9E7C771-24D1-8B5A-36FC-DC99980A27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C8360A0-31EA-16BE-8A68-3B2970AA81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CF3B773-6029-565C-2A06-649746B3DD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A838D4B-1CDE-A4BE-2E00-4D0AA7324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AEBD-AA19-4458-981A-7A38F1A80347}" type="datetimeFigureOut">
              <a:rPr lang="fr-FR" smtClean="0"/>
              <a:t>27/08/2025</a:t>
            </a:fld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F330EC2-6449-3A69-8321-33E930BC7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DDA0FB2-D1C5-BF3F-6DB7-DDCEEFB5B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0552A-29DD-46F0-B9C0-0816E12EA43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1057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E65244-64FE-9452-9ACC-06D07CD56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14D95D8-7B64-2E42-93E6-BC0AC4424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AEBD-AA19-4458-981A-7A38F1A80347}" type="datetimeFigureOut">
              <a:rPr lang="fr-FR" smtClean="0"/>
              <a:t>27/08/2025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80962EC-9729-D2FD-7205-E522D5D86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39B56C-6FE0-099E-4FDD-5C7481604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0552A-29DD-46F0-B9C0-0816E12EA43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14083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C80191A-8731-F58E-BBE8-9B62789FB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AEBD-AA19-4458-981A-7A38F1A80347}" type="datetimeFigureOut">
              <a:rPr lang="fr-FR" smtClean="0"/>
              <a:t>27/08/2025</a:t>
            </a:fld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1F8008E-B801-8646-17E5-703902B72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82DFDA-B559-4E40-7168-C6892049D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0552A-29DD-46F0-B9C0-0816E12EA43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95004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6320A1-4E70-05D1-0E86-569AEA71C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97D2B00-287D-0D1D-2C2B-7098BDDAB5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3BD49FB-2639-5AE7-357F-B2B7B6F20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9C37DCF-DE21-E4AB-1709-34E6FD9DD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AEBD-AA19-4458-981A-7A38F1A80347}" type="datetimeFigureOut">
              <a:rPr lang="fr-FR" smtClean="0"/>
              <a:t>27/08/2025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8DB2A09-4DEA-7B5D-6505-160D6FFE5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D49D59E-8F47-3377-AFF5-B58386F21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0552A-29DD-46F0-B9C0-0816E12EA43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44954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18FCF7-56CC-2FC5-82BD-7087D662A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FBDE4B6-87C9-2A0A-C720-24EBB4CA7B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79F818E-CD88-E6BC-6F7D-6FF6FC383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955CC3E-AC39-E430-D84E-A8B9ABD4D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AEBD-AA19-4458-981A-7A38F1A80347}" type="datetimeFigureOut">
              <a:rPr lang="fr-FR" smtClean="0"/>
              <a:t>27/08/2025</a:t>
            </a:fld>
            <a:endParaRPr lang="fr-FR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571089B-7C24-E757-E68A-745846FD7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6080BB7-5C50-F992-DFFF-8E8C8AC17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0552A-29DD-46F0-B9C0-0816E12EA43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2571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18B56A-7AAB-B310-055E-97E5C7E3E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85DFE2A-0718-C9D0-4DCA-67E36DD97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60BCC41-B3B5-4227-5B3F-37072B6B7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AEBD-AA19-4458-981A-7A38F1A80347}" type="datetimeFigureOut">
              <a:rPr lang="fr-FR" smtClean="0"/>
              <a:t>27/08/2025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0ABBAD-852E-E967-9011-E40AC207C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D157B49-9E47-57C1-8A0A-792472FAE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0552A-29DD-46F0-B9C0-0816E12EA43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7774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A287566-F024-4079-A08E-EB3C728528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6D71DEB-C526-0FC5-4AFF-153651F5E9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D441B2-37F2-9EBF-FE84-0A2477CCA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AEBD-AA19-4458-981A-7A38F1A80347}" type="datetimeFigureOut">
              <a:rPr lang="fr-FR" smtClean="0"/>
              <a:t>27/08/2025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3ECEB9-D9F2-A08F-B931-337B738F9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2C6EB39-248B-2318-E390-C260BBCEF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50552A-29DD-46F0-B9C0-0816E12EA43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8888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529C4C5-887F-798C-A3E6-3A600071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F8CB76D-AEBD-B6D1-1B31-B03EA32C6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DE6788-12AB-9357-D1C3-F3E743EAD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AEAEBD-AA19-4458-981A-7A38F1A80347}" type="datetimeFigureOut">
              <a:rPr lang="fr-FR" smtClean="0"/>
              <a:t>27/08/2025</a:t>
            </a:fld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46E773-EB4A-DBB5-4E98-AEAB2E4205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E0F52D-221E-6227-9E6B-3E64EA8209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50552A-29DD-46F0-B9C0-0816E12EA433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01708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62297AD-FED3-0B34-FEC1-8F8ED7D63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Complétion dictionnaire de données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5916A444-873B-B1FB-0686-BE5FB4C03F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21519" y="1966293"/>
            <a:ext cx="9948961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787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4A9FB9-871D-3D9A-AF38-9BFEF74BE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A6D3D22-1031-7884-40BE-5C8D1F78A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Schéma relationnel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573FC43E-D9A9-BBD9-66DF-A765BDD7CF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982879"/>
            <a:ext cx="10515600" cy="40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762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06F7D0-CDE4-F38F-DFD4-017D0A53D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00D9F54-FB28-9E9F-A425-1CA789DF2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Nettoyage des données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952A236-1779-29D0-01C5-24C9BC75C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1- Erreur lors du chargement de ma BDD</a:t>
            </a:r>
          </a:p>
          <a:p>
            <a:r>
              <a:rPr lang="fr-FR" dirty="0"/>
              <a:t>2- Localisation de l’erreur au niveau de la FK</a:t>
            </a:r>
          </a:p>
          <a:p>
            <a:r>
              <a:rPr lang="fr-FR" dirty="0"/>
              <a:t>3- Copie des deux lignes (Code_dep_code_commune) de Contrat et Région dans un nouveau tableur Excel</a:t>
            </a:r>
          </a:p>
          <a:p>
            <a:r>
              <a:rPr lang="fr-FR" dirty="0"/>
              <a:t>4- Utilisation d’une formule pour tester les valeurs en question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0AD4F55-C27D-AE68-DCF1-960BF776E5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9838" y="4355986"/>
            <a:ext cx="4472324" cy="199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331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6BD558-4D24-3020-0215-725A0AC9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A1DC2F1-32AB-A31F-B269-0728410B5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dirty="0">
                <a:solidFill>
                  <a:srgbClr val="FFFFFF"/>
                </a:solidFill>
              </a:rPr>
              <a:t>Nettoyage des données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C5DA72A-2ACF-25FD-A494-CEF033AB2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5- Repérage des valeurs problématiques</a:t>
            </a:r>
          </a:p>
          <a:p>
            <a:endParaRPr lang="fr-FR" dirty="0"/>
          </a:p>
          <a:p>
            <a:r>
              <a:rPr lang="fr-FR" dirty="0"/>
              <a:t>6- Sur ces lignes ce n’est pas le code Insee</a:t>
            </a:r>
            <a:br>
              <a:rPr lang="fr-FR" dirty="0"/>
            </a:br>
            <a:r>
              <a:rPr lang="fr-FR" dirty="0"/>
              <a:t>mais le code postal</a:t>
            </a:r>
          </a:p>
          <a:p>
            <a:r>
              <a:rPr lang="fr-FR" dirty="0"/>
              <a:t>7- Adresse contrat =&gt; à St Paul à la réunion</a:t>
            </a:r>
          </a:p>
          <a:p>
            <a:r>
              <a:rPr lang="fr-FR" dirty="0"/>
              <a:t>8- Dans Region Code_dep_code_commune =&gt;</a:t>
            </a:r>
          </a:p>
          <a:p>
            <a:r>
              <a:rPr lang="fr-FR" dirty="0"/>
              <a:t>9- On corrige nos données par le bon code</a:t>
            </a:r>
          </a:p>
          <a:p>
            <a:r>
              <a:rPr lang="fr-FR" dirty="0"/>
              <a:t>10- Voilà nos données sont prêtes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60D35DC-CBA1-B724-D9B6-E20517428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266" y="1823979"/>
            <a:ext cx="3004290" cy="2113065"/>
          </a:xfrm>
          <a:prstGeom prst="rect">
            <a:avLst/>
          </a:prstGeom>
        </p:spPr>
      </p:pic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F0CD7A6F-5266-0AA7-27BB-5C39DE3A5D23}"/>
              </a:ext>
            </a:extLst>
          </p:cNvPr>
          <p:cNvSpPr/>
          <p:nvPr/>
        </p:nvSpPr>
        <p:spPr>
          <a:xfrm rot="1347059">
            <a:off x="6518123" y="2319567"/>
            <a:ext cx="1183341" cy="55939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E962366F-48CF-E640-5F41-40ECC01B53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7896" y="4389217"/>
            <a:ext cx="2543530" cy="209579"/>
          </a:xfrm>
          <a:prstGeom prst="rect">
            <a:avLst/>
          </a:prstGeom>
        </p:spPr>
      </p:pic>
      <p:sp>
        <p:nvSpPr>
          <p:cNvPr id="20" name="Accolade ouvrante 19">
            <a:extLst>
              <a:ext uri="{FF2B5EF4-FFF2-40B4-BE49-F238E27FC236}">
                <a16:creationId xmlns:a16="http://schemas.microsoft.com/office/drawing/2014/main" id="{F2CB6B22-8A25-5434-E97B-A649D69E9880}"/>
              </a:ext>
            </a:extLst>
          </p:cNvPr>
          <p:cNvSpPr/>
          <p:nvPr/>
        </p:nvSpPr>
        <p:spPr>
          <a:xfrm>
            <a:off x="7706229" y="1823979"/>
            <a:ext cx="214818" cy="202725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46719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B74A96-99CF-CAD1-3EB8-789C2350C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5418BB2-0736-A09C-2966-1C6903F9F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Chargement Base de Données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E7BF6D5-07A3-231C-0D03-91B746E98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1- Création BDD vide ouvrir avec SQLite</a:t>
            </a:r>
          </a:p>
          <a:p>
            <a:r>
              <a:rPr lang="fr-FR" dirty="0"/>
              <a:t>2- Editeur création table Region</a:t>
            </a:r>
          </a:p>
          <a:p>
            <a:r>
              <a:rPr lang="fr-FR" dirty="0"/>
              <a:t>3- Création table Contrat</a:t>
            </a:r>
          </a:p>
          <a:p>
            <a:r>
              <a:rPr lang="fr-FR" dirty="0"/>
              <a:t>4- Clic droit table Region et import des données</a:t>
            </a:r>
          </a:p>
          <a:p>
            <a:r>
              <a:rPr lang="fr-FR" dirty="0"/>
              <a:t>5- Même chose pour Contrat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8F3B5817-6484-574A-DFBB-58CF05DD6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1380" y="3930734"/>
            <a:ext cx="2514951" cy="2495898"/>
          </a:xfrm>
          <a:prstGeom prst="rect">
            <a:avLst/>
          </a:prstGeom>
        </p:spPr>
      </p:pic>
      <p:sp>
        <p:nvSpPr>
          <p:cNvPr id="22" name="Flèche : droite 21">
            <a:extLst>
              <a:ext uri="{FF2B5EF4-FFF2-40B4-BE49-F238E27FC236}">
                <a16:creationId xmlns:a16="http://schemas.microsoft.com/office/drawing/2014/main" id="{777E63B5-16E3-FF5C-71D1-96F68F2B18CA}"/>
              </a:ext>
            </a:extLst>
          </p:cNvPr>
          <p:cNvSpPr/>
          <p:nvPr/>
        </p:nvSpPr>
        <p:spPr>
          <a:xfrm>
            <a:off x="4593515" y="4970033"/>
            <a:ext cx="1687091" cy="7960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2C9B323-B9C9-88B1-E204-2FE7FEEBB279}"/>
              </a:ext>
            </a:extLst>
          </p:cNvPr>
          <p:cNvSpPr txBox="1"/>
          <p:nvPr/>
        </p:nvSpPr>
        <p:spPr>
          <a:xfrm>
            <a:off x="1638980" y="5067941"/>
            <a:ext cx="25925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/>
              <a:t>Architecture crée avec données importées</a:t>
            </a:r>
          </a:p>
          <a:p>
            <a:pPr algn="ctr"/>
            <a:endParaRPr lang="fr-FR" b="1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8962D3E-3B5C-CDF1-8554-843362FCF4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2793" y="1988226"/>
            <a:ext cx="1381318" cy="35247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2851009-9D74-B08C-6CB3-18C13E14EB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2793" y="2651212"/>
            <a:ext cx="1390844" cy="43821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E617386-D8B7-A36D-41E5-35F457C4EE5C}"/>
              </a:ext>
            </a:extLst>
          </p:cNvPr>
          <p:cNvSpPr/>
          <p:nvPr/>
        </p:nvSpPr>
        <p:spPr>
          <a:xfrm>
            <a:off x="9670923" y="1823979"/>
            <a:ext cx="2018626" cy="1575957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 : bas 11">
            <a:extLst>
              <a:ext uri="{FF2B5EF4-FFF2-40B4-BE49-F238E27FC236}">
                <a16:creationId xmlns:a16="http://schemas.microsoft.com/office/drawing/2014/main" id="{522770B8-4C8F-6FCD-B84D-E64CFE6DA6E8}"/>
              </a:ext>
            </a:extLst>
          </p:cNvPr>
          <p:cNvSpPr/>
          <p:nvPr/>
        </p:nvSpPr>
        <p:spPr>
          <a:xfrm>
            <a:off x="10509956" y="3556000"/>
            <a:ext cx="304800" cy="67116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77D350C-BC35-8E1E-87F1-D84B15CA643C}"/>
              </a:ext>
            </a:extLst>
          </p:cNvPr>
          <p:cNvSpPr txBox="1"/>
          <p:nvPr/>
        </p:nvSpPr>
        <p:spPr>
          <a:xfrm>
            <a:off x="9670922" y="4227169"/>
            <a:ext cx="2235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Final après import</a:t>
            </a:r>
          </a:p>
          <a:p>
            <a:pPr algn="ctr"/>
            <a:r>
              <a:rPr lang="fr-FR" dirty="0"/>
              <a:t>1 = Contrat</a:t>
            </a:r>
            <a:br>
              <a:rPr lang="fr-FR" dirty="0"/>
            </a:br>
            <a:r>
              <a:rPr lang="fr-FR" dirty="0"/>
              <a:t>2= Region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5FE6C13-BE35-97E2-21D4-17045CFBF370}"/>
              </a:ext>
            </a:extLst>
          </p:cNvPr>
          <p:cNvSpPr txBox="1"/>
          <p:nvPr/>
        </p:nvSpPr>
        <p:spPr>
          <a:xfrm>
            <a:off x="9727044" y="2052930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8CAF7F5-47C9-BBE8-D8BD-C50258289FB5}"/>
              </a:ext>
            </a:extLst>
          </p:cNvPr>
          <p:cNvSpPr txBox="1"/>
          <p:nvPr/>
        </p:nvSpPr>
        <p:spPr>
          <a:xfrm>
            <a:off x="9727044" y="270705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32923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13AAC5-32C8-C1D1-A2AD-0C08E0E5F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BD30C63-7883-8CC3-ADBB-DA99D0B5B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Requêtes + Résultats =&gt; 1-4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5A4F19CB-EC32-A017-384A-DEF93C9D3D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fr-FR" b="1" u="sng" dirty="0"/>
          </a:p>
          <a:p>
            <a:r>
              <a:rPr lang="fr-FR" b="1" u="sng" dirty="0"/>
              <a:t>Requête 1 :</a:t>
            </a:r>
            <a:r>
              <a:rPr lang="fr-FR" b="1" dirty="0"/>
              <a:t> </a:t>
            </a:r>
          </a:p>
          <a:p>
            <a:endParaRPr lang="fr-FR" b="1" dirty="0"/>
          </a:p>
          <a:p>
            <a:r>
              <a:rPr lang="fr-FR" b="1" u="sng" dirty="0"/>
              <a:t>Requête 2 :</a:t>
            </a:r>
            <a:r>
              <a:rPr lang="fr-FR" b="1" dirty="0"/>
              <a:t> </a:t>
            </a:r>
          </a:p>
          <a:p>
            <a:endParaRPr lang="fr-FR" b="1" dirty="0"/>
          </a:p>
          <a:p>
            <a:r>
              <a:rPr lang="fr-FR" b="1" u="sng" dirty="0"/>
              <a:t>Requête 3 :</a:t>
            </a:r>
            <a:r>
              <a:rPr lang="fr-FR" b="1" dirty="0"/>
              <a:t> </a:t>
            </a:r>
          </a:p>
          <a:p>
            <a:endParaRPr lang="fr-FR" b="1" dirty="0"/>
          </a:p>
          <a:p>
            <a:r>
              <a:rPr lang="fr-FR" b="1" u="sng" dirty="0"/>
              <a:t>Requête 4 :</a:t>
            </a:r>
            <a:r>
              <a:rPr lang="fr-FR" b="1" dirty="0"/>
              <a:t> 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BAC47D5-D2F7-6413-14CC-B16D8B8ABE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329" y="2265446"/>
            <a:ext cx="1438476" cy="104789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B5C5EA9-9FAB-7B32-E32A-376C956E25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4444" y="3313342"/>
            <a:ext cx="3172268" cy="1057423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501ACDF-B227-49C4-6EC5-8BD925789F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2855" y="4210466"/>
            <a:ext cx="1781424" cy="1086002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581C6EC1-9DB7-0081-C6CD-9F4CC4ADCB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4444" y="5169157"/>
            <a:ext cx="1438476" cy="1257475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28407863-A990-DC92-4222-CEB111204563}"/>
              </a:ext>
            </a:extLst>
          </p:cNvPr>
          <p:cNvSpPr txBox="1"/>
          <p:nvPr/>
        </p:nvSpPr>
        <p:spPr>
          <a:xfrm>
            <a:off x="3087445" y="1574310"/>
            <a:ext cx="5041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/>
              <a:t>Résultats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107705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4272FC-AB01-76E2-2C4D-13BD4EAC6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E3EC7D6-8FA2-A731-01E4-D8F0A55E3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Requêtes /Code /Résultats =&gt; 5-6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03C2D4EA-C4F8-7ABC-571E-F8834D5F9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b="1" dirty="0"/>
              <a:t>Code					Résultats</a:t>
            </a:r>
          </a:p>
          <a:p>
            <a:pPr marL="0" indent="0" algn="ctr">
              <a:buNone/>
            </a:pPr>
            <a:endParaRPr lang="fr-FR" sz="1200" b="1" u="sng" dirty="0"/>
          </a:p>
          <a:p>
            <a:r>
              <a:rPr lang="fr-FR" b="1" u="sng" dirty="0"/>
              <a:t>Requête 5 :</a:t>
            </a:r>
            <a:r>
              <a:rPr lang="fr-FR" b="1" dirty="0"/>
              <a:t> </a:t>
            </a:r>
          </a:p>
          <a:p>
            <a:pPr marL="0" indent="0">
              <a:buNone/>
            </a:pPr>
            <a:endParaRPr lang="fr-FR" b="1" dirty="0"/>
          </a:p>
          <a:p>
            <a:endParaRPr lang="fr-FR" b="1" dirty="0"/>
          </a:p>
          <a:p>
            <a:endParaRPr lang="fr-FR" b="1" dirty="0"/>
          </a:p>
          <a:p>
            <a:r>
              <a:rPr lang="fr-FR" b="1" u="sng" dirty="0"/>
              <a:t>Requête 6 :</a:t>
            </a:r>
            <a:r>
              <a:rPr lang="fr-FR" b="1" dirty="0"/>
              <a:t> </a:t>
            </a:r>
            <a:endParaRPr lang="fr-FR" dirty="0"/>
          </a:p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A836283-649B-9D68-984F-99CE77F0B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434" y="2513435"/>
            <a:ext cx="1457528" cy="47631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48F10DB-0FC3-6BFD-5273-BBE0D44709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6769" y="4203843"/>
            <a:ext cx="2133898" cy="1419423"/>
          </a:xfrm>
          <a:prstGeom prst="rect">
            <a:avLst/>
          </a:prstGeom>
        </p:spPr>
      </p:pic>
      <p:pic>
        <p:nvPicPr>
          <p:cNvPr id="12" name="Image 11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A6EBFC7C-9033-B588-534A-AF50D8B872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0237" y="4203843"/>
            <a:ext cx="3686175" cy="1666875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633B4D47-E22A-CAD1-2A41-237D433E4E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9705" y="2446200"/>
            <a:ext cx="3810532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644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586F78-5AC2-33ED-A306-FC5F15BE6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79E1C3F-A65F-647F-BA4C-69BE8E218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Requêtes + Résultats =&gt; 7-8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25589A8E-0631-1AC7-DDD5-8DE49CAD7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b="1" dirty="0"/>
              <a:t>Résultats</a:t>
            </a:r>
          </a:p>
          <a:p>
            <a:pPr marL="0" indent="0" algn="ctr">
              <a:buNone/>
            </a:pPr>
            <a:endParaRPr lang="fr-FR" sz="1200" b="1" u="sng" dirty="0"/>
          </a:p>
          <a:p>
            <a:r>
              <a:rPr lang="fr-FR" b="1" u="sng" dirty="0"/>
              <a:t>Requête 7 :</a:t>
            </a:r>
            <a:r>
              <a:rPr lang="fr-FR" b="1" dirty="0"/>
              <a:t> </a:t>
            </a:r>
          </a:p>
          <a:p>
            <a:pPr marL="0" indent="0">
              <a:buNone/>
            </a:pPr>
            <a:endParaRPr lang="fr-FR" b="1" dirty="0"/>
          </a:p>
          <a:p>
            <a:endParaRPr lang="fr-FR" b="1" dirty="0"/>
          </a:p>
          <a:p>
            <a:endParaRPr lang="fr-FR" b="1" dirty="0"/>
          </a:p>
          <a:p>
            <a:endParaRPr lang="fr-FR" b="1" dirty="0"/>
          </a:p>
          <a:p>
            <a:r>
              <a:rPr lang="fr-FR" b="1" u="sng" dirty="0"/>
              <a:t>Requête 8 :</a:t>
            </a:r>
            <a:r>
              <a:rPr lang="fr-FR" b="1" dirty="0"/>
              <a:t> </a:t>
            </a:r>
            <a:endParaRPr lang="fr-FR" dirty="0"/>
          </a:p>
          <a:p>
            <a:endParaRPr lang="fr-FR" dirty="0"/>
          </a:p>
        </p:txBody>
      </p:sp>
      <p:pic>
        <p:nvPicPr>
          <p:cNvPr id="6" name="Image 5" descr="Une image contenant texte, Police, ligne, nombre&#10;&#10;Le contenu généré par l’IA peut être incorrect.">
            <a:extLst>
              <a:ext uri="{FF2B5EF4-FFF2-40B4-BE49-F238E27FC236}">
                <a16:creationId xmlns:a16="http://schemas.microsoft.com/office/drawing/2014/main" id="{3FF45ECB-A9A4-CCE1-819D-E408598149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6235" y="2457450"/>
            <a:ext cx="3819525" cy="971550"/>
          </a:xfrm>
          <a:prstGeom prst="rect">
            <a:avLst/>
          </a:prstGeom>
        </p:spPr>
      </p:pic>
      <p:pic>
        <p:nvPicPr>
          <p:cNvPr id="10" name="Image 9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1AB4E542-A761-655E-CB52-F3DFC7A9E5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2897" y="4357935"/>
            <a:ext cx="3886200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314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97375D-1BEA-4D42-0042-DA01F0F9B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200070B-410D-70CC-07F4-431884B43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Requêtes + Résultats =&gt; 9-10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86D58C92-C7CF-204D-9EF6-BCAEB14DAE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b="1" dirty="0"/>
              <a:t>Résultats</a:t>
            </a:r>
          </a:p>
          <a:p>
            <a:pPr marL="0" indent="0" algn="ctr">
              <a:buNone/>
            </a:pPr>
            <a:endParaRPr lang="fr-FR" sz="1200" b="1" u="sng" dirty="0"/>
          </a:p>
          <a:p>
            <a:r>
              <a:rPr lang="fr-FR" b="1" u="sng" dirty="0"/>
              <a:t>Requête 9 :</a:t>
            </a:r>
            <a:r>
              <a:rPr lang="fr-FR" b="1" dirty="0"/>
              <a:t> </a:t>
            </a:r>
          </a:p>
          <a:p>
            <a:pPr marL="0" indent="0">
              <a:buNone/>
            </a:pPr>
            <a:endParaRPr lang="fr-FR" b="1" dirty="0"/>
          </a:p>
          <a:p>
            <a:endParaRPr lang="fr-FR" b="1" dirty="0"/>
          </a:p>
          <a:p>
            <a:endParaRPr lang="fr-FR" b="1" dirty="0"/>
          </a:p>
          <a:p>
            <a:endParaRPr lang="fr-FR" b="1" dirty="0"/>
          </a:p>
          <a:p>
            <a:r>
              <a:rPr lang="fr-FR" b="1" u="sng" dirty="0"/>
              <a:t>Requête 10 :</a:t>
            </a:r>
            <a:r>
              <a:rPr lang="fr-FR" b="1" dirty="0"/>
              <a:t> </a:t>
            </a:r>
            <a:endParaRPr lang="fr-FR" dirty="0"/>
          </a:p>
          <a:p>
            <a:endParaRPr lang="fr-FR" dirty="0"/>
          </a:p>
        </p:txBody>
      </p:sp>
      <p:pic>
        <p:nvPicPr>
          <p:cNvPr id="4" name="Image 3" descr="Une image contenant texte, Police, ligne, nombre&#10;&#10;Le contenu généré par l’IA peut être incorrect.">
            <a:extLst>
              <a:ext uri="{FF2B5EF4-FFF2-40B4-BE49-F238E27FC236}">
                <a16:creationId xmlns:a16="http://schemas.microsoft.com/office/drawing/2014/main" id="{E45B9C89-032E-FB8F-D977-7A4726CB8A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2910" y="2371725"/>
            <a:ext cx="3686175" cy="1057275"/>
          </a:xfrm>
          <a:prstGeom prst="rect">
            <a:avLst/>
          </a:prstGeom>
        </p:spPr>
      </p:pic>
      <p:pic>
        <p:nvPicPr>
          <p:cNvPr id="5" name="Image 4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EBC07B51-C284-4E46-A72B-ECC496248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906" y="3742937"/>
            <a:ext cx="3790950" cy="286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7811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316A60-AF62-6D0D-0F4F-235181E1F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4630201-3097-0A30-A07F-E5E639839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Requêtes /Code /Résultats =&gt; 11-12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F42595D5-9A3A-6E41-B795-9620AD0B4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b="1" dirty="0"/>
              <a:t>Code					Résultats</a:t>
            </a:r>
          </a:p>
          <a:p>
            <a:pPr marL="0" indent="0" algn="ctr">
              <a:buNone/>
            </a:pPr>
            <a:endParaRPr lang="fr-FR" sz="1200" b="1" u="sng" dirty="0"/>
          </a:p>
          <a:p>
            <a:r>
              <a:rPr lang="fr-FR" b="1" u="sng" dirty="0"/>
              <a:t>Requête 11 :</a:t>
            </a:r>
            <a:r>
              <a:rPr lang="fr-FR" b="1" dirty="0"/>
              <a:t> </a:t>
            </a:r>
          </a:p>
          <a:p>
            <a:pPr marL="0" indent="0">
              <a:buNone/>
            </a:pPr>
            <a:endParaRPr lang="fr-FR" b="1" dirty="0"/>
          </a:p>
          <a:p>
            <a:endParaRPr lang="fr-FR" b="1" dirty="0"/>
          </a:p>
          <a:p>
            <a:endParaRPr lang="fr-FR" b="1" dirty="0"/>
          </a:p>
          <a:p>
            <a:endParaRPr lang="fr-FR" b="1" u="sng" dirty="0"/>
          </a:p>
          <a:p>
            <a:r>
              <a:rPr lang="fr-FR" b="1" u="sng" dirty="0"/>
              <a:t>Requête 12 :</a:t>
            </a:r>
            <a:r>
              <a:rPr lang="fr-FR" b="1" dirty="0"/>
              <a:t> </a:t>
            </a:r>
            <a:endParaRPr lang="fr-FR" dirty="0"/>
          </a:p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48403AE-A7B0-E7ED-A4B1-773919040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8954" y="2385122"/>
            <a:ext cx="4334480" cy="2324424"/>
          </a:xfrm>
          <a:prstGeom prst="rect">
            <a:avLst/>
          </a:prstGeom>
        </p:spPr>
      </p:pic>
      <p:pic>
        <p:nvPicPr>
          <p:cNvPr id="6" name="Image 5" descr="Une image contenant texte, capture d’écran, nombre, affichage&#10;&#10;Le contenu généré par l’IA peut être incorrect.">
            <a:extLst>
              <a:ext uri="{FF2B5EF4-FFF2-40B4-BE49-F238E27FC236}">
                <a16:creationId xmlns:a16="http://schemas.microsoft.com/office/drawing/2014/main" id="{D404A5F9-25A6-08B0-AD26-B9F2D5F555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770" b="41054"/>
          <a:stretch>
            <a:fillRect/>
          </a:stretch>
        </p:blipFill>
        <p:spPr>
          <a:xfrm>
            <a:off x="7772121" y="2243904"/>
            <a:ext cx="3738561" cy="2324424"/>
          </a:xfrm>
          <a:prstGeom prst="rect">
            <a:avLst/>
          </a:prstGeom>
        </p:spPr>
      </p:pic>
      <p:pic>
        <p:nvPicPr>
          <p:cNvPr id="7" name="Image 6" descr="Une image contenant texte, capture d’écran, nombre, affichage&#10;&#10;Le contenu généré par l’IA peut être incorrect.">
            <a:extLst>
              <a:ext uri="{FF2B5EF4-FFF2-40B4-BE49-F238E27FC236}">
                <a16:creationId xmlns:a16="http://schemas.microsoft.com/office/drawing/2014/main" id="{AD126E96-57A5-0D29-7F1E-89D8F2141C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1" r="6992" b="49256"/>
          <a:stretch>
            <a:fillRect/>
          </a:stretch>
        </p:blipFill>
        <p:spPr>
          <a:xfrm>
            <a:off x="7772120" y="4709546"/>
            <a:ext cx="3738561" cy="198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84502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988</Words>
  <Application>Microsoft Office PowerPoint</Application>
  <PresentationFormat>Grand écran</PresentationFormat>
  <Paragraphs>139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Thème Office</vt:lpstr>
      <vt:lpstr>Complétion dictionnaire de données</vt:lpstr>
      <vt:lpstr>Schéma relationnel</vt:lpstr>
      <vt:lpstr>Nettoyage des données</vt:lpstr>
      <vt:lpstr>Nettoyage des données</vt:lpstr>
      <vt:lpstr>Chargement Base de Données</vt:lpstr>
      <vt:lpstr>Requêtes + Résultats =&gt; 1-4</vt:lpstr>
      <vt:lpstr>Requêtes /Code /Résultats =&gt; 5-6</vt:lpstr>
      <vt:lpstr>Requêtes + Résultats =&gt; 7-8</vt:lpstr>
      <vt:lpstr>Requêtes + Résultats =&gt; 9-10</vt:lpstr>
      <vt:lpstr>Requêtes /Code /Résultats =&gt; 11-12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 fol</dc:creator>
  <cp:lastModifiedBy>evan fol</cp:lastModifiedBy>
  <cp:revision>4</cp:revision>
  <dcterms:created xsi:type="dcterms:W3CDTF">2025-08-22T12:23:32Z</dcterms:created>
  <dcterms:modified xsi:type="dcterms:W3CDTF">2025-08-27T12:52:07Z</dcterms:modified>
</cp:coreProperties>
</file>