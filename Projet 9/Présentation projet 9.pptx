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59" r:id="rId5"/>
    <p:sldId id="260" r:id="rId6"/>
    <p:sldId id="267" r:id="rId7"/>
    <p:sldId id="280" r:id="rId8"/>
    <p:sldId id="261" r:id="rId9"/>
    <p:sldId id="262" r:id="rId10"/>
    <p:sldId id="263" r:id="rId11"/>
    <p:sldId id="264" r:id="rId12"/>
    <p:sldId id="265" r:id="rId13"/>
    <p:sldId id="266" r:id="rId14"/>
    <p:sldId id="268" r:id="rId15"/>
    <p:sldId id="281"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140" autoAdjust="0"/>
  </p:normalViewPr>
  <p:slideViewPr>
    <p:cSldViewPr snapToGrid="0">
      <p:cViewPr varScale="1">
        <p:scale>
          <a:sx n="81" d="100"/>
          <a:sy n="81" d="100"/>
        </p:scale>
        <p:origin x="1668" y="30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EA6E70-072C-46A9-A421-33CDA0243027}" type="datetimeFigureOut">
              <a:rPr lang="fr-FR" smtClean="0"/>
              <a:t>17/02/2026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45F229-639A-47C2-9FFC-3B798C6F9C82}" type="slidenum">
              <a:rPr lang="fr-FR" smtClean="0"/>
              <a:t>‹N°›</a:t>
            </a:fld>
            <a:endParaRPr lang="fr-FR"/>
          </a:p>
        </p:txBody>
      </p:sp>
    </p:spTree>
    <p:extLst>
      <p:ext uri="{BB962C8B-B14F-4D97-AF65-F5344CB8AC3E}">
        <p14:creationId xmlns:p14="http://schemas.microsoft.com/office/powerpoint/2010/main" val="979300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a:t>
            </a:fld>
            <a:endParaRPr lang="fr-FR"/>
          </a:p>
        </p:txBody>
      </p:sp>
    </p:spTree>
    <p:extLst>
      <p:ext uri="{BB962C8B-B14F-4D97-AF65-F5344CB8AC3E}">
        <p14:creationId xmlns:p14="http://schemas.microsoft.com/office/powerpoint/2010/main" val="157220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2</a:t>
            </a:fld>
            <a:endParaRPr lang="fr-FR"/>
          </a:p>
        </p:txBody>
      </p:sp>
    </p:spTree>
    <p:extLst>
      <p:ext uri="{BB962C8B-B14F-4D97-AF65-F5344CB8AC3E}">
        <p14:creationId xmlns:p14="http://schemas.microsoft.com/office/powerpoint/2010/main" val="3948916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graphique montre une croissance structurelle du chiffre d'affaires global qui, après avoir connu deux pics événementiels majeurs, se stabilise durablement sur un plateau de 16 500 € par jour</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4</a:t>
            </a:fld>
            <a:endParaRPr lang="fr-FR"/>
          </a:p>
        </p:txBody>
      </p:sp>
    </p:spTree>
    <p:extLst>
      <p:ext uri="{BB962C8B-B14F-4D97-AF65-F5344CB8AC3E}">
        <p14:creationId xmlns:p14="http://schemas.microsoft.com/office/powerpoint/2010/main" val="299287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La répartition du chiffre d’affaires montre une forte concentration sur les catégories 0 et 1, qui génèrent à elles seules la majorité du chiffre d’affaires total.</a:t>
            </a:r>
            <a:br>
              <a:rPr lang="fr-FR" dirty="0"/>
            </a:br>
            <a:r>
              <a:rPr lang="fr-FR" dirty="0"/>
              <a:t>2- La catégorie 2 présente une contribution plus faible</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5</a:t>
            </a:fld>
            <a:endParaRPr lang="fr-FR"/>
          </a:p>
        </p:txBody>
      </p:sp>
    </p:spTree>
    <p:extLst>
      <p:ext uri="{BB962C8B-B14F-4D97-AF65-F5344CB8AC3E}">
        <p14:creationId xmlns:p14="http://schemas.microsoft.com/office/powerpoint/2010/main" val="183008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voit que la catégorie 0 est vraiment le moteur en termes de nombre de vente avec 60%</a:t>
            </a:r>
          </a:p>
          <a:p>
            <a:r>
              <a:rPr lang="fr-FR" dirty="0"/>
              <a:t>La catégorie 1 est également une catégorie importante avec 34% du nombre de vente total</a:t>
            </a:r>
          </a:p>
          <a:p>
            <a:r>
              <a:rPr lang="fr-FR" dirty="0"/>
              <a:t>A elles seules ces deux catégories représentent 95% du nombre de vente total</a:t>
            </a:r>
          </a:p>
          <a:p>
            <a:r>
              <a:rPr lang="fr-FR" dirty="0"/>
              <a:t>La catégorie 2 représente elle seulement 5% du total ce qui est très faible.</a:t>
            </a:r>
          </a:p>
          <a:p>
            <a:endParaRPr lang="fr-FR" dirty="0"/>
          </a:p>
          <a:p>
            <a:r>
              <a:rPr lang="fr-FR" dirty="0"/>
              <a:t>Il est intéressant de noter que dans le CA par catégories, les catégories 0 et 1 étaient proches ce qui indique que les prix de la catégories 1 sont probablement plus élevés que la catégorie 0</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6</a:t>
            </a:fld>
            <a:endParaRPr lang="fr-FR"/>
          </a:p>
        </p:txBody>
      </p:sp>
    </p:spTree>
    <p:extLst>
      <p:ext uri="{BB962C8B-B14F-4D97-AF65-F5344CB8AC3E}">
        <p14:creationId xmlns:p14="http://schemas.microsoft.com/office/powerpoint/2010/main" val="4064913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31FC-38C9-5344-5B7A-4796A79743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E3183B-405E-E7A5-4E91-DDBA9F83080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45F949-8523-F6E9-CC2E-5171A146C7DE}"/>
              </a:ext>
            </a:extLst>
          </p:cNvPr>
          <p:cNvSpPr>
            <a:spLocks noGrp="1"/>
          </p:cNvSpPr>
          <p:nvPr>
            <p:ph type="body" idx="1"/>
          </p:nvPr>
        </p:nvSpPr>
        <p:spPr/>
        <p:txBody>
          <a:bodyPr/>
          <a:lstStyle/>
          <a:p>
            <a:r>
              <a:rPr lang="fr-FR" dirty="0"/>
              <a:t>On voit ici clairement ce que l’on expliquait avant, la catégorie 0 est la moins chère et la plus vendu, la catégorie 1 est deux fois plus chère que la première ce qui fait que même si il y a presque moitié moins de vente que la catégorie 1 c’est tout de même elle qui arrive en tête en termes de CA et bien que représentant 5% des ventes la catégorie 2 étant bien plus chère que les autres elle arrive a un peu plus de la moitié du CA des deux autres catégories.</a:t>
            </a:r>
          </a:p>
          <a:p>
            <a:r>
              <a:rPr lang="fr-FR" dirty="0"/>
              <a:t>Au niveau de la répartition des prix via le </a:t>
            </a:r>
            <a:r>
              <a:rPr lang="fr-FR" dirty="0" err="1"/>
              <a:t>boxplot</a:t>
            </a:r>
            <a:r>
              <a:rPr lang="fr-FR" dirty="0"/>
              <a:t> on observe la même chose avec la catégorie 0 qui est peu chère (médiane à 10,3€) et très concentrée, la catégorie 1 un peu plus chère (médiane à 23€) et dispersée et la catégorie 2 qui pour le coup est beaucoup plus chère (médiane à 101,25€) et avec des prix bien plus disparates </a:t>
            </a:r>
          </a:p>
        </p:txBody>
      </p:sp>
      <p:sp>
        <p:nvSpPr>
          <p:cNvPr id="4" name="Espace réservé du numéro de diapositive 3">
            <a:extLst>
              <a:ext uri="{FF2B5EF4-FFF2-40B4-BE49-F238E27FC236}">
                <a16:creationId xmlns:a16="http://schemas.microsoft.com/office/drawing/2014/main" id="{8D6F9029-3936-F8A4-4567-B0F8535B68CA}"/>
              </a:ext>
            </a:extLst>
          </p:cNvPr>
          <p:cNvSpPr>
            <a:spLocks noGrp="1"/>
          </p:cNvSpPr>
          <p:nvPr>
            <p:ph type="sldNum" sz="quarter" idx="5"/>
          </p:nvPr>
        </p:nvSpPr>
        <p:spPr/>
        <p:txBody>
          <a:bodyPr/>
          <a:lstStyle/>
          <a:p>
            <a:fld id="{0C45F229-639A-47C2-9FFC-3B798C6F9C82}" type="slidenum">
              <a:rPr lang="fr-FR" smtClean="0"/>
              <a:t>7</a:t>
            </a:fld>
            <a:endParaRPr lang="fr-FR"/>
          </a:p>
        </p:txBody>
      </p:sp>
    </p:spTree>
    <p:extLst>
      <p:ext uri="{BB962C8B-B14F-4D97-AF65-F5344CB8AC3E}">
        <p14:creationId xmlns:p14="http://schemas.microsoft.com/office/powerpoint/2010/main" val="3099895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La catégorie 1 apparaît comme le principal moteur de croissance, avec un niveau de chiffre d’affaires élevé et un palier durable.</a:t>
            </a:r>
            <a:br>
              <a:rPr lang="fr-FR" dirty="0"/>
            </a:br>
            <a:r>
              <a:rPr lang="fr-FR" dirty="0"/>
              <a:t>2- La catégorie 0 présente une évolution plus stable si ce n’est le pic observé en septembre 2021</a:t>
            </a:r>
            <a:br>
              <a:rPr lang="fr-FR" dirty="0"/>
            </a:br>
            <a:r>
              <a:rPr lang="fr-FR" dirty="0"/>
              <a:t>3- À l’inverse, la catégorie 2 affiche une contribution plus faible et une forte volatilité dont les baisses semblent corrélées inversement aux augmentations de la catégorie 0.</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8</a:t>
            </a:fld>
            <a:endParaRPr lang="fr-FR"/>
          </a:p>
        </p:txBody>
      </p:sp>
    </p:spTree>
    <p:extLst>
      <p:ext uri="{BB962C8B-B14F-4D97-AF65-F5344CB8AC3E}">
        <p14:creationId xmlns:p14="http://schemas.microsoft.com/office/powerpoint/2010/main" val="1042477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nombre de clients uniques reste globalement stable sur la période, avec un pic ponctuel marqué en octobre 2021 suivi d’un retour rapide vers un plateau fluctuant. L’évolution du chiffre d’affaires ne semble pas principalement expliquée par le volume de clients, suggérant plutôt un effet lié au comportement d’achat (fréquence ou panier moyen).</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9</a:t>
            </a:fld>
            <a:endParaRPr lang="fr-FR"/>
          </a:p>
        </p:txBody>
      </p:sp>
    </p:spTree>
    <p:extLst>
      <p:ext uri="{BB962C8B-B14F-4D97-AF65-F5344CB8AC3E}">
        <p14:creationId xmlns:p14="http://schemas.microsoft.com/office/powerpoint/2010/main" val="4075182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nombre de transactions diminue progressivement jusqu’à l’été 2021, puis connaît une rupture haussière marquée à l’automne avec un pic fin 2021, avant de se stabiliser sur un plateau fluctuant en 2022. La chute observée en février 2023 est liée à des données incomplètes et ne traduit pas une tendance réelle.</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10</a:t>
            </a:fld>
            <a:endParaRPr lang="fr-FR"/>
          </a:p>
        </p:txBody>
      </p:sp>
    </p:spTree>
    <p:extLst>
      <p:ext uri="{BB962C8B-B14F-4D97-AF65-F5344CB8AC3E}">
        <p14:creationId xmlns:p14="http://schemas.microsoft.com/office/powerpoint/2010/main" val="3628399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nombre de produits vendus connaît des variations marquées en 2021 avec plusieurs pics, puis se stabilise sur un plateau fluctuant en 2022. La comparaison avec l’évolution du chiffre d’affaires montre que les pics de CA sont en partie liés aux volumes, mais que la valeur créée ne dépend pas uniquement des quantités vendues.</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11</a:t>
            </a:fld>
            <a:endParaRPr lang="fr-FR"/>
          </a:p>
        </p:txBody>
      </p:sp>
    </p:spTree>
    <p:extLst>
      <p:ext uri="{BB962C8B-B14F-4D97-AF65-F5344CB8AC3E}">
        <p14:creationId xmlns:p14="http://schemas.microsoft.com/office/powerpoint/2010/main" val="4141571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 regroupé les lignes par ID produit afin d’avoir un produit par ligne avec le nombre de fois que ce produit a été acheté avec .size() puis on a trié du plus grand au plus petit.</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12</a:t>
            </a:fld>
            <a:endParaRPr lang="fr-FR"/>
          </a:p>
        </p:txBody>
      </p:sp>
    </p:spTree>
    <p:extLst>
      <p:ext uri="{BB962C8B-B14F-4D97-AF65-F5344CB8AC3E}">
        <p14:creationId xmlns:p14="http://schemas.microsoft.com/office/powerpoint/2010/main" val="3350159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Même chose que précédemment mais trié du plus petit au plus grand.</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13</a:t>
            </a:fld>
            <a:endParaRPr lang="fr-FR"/>
          </a:p>
        </p:txBody>
      </p:sp>
    </p:spTree>
    <p:extLst>
      <p:ext uri="{BB962C8B-B14F-4D97-AF65-F5344CB8AC3E}">
        <p14:creationId xmlns:p14="http://schemas.microsoft.com/office/powerpoint/2010/main" val="39276624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répartition du chiffre d’affaires </a:t>
            </a:r>
            <a:r>
              <a:rPr lang="fr-FR" dirty="0" err="1"/>
              <a:t>BtoB</a:t>
            </a:r>
            <a:r>
              <a:rPr lang="fr-FR" dirty="0"/>
              <a:t> par catégorie montre une distribution plus équilibrée entre les trois catégories de produits.</a:t>
            </a:r>
            <a:br>
              <a:rPr lang="fr-FR" dirty="0"/>
            </a:br>
            <a:r>
              <a:rPr lang="fr-FR" dirty="0"/>
              <a:t>Contrairement aux ventes globales, aucune catégorie ne domine nettement le chiffre d’affaires </a:t>
            </a:r>
            <a:r>
              <a:rPr lang="fr-FR" dirty="0" err="1"/>
              <a:t>BtoB</a:t>
            </a:r>
            <a:r>
              <a:rPr lang="fr-FR" dirty="0"/>
              <a:t>.</a:t>
            </a:r>
            <a:br>
              <a:rPr lang="fr-FR" dirty="0"/>
            </a:br>
            <a:r>
              <a:rPr lang="fr-FR" dirty="0"/>
              <a:t>La catégorie 2, bien que marginale en volume de ventes globales, représente une part significative du chiffre d’affaires </a:t>
            </a:r>
            <a:r>
              <a:rPr lang="fr-FR" dirty="0" err="1"/>
              <a:t>BtoB</a:t>
            </a:r>
            <a:r>
              <a:rPr lang="fr-FR" dirty="0"/>
              <a:t>.</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14</a:t>
            </a:fld>
            <a:endParaRPr lang="fr-FR"/>
          </a:p>
        </p:txBody>
      </p:sp>
    </p:spTree>
    <p:extLst>
      <p:ext uri="{BB962C8B-B14F-4D97-AF65-F5344CB8AC3E}">
        <p14:creationId xmlns:p14="http://schemas.microsoft.com/office/powerpoint/2010/main" val="2223455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2E7D0-94E1-9F90-CCED-8C3C85E888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F311DF6-9F3E-5B26-B500-391A9AD4A09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6ADD5FF-27E2-BDEC-6BDF-A794BE991B9A}"/>
              </a:ext>
            </a:extLst>
          </p:cNvPr>
          <p:cNvSpPr>
            <a:spLocks noGrp="1"/>
          </p:cNvSpPr>
          <p:nvPr>
            <p:ph type="body" idx="1"/>
          </p:nvPr>
        </p:nvSpPr>
        <p:spPr/>
        <p:txBody>
          <a:bodyPr/>
          <a:lstStyle/>
          <a:p>
            <a:r>
              <a:rPr lang="fr-FR" dirty="0"/>
              <a:t>On voit que le client C_1609 dépense beaucoup sur la catégorie 0 alors que le client C_4958 dépense beaucoup plus sur la catégorie 2.</a:t>
            </a:r>
          </a:p>
          <a:p>
            <a:r>
              <a:rPr lang="fr-FR" dirty="0"/>
              <a:t>Pour ce qui est de la catégorie 1 on remarque que tous les clients </a:t>
            </a:r>
            <a:r>
              <a:rPr lang="fr-FR" dirty="0" err="1"/>
              <a:t>BtoB</a:t>
            </a:r>
            <a:r>
              <a:rPr lang="fr-FR" dirty="0"/>
              <a:t> en achètent un certain nombre</a:t>
            </a:r>
          </a:p>
        </p:txBody>
      </p:sp>
      <p:sp>
        <p:nvSpPr>
          <p:cNvPr id="4" name="Espace réservé du numéro de diapositive 3">
            <a:extLst>
              <a:ext uri="{FF2B5EF4-FFF2-40B4-BE49-F238E27FC236}">
                <a16:creationId xmlns:a16="http://schemas.microsoft.com/office/drawing/2014/main" id="{574BFE72-3C9D-E4E3-7091-9F791B2ED673}"/>
              </a:ext>
            </a:extLst>
          </p:cNvPr>
          <p:cNvSpPr>
            <a:spLocks noGrp="1"/>
          </p:cNvSpPr>
          <p:nvPr>
            <p:ph type="sldNum" sz="quarter" idx="5"/>
          </p:nvPr>
        </p:nvSpPr>
        <p:spPr/>
        <p:txBody>
          <a:bodyPr/>
          <a:lstStyle/>
          <a:p>
            <a:fld id="{0C45F229-639A-47C2-9FFC-3B798C6F9C82}" type="slidenum">
              <a:rPr lang="fr-FR" smtClean="0"/>
              <a:t>15</a:t>
            </a:fld>
            <a:endParaRPr lang="fr-FR"/>
          </a:p>
        </p:txBody>
      </p:sp>
    </p:spTree>
    <p:extLst>
      <p:ext uri="{BB962C8B-B14F-4D97-AF65-F5344CB8AC3E}">
        <p14:creationId xmlns:p14="http://schemas.microsoft.com/office/powerpoint/2010/main" val="833050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courbe de Lorenz met en évidence une forte concentration du chiffre d’affaires sur une minorité de clients.</a:t>
            </a:r>
            <a:br>
              <a:rPr lang="fr-FR" dirty="0"/>
            </a:br>
            <a:r>
              <a:rPr lang="fr-FR" dirty="0"/>
              <a:t>Une large part des clients contribue faiblement au chiffre d’affaires total, tandis qu’une fraction réduite génère une part énorme de la valeur.</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16</a:t>
            </a:fld>
            <a:endParaRPr lang="fr-FR"/>
          </a:p>
        </p:txBody>
      </p:sp>
    </p:spTree>
    <p:extLst>
      <p:ext uri="{BB962C8B-B14F-4D97-AF65-F5344CB8AC3E}">
        <p14:creationId xmlns:p14="http://schemas.microsoft.com/office/powerpoint/2010/main" val="2800830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 Test de chi2</a:t>
            </a:r>
          </a:p>
          <a:p>
            <a:r>
              <a:rPr lang="fr-FR" sz="1200" b="0" kern="1200" dirty="0">
                <a:solidFill>
                  <a:schemeClr val="tx1"/>
                </a:solidFill>
                <a:effectLst/>
                <a:latin typeface="+mn-lt"/>
                <a:ea typeface="+mn-ea"/>
                <a:cs typeface="+mn-cs"/>
              </a:rPr>
              <a:t># H0 Il n’existe pas d’association entre le genre du client et la catégorie de livre achetée.</a:t>
            </a:r>
          </a:p>
          <a:p>
            <a:r>
              <a:rPr lang="fr-FR" sz="1200" b="0" kern="1200" dirty="0">
                <a:solidFill>
                  <a:schemeClr val="tx1"/>
                </a:solidFill>
                <a:effectLst/>
                <a:latin typeface="+mn-lt"/>
                <a:ea typeface="+mn-ea"/>
                <a:cs typeface="+mn-cs"/>
              </a:rPr>
              <a:t># H1 Il existe une association entre le genre du client et la catégorie de livre achetée.</a:t>
            </a:r>
          </a:p>
          <a:p>
            <a:endParaRPr lang="fr-FR" dirty="0"/>
          </a:p>
          <a:p>
            <a:r>
              <a:rPr lang="fr-FR" dirty="0" err="1"/>
              <a:t>Heatmap</a:t>
            </a:r>
            <a:r>
              <a:rPr lang="fr-FR" dirty="0"/>
              <a:t> :</a:t>
            </a:r>
            <a:br>
              <a:rPr lang="fr-FR" dirty="0"/>
            </a:br>
            <a:r>
              <a:rPr lang="fr-FR" dirty="0"/>
              <a:t>Les répartitions entre femmes (f) et hommes (m) sont </a:t>
            </a:r>
            <a:r>
              <a:rPr lang="fr-FR" b="1" dirty="0"/>
              <a:t>visuellement proches</a:t>
            </a:r>
          </a:p>
          <a:p>
            <a:endParaRPr lang="fr-FR" b="1" dirty="0"/>
          </a:p>
          <a:p>
            <a:r>
              <a:rPr lang="fr-FR" dirty="0"/>
              <a:t>Résultats Chi2 :</a:t>
            </a:r>
          </a:p>
          <a:p>
            <a:r>
              <a:rPr lang="fr-FR" dirty="0"/>
              <a:t>La p-value étant largement supérieure au seuil de 5 %, </a:t>
            </a:r>
            <a:r>
              <a:rPr lang="fr-FR" b="1" dirty="0"/>
              <a:t>on ne peut pas rejeter l’hypothèse nulle (H₀)</a:t>
            </a:r>
            <a:r>
              <a:rPr lang="fr-FR" dirty="0"/>
              <a:t>.</a:t>
            </a:r>
          </a:p>
          <a:p>
            <a:endParaRPr lang="fr-FR" dirty="0"/>
          </a:p>
          <a:p>
            <a:r>
              <a:rPr lang="fr-FR" dirty="0"/>
              <a:t>Conclusion :</a:t>
            </a:r>
          </a:p>
          <a:p>
            <a:r>
              <a:rPr lang="fr-FR" dirty="0"/>
              <a:t>L’analyse bivariée entre le genre des clients et la catégorie dominante des livres achetés ne met pas en évidence de relation statistiquement significative.</a:t>
            </a:r>
            <a:br>
              <a:rPr lang="fr-FR" dirty="0"/>
            </a:br>
            <a:r>
              <a:rPr lang="fr-FR" dirty="0"/>
              <a:t>Le test du Khi-deux conduit à une p-value supérieure au seuil de 5 %, indiquant que la répartition des catégories achetées est similaire entre les hommes et les femmes.</a:t>
            </a:r>
            <a:br>
              <a:rPr lang="fr-FR" dirty="0"/>
            </a:br>
            <a:r>
              <a:rPr lang="fr-FR" dirty="0"/>
              <a:t>Ainsi, le genre ne constitue pas un facteur discriminant dans le choix des catégories de livres.</a:t>
            </a:r>
          </a:p>
        </p:txBody>
      </p:sp>
      <p:sp>
        <p:nvSpPr>
          <p:cNvPr id="4" name="Espace réservé du numéro de diapositive 3"/>
          <p:cNvSpPr>
            <a:spLocks noGrp="1"/>
          </p:cNvSpPr>
          <p:nvPr>
            <p:ph type="sldNum" sz="quarter" idx="5"/>
          </p:nvPr>
        </p:nvSpPr>
        <p:spPr/>
        <p:txBody>
          <a:bodyPr/>
          <a:lstStyle/>
          <a:p>
            <a:fld id="{0C45F229-639A-47C2-9FFC-3B798C6F9C82}" type="slidenum">
              <a:rPr lang="fr-FR" smtClean="0"/>
              <a:t>17</a:t>
            </a:fld>
            <a:endParaRPr lang="fr-FR"/>
          </a:p>
        </p:txBody>
      </p:sp>
    </p:spTree>
    <p:extLst>
      <p:ext uri="{BB962C8B-B14F-4D97-AF65-F5344CB8AC3E}">
        <p14:creationId xmlns:p14="http://schemas.microsoft.com/office/powerpoint/2010/main" val="33666054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06CD-D7C2-8D90-AFB3-96AD4FB3DE8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2E3D99-E09E-B874-E6E1-0FFE613AF9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0D94C01-4239-FFF8-1E1B-2310B3FD4931}"/>
              </a:ext>
            </a:extLst>
          </p:cNvPr>
          <p:cNvSpPr>
            <a:spLocks noGrp="1"/>
          </p:cNvSpPr>
          <p:nvPr>
            <p:ph type="body" idx="1"/>
          </p:nvPr>
        </p:nvSpPr>
        <p:spPr/>
        <p:txBody>
          <a:bodyPr/>
          <a:lstStyle/>
          <a:p>
            <a:r>
              <a:rPr lang="fr-FR" dirty="0"/>
              <a:t>1- Moyenne d’âge de 48 ans</a:t>
            </a:r>
          </a:p>
          <a:p>
            <a:r>
              <a:rPr lang="fr-FR" dirty="0"/>
              <a:t>2- Ecart type de 17 ans</a:t>
            </a:r>
          </a:p>
          <a:p>
            <a:r>
              <a:rPr lang="fr-FR" dirty="0"/>
              <a:t>3- Visuellement, la distribution de l’âge est compatible avec une loi normale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4- </a:t>
            </a:r>
            <a:r>
              <a:rPr lang="fr-FR" sz="1200" b="0" kern="1200" dirty="0">
                <a:solidFill>
                  <a:schemeClr val="tx1"/>
                </a:solidFill>
                <a:effectLst/>
                <a:latin typeface="+mn-lt"/>
                <a:ea typeface="+mn-ea"/>
                <a:cs typeface="+mn-cs"/>
              </a:rPr>
              <a:t>Le QQ-plot de l’âge montre une bonne adéquation à la normalité au centre de la distribution. Les écarts observés dans les queues sont dus aux bornes naturelles de la variable âge.</a:t>
            </a:r>
          </a:p>
          <a:p>
            <a:endParaRPr lang="fr-FR" dirty="0"/>
          </a:p>
          <a:p>
            <a:endParaRPr lang="fr-FR" dirty="0"/>
          </a:p>
          <a:p>
            <a:r>
              <a:rPr lang="fr-FR" dirty="0"/>
              <a:t>Conclusion :</a:t>
            </a:r>
            <a:br>
              <a:rPr lang="fr-FR" dirty="0"/>
            </a:br>
            <a:r>
              <a:rPr lang="fr-FR" dirty="0"/>
              <a:t>Le test de Spearman est le plus adapté</a:t>
            </a:r>
          </a:p>
        </p:txBody>
      </p:sp>
      <p:sp>
        <p:nvSpPr>
          <p:cNvPr id="4" name="Espace réservé du numéro de diapositive 3">
            <a:extLst>
              <a:ext uri="{FF2B5EF4-FFF2-40B4-BE49-F238E27FC236}">
                <a16:creationId xmlns:a16="http://schemas.microsoft.com/office/drawing/2014/main" id="{1AAE1FA9-D914-AFDA-CB8F-2D91D5C5409B}"/>
              </a:ext>
            </a:extLst>
          </p:cNvPr>
          <p:cNvSpPr>
            <a:spLocks noGrp="1"/>
          </p:cNvSpPr>
          <p:nvPr>
            <p:ph type="sldNum" sz="quarter" idx="5"/>
          </p:nvPr>
        </p:nvSpPr>
        <p:spPr/>
        <p:txBody>
          <a:bodyPr/>
          <a:lstStyle/>
          <a:p>
            <a:fld id="{0C45F229-639A-47C2-9FFC-3B798C6F9C82}" type="slidenum">
              <a:rPr lang="fr-FR" smtClean="0"/>
              <a:t>18</a:t>
            </a:fld>
            <a:endParaRPr lang="fr-FR"/>
          </a:p>
        </p:txBody>
      </p:sp>
    </p:spTree>
    <p:extLst>
      <p:ext uri="{BB962C8B-B14F-4D97-AF65-F5344CB8AC3E}">
        <p14:creationId xmlns:p14="http://schemas.microsoft.com/office/powerpoint/2010/main" val="2330087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A5438-2B8F-CC2B-3AC0-806CA6A95E3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792175-B8CB-E1B1-7632-081E5133BFE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824BBCE-079B-1A9E-F862-E922D06397C7}"/>
              </a:ext>
            </a:extLst>
          </p:cNvPr>
          <p:cNvSpPr>
            <a:spLocks noGrp="1"/>
          </p:cNvSpPr>
          <p:nvPr>
            <p:ph type="body" idx="1"/>
          </p:nvPr>
        </p:nvSpPr>
        <p:spPr/>
        <p:txBody>
          <a:bodyPr/>
          <a:lstStyle/>
          <a:p>
            <a:r>
              <a:rPr lang="fr-FR" dirty="0"/>
              <a:t>1- Moyenne du montant d’achat sans logarithme : 1296€</a:t>
            </a:r>
          </a:p>
          <a:p>
            <a:r>
              <a:rPr lang="fr-FR" dirty="0"/>
              <a:t>2- Ecart type de 958€</a:t>
            </a:r>
          </a:p>
          <a:p>
            <a:r>
              <a:rPr lang="fr-FR" dirty="0"/>
              <a:t>3- Le graphique représente le logarithme du montant d’achat total par client (log1p)</a:t>
            </a:r>
          </a:p>
          <a:p>
            <a:r>
              <a:rPr lang="fr-FR" dirty="0"/>
              <a:t>4- Le QQ-plot du montant d’achat total met en évidence une distribution fortement asymétrique</a:t>
            </a:r>
          </a:p>
          <a:p>
            <a:r>
              <a:rPr lang="fr-FR" dirty="0"/>
              <a:t>5- Beaucoup de clients avec de faibles montants totaux et peu de clients avec des montants très élevés</a:t>
            </a:r>
          </a:p>
          <a:p>
            <a:endParaRPr lang="fr-FR" dirty="0"/>
          </a:p>
          <a:p>
            <a:r>
              <a:rPr lang="fr-FR" dirty="0"/>
              <a:t>Conclusion :</a:t>
            </a:r>
            <a:br>
              <a:rPr lang="fr-FR" dirty="0"/>
            </a:br>
            <a:r>
              <a:rPr lang="fr-FR" dirty="0"/>
              <a:t>Le test de Spearman est le plus adapté</a:t>
            </a:r>
          </a:p>
        </p:txBody>
      </p:sp>
      <p:sp>
        <p:nvSpPr>
          <p:cNvPr id="4" name="Espace réservé du numéro de diapositive 3">
            <a:extLst>
              <a:ext uri="{FF2B5EF4-FFF2-40B4-BE49-F238E27FC236}">
                <a16:creationId xmlns:a16="http://schemas.microsoft.com/office/drawing/2014/main" id="{C5102800-C93D-9A84-B115-FD10F83DD546}"/>
              </a:ext>
            </a:extLst>
          </p:cNvPr>
          <p:cNvSpPr>
            <a:spLocks noGrp="1"/>
          </p:cNvSpPr>
          <p:nvPr>
            <p:ph type="sldNum" sz="quarter" idx="5"/>
          </p:nvPr>
        </p:nvSpPr>
        <p:spPr/>
        <p:txBody>
          <a:bodyPr/>
          <a:lstStyle/>
          <a:p>
            <a:fld id="{0C45F229-639A-47C2-9FFC-3B798C6F9C82}" type="slidenum">
              <a:rPr lang="fr-FR" smtClean="0"/>
              <a:t>19</a:t>
            </a:fld>
            <a:endParaRPr lang="fr-FR"/>
          </a:p>
        </p:txBody>
      </p:sp>
    </p:spTree>
    <p:extLst>
      <p:ext uri="{BB962C8B-B14F-4D97-AF65-F5344CB8AC3E}">
        <p14:creationId xmlns:p14="http://schemas.microsoft.com/office/powerpoint/2010/main" val="2312057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660B-87FB-0C40-B36F-0DE7CA63BF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D5F4FD-93C4-CA0D-CB1C-FDB83ED9F3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4302EC-D7AA-F99C-1541-A69D8ED4BEC4}"/>
              </a:ext>
            </a:extLst>
          </p:cNvPr>
          <p:cNvSpPr>
            <a:spLocks noGrp="1"/>
          </p:cNvSpPr>
          <p:nvPr>
            <p:ph type="body" idx="1"/>
          </p:nvPr>
        </p:nvSpPr>
        <p:spPr/>
        <p:txBody>
          <a:bodyPr/>
          <a:lstStyle/>
          <a:p>
            <a:r>
              <a:rPr lang="fr-FR" dirty="0"/>
              <a:t>La droite de régression suggère une relation linéaire faible et négative.</a:t>
            </a:r>
            <a:br>
              <a:rPr lang="fr-FR" dirty="0"/>
            </a:br>
            <a:r>
              <a:rPr lang="fr-FR" dirty="0"/>
              <a:t>Le coefficient de corrélation de Spearman confirme cette relation (r = −0,18), statistiquement significative car p &lt; 0,05</a:t>
            </a:r>
          </a:p>
        </p:txBody>
      </p:sp>
      <p:sp>
        <p:nvSpPr>
          <p:cNvPr id="4" name="Espace réservé du numéro de diapositive 3">
            <a:extLst>
              <a:ext uri="{FF2B5EF4-FFF2-40B4-BE49-F238E27FC236}">
                <a16:creationId xmlns:a16="http://schemas.microsoft.com/office/drawing/2014/main" id="{6A744AF1-1173-277C-D3C7-45F8D1FA2F77}"/>
              </a:ext>
            </a:extLst>
          </p:cNvPr>
          <p:cNvSpPr>
            <a:spLocks noGrp="1"/>
          </p:cNvSpPr>
          <p:nvPr>
            <p:ph type="sldNum" sz="quarter" idx="5"/>
          </p:nvPr>
        </p:nvSpPr>
        <p:spPr/>
        <p:txBody>
          <a:bodyPr/>
          <a:lstStyle/>
          <a:p>
            <a:fld id="{0C45F229-639A-47C2-9FFC-3B798C6F9C82}" type="slidenum">
              <a:rPr lang="fr-FR" smtClean="0"/>
              <a:t>20</a:t>
            </a:fld>
            <a:endParaRPr lang="fr-FR"/>
          </a:p>
        </p:txBody>
      </p:sp>
    </p:spTree>
    <p:extLst>
      <p:ext uri="{BB962C8B-B14F-4D97-AF65-F5344CB8AC3E}">
        <p14:creationId xmlns:p14="http://schemas.microsoft.com/office/powerpoint/2010/main" val="244614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F33AA-907E-CDEC-6ECA-5E373558D7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46C8CE-5AE1-6A65-8C1C-F08CCC34C56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D58DB8-D6E7-57AB-4341-8C2BAAAB14B9}"/>
              </a:ext>
            </a:extLst>
          </p:cNvPr>
          <p:cNvSpPr>
            <a:spLocks noGrp="1"/>
          </p:cNvSpPr>
          <p:nvPr>
            <p:ph type="body" idx="1"/>
          </p:nvPr>
        </p:nvSpPr>
        <p:spPr/>
        <p:txBody>
          <a:bodyPr/>
          <a:lstStyle/>
          <a:p>
            <a:r>
              <a:rPr lang="fr-FR" dirty="0"/>
              <a:t>1- Moyenne de la fréquence d’achat annuelle: 20,7 achats/an</a:t>
            </a:r>
          </a:p>
          <a:p>
            <a:r>
              <a:rPr lang="fr-FR" dirty="0"/>
              <a:t>2- Ecart type de 22,6</a:t>
            </a:r>
          </a:p>
          <a:p>
            <a:r>
              <a:rPr lang="fr-FR" dirty="0"/>
              <a:t>3- Le graphique représente le logarithme de la fréquence d’achat annuelle (log1p).</a:t>
            </a:r>
          </a:p>
          <a:p>
            <a:r>
              <a:rPr lang="fr-FR" dirty="0"/>
              <a:t>4- </a:t>
            </a:r>
            <a:r>
              <a:rPr lang="fr-FR" sz="1200" kern="1200" dirty="0">
                <a:solidFill>
                  <a:schemeClr val="tx1"/>
                </a:solidFill>
                <a:latin typeface="+mn-lt"/>
                <a:ea typeface="+mn-ea"/>
                <a:cs typeface="+mn-cs"/>
              </a:rPr>
              <a:t>Asymétrie très forte à droite</a:t>
            </a:r>
          </a:p>
          <a:p>
            <a:r>
              <a:rPr lang="fr-FR" sz="1200" kern="1200" dirty="0">
                <a:solidFill>
                  <a:schemeClr val="tx1"/>
                </a:solidFill>
                <a:latin typeface="+mn-lt"/>
                <a:ea typeface="+mn-ea"/>
                <a:cs typeface="+mn-cs"/>
              </a:rPr>
              <a:t>	Beaucoup de clients avec une fréquence faible</a:t>
            </a:r>
          </a:p>
          <a:p>
            <a:r>
              <a:rPr lang="fr-FR" sz="1200" kern="1200" dirty="0">
                <a:solidFill>
                  <a:schemeClr val="tx1"/>
                </a:solidFill>
                <a:latin typeface="+mn-lt"/>
                <a:ea typeface="+mn-ea"/>
                <a:cs typeface="+mn-cs"/>
              </a:rPr>
              <a:t>	Quelques clients avec une fréquence annuelle très élevée </a:t>
            </a:r>
          </a:p>
          <a:p>
            <a:endParaRPr lang="fr-FR" sz="1200" kern="1200" dirty="0">
              <a:solidFill>
                <a:schemeClr val="tx1"/>
              </a:solidFill>
              <a:latin typeface="+mn-lt"/>
              <a:ea typeface="+mn-ea"/>
              <a:cs typeface="+mn-cs"/>
            </a:endParaRPr>
          </a:p>
          <a:p>
            <a:endParaRPr lang="fr-FR" dirty="0"/>
          </a:p>
          <a:p>
            <a:endParaRPr lang="fr-FR" dirty="0"/>
          </a:p>
          <a:p>
            <a:r>
              <a:rPr lang="fr-FR" dirty="0"/>
              <a:t>Conclusion :</a:t>
            </a:r>
            <a:br>
              <a:rPr lang="fr-FR" dirty="0"/>
            </a:br>
            <a:r>
              <a:rPr lang="fr-FR" dirty="0"/>
              <a:t>Le test de Spearman est le plus adapté</a:t>
            </a:r>
          </a:p>
        </p:txBody>
      </p:sp>
      <p:sp>
        <p:nvSpPr>
          <p:cNvPr id="4" name="Espace réservé du numéro de diapositive 3">
            <a:extLst>
              <a:ext uri="{FF2B5EF4-FFF2-40B4-BE49-F238E27FC236}">
                <a16:creationId xmlns:a16="http://schemas.microsoft.com/office/drawing/2014/main" id="{6F7C29BE-F1DD-75FF-AF64-FCFD4504AE26}"/>
              </a:ext>
            </a:extLst>
          </p:cNvPr>
          <p:cNvSpPr>
            <a:spLocks noGrp="1"/>
          </p:cNvSpPr>
          <p:nvPr>
            <p:ph type="sldNum" sz="quarter" idx="5"/>
          </p:nvPr>
        </p:nvSpPr>
        <p:spPr/>
        <p:txBody>
          <a:bodyPr/>
          <a:lstStyle/>
          <a:p>
            <a:fld id="{0C45F229-639A-47C2-9FFC-3B798C6F9C82}" type="slidenum">
              <a:rPr lang="fr-FR" smtClean="0"/>
              <a:t>21</a:t>
            </a:fld>
            <a:endParaRPr lang="fr-FR"/>
          </a:p>
        </p:txBody>
      </p:sp>
    </p:spTree>
    <p:extLst>
      <p:ext uri="{BB962C8B-B14F-4D97-AF65-F5344CB8AC3E}">
        <p14:creationId xmlns:p14="http://schemas.microsoft.com/office/powerpoint/2010/main" val="9317369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A4392-A2C2-B0F1-0569-D50F04882B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82170C-2010-A627-C6BF-090BC38FF44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A291EF-8B2A-643F-D607-F3A6D90BB4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droite de régression suggère une relation linéaire faible et positive ente l’âge du client et la fréquence d’achat annuel</a:t>
            </a:r>
            <a:br>
              <a:rPr lang="fr-FR" dirty="0"/>
            </a:br>
            <a:r>
              <a:rPr lang="fr-FR" dirty="0"/>
              <a:t>Le coefficient de corrélation de Spearman confirme cette relation (r = 0,21), statistiquement significative car p &lt; 0,05</a:t>
            </a:r>
          </a:p>
          <a:p>
            <a:endParaRPr lang="fr-FR" dirty="0"/>
          </a:p>
        </p:txBody>
      </p:sp>
      <p:sp>
        <p:nvSpPr>
          <p:cNvPr id="4" name="Espace réservé du numéro de diapositive 3">
            <a:extLst>
              <a:ext uri="{FF2B5EF4-FFF2-40B4-BE49-F238E27FC236}">
                <a16:creationId xmlns:a16="http://schemas.microsoft.com/office/drawing/2014/main" id="{D529E915-7951-8E92-2C27-D73D88A6D69E}"/>
              </a:ext>
            </a:extLst>
          </p:cNvPr>
          <p:cNvSpPr>
            <a:spLocks noGrp="1"/>
          </p:cNvSpPr>
          <p:nvPr>
            <p:ph type="sldNum" sz="quarter" idx="5"/>
          </p:nvPr>
        </p:nvSpPr>
        <p:spPr/>
        <p:txBody>
          <a:bodyPr/>
          <a:lstStyle/>
          <a:p>
            <a:fld id="{0C45F229-639A-47C2-9FFC-3B798C6F9C82}" type="slidenum">
              <a:rPr lang="fr-FR" smtClean="0"/>
              <a:t>22</a:t>
            </a:fld>
            <a:endParaRPr lang="fr-FR"/>
          </a:p>
        </p:txBody>
      </p:sp>
    </p:spTree>
    <p:extLst>
      <p:ext uri="{BB962C8B-B14F-4D97-AF65-F5344CB8AC3E}">
        <p14:creationId xmlns:p14="http://schemas.microsoft.com/office/powerpoint/2010/main" val="3256841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6AB6A-2CCE-4D5B-33B8-4E0B99AE6D8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896FAE-9313-8B6B-6B2C-79E5B47850F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A5C607-BC36-53FE-90BA-6E100A2AA2E1}"/>
              </a:ext>
            </a:extLst>
          </p:cNvPr>
          <p:cNvSpPr>
            <a:spLocks noGrp="1"/>
          </p:cNvSpPr>
          <p:nvPr>
            <p:ph type="body" idx="1"/>
          </p:nvPr>
        </p:nvSpPr>
        <p:spPr/>
        <p:txBody>
          <a:bodyPr/>
          <a:lstStyle/>
          <a:p>
            <a:r>
              <a:rPr lang="fr-FR" dirty="0"/>
              <a:t>1- Moyenne de la taille du panier : 2</a:t>
            </a:r>
          </a:p>
          <a:p>
            <a:r>
              <a:rPr lang="fr-FR" dirty="0"/>
              <a:t>2- Ecart type de 0,7</a:t>
            </a:r>
          </a:p>
          <a:p>
            <a:r>
              <a:rPr lang="fr-FR" dirty="0"/>
              <a:t>3- Le graphique représente la taille du panier moyen</a:t>
            </a:r>
          </a:p>
          <a:p>
            <a:r>
              <a:rPr lang="fr-FR" dirty="0"/>
              <a:t>4- Le QQ-plot de la taille moyenne du panier met en évidence une distribution asymétrique à droite</a:t>
            </a:r>
          </a:p>
          <a:p>
            <a:r>
              <a:rPr lang="fr-FR" dirty="0"/>
              <a:t>5- Quelques clients ont des paniers moyens très élevés</a:t>
            </a:r>
          </a:p>
          <a:p>
            <a:endParaRPr lang="fr-FR" dirty="0"/>
          </a:p>
          <a:p>
            <a:endParaRPr lang="fr-FR" dirty="0"/>
          </a:p>
          <a:p>
            <a:endParaRPr lang="fr-FR" dirty="0"/>
          </a:p>
          <a:p>
            <a:r>
              <a:rPr lang="fr-FR" dirty="0"/>
              <a:t>Conclusion :</a:t>
            </a:r>
            <a:br>
              <a:rPr lang="fr-FR" dirty="0"/>
            </a:br>
            <a:r>
              <a:rPr lang="fr-FR" dirty="0"/>
              <a:t>Le test de Spearman est le plus adapté</a:t>
            </a:r>
          </a:p>
        </p:txBody>
      </p:sp>
      <p:sp>
        <p:nvSpPr>
          <p:cNvPr id="4" name="Espace réservé du numéro de diapositive 3">
            <a:extLst>
              <a:ext uri="{FF2B5EF4-FFF2-40B4-BE49-F238E27FC236}">
                <a16:creationId xmlns:a16="http://schemas.microsoft.com/office/drawing/2014/main" id="{786E46AD-7FAA-76D9-DA7E-0480FDA67004}"/>
              </a:ext>
            </a:extLst>
          </p:cNvPr>
          <p:cNvSpPr>
            <a:spLocks noGrp="1"/>
          </p:cNvSpPr>
          <p:nvPr>
            <p:ph type="sldNum" sz="quarter" idx="5"/>
          </p:nvPr>
        </p:nvSpPr>
        <p:spPr/>
        <p:txBody>
          <a:bodyPr/>
          <a:lstStyle/>
          <a:p>
            <a:fld id="{0C45F229-639A-47C2-9FFC-3B798C6F9C82}" type="slidenum">
              <a:rPr lang="fr-FR" smtClean="0"/>
              <a:t>23</a:t>
            </a:fld>
            <a:endParaRPr lang="fr-FR"/>
          </a:p>
        </p:txBody>
      </p:sp>
    </p:spTree>
    <p:extLst>
      <p:ext uri="{BB962C8B-B14F-4D97-AF65-F5344CB8AC3E}">
        <p14:creationId xmlns:p14="http://schemas.microsoft.com/office/powerpoint/2010/main" val="39461543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5EACD-AE21-D4A3-ECB6-C3DC710060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3C13BF-BFD0-A65D-B69B-8DED845725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745FB4-AEF9-D70C-610E-E3055EE1D6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droite de régression suggère une relation linéaire forte et négative ente l’âge du client et la taille du panier</a:t>
            </a:r>
            <a:br>
              <a:rPr lang="fr-FR" dirty="0"/>
            </a:br>
            <a:r>
              <a:rPr lang="fr-FR" dirty="0"/>
              <a:t>Le coefficient de corrélation de Spearman confirme cette relation (r = - 0,70), statistiquement significative car p &lt; 0,05</a:t>
            </a:r>
          </a:p>
          <a:p>
            <a:endParaRPr lang="fr-FR" dirty="0"/>
          </a:p>
        </p:txBody>
      </p:sp>
      <p:sp>
        <p:nvSpPr>
          <p:cNvPr id="4" name="Espace réservé du numéro de diapositive 3">
            <a:extLst>
              <a:ext uri="{FF2B5EF4-FFF2-40B4-BE49-F238E27FC236}">
                <a16:creationId xmlns:a16="http://schemas.microsoft.com/office/drawing/2014/main" id="{4EF9CF8F-5A61-585E-987F-DEA8CCDC8DC9}"/>
              </a:ext>
            </a:extLst>
          </p:cNvPr>
          <p:cNvSpPr>
            <a:spLocks noGrp="1"/>
          </p:cNvSpPr>
          <p:nvPr>
            <p:ph type="sldNum" sz="quarter" idx="5"/>
          </p:nvPr>
        </p:nvSpPr>
        <p:spPr/>
        <p:txBody>
          <a:bodyPr/>
          <a:lstStyle/>
          <a:p>
            <a:fld id="{0C45F229-639A-47C2-9FFC-3B798C6F9C82}" type="slidenum">
              <a:rPr lang="fr-FR" smtClean="0"/>
              <a:t>24</a:t>
            </a:fld>
            <a:endParaRPr lang="fr-FR"/>
          </a:p>
        </p:txBody>
      </p:sp>
    </p:spTree>
    <p:extLst>
      <p:ext uri="{BB962C8B-B14F-4D97-AF65-F5344CB8AC3E}">
        <p14:creationId xmlns:p14="http://schemas.microsoft.com/office/powerpoint/2010/main" val="32253129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2268B-69B7-CD2C-63A7-1496B1E1F53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548380-7D2D-4F28-238C-632E8FD8C7A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7657A32-F248-4C3F-0ADD-06053BB699DA}"/>
              </a:ext>
            </a:extLst>
          </p:cNvPr>
          <p:cNvSpPr>
            <a:spLocks noGrp="1"/>
          </p:cNvSpPr>
          <p:nvPr>
            <p:ph type="body" idx="1"/>
          </p:nvPr>
        </p:nvSpPr>
        <p:spPr/>
        <p:txBody>
          <a:bodyPr/>
          <a:lstStyle/>
          <a:p>
            <a:endParaRPr lang="fr-FR" sz="1200" b="0" kern="1200" dirty="0">
              <a:solidFill>
                <a:schemeClr val="tx1"/>
              </a:solidFill>
              <a:effectLst/>
              <a:latin typeface="+mn-lt"/>
              <a:ea typeface="+mn-ea"/>
              <a:cs typeface="+mn-cs"/>
            </a:endParaRPr>
          </a:p>
          <a:p>
            <a:r>
              <a:rPr lang="fr-FR" dirty="0"/>
              <a:t>On rejette H0 et donc au moins une catégorie a une variance différente</a:t>
            </a:r>
          </a:p>
        </p:txBody>
      </p:sp>
      <p:sp>
        <p:nvSpPr>
          <p:cNvPr id="4" name="Espace réservé du numéro de diapositive 3">
            <a:extLst>
              <a:ext uri="{FF2B5EF4-FFF2-40B4-BE49-F238E27FC236}">
                <a16:creationId xmlns:a16="http://schemas.microsoft.com/office/drawing/2014/main" id="{6453F68C-17A3-2D23-F43C-8A508D988CFC}"/>
              </a:ext>
            </a:extLst>
          </p:cNvPr>
          <p:cNvSpPr>
            <a:spLocks noGrp="1"/>
          </p:cNvSpPr>
          <p:nvPr>
            <p:ph type="sldNum" sz="quarter" idx="5"/>
          </p:nvPr>
        </p:nvSpPr>
        <p:spPr/>
        <p:txBody>
          <a:bodyPr/>
          <a:lstStyle/>
          <a:p>
            <a:fld id="{0C45F229-639A-47C2-9FFC-3B798C6F9C82}" type="slidenum">
              <a:rPr lang="fr-FR" smtClean="0"/>
              <a:t>25</a:t>
            </a:fld>
            <a:endParaRPr lang="fr-FR"/>
          </a:p>
        </p:txBody>
      </p:sp>
    </p:spTree>
    <p:extLst>
      <p:ext uri="{BB962C8B-B14F-4D97-AF65-F5344CB8AC3E}">
        <p14:creationId xmlns:p14="http://schemas.microsoft.com/office/powerpoint/2010/main" val="4172065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74A2D-52B6-2D90-7299-F0F88EAFCE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4677C56-3C6D-7136-A910-819F18249B2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D195C3F-F7D9-A13F-4C0C-5E67865DC82D}"/>
              </a:ext>
            </a:extLst>
          </p:cNvPr>
          <p:cNvSpPr>
            <a:spLocks noGrp="1"/>
          </p:cNvSpPr>
          <p:nvPr>
            <p:ph type="body" idx="1"/>
          </p:nvPr>
        </p:nvSpPr>
        <p:spPr/>
        <p:txBody>
          <a:bodyPr/>
          <a:lstStyle/>
          <a:p>
            <a:r>
              <a:rPr lang="fr-FR" sz="1200" b="0" kern="1200" dirty="0">
                <a:solidFill>
                  <a:schemeClr val="tx1"/>
                </a:solidFill>
                <a:effectLst/>
                <a:latin typeface="+mn-lt"/>
                <a:ea typeface="+mn-ea"/>
                <a:cs typeface="+mn-cs"/>
              </a:rPr>
              <a:t>#H0 : l’âge des clients est identique entre les trois catégories de livres</a:t>
            </a:r>
          </a:p>
          <a:p>
            <a:r>
              <a:rPr lang="fr-FR" sz="1200" b="0" kern="1200" dirty="0">
                <a:solidFill>
                  <a:schemeClr val="tx1"/>
                </a:solidFill>
                <a:effectLst/>
                <a:latin typeface="+mn-lt"/>
                <a:ea typeface="+mn-ea"/>
                <a:cs typeface="+mn-cs"/>
              </a:rPr>
              <a:t>#H1 : l’âge des clients diffère selon au moins une des catégories de livres.</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Après test de </a:t>
            </a:r>
            <a:r>
              <a:rPr lang="fr-FR" dirty="0"/>
              <a:t>Mann-Whitney U, on voit que chaque paire diffère significativement entre elles</a:t>
            </a:r>
          </a:p>
          <a:p>
            <a:r>
              <a:rPr lang="fr-FR" dirty="0"/>
              <a:t>Catégorie 0 = âge intermédiaire,</a:t>
            </a:r>
          </a:p>
          <a:p>
            <a:r>
              <a:rPr lang="fr-FR" sz="1200" b="0" kern="1200" dirty="0">
                <a:solidFill>
                  <a:schemeClr val="tx1"/>
                </a:solidFill>
                <a:effectLst/>
                <a:latin typeface="+mn-lt"/>
                <a:ea typeface="+mn-ea"/>
                <a:cs typeface="+mn-cs"/>
              </a:rPr>
              <a:t>Catégorie 1 = plus âgé</a:t>
            </a:r>
          </a:p>
          <a:p>
            <a:r>
              <a:rPr lang="fr-FR" sz="1200" b="0" kern="1200" dirty="0">
                <a:solidFill>
                  <a:schemeClr val="tx1"/>
                </a:solidFill>
                <a:effectLst/>
                <a:latin typeface="+mn-lt"/>
                <a:ea typeface="+mn-ea"/>
                <a:cs typeface="+mn-cs"/>
              </a:rPr>
              <a:t>Catégorie 2 = plus jeune</a:t>
            </a:r>
          </a:p>
          <a:p>
            <a:endParaRPr lang="fr-FR" sz="1200" b="0" kern="1200" dirty="0">
              <a:solidFill>
                <a:schemeClr val="tx1"/>
              </a:solidFill>
              <a:effectLst/>
              <a:latin typeface="+mn-lt"/>
              <a:ea typeface="+mn-ea"/>
              <a:cs typeface="+mn-cs"/>
            </a:endParaRPr>
          </a:p>
          <a:p>
            <a:endParaRPr lang="fr-FR" sz="1200" b="0" kern="1200" dirty="0">
              <a:solidFill>
                <a:schemeClr val="tx1"/>
              </a:solidFill>
              <a:effectLst/>
              <a:latin typeface="+mn-lt"/>
              <a:ea typeface="+mn-ea"/>
              <a:cs typeface="+mn-cs"/>
            </a:endParaRPr>
          </a:p>
          <a:p>
            <a:endParaRPr lang="fr-FR" dirty="0"/>
          </a:p>
        </p:txBody>
      </p:sp>
      <p:sp>
        <p:nvSpPr>
          <p:cNvPr id="4" name="Espace réservé du numéro de diapositive 3">
            <a:extLst>
              <a:ext uri="{FF2B5EF4-FFF2-40B4-BE49-F238E27FC236}">
                <a16:creationId xmlns:a16="http://schemas.microsoft.com/office/drawing/2014/main" id="{9D718792-EB63-8F42-23D9-611D61D059ED}"/>
              </a:ext>
            </a:extLst>
          </p:cNvPr>
          <p:cNvSpPr>
            <a:spLocks noGrp="1"/>
          </p:cNvSpPr>
          <p:nvPr>
            <p:ph type="sldNum" sz="quarter" idx="5"/>
          </p:nvPr>
        </p:nvSpPr>
        <p:spPr/>
        <p:txBody>
          <a:bodyPr/>
          <a:lstStyle/>
          <a:p>
            <a:fld id="{0C45F229-639A-47C2-9FFC-3B798C6F9C82}" type="slidenum">
              <a:rPr lang="fr-FR" smtClean="0"/>
              <a:t>26</a:t>
            </a:fld>
            <a:endParaRPr lang="fr-FR"/>
          </a:p>
        </p:txBody>
      </p:sp>
    </p:spTree>
    <p:extLst>
      <p:ext uri="{BB962C8B-B14F-4D97-AF65-F5344CB8AC3E}">
        <p14:creationId xmlns:p14="http://schemas.microsoft.com/office/powerpoint/2010/main" val="3134528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7032288-E4B3-43C9-A625-88461700D27F}"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1063962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3EC17F4-BA2C-47F8-BC4A-554287B7D2C6}"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dirty="0"/>
          </a:p>
        </p:txBody>
      </p:sp>
    </p:spTree>
    <p:extLst>
      <p:ext uri="{BB962C8B-B14F-4D97-AF65-F5344CB8AC3E}">
        <p14:creationId xmlns:p14="http://schemas.microsoft.com/office/powerpoint/2010/main" val="336678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F4F9A46-C734-45CC-B209-171D8BCA4DC5}"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dirty="0"/>
          </a:p>
        </p:txBody>
      </p:sp>
    </p:spTree>
    <p:extLst>
      <p:ext uri="{BB962C8B-B14F-4D97-AF65-F5344CB8AC3E}">
        <p14:creationId xmlns:p14="http://schemas.microsoft.com/office/powerpoint/2010/main" val="1373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BE1F16A-4251-4C09-8DFF-5B9AED624CCF}" type="datetime1">
              <a:rPr lang="fr-FR" smtClean="0"/>
              <a:t>17/02/2026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924E1FE-F45E-4AC9-BC37-882A34BA69EB}" type="slidenum">
              <a:rPr lang="fr-FR" smtClean="0"/>
              <a:t>‹N°›</a:t>
            </a:fld>
            <a:endParaRPr lang="fr-FR" dirty="0"/>
          </a:p>
        </p:txBody>
      </p:sp>
    </p:spTree>
    <p:extLst>
      <p:ext uri="{BB962C8B-B14F-4D97-AF65-F5344CB8AC3E}">
        <p14:creationId xmlns:p14="http://schemas.microsoft.com/office/powerpoint/2010/main" val="1282102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5618289-9BA4-41C3-8EAC-0C44161DD320}" type="datetime1">
              <a:rPr lang="fr-FR" smtClean="0"/>
              <a:t>17/02/2026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3208496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6B32E48-AE60-457F-BFB6-AF75D6EA5E79}" type="datetime1">
              <a:rPr lang="fr-FR" smtClean="0"/>
              <a:t>17/02/2026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3101699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B2694-8885-4BA5-AC59-480FFFB1B86B}" type="datetime1">
              <a:rPr lang="fr-FR" smtClean="0"/>
              <a:t>17/02/2026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3241818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B9441C3-8802-4A4D-A1FC-44DF76C874A4}" type="datetime1">
              <a:rPr lang="fr-FR" smtClean="0"/>
              <a:t>17/02/2026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367189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E801F2-C415-4CF2-B20B-269EB9B4DCF2}" type="datetime1">
              <a:rPr lang="fr-FR" smtClean="0"/>
              <a:t>17/02/2026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3760304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C2ABF9F-B42F-4333-82B1-9287C7FAAF35}"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1748334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0FEBA7A-234D-4019-BAFC-9D403AF54661}"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8384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AE2D6F6-525C-4F9F-8636-C94D4569EB44}"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3795260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667DD28-41E0-4C1D-8997-F8384150CA33}"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15186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238E267-6017-44A2-9EE2-E90DBAB5C6F0}"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2291681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3CE1B3F-3394-4B54-BA03-D8EC005A22DE}"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3402776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7C79233-5C55-480A-93DF-CE91D6B2D45A}" type="datetime1">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24E1FE-F45E-4AC9-BC37-882A34BA69EB}" type="slidenum">
              <a:rPr lang="fr-FR" smtClean="0"/>
              <a:t>‹N°›</a:t>
            </a:fld>
            <a:endParaRPr lang="fr-FR"/>
          </a:p>
        </p:txBody>
      </p:sp>
    </p:spTree>
    <p:extLst>
      <p:ext uri="{BB962C8B-B14F-4D97-AF65-F5344CB8AC3E}">
        <p14:creationId xmlns:p14="http://schemas.microsoft.com/office/powerpoint/2010/main" val="2082769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D7A85A0-31E3-4FAA-9E47-0F9BA8F5B54E}" type="datetime1">
              <a:rPr lang="fr-FR" smtClean="0"/>
              <a:t>17/02/2026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1200">
                <a:solidFill>
                  <a:schemeClr val="accent1"/>
                </a:solidFill>
              </a:defRPr>
            </a:lvl1pPr>
          </a:lstStyle>
          <a:p>
            <a:fld id="{7924E1FE-F45E-4AC9-BC37-882A34BA69EB}" type="slidenum">
              <a:rPr lang="fr-FR" smtClean="0"/>
              <a:pPr/>
              <a:t>‹N°›</a:t>
            </a:fld>
            <a:endParaRPr lang="fr-FR" sz="1200" dirty="0"/>
          </a:p>
        </p:txBody>
      </p:sp>
    </p:spTree>
    <p:extLst>
      <p:ext uri="{BB962C8B-B14F-4D97-AF65-F5344CB8AC3E}">
        <p14:creationId xmlns:p14="http://schemas.microsoft.com/office/powerpoint/2010/main" val="4081576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F2764A-795D-6360-3607-6FF634388C38}"/>
              </a:ext>
            </a:extLst>
          </p:cNvPr>
          <p:cNvSpPr>
            <a:spLocks noGrp="1"/>
          </p:cNvSpPr>
          <p:nvPr>
            <p:ph type="ctrTitle"/>
          </p:nvPr>
        </p:nvSpPr>
        <p:spPr>
          <a:xfrm>
            <a:off x="1524000" y="2235200"/>
            <a:ext cx="9144000" cy="2387600"/>
          </a:xfrm>
        </p:spPr>
        <p:txBody>
          <a:bodyPr/>
          <a:lstStyle/>
          <a:p>
            <a:r>
              <a:rPr lang="fr-FR" dirty="0"/>
              <a:t>Analyse des ventes de la librairie </a:t>
            </a:r>
            <a:r>
              <a:rPr lang="fr-FR" dirty="0" err="1"/>
              <a:t>Lapage</a:t>
            </a:r>
            <a:endParaRPr lang="fr-FR" dirty="0"/>
          </a:p>
        </p:txBody>
      </p:sp>
      <p:sp>
        <p:nvSpPr>
          <p:cNvPr id="3" name="Sous-titre 2">
            <a:extLst>
              <a:ext uri="{FF2B5EF4-FFF2-40B4-BE49-F238E27FC236}">
                <a16:creationId xmlns:a16="http://schemas.microsoft.com/office/drawing/2014/main" id="{01944B9B-2D67-55F8-7C73-254AE93CD753}"/>
              </a:ext>
            </a:extLst>
          </p:cNvPr>
          <p:cNvSpPr>
            <a:spLocks noGrp="1"/>
          </p:cNvSpPr>
          <p:nvPr>
            <p:ph type="subTitle" idx="1"/>
          </p:nvPr>
        </p:nvSpPr>
        <p:spPr>
          <a:xfrm>
            <a:off x="0" y="6257908"/>
            <a:ext cx="2020584" cy="600092"/>
          </a:xfrm>
        </p:spPr>
        <p:txBody>
          <a:bodyPr>
            <a:normAutofit fontScale="92500" lnSpcReduction="20000"/>
          </a:bodyPr>
          <a:lstStyle/>
          <a:p>
            <a:pPr algn="l"/>
            <a:r>
              <a:rPr lang="fr-FR" sz="1600" dirty="0"/>
              <a:t>Evan Fol</a:t>
            </a:r>
          </a:p>
          <a:p>
            <a:pPr algn="l"/>
            <a:r>
              <a:rPr lang="fr-FR" sz="1600" dirty="0"/>
              <a:t>29/01/2026</a:t>
            </a:r>
          </a:p>
        </p:txBody>
      </p:sp>
      <p:sp>
        <p:nvSpPr>
          <p:cNvPr id="4" name="Espace réservé du numéro de diapositive 3">
            <a:extLst>
              <a:ext uri="{FF2B5EF4-FFF2-40B4-BE49-F238E27FC236}">
                <a16:creationId xmlns:a16="http://schemas.microsoft.com/office/drawing/2014/main" id="{D1AF81DD-3173-970B-100F-A362E123F7BF}"/>
              </a:ext>
            </a:extLst>
          </p:cNvPr>
          <p:cNvSpPr>
            <a:spLocks noGrp="1"/>
          </p:cNvSpPr>
          <p:nvPr>
            <p:ph type="sldNum" sz="quarter" idx="12"/>
          </p:nvPr>
        </p:nvSpPr>
        <p:spPr/>
        <p:txBody>
          <a:bodyPr/>
          <a:lstStyle/>
          <a:p>
            <a:fld id="{7924E1FE-F45E-4AC9-BC37-882A34BA69EB}" type="slidenum">
              <a:rPr lang="fr-FR" b="1" smtClean="0"/>
              <a:t>1</a:t>
            </a:fld>
            <a:endParaRPr lang="fr-FR" b="1" dirty="0"/>
          </a:p>
        </p:txBody>
      </p:sp>
    </p:spTree>
    <p:extLst>
      <p:ext uri="{BB962C8B-B14F-4D97-AF65-F5344CB8AC3E}">
        <p14:creationId xmlns:p14="http://schemas.microsoft.com/office/powerpoint/2010/main" val="83628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EACF62-7D70-E26C-C64C-AB1B36B85DD9}"/>
              </a:ext>
            </a:extLst>
          </p:cNvPr>
          <p:cNvSpPr>
            <a:spLocks noGrp="1"/>
          </p:cNvSpPr>
          <p:nvPr>
            <p:ph type="title"/>
          </p:nvPr>
        </p:nvSpPr>
        <p:spPr/>
        <p:txBody>
          <a:bodyPr/>
          <a:lstStyle/>
          <a:p>
            <a:r>
              <a:rPr lang="fr-FR" dirty="0"/>
              <a:t>Présentation des données de départ</a:t>
            </a:r>
          </a:p>
        </p:txBody>
      </p:sp>
      <p:sp>
        <p:nvSpPr>
          <p:cNvPr id="3" name="Espace réservé du contenu 2">
            <a:extLst>
              <a:ext uri="{FF2B5EF4-FFF2-40B4-BE49-F238E27FC236}">
                <a16:creationId xmlns:a16="http://schemas.microsoft.com/office/drawing/2014/main" id="{1EBE1692-C663-A47A-F73F-42F2D6F9F53C}"/>
              </a:ext>
            </a:extLst>
          </p:cNvPr>
          <p:cNvSpPr>
            <a:spLocks noGrp="1"/>
          </p:cNvSpPr>
          <p:nvPr>
            <p:ph idx="1"/>
          </p:nvPr>
        </p:nvSpPr>
        <p:spPr/>
        <p:txBody>
          <a:bodyPr>
            <a:normAutofit fontScale="92500" lnSpcReduction="20000"/>
          </a:bodyPr>
          <a:lstStyle/>
          <a:p>
            <a:r>
              <a:rPr lang="fr-FR" dirty="0"/>
              <a:t>3 documents CSV :</a:t>
            </a:r>
          </a:p>
          <a:p>
            <a:pPr lvl="1"/>
            <a:r>
              <a:rPr lang="fr-FR" dirty="0" err="1"/>
              <a:t>Customers</a:t>
            </a:r>
            <a:r>
              <a:rPr lang="fr-FR" dirty="0"/>
              <a:t> (contient l’ID du client, son sexe et sa date de naissance)</a:t>
            </a:r>
          </a:p>
          <a:p>
            <a:pPr lvl="2"/>
            <a:r>
              <a:rPr lang="fr-FR" dirty="0"/>
              <a:t>8621 Clients</a:t>
            </a:r>
          </a:p>
          <a:p>
            <a:pPr lvl="2"/>
            <a:endParaRPr lang="fr-FR" dirty="0"/>
          </a:p>
          <a:p>
            <a:pPr lvl="2"/>
            <a:endParaRPr lang="fr-FR" dirty="0"/>
          </a:p>
          <a:p>
            <a:pPr lvl="2"/>
            <a:endParaRPr lang="fr-FR" dirty="0"/>
          </a:p>
          <a:p>
            <a:pPr lvl="1"/>
            <a:r>
              <a:rPr lang="fr-FR" dirty="0" err="1"/>
              <a:t>Products</a:t>
            </a:r>
            <a:r>
              <a:rPr lang="fr-FR" dirty="0"/>
              <a:t> (contient l’ID du produit, son prix et la catégorie auquel il appartient)</a:t>
            </a:r>
          </a:p>
          <a:p>
            <a:pPr lvl="2"/>
            <a:r>
              <a:rPr lang="fr-FR" dirty="0"/>
              <a:t>3286 Produits répartis dans 3 catégories</a:t>
            </a:r>
          </a:p>
          <a:p>
            <a:pPr lvl="2"/>
            <a:endParaRPr lang="fr-FR" dirty="0"/>
          </a:p>
          <a:p>
            <a:pPr lvl="2"/>
            <a:endParaRPr lang="fr-FR" dirty="0"/>
          </a:p>
          <a:p>
            <a:pPr lvl="2"/>
            <a:endParaRPr lang="fr-FR" dirty="0"/>
          </a:p>
          <a:p>
            <a:pPr lvl="1"/>
            <a:r>
              <a:rPr lang="fr-FR" dirty="0"/>
              <a:t>Transactions (contient l’ID du produit, la date , l’ID de la session et l’ID du client)</a:t>
            </a:r>
          </a:p>
          <a:p>
            <a:pPr lvl="2"/>
            <a:r>
              <a:rPr lang="fr-FR" dirty="0"/>
              <a:t>687’534 transactions au total</a:t>
            </a:r>
          </a:p>
        </p:txBody>
      </p:sp>
      <p:pic>
        <p:nvPicPr>
          <p:cNvPr id="5" name="Image 4" descr="Une image contenant texte, Police, capture d’écran, nombre&#10;&#10;Le contenu généré par l’IA peut être incorrect.">
            <a:extLst>
              <a:ext uri="{FF2B5EF4-FFF2-40B4-BE49-F238E27FC236}">
                <a16:creationId xmlns:a16="http://schemas.microsoft.com/office/drawing/2014/main" id="{056C0977-DB98-CD93-0462-3B7AD80CD743}"/>
              </a:ext>
            </a:extLst>
          </p:cNvPr>
          <p:cNvPicPr>
            <a:picLocks noChangeAspect="1"/>
          </p:cNvPicPr>
          <p:nvPr/>
        </p:nvPicPr>
        <p:blipFill>
          <a:blip r:embed="rId3"/>
          <a:stretch>
            <a:fillRect/>
          </a:stretch>
        </p:blipFill>
        <p:spPr>
          <a:xfrm>
            <a:off x="5132853" y="2937492"/>
            <a:ext cx="1676634" cy="714475"/>
          </a:xfrm>
          <a:prstGeom prst="rect">
            <a:avLst/>
          </a:prstGeom>
        </p:spPr>
      </p:pic>
      <p:pic>
        <p:nvPicPr>
          <p:cNvPr id="7" name="Image 6" descr="Une image contenant texte, Police, capture d’écran, nombre&#10;&#10;Le contenu généré par l’IA peut être incorrect.">
            <a:extLst>
              <a:ext uri="{FF2B5EF4-FFF2-40B4-BE49-F238E27FC236}">
                <a16:creationId xmlns:a16="http://schemas.microsoft.com/office/drawing/2014/main" id="{B26C832E-224C-2F36-1045-618830B16F36}"/>
              </a:ext>
            </a:extLst>
          </p:cNvPr>
          <p:cNvPicPr>
            <a:picLocks noChangeAspect="1"/>
          </p:cNvPicPr>
          <p:nvPr/>
        </p:nvPicPr>
        <p:blipFill>
          <a:blip r:embed="rId4"/>
          <a:stretch>
            <a:fillRect/>
          </a:stretch>
        </p:blipFill>
        <p:spPr>
          <a:xfrm>
            <a:off x="5132853" y="4397656"/>
            <a:ext cx="1629002" cy="714475"/>
          </a:xfrm>
          <a:prstGeom prst="rect">
            <a:avLst/>
          </a:prstGeom>
        </p:spPr>
      </p:pic>
      <p:pic>
        <p:nvPicPr>
          <p:cNvPr id="9" name="Image 8" descr="Une image contenant texte, capture d’écran, Police, nombre&#10;&#10;Le contenu généré par l’IA peut être incorrect.">
            <a:extLst>
              <a:ext uri="{FF2B5EF4-FFF2-40B4-BE49-F238E27FC236}">
                <a16:creationId xmlns:a16="http://schemas.microsoft.com/office/drawing/2014/main" id="{5E680F1F-0CFA-4371-C493-FD3F6D124D7B}"/>
              </a:ext>
            </a:extLst>
          </p:cNvPr>
          <p:cNvPicPr>
            <a:picLocks noChangeAspect="1"/>
          </p:cNvPicPr>
          <p:nvPr/>
        </p:nvPicPr>
        <p:blipFill>
          <a:blip r:embed="rId5"/>
          <a:stretch>
            <a:fillRect/>
          </a:stretch>
        </p:blipFill>
        <p:spPr>
          <a:xfrm>
            <a:off x="5132853" y="5857820"/>
            <a:ext cx="3572374" cy="781159"/>
          </a:xfrm>
          <a:prstGeom prst="rect">
            <a:avLst/>
          </a:prstGeom>
        </p:spPr>
      </p:pic>
      <p:sp>
        <p:nvSpPr>
          <p:cNvPr id="8" name="Espace réservé du numéro de diapositive 7">
            <a:extLst>
              <a:ext uri="{FF2B5EF4-FFF2-40B4-BE49-F238E27FC236}">
                <a16:creationId xmlns:a16="http://schemas.microsoft.com/office/drawing/2014/main" id="{4C441627-1F33-8D74-FCF5-73A71E80786F}"/>
              </a:ext>
            </a:extLst>
          </p:cNvPr>
          <p:cNvSpPr>
            <a:spLocks noGrp="1"/>
          </p:cNvSpPr>
          <p:nvPr>
            <p:ph type="sldNum" sz="quarter" idx="12"/>
          </p:nvPr>
        </p:nvSpPr>
        <p:spPr/>
        <p:txBody>
          <a:bodyPr/>
          <a:lstStyle/>
          <a:p>
            <a:fld id="{7924E1FE-F45E-4AC9-BC37-882A34BA69EB}" type="slidenum">
              <a:rPr lang="fr-FR" sz="1100" b="1" smtClean="0"/>
              <a:t>2</a:t>
            </a:fld>
            <a:endParaRPr lang="fr-FR" sz="1100" b="1" dirty="0"/>
          </a:p>
        </p:txBody>
      </p:sp>
    </p:spTree>
    <p:extLst>
      <p:ext uri="{BB962C8B-B14F-4D97-AF65-F5344CB8AC3E}">
        <p14:creationId xmlns:p14="http://schemas.microsoft.com/office/powerpoint/2010/main" val="2134261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A11B6-41E8-24A4-8B83-EDEA3BAD01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EB2B497-677C-268A-A377-108A2FFF3B10}"/>
              </a:ext>
            </a:extLst>
          </p:cNvPr>
          <p:cNvSpPr>
            <a:spLocks noGrp="1"/>
          </p:cNvSpPr>
          <p:nvPr>
            <p:ph type="title"/>
          </p:nvPr>
        </p:nvSpPr>
        <p:spPr/>
        <p:txBody>
          <a:bodyPr/>
          <a:lstStyle/>
          <a:p>
            <a:r>
              <a:rPr lang="fr-FR" dirty="0"/>
              <a:t>Présentation des données de départ</a:t>
            </a:r>
          </a:p>
        </p:txBody>
      </p:sp>
      <p:sp>
        <p:nvSpPr>
          <p:cNvPr id="3" name="Espace réservé du contenu 2">
            <a:extLst>
              <a:ext uri="{FF2B5EF4-FFF2-40B4-BE49-F238E27FC236}">
                <a16:creationId xmlns:a16="http://schemas.microsoft.com/office/drawing/2014/main" id="{EB9CF7A6-9C09-B0D4-0518-31B8787BDF6C}"/>
              </a:ext>
            </a:extLst>
          </p:cNvPr>
          <p:cNvSpPr>
            <a:spLocks noGrp="1"/>
          </p:cNvSpPr>
          <p:nvPr>
            <p:ph idx="1"/>
          </p:nvPr>
        </p:nvSpPr>
        <p:spPr/>
        <p:txBody>
          <a:bodyPr/>
          <a:lstStyle/>
          <a:p>
            <a:pPr>
              <a:buFont typeface="+mj-lt"/>
              <a:buAutoNum type="arabicPeriod"/>
            </a:pPr>
            <a:r>
              <a:rPr lang="fr-FR" dirty="0"/>
              <a:t>Afin de pouvoir travailler sur une seule table on fusionne les </a:t>
            </a:r>
            <a:r>
              <a:rPr lang="fr-FR" dirty="0" err="1"/>
              <a:t>dataframes</a:t>
            </a:r>
            <a:r>
              <a:rPr lang="fr-FR" dirty="0"/>
              <a:t> de transactions et Clients via l’ID client</a:t>
            </a:r>
          </a:p>
          <a:p>
            <a:pPr>
              <a:buFont typeface="+mj-lt"/>
              <a:buAutoNum type="arabicPeriod"/>
            </a:pPr>
            <a:endParaRPr lang="fr-FR" dirty="0"/>
          </a:p>
          <a:p>
            <a:pPr>
              <a:buFont typeface="+mj-lt"/>
              <a:buAutoNum type="arabicPeriod"/>
            </a:pPr>
            <a:r>
              <a:rPr lang="fr-FR" dirty="0"/>
              <a:t>On fait ensuite la même chose entre notre nouveau </a:t>
            </a:r>
            <a:r>
              <a:rPr lang="fr-FR" dirty="0" err="1"/>
              <a:t>dataframe</a:t>
            </a:r>
            <a:r>
              <a:rPr lang="fr-FR" dirty="0"/>
              <a:t> et produits cette fois via l’ID du produit</a:t>
            </a:r>
          </a:p>
          <a:p>
            <a:pPr>
              <a:buFont typeface="+mj-lt"/>
              <a:buAutoNum type="arabicPeriod"/>
            </a:pPr>
            <a:endParaRPr lang="fr-FR" dirty="0"/>
          </a:p>
          <a:p>
            <a:pPr>
              <a:buFont typeface="+mj-lt"/>
              <a:buAutoNum type="arabicPeriod"/>
            </a:pPr>
            <a:r>
              <a:rPr lang="fr-FR" dirty="0"/>
              <a:t>Notre </a:t>
            </a:r>
            <a:r>
              <a:rPr lang="fr-FR" dirty="0" err="1"/>
              <a:t>dataframe</a:t>
            </a:r>
            <a:r>
              <a:rPr lang="fr-FR" dirty="0"/>
              <a:t> final contient donc toutes nos informations</a:t>
            </a:r>
          </a:p>
        </p:txBody>
      </p:sp>
      <p:pic>
        <p:nvPicPr>
          <p:cNvPr id="5" name="Image 4" descr="Une image contenant texte, capture d’écran, Police, logiciel&#10;&#10;Le contenu généré par l’IA peut être incorrect.">
            <a:extLst>
              <a:ext uri="{FF2B5EF4-FFF2-40B4-BE49-F238E27FC236}">
                <a16:creationId xmlns:a16="http://schemas.microsoft.com/office/drawing/2014/main" id="{1019B2B2-084C-299F-0AB0-2163DB7C6F19}"/>
              </a:ext>
            </a:extLst>
          </p:cNvPr>
          <p:cNvPicPr>
            <a:picLocks noChangeAspect="1"/>
          </p:cNvPicPr>
          <p:nvPr/>
        </p:nvPicPr>
        <p:blipFill>
          <a:blip r:embed="rId2"/>
          <a:stretch>
            <a:fillRect/>
          </a:stretch>
        </p:blipFill>
        <p:spPr>
          <a:xfrm>
            <a:off x="2298769" y="4996608"/>
            <a:ext cx="5353797" cy="1590897"/>
          </a:xfrm>
          <a:prstGeom prst="rect">
            <a:avLst/>
          </a:prstGeom>
        </p:spPr>
      </p:pic>
      <p:sp>
        <p:nvSpPr>
          <p:cNvPr id="7" name="Espace réservé du numéro de diapositive 6">
            <a:extLst>
              <a:ext uri="{FF2B5EF4-FFF2-40B4-BE49-F238E27FC236}">
                <a16:creationId xmlns:a16="http://schemas.microsoft.com/office/drawing/2014/main" id="{A48CF57F-1210-A8B7-439C-F08F0E882B5E}"/>
              </a:ext>
            </a:extLst>
          </p:cNvPr>
          <p:cNvSpPr>
            <a:spLocks noGrp="1"/>
          </p:cNvSpPr>
          <p:nvPr>
            <p:ph type="sldNum" sz="quarter" idx="12"/>
          </p:nvPr>
        </p:nvSpPr>
        <p:spPr/>
        <p:txBody>
          <a:bodyPr/>
          <a:lstStyle/>
          <a:p>
            <a:fld id="{7924E1FE-F45E-4AC9-BC37-882A34BA69EB}" type="slidenum">
              <a:rPr lang="fr-FR" sz="1100" b="1" smtClean="0"/>
              <a:t>3</a:t>
            </a:fld>
            <a:endParaRPr lang="fr-FR" sz="1100" b="1" dirty="0"/>
          </a:p>
        </p:txBody>
      </p:sp>
    </p:spTree>
    <p:extLst>
      <p:ext uri="{BB962C8B-B14F-4D97-AF65-F5344CB8AC3E}">
        <p14:creationId xmlns:p14="http://schemas.microsoft.com/office/powerpoint/2010/main" val="2851799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E1ABE-C6B3-3C32-208B-6E398B88D1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DB4C955-CE25-1376-207D-2D5BE03924DD}"/>
              </a:ext>
            </a:extLst>
          </p:cNvPr>
          <p:cNvSpPr>
            <a:spLocks noGrp="1"/>
          </p:cNvSpPr>
          <p:nvPr>
            <p:ph type="title"/>
          </p:nvPr>
        </p:nvSpPr>
        <p:spPr/>
        <p:txBody>
          <a:bodyPr/>
          <a:lstStyle/>
          <a:p>
            <a:r>
              <a:rPr lang="fr-FR" dirty="0"/>
              <a:t>Analyse du chiffre d’affaires avec moyenne mobile</a:t>
            </a:r>
          </a:p>
        </p:txBody>
      </p:sp>
      <p:pic>
        <p:nvPicPr>
          <p:cNvPr id="6" name="Espace réservé du contenu 5" descr="Une image contenant texte, Tracé, ligne, diagramme&#10;&#10;Le contenu généré par l’IA peut être incorrect.">
            <a:extLst>
              <a:ext uri="{FF2B5EF4-FFF2-40B4-BE49-F238E27FC236}">
                <a16:creationId xmlns:a16="http://schemas.microsoft.com/office/drawing/2014/main" id="{56BC03DB-19E9-7869-08B4-B44A920A4DF2}"/>
              </a:ext>
            </a:extLst>
          </p:cNvPr>
          <p:cNvPicPr>
            <a:picLocks noGrp="1" noChangeAspect="1"/>
          </p:cNvPicPr>
          <p:nvPr>
            <p:ph idx="1"/>
          </p:nvPr>
        </p:nvPicPr>
        <p:blipFill>
          <a:blip r:embed="rId3"/>
          <a:stretch>
            <a:fillRect/>
          </a:stretch>
        </p:blipFill>
        <p:spPr>
          <a:xfrm>
            <a:off x="462779" y="1930400"/>
            <a:ext cx="7788572" cy="4537774"/>
          </a:xfrm>
          <a:prstGeom prst="rect">
            <a:avLst/>
          </a:prstGeom>
        </p:spPr>
      </p:pic>
      <p:sp>
        <p:nvSpPr>
          <p:cNvPr id="3" name="Accolade ouvrante 2">
            <a:extLst>
              <a:ext uri="{FF2B5EF4-FFF2-40B4-BE49-F238E27FC236}">
                <a16:creationId xmlns:a16="http://schemas.microsoft.com/office/drawing/2014/main" id="{798211AD-887A-DB00-5335-018F18B2C7CA}"/>
              </a:ext>
            </a:extLst>
          </p:cNvPr>
          <p:cNvSpPr/>
          <p:nvPr/>
        </p:nvSpPr>
        <p:spPr>
          <a:xfrm rot="5400000">
            <a:off x="2965729" y="2766391"/>
            <a:ext cx="675860" cy="649358"/>
          </a:xfrm>
          <a:prstGeom prst="leftBrace">
            <a:avLst>
              <a:gd name="adj1" fmla="val 8333"/>
              <a:gd name="adj2" fmla="val 53449"/>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fr-FR" dirty="0"/>
          </a:p>
        </p:txBody>
      </p:sp>
      <p:sp>
        <p:nvSpPr>
          <p:cNvPr id="4" name="Accolade ouvrante 3">
            <a:extLst>
              <a:ext uri="{FF2B5EF4-FFF2-40B4-BE49-F238E27FC236}">
                <a16:creationId xmlns:a16="http://schemas.microsoft.com/office/drawing/2014/main" id="{77E19879-E839-7442-237F-924382CFBF75}"/>
              </a:ext>
            </a:extLst>
          </p:cNvPr>
          <p:cNvSpPr/>
          <p:nvPr/>
        </p:nvSpPr>
        <p:spPr>
          <a:xfrm rot="5400000">
            <a:off x="4343814" y="2766391"/>
            <a:ext cx="675860" cy="649358"/>
          </a:xfrm>
          <a:prstGeom prst="leftBrace">
            <a:avLst>
              <a:gd name="adj1" fmla="val 8333"/>
              <a:gd name="adj2" fmla="val 53449"/>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fr-FR" dirty="0"/>
          </a:p>
        </p:txBody>
      </p:sp>
      <p:sp>
        <p:nvSpPr>
          <p:cNvPr id="5" name="ZoneTexte 4">
            <a:extLst>
              <a:ext uri="{FF2B5EF4-FFF2-40B4-BE49-F238E27FC236}">
                <a16:creationId xmlns:a16="http://schemas.microsoft.com/office/drawing/2014/main" id="{0270C10D-4058-B8D4-339C-000616B3EB93}"/>
              </a:ext>
            </a:extLst>
          </p:cNvPr>
          <p:cNvSpPr txBox="1"/>
          <p:nvPr/>
        </p:nvSpPr>
        <p:spPr>
          <a:xfrm>
            <a:off x="2237384" y="2383808"/>
            <a:ext cx="3697357" cy="369332"/>
          </a:xfrm>
          <a:prstGeom prst="rect">
            <a:avLst/>
          </a:prstGeom>
          <a:noFill/>
        </p:spPr>
        <p:txBody>
          <a:bodyPr wrap="square" rtlCol="0">
            <a:spAutoFit/>
          </a:bodyPr>
          <a:lstStyle/>
          <a:p>
            <a:r>
              <a:rPr lang="fr-FR" dirty="0"/>
              <a:t>2 Pics liés à évènement ponctuels</a:t>
            </a:r>
          </a:p>
        </p:txBody>
      </p:sp>
      <p:sp>
        <p:nvSpPr>
          <p:cNvPr id="7" name="Flèche : droite 6">
            <a:extLst>
              <a:ext uri="{FF2B5EF4-FFF2-40B4-BE49-F238E27FC236}">
                <a16:creationId xmlns:a16="http://schemas.microsoft.com/office/drawing/2014/main" id="{07FE1379-9E66-2C13-3966-FC53A5E10F9F}"/>
              </a:ext>
            </a:extLst>
          </p:cNvPr>
          <p:cNvSpPr/>
          <p:nvPr/>
        </p:nvSpPr>
        <p:spPr>
          <a:xfrm rot="19407998">
            <a:off x="8357338" y="2345298"/>
            <a:ext cx="1696278" cy="9159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2E6CA675-E276-16ED-1844-C9E422FF6F13}"/>
              </a:ext>
            </a:extLst>
          </p:cNvPr>
          <p:cNvSpPr txBox="1"/>
          <p:nvPr/>
        </p:nvSpPr>
        <p:spPr>
          <a:xfrm>
            <a:off x="8251350" y="3676180"/>
            <a:ext cx="2239617" cy="923330"/>
          </a:xfrm>
          <a:prstGeom prst="rect">
            <a:avLst/>
          </a:prstGeom>
          <a:noFill/>
        </p:spPr>
        <p:txBody>
          <a:bodyPr wrap="square" rtlCol="0">
            <a:spAutoFit/>
          </a:bodyPr>
          <a:lstStyle/>
          <a:p>
            <a:r>
              <a:rPr lang="fr-FR" dirty="0"/>
              <a:t>Augmentation globale du chiffre d’affaires </a:t>
            </a:r>
          </a:p>
        </p:txBody>
      </p:sp>
      <p:sp>
        <p:nvSpPr>
          <p:cNvPr id="11" name="Espace réservé du numéro de diapositive 10">
            <a:extLst>
              <a:ext uri="{FF2B5EF4-FFF2-40B4-BE49-F238E27FC236}">
                <a16:creationId xmlns:a16="http://schemas.microsoft.com/office/drawing/2014/main" id="{D680EB39-BFAB-2CC0-122A-5CA054E1BE38}"/>
              </a:ext>
            </a:extLst>
          </p:cNvPr>
          <p:cNvSpPr>
            <a:spLocks noGrp="1"/>
          </p:cNvSpPr>
          <p:nvPr>
            <p:ph type="sldNum" sz="quarter" idx="12"/>
          </p:nvPr>
        </p:nvSpPr>
        <p:spPr/>
        <p:txBody>
          <a:bodyPr/>
          <a:lstStyle/>
          <a:p>
            <a:fld id="{7924E1FE-F45E-4AC9-BC37-882A34BA69EB}" type="slidenum">
              <a:rPr lang="fr-FR" smtClean="0"/>
              <a:t>4</a:t>
            </a:fld>
            <a:endParaRPr lang="fr-FR" dirty="0"/>
          </a:p>
        </p:txBody>
      </p:sp>
    </p:spTree>
    <p:extLst>
      <p:ext uri="{BB962C8B-B14F-4D97-AF65-F5344CB8AC3E}">
        <p14:creationId xmlns:p14="http://schemas.microsoft.com/office/powerpoint/2010/main" val="1560427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49163-2102-AA86-6F3D-F3A0C03AA1E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69F5EE-3680-0DB6-A416-7FC2B5E321E1}"/>
              </a:ext>
            </a:extLst>
          </p:cNvPr>
          <p:cNvSpPr>
            <a:spLocks noGrp="1"/>
          </p:cNvSpPr>
          <p:nvPr>
            <p:ph type="title"/>
          </p:nvPr>
        </p:nvSpPr>
        <p:spPr/>
        <p:txBody>
          <a:bodyPr/>
          <a:lstStyle/>
          <a:p>
            <a:r>
              <a:rPr lang="fr-FR" dirty="0"/>
              <a:t>Analyse du chiffre d’affaires par catégories</a:t>
            </a:r>
          </a:p>
        </p:txBody>
      </p:sp>
      <p:pic>
        <p:nvPicPr>
          <p:cNvPr id="7" name="Espace réservé du contenu 6" descr="Une image contenant texte, capture d’écran, diagramme, Tracé&#10;&#10;Le contenu généré par l’IA peut être incorrect.">
            <a:extLst>
              <a:ext uri="{FF2B5EF4-FFF2-40B4-BE49-F238E27FC236}">
                <a16:creationId xmlns:a16="http://schemas.microsoft.com/office/drawing/2014/main" id="{85214469-3609-E93A-4521-6C0DC8678367}"/>
              </a:ext>
            </a:extLst>
          </p:cNvPr>
          <p:cNvPicPr>
            <a:picLocks noGrp="1" noChangeAspect="1"/>
          </p:cNvPicPr>
          <p:nvPr>
            <p:ph idx="1"/>
          </p:nvPr>
        </p:nvPicPr>
        <p:blipFill>
          <a:blip r:embed="rId3"/>
          <a:stretch>
            <a:fillRect/>
          </a:stretch>
        </p:blipFill>
        <p:spPr>
          <a:xfrm>
            <a:off x="470251" y="1930400"/>
            <a:ext cx="7871148" cy="4867831"/>
          </a:xfrm>
          <a:prstGeom prst="rect">
            <a:avLst/>
          </a:prstGeom>
        </p:spPr>
      </p:pic>
      <p:sp>
        <p:nvSpPr>
          <p:cNvPr id="3" name="ZoneTexte 2">
            <a:extLst>
              <a:ext uri="{FF2B5EF4-FFF2-40B4-BE49-F238E27FC236}">
                <a16:creationId xmlns:a16="http://schemas.microsoft.com/office/drawing/2014/main" id="{655F9351-40F7-1DBA-C4D0-D2B712570F8B}"/>
              </a:ext>
            </a:extLst>
          </p:cNvPr>
          <p:cNvSpPr txBox="1"/>
          <p:nvPr/>
        </p:nvSpPr>
        <p:spPr>
          <a:xfrm>
            <a:off x="8534399" y="3717984"/>
            <a:ext cx="2927257" cy="646331"/>
          </a:xfrm>
          <a:prstGeom prst="rect">
            <a:avLst/>
          </a:prstGeom>
          <a:solidFill>
            <a:schemeClr val="bg1">
              <a:alpha val="50196"/>
            </a:schemeClr>
          </a:solidFill>
        </p:spPr>
        <p:txBody>
          <a:bodyPr wrap="square" rtlCol="0">
            <a:spAutoFit/>
          </a:bodyPr>
          <a:lstStyle/>
          <a:p>
            <a:r>
              <a:rPr lang="fr-FR" b="1" dirty="0">
                <a:solidFill>
                  <a:srgbClr val="FF0000"/>
                </a:solidFill>
              </a:rPr>
              <a:t>Catégories 0 et 1 = Piliers du CA</a:t>
            </a:r>
          </a:p>
        </p:txBody>
      </p:sp>
      <p:sp>
        <p:nvSpPr>
          <p:cNvPr id="6" name="Espace réservé du numéro de diapositive 5">
            <a:extLst>
              <a:ext uri="{FF2B5EF4-FFF2-40B4-BE49-F238E27FC236}">
                <a16:creationId xmlns:a16="http://schemas.microsoft.com/office/drawing/2014/main" id="{572E1C40-4690-B8A5-3313-5F246E1007B5}"/>
              </a:ext>
            </a:extLst>
          </p:cNvPr>
          <p:cNvSpPr>
            <a:spLocks noGrp="1"/>
          </p:cNvSpPr>
          <p:nvPr>
            <p:ph type="sldNum" sz="quarter" idx="12"/>
          </p:nvPr>
        </p:nvSpPr>
        <p:spPr/>
        <p:txBody>
          <a:bodyPr/>
          <a:lstStyle/>
          <a:p>
            <a:fld id="{7924E1FE-F45E-4AC9-BC37-882A34BA69EB}" type="slidenum">
              <a:rPr lang="fr-FR" smtClean="0"/>
              <a:t>5</a:t>
            </a:fld>
            <a:endParaRPr lang="fr-FR" dirty="0"/>
          </a:p>
        </p:txBody>
      </p:sp>
    </p:spTree>
    <p:extLst>
      <p:ext uri="{BB962C8B-B14F-4D97-AF65-F5344CB8AC3E}">
        <p14:creationId xmlns:p14="http://schemas.microsoft.com/office/powerpoint/2010/main" val="1966305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FA6F-1E2C-B3A1-DA53-5010433290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4514603-028B-BDAE-2F84-0B2A024CE0E5}"/>
              </a:ext>
            </a:extLst>
          </p:cNvPr>
          <p:cNvSpPr>
            <a:spLocks noGrp="1"/>
          </p:cNvSpPr>
          <p:nvPr>
            <p:ph type="title"/>
          </p:nvPr>
        </p:nvSpPr>
        <p:spPr/>
        <p:txBody>
          <a:bodyPr/>
          <a:lstStyle/>
          <a:p>
            <a:r>
              <a:rPr lang="fr-FR" dirty="0"/>
              <a:t>Analyse de la répartition des ventes par catégories</a:t>
            </a:r>
          </a:p>
        </p:txBody>
      </p:sp>
      <p:pic>
        <p:nvPicPr>
          <p:cNvPr id="7" name="Espace réservé du contenu 6" descr="Une image contenant texte, capture d’écran, diagramme, Police&#10;&#10;Le contenu généré par l’IA peut être incorrect.">
            <a:extLst>
              <a:ext uri="{FF2B5EF4-FFF2-40B4-BE49-F238E27FC236}">
                <a16:creationId xmlns:a16="http://schemas.microsoft.com/office/drawing/2014/main" id="{51A564D5-2A19-FB2A-D742-7A166FB20183}"/>
              </a:ext>
            </a:extLst>
          </p:cNvPr>
          <p:cNvPicPr>
            <a:picLocks noGrp="1" noChangeAspect="1"/>
          </p:cNvPicPr>
          <p:nvPr>
            <p:ph idx="1"/>
          </p:nvPr>
        </p:nvPicPr>
        <p:blipFill>
          <a:blip r:embed="rId3"/>
          <a:stretch>
            <a:fillRect/>
          </a:stretch>
        </p:blipFill>
        <p:spPr>
          <a:xfrm>
            <a:off x="1583196" y="1930400"/>
            <a:ext cx="6533388" cy="4668382"/>
          </a:xfrm>
          <a:prstGeom prst="rect">
            <a:avLst/>
          </a:prstGeom>
        </p:spPr>
      </p:pic>
      <p:pic>
        <p:nvPicPr>
          <p:cNvPr id="9" name="Image 8">
            <a:extLst>
              <a:ext uri="{FF2B5EF4-FFF2-40B4-BE49-F238E27FC236}">
                <a16:creationId xmlns:a16="http://schemas.microsoft.com/office/drawing/2014/main" id="{CA98668E-EBC8-3008-8A74-0C978E583C23}"/>
              </a:ext>
            </a:extLst>
          </p:cNvPr>
          <p:cNvPicPr>
            <a:picLocks noChangeAspect="1"/>
          </p:cNvPicPr>
          <p:nvPr/>
        </p:nvPicPr>
        <p:blipFill>
          <a:blip r:embed="rId4"/>
          <a:stretch>
            <a:fillRect/>
          </a:stretch>
        </p:blipFill>
        <p:spPr>
          <a:xfrm>
            <a:off x="1572922" y="3728469"/>
            <a:ext cx="1653873" cy="563021"/>
          </a:xfrm>
          <a:prstGeom prst="rect">
            <a:avLst/>
          </a:prstGeom>
        </p:spPr>
      </p:pic>
      <p:pic>
        <p:nvPicPr>
          <p:cNvPr id="11" name="Image 10">
            <a:extLst>
              <a:ext uri="{FF2B5EF4-FFF2-40B4-BE49-F238E27FC236}">
                <a16:creationId xmlns:a16="http://schemas.microsoft.com/office/drawing/2014/main" id="{4FE0A854-F5B0-8740-23F9-74A836567095}"/>
              </a:ext>
            </a:extLst>
          </p:cNvPr>
          <p:cNvPicPr>
            <a:picLocks noChangeAspect="1"/>
          </p:cNvPicPr>
          <p:nvPr/>
        </p:nvPicPr>
        <p:blipFill>
          <a:blip r:embed="rId5"/>
          <a:stretch>
            <a:fillRect/>
          </a:stretch>
        </p:blipFill>
        <p:spPr>
          <a:xfrm>
            <a:off x="1882327" y="5015745"/>
            <a:ext cx="1571767" cy="492644"/>
          </a:xfrm>
          <a:prstGeom prst="rect">
            <a:avLst/>
          </a:prstGeom>
        </p:spPr>
      </p:pic>
      <p:sp>
        <p:nvSpPr>
          <p:cNvPr id="5" name="Espace réservé du numéro de diapositive 4">
            <a:extLst>
              <a:ext uri="{FF2B5EF4-FFF2-40B4-BE49-F238E27FC236}">
                <a16:creationId xmlns:a16="http://schemas.microsoft.com/office/drawing/2014/main" id="{C599A4E9-7CC8-0809-D192-5871D5CFA200}"/>
              </a:ext>
            </a:extLst>
          </p:cNvPr>
          <p:cNvSpPr>
            <a:spLocks noGrp="1"/>
          </p:cNvSpPr>
          <p:nvPr>
            <p:ph type="sldNum" sz="quarter" idx="12"/>
          </p:nvPr>
        </p:nvSpPr>
        <p:spPr/>
        <p:txBody>
          <a:bodyPr/>
          <a:lstStyle/>
          <a:p>
            <a:fld id="{7924E1FE-F45E-4AC9-BC37-882A34BA69EB}" type="slidenum">
              <a:rPr lang="fr-FR" smtClean="0"/>
              <a:t>6</a:t>
            </a:fld>
            <a:endParaRPr lang="fr-FR" dirty="0"/>
          </a:p>
        </p:txBody>
      </p:sp>
    </p:spTree>
    <p:extLst>
      <p:ext uri="{BB962C8B-B14F-4D97-AF65-F5344CB8AC3E}">
        <p14:creationId xmlns:p14="http://schemas.microsoft.com/office/powerpoint/2010/main" val="349612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11B66-342B-EFBD-AFE3-ABF5D248D5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193574D-E649-2177-8FB1-1D1BC3445EB2}"/>
              </a:ext>
            </a:extLst>
          </p:cNvPr>
          <p:cNvSpPr>
            <a:spLocks noGrp="1"/>
          </p:cNvSpPr>
          <p:nvPr>
            <p:ph type="title"/>
          </p:nvPr>
        </p:nvSpPr>
        <p:spPr/>
        <p:txBody>
          <a:bodyPr/>
          <a:lstStyle/>
          <a:p>
            <a:r>
              <a:rPr lang="fr-FR" dirty="0"/>
              <a:t>Analyse du prix moyen par catégorie</a:t>
            </a:r>
          </a:p>
        </p:txBody>
      </p:sp>
      <p:pic>
        <p:nvPicPr>
          <p:cNvPr id="6" name="Espace réservé du contenu 5" descr="Une image contenant texte, capture d’écran, diagramme, Rectangle&#10;&#10;Le contenu généré par l’IA peut être incorrect.">
            <a:extLst>
              <a:ext uri="{FF2B5EF4-FFF2-40B4-BE49-F238E27FC236}">
                <a16:creationId xmlns:a16="http://schemas.microsoft.com/office/drawing/2014/main" id="{4470D076-7C72-A3AD-D4F8-76BD8DFD90A3}"/>
              </a:ext>
            </a:extLst>
          </p:cNvPr>
          <p:cNvPicPr>
            <a:picLocks noGrp="1" noChangeAspect="1"/>
          </p:cNvPicPr>
          <p:nvPr>
            <p:ph idx="1"/>
          </p:nvPr>
        </p:nvPicPr>
        <p:blipFill>
          <a:blip r:embed="rId3"/>
          <a:stretch>
            <a:fillRect/>
          </a:stretch>
        </p:blipFill>
        <p:spPr>
          <a:xfrm>
            <a:off x="129519" y="1465850"/>
            <a:ext cx="6628664" cy="4436186"/>
          </a:xfrm>
          <a:prstGeom prst="rect">
            <a:avLst/>
          </a:prstGeom>
        </p:spPr>
      </p:pic>
      <p:sp>
        <p:nvSpPr>
          <p:cNvPr id="5" name="Espace réservé du numéro de diapositive 4">
            <a:extLst>
              <a:ext uri="{FF2B5EF4-FFF2-40B4-BE49-F238E27FC236}">
                <a16:creationId xmlns:a16="http://schemas.microsoft.com/office/drawing/2014/main" id="{594632D5-3F16-B97B-3E5A-A07FBCD1A662}"/>
              </a:ext>
            </a:extLst>
          </p:cNvPr>
          <p:cNvSpPr>
            <a:spLocks noGrp="1"/>
          </p:cNvSpPr>
          <p:nvPr>
            <p:ph type="sldNum" sz="quarter" idx="12"/>
          </p:nvPr>
        </p:nvSpPr>
        <p:spPr/>
        <p:txBody>
          <a:bodyPr/>
          <a:lstStyle/>
          <a:p>
            <a:fld id="{7924E1FE-F45E-4AC9-BC37-882A34BA69EB}" type="slidenum">
              <a:rPr lang="fr-FR" smtClean="0"/>
              <a:t>7</a:t>
            </a:fld>
            <a:endParaRPr lang="fr-FR" dirty="0"/>
          </a:p>
        </p:txBody>
      </p:sp>
      <p:pic>
        <p:nvPicPr>
          <p:cNvPr id="4" name="Image 3" descr="Une image contenant texte, capture d’écran, diagramme, Tracé&#10;&#10;Le contenu généré par l’IA peut être incorrect.">
            <a:extLst>
              <a:ext uri="{FF2B5EF4-FFF2-40B4-BE49-F238E27FC236}">
                <a16:creationId xmlns:a16="http://schemas.microsoft.com/office/drawing/2014/main" id="{92E59F91-DB0C-68BF-DDA2-C598991A172E}"/>
              </a:ext>
            </a:extLst>
          </p:cNvPr>
          <p:cNvPicPr>
            <a:picLocks noChangeAspect="1"/>
          </p:cNvPicPr>
          <p:nvPr/>
        </p:nvPicPr>
        <p:blipFill>
          <a:blip r:embed="rId4"/>
          <a:stretch>
            <a:fillRect/>
          </a:stretch>
        </p:blipFill>
        <p:spPr>
          <a:xfrm>
            <a:off x="6758183" y="1930399"/>
            <a:ext cx="5069640" cy="4036129"/>
          </a:xfrm>
          <a:prstGeom prst="rect">
            <a:avLst/>
          </a:prstGeom>
        </p:spPr>
      </p:pic>
    </p:spTree>
    <p:extLst>
      <p:ext uri="{BB962C8B-B14F-4D97-AF65-F5344CB8AC3E}">
        <p14:creationId xmlns:p14="http://schemas.microsoft.com/office/powerpoint/2010/main" val="2584257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20B3B-2B9B-F84E-61B9-4B4F8228F4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6BB012-88D5-4906-4CB8-43E232A3DCA7}"/>
              </a:ext>
            </a:extLst>
          </p:cNvPr>
          <p:cNvSpPr>
            <a:spLocks noGrp="1"/>
          </p:cNvSpPr>
          <p:nvPr>
            <p:ph type="title"/>
          </p:nvPr>
        </p:nvSpPr>
        <p:spPr/>
        <p:txBody>
          <a:bodyPr/>
          <a:lstStyle/>
          <a:p>
            <a:r>
              <a:rPr lang="fr-FR" dirty="0"/>
              <a:t>Analyse de l’évolution mensuelle du chiffre d’affaires par catégories</a:t>
            </a:r>
          </a:p>
        </p:txBody>
      </p:sp>
      <p:pic>
        <p:nvPicPr>
          <p:cNvPr id="9" name="Espace réservé du contenu 8" descr="Une image contenant texte, Tracé, diagramme, ligne&#10;&#10;Le contenu généré par l’IA peut être incorrect.">
            <a:extLst>
              <a:ext uri="{FF2B5EF4-FFF2-40B4-BE49-F238E27FC236}">
                <a16:creationId xmlns:a16="http://schemas.microsoft.com/office/drawing/2014/main" id="{0C8D0C03-4BD6-C65B-64A2-6AFCD3FF9FEE}"/>
              </a:ext>
            </a:extLst>
          </p:cNvPr>
          <p:cNvPicPr>
            <a:picLocks noGrp="1" noChangeAspect="1"/>
          </p:cNvPicPr>
          <p:nvPr>
            <p:ph idx="1"/>
          </p:nvPr>
        </p:nvPicPr>
        <p:blipFill>
          <a:blip r:embed="rId3"/>
          <a:stretch>
            <a:fillRect/>
          </a:stretch>
        </p:blipFill>
        <p:spPr>
          <a:xfrm>
            <a:off x="1060834" y="2135883"/>
            <a:ext cx="7829668" cy="4434587"/>
          </a:xfrm>
          <a:prstGeom prst="rect">
            <a:avLst/>
          </a:prstGeom>
        </p:spPr>
      </p:pic>
      <p:sp>
        <p:nvSpPr>
          <p:cNvPr id="5" name="Espace réservé du numéro de diapositive 4">
            <a:extLst>
              <a:ext uri="{FF2B5EF4-FFF2-40B4-BE49-F238E27FC236}">
                <a16:creationId xmlns:a16="http://schemas.microsoft.com/office/drawing/2014/main" id="{F3FF5538-6B0F-E2D6-53E4-882537401167}"/>
              </a:ext>
            </a:extLst>
          </p:cNvPr>
          <p:cNvSpPr>
            <a:spLocks noGrp="1"/>
          </p:cNvSpPr>
          <p:nvPr>
            <p:ph type="sldNum" sz="quarter" idx="12"/>
          </p:nvPr>
        </p:nvSpPr>
        <p:spPr/>
        <p:txBody>
          <a:bodyPr/>
          <a:lstStyle/>
          <a:p>
            <a:fld id="{7924E1FE-F45E-4AC9-BC37-882A34BA69EB}" type="slidenum">
              <a:rPr lang="fr-FR" smtClean="0"/>
              <a:t>8</a:t>
            </a:fld>
            <a:endParaRPr lang="fr-FR" dirty="0"/>
          </a:p>
        </p:txBody>
      </p:sp>
    </p:spTree>
    <p:extLst>
      <p:ext uri="{BB962C8B-B14F-4D97-AF65-F5344CB8AC3E}">
        <p14:creationId xmlns:p14="http://schemas.microsoft.com/office/powerpoint/2010/main" val="81207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7148E-B403-504A-E153-6C13EDCAE54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909C572-D0BC-BA46-24A0-123171933AEE}"/>
              </a:ext>
            </a:extLst>
          </p:cNvPr>
          <p:cNvSpPr>
            <a:spLocks noGrp="1"/>
          </p:cNvSpPr>
          <p:nvPr>
            <p:ph type="title"/>
          </p:nvPr>
        </p:nvSpPr>
        <p:spPr/>
        <p:txBody>
          <a:bodyPr/>
          <a:lstStyle/>
          <a:p>
            <a:r>
              <a:rPr lang="fr-FR" dirty="0"/>
              <a:t>Analyse de l’évolution mensuelle du nombre de clients</a:t>
            </a:r>
          </a:p>
        </p:txBody>
      </p:sp>
      <p:pic>
        <p:nvPicPr>
          <p:cNvPr id="6" name="Espace réservé du contenu 5" descr="Une image contenant Tracé, diagramme, ligne, texte&#10;&#10;Le contenu généré par l’IA peut être incorrect.">
            <a:extLst>
              <a:ext uri="{FF2B5EF4-FFF2-40B4-BE49-F238E27FC236}">
                <a16:creationId xmlns:a16="http://schemas.microsoft.com/office/drawing/2014/main" id="{533DE201-FAE4-197B-D974-509859381AFD}"/>
              </a:ext>
            </a:extLst>
          </p:cNvPr>
          <p:cNvPicPr>
            <a:picLocks noGrp="1" noChangeAspect="1"/>
          </p:cNvPicPr>
          <p:nvPr>
            <p:ph idx="1"/>
          </p:nvPr>
        </p:nvPicPr>
        <p:blipFill>
          <a:blip r:embed="rId3"/>
          <a:stretch>
            <a:fillRect/>
          </a:stretch>
        </p:blipFill>
        <p:spPr>
          <a:xfrm>
            <a:off x="677334" y="2119490"/>
            <a:ext cx="8547027" cy="4241925"/>
          </a:xfrm>
          <a:prstGeom prst="rect">
            <a:avLst/>
          </a:prstGeom>
        </p:spPr>
      </p:pic>
      <p:pic>
        <p:nvPicPr>
          <p:cNvPr id="3" name="Espace réservé du contenu 5" descr="Une image contenant texte, Tracé, ligne, diagramme&#10;&#10;Le contenu généré par l’IA peut être incorrect.">
            <a:extLst>
              <a:ext uri="{FF2B5EF4-FFF2-40B4-BE49-F238E27FC236}">
                <a16:creationId xmlns:a16="http://schemas.microsoft.com/office/drawing/2014/main" id="{9E1E6857-93A0-8BF8-0410-780C1E227C99}"/>
              </a:ext>
            </a:extLst>
          </p:cNvPr>
          <p:cNvPicPr>
            <a:picLocks noChangeAspect="1"/>
          </p:cNvPicPr>
          <p:nvPr/>
        </p:nvPicPr>
        <p:blipFill>
          <a:blip r:embed="rId4">
            <a:alphaModFix amt="20000"/>
          </a:blip>
          <a:srcRect l="10055" t="13839" r="3387" b="20451"/>
          <a:stretch>
            <a:fillRect/>
          </a:stretch>
        </p:blipFill>
        <p:spPr>
          <a:xfrm>
            <a:off x="1457739" y="2451652"/>
            <a:ext cx="7766622" cy="2981740"/>
          </a:xfrm>
          <a:prstGeom prst="rect">
            <a:avLst/>
          </a:prstGeom>
        </p:spPr>
      </p:pic>
      <p:sp>
        <p:nvSpPr>
          <p:cNvPr id="7" name="Espace réservé du numéro de diapositive 6">
            <a:extLst>
              <a:ext uri="{FF2B5EF4-FFF2-40B4-BE49-F238E27FC236}">
                <a16:creationId xmlns:a16="http://schemas.microsoft.com/office/drawing/2014/main" id="{40BB296F-EF97-A5DA-BB5A-5384D410DC02}"/>
              </a:ext>
            </a:extLst>
          </p:cNvPr>
          <p:cNvSpPr>
            <a:spLocks noGrp="1"/>
          </p:cNvSpPr>
          <p:nvPr>
            <p:ph type="sldNum" sz="quarter" idx="12"/>
          </p:nvPr>
        </p:nvSpPr>
        <p:spPr/>
        <p:txBody>
          <a:bodyPr/>
          <a:lstStyle/>
          <a:p>
            <a:fld id="{7924E1FE-F45E-4AC9-BC37-882A34BA69EB}" type="slidenum">
              <a:rPr lang="fr-FR" smtClean="0"/>
              <a:t>9</a:t>
            </a:fld>
            <a:endParaRPr lang="fr-FR" dirty="0"/>
          </a:p>
        </p:txBody>
      </p:sp>
    </p:spTree>
    <p:extLst>
      <p:ext uri="{BB962C8B-B14F-4D97-AF65-F5344CB8AC3E}">
        <p14:creationId xmlns:p14="http://schemas.microsoft.com/office/powerpoint/2010/main" val="2517061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184C3-FA6D-0076-6C7E-45051AE9B2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61424D-671C-6852-EFBF-78A10E5CC66D}"/>
              </a:ext>
            </a:extLst>
          </p:cNvPr>
          <p:cNvSpPr>
            <a:spLocks noGrp="1"/>
          </p:cNvSpPr>
          <p:nvPr>
            <p:ph type="title"/>
          </p:nvPr>
        </p:nvSpPr>
        <p:spPr/>
        <p:txBody>
          <a:bodyPr/>
          <a:lstStyle/>
          <a:p>
            <a:r>
              <a:rPr lang="fr-FR" dirty="0"/>
              <a:t>Analyse de l’évolution mensuelle du nombre de transactions</a:t>
            </a:r>
          </a:p>
        </p:txBody>
      </p:sp>
      <p:pic>
        <p:nvPicPr>
          <p:cNvPr id="7" name="Espace réservé du contenu 6" descr="Une image contenant texte, Tracé, ligne, diagramme&#10;&#10;Le contenu généré par l’IA peut être incorrect.">
            <a:extLst>
              <a:ext uri="{FF2B5EF4-FFF2-40B4-BE49-F238E27FC236}">
                <a16:creationId xmlns:a16="http://schemas.microsoft.com/office/drawing/2014/main" id="{C11D4378-6D1E-FDE8-1B24-B2B4ABEA4BFA}"/>
              </a:ext>
            </a:extLst>
          </p:cNvPr>
          <p:cNvPicPr>
            <a:picLocks noGrp="1" noChangeAspect="1"/>
          </p:cNvPicPr>
          <p:nvPr>
            <p:ph idx="1"/>
          </p:nvPr>
        </p:nvPicPr>
        <p:blipFill>
          <a:blip r:embed="rId3"/>
          <a:stretch>
            <a:fillRect/>
          </a:stretch>
        </p:blipFill>
        <p:spPr>
          <a:xfrm>
            <a:off x="334099" y="2037297"/>
            <a:ext cx="8939903" cy="4422900"/>
          </a:xfrm>
          <a:prstGeom prst="rect">
            <a:avLst/>
          </a:prstGeom>
        </p:spPr>
      </p:pic>
      <p:pic>
        <p:nvPicPr>
          <p:cNvPr id="3" name="Espace réservé du contenu 5" descr="Une image contenant texte, Tracé, ligne, diagramme&#10;&#10;Le contenu généré par l’IA peut être incorrect.">
            <a:extLst>
              <a:ext uri="{FF2B5EF4-FFF2-40B4-BE49-F238E27FC236}">
                <a16:creationId xmlns:a16="http://schemas.microsoft.com/office/drawing/2014/main" id="{D196CC54-4746-691E-5F23-CD4BF57C0C4A}"/>
              </a:ext>
            </a:extLst>
          </p:cNvPr>
          <p:cNvPicPr>
            <a:picLocks noChangeAspect="1"/>
          </p:cNvPicPr>
          <p:nvPr/>
        </p:nvPicPr>
        <p:blipFill>
          <a:blip r:embed="rId4">
            <a:alphaModFix amt="20000"/>
          </a:blip>
          <a:srcRect l="10861" t="21981" r="3323" b="19319"/>
          <a:stretch>
            <a:fillRect/>
          </a:stretch>
        </p:blipFill>
        <p:spPr>
          <a:xfrm>
            <a:off x="1338471" y="3034748"/>
            <a:ext cx="7935532" cy="2663688"/>
          </a:xfrm>
          <a:prstGeom prst="rect">
            <a:avLst/>
          </a:prstGeom>
        </p:spPr>
      </p:pic>
      <p:sp>
        <p:nvSpPr>
          <p:cNvPr id="6" name="Espace réservé du numéro de diapositive 5">
            <a:extLst>
              <a:ext uri="{FF2B5EF4-FFF2-40B4-BE49-F238E27FC236}">
                <a16:creationId xmlns:a16="http://schemas.microsoft.com/office/drawing/2014/main" id="{FB6EF5F6-61A6-3B9B-BE3A-3A7244B2D848}"/>
              </a:ext>
            </a:extLst>
          </p:cNvPr>
          <p:cNvSpPr>
            <a:spLocks noGrp="1"/>
          </p:cNvSpPr>
          <p:nvPr>
            <p:ph type="sldNum" sz="quarter" idx="12"/>
          </p:nvPr>
        </p:nvSpPr>
        <p:spPr/>
        <p:txBody>
          <a:bodyPr/>
          <a:lstStyle/>
          <a:p>
            <a:fld id="{7924E1FE-F45E-4AC9-BC37-882A34BA69EB}" type="slidenum">
              <a:rPr lang="fr-FR" smtClean="0"/>
              <a:t>10</a:t>
            </a:fld>
            <a:endParaRPr lang="fr-FR" dirty="0"/>
          </a:p>
        </p:txBody>
      </p:sp>
    </p:spTree>
    <p:extLst>
      <p:ext uri="{BB962C8B-B14F-4D97-AF65-F5344CB8AC3E}">
        <p14:creationId xmlns:p14="http://schemas.microsoft.com/office/powerpoint/2010/main" val="115796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4CAB-ADDA-8210-42E4-DD6EC698465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64B5336-EEC7-73EF-A7F5-A1EB89F1574B}"/>
              </a:ext>
            </a:extLst>
          </p:cNvPr>
          <p:cNvSpPr>
            <a:spLocks noGrp="1"/>
          </p:cNvSpPr>
          <p:nvPr>
            <p:ph type="title"/>
          </p:nvPr>
        </p:nvSpPr>
        <p:spPr/>
        <p:txBody>
          <a:bodyPr>
            <a:normAutofit/>
          </a:bodyPr>
          <a:lstStyle/>
          <a:p>
            <a:r>
              <a:rPr lang="fr-FR" dirty="0"/>
              <a:t>Évolution des produits vendus et tendance du chiffre d’affaires</a:t>
            </a:r>
          </a:p>
        </p:txBody>
      </p:sp>
      <p:pic>
        <p:nvPicPr>
          <p:cNvPr id="6" name="Espace réservé du contenu 5" descr="Une image contenant diagramme, ligne, Tracé, texte&#10;&#10;Le contenu généré par l’IA peut être incorrect.">
            <a:extLst>
              <a:ext uri="{FF2B5EF4-FFF2-40B4-BE49-F238E27FC236}">
                <a16:creationId xmlns:a16="http://schemas.microsoft.com/office/drawing/2014/main" id="{FB547ACB-AB2E-2FE5-E650-CDB96C75D0D8}"/>
              </a:ext>
            </a:extLst>
          </p:cNvPr>
          <p:cNvPicPr>
            <a:picLocks noGrp="1" noChangeAspect="1"/>
          </p:cNvPicPr>
          <p:nvPr>
            <p:ph idx="1"/>
          </p:nvPr>
        </p:nvPicPr>
        <p:blipFill>
          <a:blip r:embed="rId3"/>
          <a:stretch>
            <a:fillRect/>
          </a:stretch>
        </p:blipFill>
        <p:spPr>
          <a:xfrm>
            <a:off x="568389" y="2016750"/>
            <a:ext cx="8780552" cy="4353228"/>
          </a:xfrm>
          <a:prstGeom prst="rect">
            <a:avLst/>
          </a:prstGeom>
        </p:spPr>
      </p:pic>
      <p:pic>
        <p:nvPicPr>
          <p:cNvPr id="9" name="Espace réservé du contenu 5" descr="Une image contenant texte, Tracé, ligne, diagramme&#10;&#10;Le contenu généré par l’IA peut être incorrect.">
            <a:extLst>
              <a:ext uri="{FF2B5EF4-FFF2-40B4-BE49-F238E27FC236}">
                <a16:creationId xmlns:a16="http://schemas.microsoft.com/office/drawing/2014/main" id="{AB273793-B016-F0C6-8B70-6B4539861A3F}"/>
              </a:ext>
            </a:extLst>
          </p:cNvPr>
          <p:cNvPicPr>
            <a:picLocks noChangeAspect="1"/>
          </p:cNvPicPr>
          <p:nvPr/>
        </p:nvPicPr>
        <p:blipFill>
          <a:blip r:embed="rId4">
            <a:alphaModFix amt="20000"/>
          </a:blip>
          <a:srcRect l="9576" t="21326" r="3675" b="17941"/>
          <a:stretch>
            <a:fillRect/>
          </a:stretch>
        </p:blipFill>
        <p:spPr>
          <a:xfrm>
            <a:off x="1295400" y="2984500"/>
            <a:ext cx="8053541" cy="2755900"/>
          </a:xfrm>
          <a:prstGeom prst="rect">
            <a:avLst/>
          </a:prstGeom>
        </p:spPr>
      </p:pic>
      <p:sp>
        <p:nvSpPr>
          <p:cNvPr id="5" name="Espace réservé du numéro de diapositive 4">
            <a:extLst>
              <a:ext uri="{FF2B5EF4-FFF2-40B4-BE49-F238E27FC236}">
                <a16:creationId xmlns:a16="http://schemas.microsoft.com/office/drawing/2014/main" id="{EEFF2E1F-A67E-CD67-BA00-0EB31706EC53}"/>
              </a:ext>
            </a:extLst>
          </p:cNvPr>
          <p:cNvSpPr>
            <a:spLocks noGrp="1"/>
          </p:cNvSpPr>
          <p:nvPr>
            <p:ph type="sldNum" sz="quarter" idx="12"/>
          </p:nvPr>
        </p:nvSpPr>
        <p:spPr/>
        <p:txBody>
          <a:bodyPr/>
          <a:lstStyle/>
          <a:p>
            <a:fld id="{7924E1FE-F45E-4AC9-BC37-882A34BA69EB}" type="slidenum">
              <a:rPr lang="fr-FR" smtClean="0"/>
              <a:t>11</a:t>
            </a:fld>
            <a:endParaRPr lang="fr-FR" dirty="0"/>
          </a:p>
        </p:txBody>
      </p:sp>
    </p:spTree>
    <p:extLst>
      <p:ext uri="{BB962C8B-B14F-4D97-AF65-F5344CB8AC3E}">
        <p14:creationId xmlns:p14="http://schemas.microsoft.com/office/powerpoint/2010/main" val="3451545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725D-F77F-F42E-1DB5-4623085165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A284E8-CD26-0DA7-0ABD-EE479FF53E15}"/>
              </a:ext>
            </a:extLst>
          </p:cNvPr>
          <p:cNvSpPr>
            <a:spLocks noGrp="1"/>
          </p:cNvSpPr>
          <p:nvPr>
            <p:ph type="title"/>
          </p:nvPr>
        </p:nvSpPr>
        <p:spPr/>
        <p:txBody>
          <a:bodyPr/>
          <a:lstStyle/>
          <a:p>
            <a:r>
              <a:rPr lang="fr-FR" dirty="0"/>
              <a:t>Analyse des tops ventes</a:t>
            </a:r>
          </a:p>
        </p:txBody>
      </p:sp>
      <p:pic>
        <p:nvPicPr>
          <p:cNvPr id="7" name="Espace réservé du contenu 6" descr="Une image contenant capture d’écran, texte, ligne, Bleu électrique&#10;&#10;Le contenu généré par l’IA peut être incorrect.">
            <a:extLst>
              <a:ext uri="{FF2B5EF4-FFF2-40B4-BE49-F238E27FC236}">
                <a16:creationId xmlns:a16="http://schemas.microsoft.com/office/drawing/2014/main" id="{163DE557-0AA7-6709-8B11-9A6C8CDA3F3C}"/>
              </a:ext>
            </a:extLst>
          </p:cNvPr>
          <p:cNvPicPr>
            <a:picLocks noGrp="1" noChangeAspect="1"/>
          </p:cNvPicPr>
          <p:nvPr>
            <p:ph idx="1"/>
          </p:nvPr>
        </p:nvPicPr>
        <p:blipFill>
          <a:blip r:embed="rId3"/>
          <a:stretch>
            <a:fillRect/>
          </a:stretch>
        </p:blipFill>
        <p:spPr>
          <a:xfrm>
            <a:off x="335807" y="1270000"/>
            <a:ext cx="8938195" cy="5202719"/>
          </a:xfrm>
          <a:prstGeom prst="rect">
            <a:avLst/>
          </a:prstGeom>
        </p:spPr>
      </p:pic>
      <p:sp>
        <p:nvSpPr>
          <p:cNvPr id="5" name="Espace réservé du numéro de diapositive 4">
            <a:extLst>
              <a:ext uri="{FF2B5EF4-FFF2-40B4-BE49-F238E27FC236}">
                <a16:creationId xmlns:a16="http://schemas.microsoft.com/office/drawing/2014/main" id="{BA08490A-1143-C269-6A16-658572110394}"/>
              </a:ext>
            </a:extLst>
          </p:cNvPr>
          <p:cNvSpPr>
            <a:spLocks noGrp="1"/>
          </p:cNvSpPr>
          <p:nvPr>
            <p:ph type="sldNum" sz="quarter" idx="12"/>
          </p:nvPr>
        </p:nvSpPr>
        <p:spPr/>
        <p:txBody>
          <a:bodyPr/>
          <a:lstStyle/>
          <a:p>
            <a:fld id="{7924E1FE-F45E-4AC9-BC37-882A34BA69EB}" type="slidenum">
              <a:rPr lang="fr-FR" smtClean="0"/>
              <a:t>12</a:t>
            </a:fld>
            <a:endParaRPr lang="fr-FR" dirty="0"/>
          </a:p>
        </p:txBody>
      </p:sp>
    </p:spTree>
    <p:extLst>
      <p:ext uri="{BB962C8B-B14F-4D97-AF65-F5344CB8AC3E}">
        <p14:creationId xmlns:p14="http://schemas.microsoft.com/office/powerpoint/2010/main" val="2481281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2D8EF-E6F6-0E05-4C8B-B1460564B1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5EAA52F-7462-4AA6-DC13-A918CA3BFFC3}"/>
              </a:ext>
            </a:extLst>
          </p:cNvPr>
          <p:cNvSpPr>
            <a:spLocks noGrp="1"/>
          </p:cNvSpPr>
          <p:nvPr>
            <p:ph type="title"/>
          </p:nvPr>
        </p:nvSpPr>
        <p:spPr/>
        <p:txBody>
          <a:bodyPr/>
          <a:lstStyle/>
          <a:p>
            <a:r>
              <a:rPr lang="fr-FR" dirty="0"/>
              <a:t>Analyse des flops</a:t>
            </a:r>
          </a:p>
        </p:txBody>
      </p:sp>
      <p:pic>
        <p:nvPicPr>
          <p:cNvPr id="6" name="Espace réservé du contenu 5" descr="Une image contenant capture d’écran, texte, Rectangle, ligne&#10;&#10;Le contenu généré par l’IA peut être incorrect.">
            <a:extLst>
              <a:ext uri="{FF2B5EF4-FFF2-40B4-BE49-F238E27FC236}">
                <a16:creationId xmlns:a16="http://schemas.microsoft.com/office/drawing/2014/main" id="{E237B1AD-1C05-BBFC-9542-04F5CFB46F1F}"/>
              </a:ext>
            </a:extLst>
          </p:cNvPr>
          <p:cNvPicPr>
            <a:picLocks noGrp="1" noChangeAspect="1"/>
          </p:cNvPicPr>
          <p:nvPr>
            <p:ph idx="1"/>
          </p:nvPr>
        </p:nvPicPr>
        <p:blipFill>
          <a:blip r:embed="rId3"/>
          <a:stretch>
            <a:fillRect/>
          </a:stretch>
        </p:blipFill>
        <p:spPr>
          <a:xfrm>
            <a:off x="444248" y="1488281"/>
            <a:ext cx="8596668" cy="5203246"/>
          </a:xfrm>
          <a:prstGeom prst="rect">
            <a:avLst/>
          </a:prstGeom>
        </p:spPr>
      </p:pic>
      <p:sp>
        <p:nvSpPr>
          <p:cNvPr id="5" name="Espace réservé du numéro de diapositive 4">
            <a:extLst>
              <a:ext uri="{FF2B5EF4-FFF2-40B4-BE49-F238E27FC236}">
                <a16:creationId xmlns:a16="http://schemas.microsoft.com/office/drawing/2014/main" id="{631F46AA-E25D-6D3A-7C79-43CF296F2F63}"/>
              </a:ext>
            </a:extLst>
          </p:cNvPr>
          <p:cNvSpPr>
            <a:spLocks noGrp="1"/>
          </p:cNvSpPr>
          <p:nvPr>
            <p:ph type="sldNum" sz="quarter" idx="12"/>
          </p:nvPr>
        </p:nvSpPr>
        <p:spPr/>
        <p:txBody>
          <a:bodyPr/>
          <a:lstStyle/>
          <a:p>
            <a:fld id="{7924E1FE-F45E-4AC9-BC37-882A34BA69EB}" type="slidenum">
              <a:rPr lang="fr-FR" smtClean="0"/>
              <a:t>13</a:t>
            </a:fld>
            <a:endParaRPr lang="fr-FR" dirty="0"/>
          </a:p>
        </p:txBody>
      </p:sp>
    </p:spTree>
    <p:extLst>
      <p:ext uri="{BB962C8B-B14F-4D97-AF65-F5344CB8AC3E}">
        <p14:creationId xmlns:p14="http://schemas.microsoft.com/office/powerpoint/2010/main" val="3286509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15DD-5C53-DD63-378A-E00E6E2977A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5316E2-89DC-047A-CDEE-CA48AA0D1235}"/>
              </a:ext>
            </a:extLst>
          </p:cNvPr>
          <p:cNvSpPr>
            <a:spLocks noGrp="1"/>
          </p:cNvSpPr>
          <p:nvPr>
            <p:ph type="title"/>
          </p:nvPr>
        </p:nvSpPr>
        <p:spPr/>
        <p:txBody>
          <a:bodyPr>
            <a:normAutofit fontScale="90000"/>
          </a:bodyPr>
          <a:lstStyle/>
          <a:p>
            <a:r>
              <a:rPr lang="fr-FR" dirty="0"/>
              <a:t>Analyse de la répartition du chiffre d’affaires </a:t>
            </a:r>
            <a:r>
              <a:rPr lang="fr-FR" dirty="0" err="1"/>
              <a:t>BtoB</a:t>
            </a:r>
            <a:r>
              <a:rPr lang="fr-FR" dirty="0"/>
              <a:t> par catégories de produits</a:t>
            </a:r>
          </a:p>
        </p:txBody>
      </p:sp>
      <p:pic>
        <p:nvPicPr>
          <p:cNvPr id="6" name="Espace réservé du contenu 5" descr="Une image contenant texte, diagramme, capture d’écran, cercle&#10;&#10;Le contenu généré par l’IA peut être incorrect.">
            <a:extLst>
              <a:ext uri="{FF2B5EF4-FFF2-40B4-BE49-F238E27FC236}">
                <a16:creationId xmlns:a16="http://schemas.microsoft.com/office/drawing/2014/main" id="{4876F342-FBAE-E20F-9DDC-58BB80797BC8}"/>
              </a:ext>
            </a:extLst>
          </p:cNvPr>
          <p:cNvPicPr>
            <a:picLocks noGrp="1" noChangeAspect="1"/>
          </p:cNvPicPr>
          <p:nvPr>
            <p:ph idx="1"/>
          </p:nvPr>
        </p:nvPicPr>
        <p:blipFill>
          <a:blip r:embed="rId3"/>
          <a:stretch>
            <a:fillRect/>
          </a:stretch>
        </p:blipFill>
        <p:spPr>
          <a:xfrm>
            <a:off x="2346245" y="1930400"/>
            <a:ext cx="5040874" cy="4722130"/>
          </a:xfrm>
          <a:prstGeom prst="rect">
            <a:avLst/>
          </a:prstGeom>
        </p:spPr>
      </p:pic>
      <p:sp>
        <p:nvSpPr>
          <p:cNvPr id="5" name="Espace réservé du numéro de diapositive 4">
            <a:extLst>
              <a:ext uri="{FF2B5EF4-FFF2-40B4-BE49-F238E27FC236}">
                <a16:creationId xmlns:a16="http://schemas.microsoft.com/office/drawing/2014/main" id="{D23D554E-6566-F6EC-03EE-41D1D0562E17}"/>
              </a:ext>
            </a:extLst>
          </p:cNvPr>
          <p:cNvSpPr>
            <a:spLocks noGrp="1"/>
          </p:cNvSpPr>
          <p:nvPr>
            <p:ph type="sldNum" sz="quarter" idx="12"/>
          </p:nvPr>
        </p:nvSpPr>
        <p:spPr/>
        <p:txBody>
          <a:bodyPr/>
          <a:lstStyle/>
          <a:p>
            <a:fld id="{7924E1FE-F45E-4AC9-BC37-882A34BA69EB}" type="slidenum">
              <a:rPr lang="fr-FR" smtClean="0"/>
              <a:t>14</a:t>
            </a:fld>
            <a:endParaRPr lang="fr-FR" dirty="0"/>
          </a:p>
        </p:txBody>
      </p:sp>
    </p:spTree>
    <p:extLst>
      <p:ext uri="{BB962C8B-B14F-4D97-AF65-F5344CB8AC3E}">
        <p14:creationId xmlns:p14="http://schemas.microsoft.com/office/powerpoint/2010/main" val="1660669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2AFA9-DA74-3B1F-78A5-ACB605A195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DB2DF8-1B49-CD33-99C4-95F8C3944EAB}"/>
              </a:ext>
            </a:extLst>
          </p:cNvPr>
          <p:cNvSpPr>
            <a:spLocks noGrp="1"/>
          </p:cNvSpPr>
          <p:nvPr>
            <p:ph type="title"/>
          </p:nvPr>
        </p:nvSpPr>
        <p:spPr/>
        <p:txBody>
          <a:bodyPr>
            <a:normAutofit/>
          </a:bodyPr>
          <a:lstStyle/>
          <a:p>
            <a:r>
              <a:rPr lang="fr-FR" dirty="0"/>
              <a:t>Analyse de la dépense des clients </a:t>
            </a:r>
            <a:r>
              <a:rPr lang="fr-FR" dirty="0" err="1"/>
              <a:t>BtoB</a:t>
            </a:r>
            <a:r>
              <a:rPr lang="fr-FR" dirty="0"/>
              <a:t> par catégorie</a:t>
            </a:r>
          </a:p>
        </p:txBody>
      </p:sp>
      <p:sp>
        <p:nvSpPr>
          <p:cNvPr id="5" name="Espace réservé du numéro de diapositive 4">
            <a:extLst>
              <a:ext uri="{FF2B5EF4-FFF2-40B4-BE49-F238E27FC236}">
                <a16:creationId xmlns:a16="http://schemas.microsoft.com/office/drawing/2014/main" id="{399DF7EA-3C8F-14D8-3BED-BEBA4857AF11}"/>
              </a:ext>
            </a:extLst>
          </p:cNvPr>
          <p:cNvSpPr>
            <a:spLocks noGrp="1"/>
          </p:cNvSpPr>
          <p:nvPr>
            <p:ph type="sldNum" sz="quarter" idx="12"/>
          </p:nvPr>
        </p:nvSpPr>
        <p:spPr/>
        <p:txBody>
          <a:bodyPr/>
          <a:lstStyle/>
          <a:p>
            <a:fld id="{7924E1FE-F45E-4AC9-BC37-882A34BA69EB}" type="slidenum">
              <a:rPr lang="fr-FR" smtClean="0"/>
              <a:t>15</a:t>
            </a:fld>
            <a:endParaRPr lang="fr-FR" dirty="0"/>
          </a:p>
        </p:txBody>
      </p:sp>
      <p:pic>
        <p:nvPicPr>
          <p:cNvPr id="8" name="Espace réservé du contenu 7" descr="Une image contenant texte, capture d’écran, diagramme, Tracé&#10;&#10;Le contenu généré par l’IA peut être incorrect.">
            <a:extLst>
              <a:ext uri="{FF2B5EF4-FFF2-40B4-BE49-F238E27FC236}">
                <a16:creationId xmlns:a16="http://schemas.microsoft.com/office/drawing/2014/main" id="{FD645F44-4065-A23E-DC6F-DAB4A76E19A5}"/>
              </a:ext>
            </a:extLst>
          </p:cNvPr>
          <p:cNvPicPr>
            <a:picLocks noGrp="1" noChangeAspect="1"/>
          </p:cNvPicPr>
          <p:nvPr>
            <p:ph idx="1"/>
          </p:nvPr>
        </p:nvPicPr>
        <p:blipFill>
          <a:blip r:embed="rId3"/>
          <a:stretch>
            <a:fillRect/>
          </a:stretch>
        </p:blipFill>
        <p:spPr>
          <a:xfrm>
            <a:off x="1115730" y="1998683"/>
            <a:ext cx="7790764" cy="4662579"/>
          </a:xfrm>
          <a:prstGeom prst="rect">
            <a:avLst/>
          </a:prstGeom>
        </p:spPr>
      </p:pic>
    </p:spTree>
    <p:extLst>
      <p:ext uri="{BB962C8B-B14F-4D97-AF65-F5344CB8AC3E}">
        <p14:creationId xmlns:p14="http://schemas.microsoft.com/office/powerpoint/2010/main" val="3817151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F3D1-5F9C-70D9-D843-CC7A878DE5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03B889-598C-42DA-0884-DCC0ABFD626E}"/>
              </a:ext>
            </a:extLst>
          </p:cNvPr>
          <p:cNvSpPr>
            <a:spLocks noGrp="1"/>
          </p:cNvSpPr>
          <p:nvPr>
            <p:ph type="title"/>
          </p:nvPr>
        </p:nvSpPr>
        <p:spPr/>
        <p:txBody>
          <a:bodyPr>
            <a:normAutofit/>
          </a:bodyPr>
          <a:lstStyle/>
          <a:p>
            <a:r>
              <a:rPr lang="fr-FR" dirty="0"/>
              <a:t>Courbe de Lorenz</a:t>
            </a:r>
          </a:p>
        </p:txBody>
      </p:sp>
      <p:pic>
        <p:nvPicPr>
          <p:cNvPr id="7" name="Espace réservé du contenu 6" descr="Une image contenant texte, ligne, Tracé, diagramme&#10;&#10;Le contenu généré par l’IA peut être incorrect.">
            <a:extLst>
              <a:ext uri="{FF2B5EF4-FFF2-40B4-BE49-F238E27FC236}">
                <a16:creationId xmlns:a16="http://schemas.microsoft.com/office/drawing/2014/main" id="{87185CFF-A08F-3FB8-3B1E-097DA01758D7}"/>
              </a:ext>
            </a:extLst>
          </p:cNvPr>
          <p:cNvPicPr>
            <a:picLocks noGrp="1" noChangeAspect="1"/>
          </p:cNvPicPr>
          <p:nvPr>
            <p:ph idx="1"/>
          </p:nvPr>
        </p:nvPicPr>
        <p:blipFill>
          <a:blip r:embed="rId3"/>
          <a:stretch>
            <a:fillRect/>
          </a:stretch>
        </p:blipFill>
        <p:spPr>
          <a:xfrm>
            <a:off x="2500935" y="1770170"/>
            <a:ext cx="4937555" cy="4945406"/>
          </a:xfrm>
          <a:prstGeom prst="rect">
            <a:avLst/>
          </a:prstGeom>
        </p:spPr>
      </p:pic>
      <p:sp>
        <p:nvSpPr>
          <p:cNvPr id="5" name="Espace réservé du numéro de diapositive 4">
            <a:extLst>
              <a:ext uri="{FF2B5EF4-FFF2-40B4-BE49-F238E27FC236}">
                <a16:creationId xmlns:a16="http://schemas.microsoft.com/office/drawing/2014/main" id="{25D958B4-C9B5-9F2A-9642-ABBCF8B18C6D}"/>
              </a:ext>
            </a:extLst>
          </p:cNvPr>
          <p:cNvSpPr>
            <a:spLocks noGrp="1"/>
          </p:cNvSpPr>
          <p:nvPr>
            <p:ph type="sldNum" sz="quarter" idx="12"/>
          </p:nvPr>
        </p:nvSpPr>
        <p:spPr/>
        <p:txBody>
          <a:bodyPr/>
          <a:lstStyle/>
          <a:p>
            <a:fld id="{7924E1FE-F45E-4AC9-BC37-882A34BA69EB}" type="slidenum">
              <a:rPr lang="fr-FR" smtClean="0"/>
              <a:t>16</a:t>
            </a:fld>
            <a:endParaRPr lang="fr-FR" dirty="0"/>
          </a:p>
        </p:txBody>
      </p:sp>
    </p:spTree>
    <p:extLst>
      <p:ext uri="{BB962C8B-B14F-4D97-AF65-F5344CB8AC3E}">
        <p14:creationId xmlns:p14="http://schemas.microsoft.com/office/powerpoint/2010/main" val="2276979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82415-8354-EC64-2DC1-36C14C1861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282431-55E4-39EA-D0DA-FB05F142B2C6}"/>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79DFCF98-249C-C569-EDB3-FE2FA3353E12}"/>
              </a:ext>
            </a:extLst>
          </p:cNvPr>
          <p:cNvSpPr txBox="1">
            <a:spLocks/>
          </p:cNvSpPr>
          <p:nvPr/>
        </p:nvSpPr>
        <p:spPr>
          <a:xfrm>
            <a:off x="149118" y="816638"/>
            <a:ext cx="8596668" cy="1320800"/>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lgn="just">
              <a:buFont typeface="+mj-lt"/>
              <a:buAutoNum type="romanUcPeriod"/>
            </a:pPr>
            <a:r>
              <a:rPr lang="fr-FR" dirty="0"/>
              <a:t>Corrélations entre le genre d’un client et les catégories des livres achetés</a:t>
            </a:r>
          </a:p>
        </p:txBody>
      </p:sp>
      <p:pic>
        <p:nvPicPr>
          <p:cNvPr id="11" name="Espace réservé du contenu 10" descr="Une image contenant texte, capture d’écran, Police, conception&#10;&#10;Le contenu généré par l’IA peut être incorrect.">
            <a:extLst>
              <a:ext uri="{FF2B5EF4-FFF2-40B4-BE49-F238E27FC236}">
                <a16:creationId xmlns:a16="http://schemas.microsoft.com/office/drawing/2014/main" id="{ABBBDF7A-713C-790F-8ACE-1234A1B6BD34}"/>
              </a:ext>
            </a:extLst>
          </p:cNvPr>
          <p:cNvPicPr>
            <a:picLocks noGrp="1" noChangeAspect="1"/>
          </p:cNvPicPr>
          <p:nvPr>
            <p:ph idx="1"/>
          </p:nvPr>
        </p:nvPicPr>
        <p:blipFill>
          <a:blip r:embed="rId3"/>
          <a:stretch>
            <a:fillRect/>
          </a:stretch>
        </p:blipFill>
        <p:spPr>
          <a:xfrm>
            <a:off x="451787" y="2137438"/>
            <a:ext cx="5239906" cy="4095559"/>
          </a:xfrm>
          <a:prstGeom prst="rect">
            <a:avLst/>
          </a:prstGeom>
        </p:spPr>
      </p:pic>
      <p:pic>
        <p:nvPicPr>
          <p:cNvPr id="13" name="Image 12" descr="Une image contenant texte, Police, capture d’écran&#10;&#10;Le contenu généré par l’IA peut être incorrect.">
            <a:extLst>
              <a:ext uri="{FF2B5EF4-FFF2-40B4-BE49-F238E27FC236}">
                <a16:creationId xmlns:a16="http://schemas.microsoft.com/office/drawing/2014/main" id="{5296B25C-6512-3AAC-F8FC-8DCCC409801A}"/>
              </a:ext>
            </a:extLst>
          </p:cNvPr>
          <p:cNvPicPr>
            <a:picLocks noChangeAspect="1"/>
          </p:cNvPicPr>
          <p:nvPr/>
        </p:nvPicPr>
        <p:blipFill>
          <a:blip r:embed="rId4"/>
          <a:stretch>
            <a:fillRect/>
          </a:stretch>
        </p:blipFill>
        <p:spPr>
          <a:xfrm>
            <a:off x="6096000" y="4720562"/>
            <a:ext cx="3737863" cy="1320800"/>
          </a:xfrm>
          <a:prstGeom prst="rect">
            <a:avLst/>
          </a:prstGeom>
        </p:spPr>
      </p:pic>
      <p:sp>
        <p:nvSpPr>
          <p:cNvPr id="14" name="ZoneTexte 13">
            <a:extLst>
              <a:ext uri="{FF2B5EF4-FFF2-40B4-BE49-F238E27FC236}">
                <a16:creationId xmlns:a16="http://schemas.microsoft.com/office/drawing/2014/main" id="{A3194B90-0B6D-3543-D8B7-27F959FBEF41}"/>
              </a:ext>
            </a:extLst>
          </p:cNvPr>
          <p:cNvSpPr txBox="1"/>
          <p:nvPr/>
        </p:nvSpPr>
        <p:spPr>
          <a:xfrm>
            <a:off x="5853923" y="2012197"/>
            <a:ext cx="5783725" cy="1200329"/>
          </a:xfrm>
          <a:prstGeom prst="rect">
            <a:avLst/>
          </a:prstGeom>
          <a:noFill/>
        </p:spPr>
        <p:txBody>
          <a:bodyPr wrap="square" rtlCol="0">
            <a:spAutoFit/>
          </a:bodyPr>
          <a:lstStyle/>
          <a:p>
            <a:pPr marL="342900" indent="-342900">
              <a:buFont typeface="+mj-lt"/>
              <a:buAutoNum type="arabicPeriod"/>
            </a:pPr>
            <a:r>
              <a:rPr lang="fr-FR" dirty="0"/>
              <a:t>Données qualitatives</a:t>
            </a:r>
          </a:p>
          <a:p>
            <a:pPr marL="342900" indent="-342900">
              <a:buFont typeface="+mj-lt"/>
              <a:buAutoNum type="arabicPeriod"/>
            </a:pPr>
            <a:r>
              <a:rPr lang="fr-FR" dirty="0"/>
              <a:t>Observations indépendantes</a:t>
            </a:r>
          </a:p>
          <a:p>
            <a:pPr marL="342900" indent="-342900">
              <a:buFont typeface="+mj-lt"/>
              <a:buAutoNum type="arabicPeriod"/>
            </a:pPr>
            <a:r>
              <a:rPr lang="fr-FR" dirty="0"/>
              <a:t>Effectifs attendus suffisants dans chaque cellule</a:t>
            </a:r>
          </a:p>
          <a:p>
            <a:pPr marL="342900" indent="-342900">
              <a:buFont typeface="+mj-lt"/>
              <a:buAutoNum type="arabicPeriod"/>
            </a:pPr>
            <a:r>
              <a:rPr lang="fr-FR" dirty="0"/>
              <a:t>Tableau de contingence valide</a:t>
            </a:r>
          </a:p>
        </p:txBody>
      </p:sp>
      <p:sp>
        <p:nvSpPr>
          <p:cNvPr id="15" name="Flèche : bas 14">
            <a:extLst>
              <a:ext uri="{FF2B5EF4-FFF2-40B4-BE49-F238E27FC236}">
                <a16:creationId xmlns:a16="http://schemas.microsoft.com/office/drawing/2014/main" id="{2635CFB0-6242-1FA8-A16E-2B9FF0D05670}"/>
              </a:ext>
            </a:extLst>
          </p:cNvPr>
          <p:cNvSpPr/>
          <p:nvPr/>
        </p:nvSpPr>
        <p:spPr>
          <a:xfrm>
            <a:off x="7228122" y="3212526"/>
            <a:ext cx="1473617" cy="14179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Test Chi2</a:t>
            </a:r>
          </a:p>
        </p:txBody>
      </p:sp>
      <p:sp>
        <p:nvSpPr>
          <p:cNvPr id="6" name="Espace réservé du numéro de diapositive 5">
            <a:extLst>
              <a:ext uri="{FF2B5EF4-FFF2-40B4-BE49-F238E27FC236}">
                <a16:creationId xmlns:a16="http://schemas.microsoft.com/office/drawing/2014/main" id="{DA5A0AC5-C66D-F6D8-5F8C-39A8A88BB11D}"/>
              </a:ext>
            </a:extLst>
          </p:cNvPr>
          <p:cNvSpPr>
            <a:spLocks noGrp="1"/>
          </p:cNvSpPr>
          <p:nvPr>
            <p:ph type="sldNum" sz="quarter" idx="12"/>
          </p:nvPr>
        </p:nvSpPr>
        <p:spPr/>
        <p:txBody>
          <a:bodyPr/>
          <a:lstStyle/>
          <a:p>
            <a:fld id="{7924E1FE-F45E-4AC9-BC37-882A34BA69EB}" type="slidenum">
              <a:rPr lang="fr-FR" smtClean="0"/>
              <a:t>17</a:t>
            </a:fld>
            <a:endParaRPr lang="fr-FR" dirty="0"/>
          </a:p>
        </p:txBody>
      </p:sp>
    </p:spTree>
    <p:extLst>
      <p:ext uri="{BB962C8B-B14F-4D97-AF65-F5344CB8AC3E}">
        <p14:creationId xmlns:p14="http://schemas.microsoft.com/office/powerpoint/2010/main" val="660633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8A149-B488-FEC5-3451-2D335B93849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BAB4FB-5786-F45C-780D-D7306BF93EBA}"/>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0F688874-5F6C-6BE5-5606-D397E210F6E5}"/>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2"/>
            </a:pPr>
            <a:r>
              <a:rPr lang="fr-FR" dirty="0"/>
              <a:t>Corrélation entre l'âge du client et le montant des achats</a:t>
            </a:r>
          </a:p>
        </p:txBody>
      </p:sp>
      <p:sp>
        <p:nvSpPr>
          <p:cNvPr id="6" name="Espace réservé du numéro de diapositive 5">
            <a:extLst>
              <a:ext uri="{FF2B5EF4-FFF2-40B4-BE49-F238E27FC236}">
                <a16:creationId xmlns:a16="http://schemas.microsoft.com/office/drawing/2014/main" id="{F2CD429D-7E26-C1BB-E14B-FC6B8A4F721C}"/>
              </a:ext>
            </a:extLst>
          </p:cNvPr>
          <p:cNvSpPr>
            <a:spLocks noGrp="1"/>
          </p:cNvSpPr>
          <p:nvPr>
            <p:ph type="sldNum" sz="quarter" idx="12"/>
          </p:nvPr>
        </p:nvSpPr>
        <p:spPr/>
        <p:txBody>
          <a:bodyPr/>
          <a:lstStyle/>
          <a:p>
            <a:fld id="{7924E1FE-F45E-4AC9-BC37-882A34BA69EB}" type="slidenum">
              <a:rPr lang="fr-FR" smtClean="0"/>
              <a:t>18</a:t>
            </a:fld>
            <a:endParaRPr lang="fr-FR" dirty="0"/>
          </a:p>
        </p:txBody>
      </p:sp>
      <p:pic>
        <p:nvPicPr>
          <p:cNvPr id="4" name="Image 3" descr="Une image contenant Tracé, diagramme, capture d’écran, texte&#10;&#10;Le contenu généré par l’IA peut être incorrect.">
            <a:extLst>
              <a:ext uri="{FF2B5EF4-FFF2-40B4-BE49-F238E27FC236}">
                <a16:creationId xmlns:a16="http://schemas.microsoft.com/office/drawing/2014/main" id="{C7E8A103-ADD6-5194-FF58-C7A802B55232}"/>
              </a:ext>
            </a:extLst>
          </p:cNvPr>
          <p:cNvPicPr>
            <a:picLocks noChangeAspect="1"/>
          </p:cNvPicPr>
          <p:nvPr/>
        </p:nvPicPr>
        <p:blipFill>
          <a:blip r:embed="rId3"/>
          <a:stretch>
            <a:fillRect/>
          </a:stretch>
        </p:blipFill>
        <p:spPr>
          <a:xfrm>
            <a:off x="238526" y="2137438"/>
            <a:ext cx="6573167" cy="4420217"/>
          </a:xfrm>
          <a:prstGeom prst="rect">
            <a:avLst/>
          </a:prstGeom>
        </p:spPr>
      </p:pic>
      <p:pic>
        <p:nvPicPr>
          <p:cNvPr id="11" name="Image 10" descr="Une image contenant texte, ligne, Tracé, diagramme&#10;&#10;Le contenu généré par l’IA peut être incorrect.">
            <a:extLst>
              <a:ext uri="{FF2B5EF4-FFF2-40B4-BE49-F238E27FC236}">
                <a16:creationId xmlns:a16="http://schemas.microsoft.com/office/drawing/2014/main" id="{15FEDB1B-8112-793D-B415-814E346A538F}"/>
              </a:ext>
            </a:extLst>
          </p:cNvPr>
          <p:cNvPicPr>
            <a:picLocks noChangeAspect="1"/>
          </p:cNvPicPr>
          <p:nvPr/>
        </p:nvPicPr>
        <p:blipFill>
          <a:blip r:embed="rId4"/>
          <a:stretch>
            <a:fillRect/>
          </a:stretch>
        </p:blipFill>
        <p:spPr>
          <a:xfrm>
            <a:off x="6901101" y="2137438"/>
            <a:ext cx="4739336" cy="3728972"/>
          </a:xfrm>
          <a:prstGeom prst="rect">
            <a:avLst/>
          </a:prstGeom>
        </p:spPr>
      </p:pic>
    </p:spTree>
    <p:extLst>
      <p:ext uri="{BB962C8B-B14F-4D97-AF65-F5344CB8AC3E}">
        <p14:creationId xmlns:p14="http://schemas.microsoft.com/office/powerpoint/2010/main" val="3237950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9E6DB-7077-7210-E014-638C841F8FE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2580B2-8C31-8002-1ABC-72E01C471C0E}"/>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F39AEB6F-E504-6651-89B2-0EEA209C8695}"/>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2"/>
            </a:pPr>
            <a:r>
              <a:rPr lang="fr-FR" dirty="0"/>
              <a:t>Corrélation entre l'âge du client et le montant des achats</a:t>
            </a:r>
          </a:p>
        </p:txBody>
      </p:sp>
      <p:pic>
        <p:nvPicPr>
          <p:cNvPr id="4" name="Image 3" descr="Une image contenant texte, capture d’écran, Tracé, diagramme&#10;&#10;Le contenu généré par l’IA peut être incorrect.">
            <a:extLst>
              <a:ext uri="{FF2B5EF4-FFF2-40B4-BE49-F238E27FC236}">
                <a16:creationId xmlns:a16="http://schemas.microsoft.com/office/drawing/2014/main" id="{A8E08BFE-81E4-27E2-D1A0-BCE7A38BF3C5}"/>
              </a:ext>
            </a:extLst>
          </p:cNvPr>
          <p:cNvPicPr>
            <a:picLocks noChangeAspect="1"/>
          </p:cNvPicPr>
          <p:nvPr/>
        </p:nvPicPr>
        <p:blipFill>
          <a:blip r:embed="rId3"/>
          <a:stretch>
            <a:fillRect/>
          </a:stretch>
        </p:blipFill>
        <p:spPr>
          <a:xfrm>
            <a:off x="116844" y="2034696"/>
            <a:ext cx="6825271" cy="4720562"/>
          </a:xfrm>
          <a:prstGeom prst="rect">
            <a:avLst/>
          </a:prstGeom>
        </p:spPr>
      </p:pic>
      <p:sp>
        <p:nvSpPr>
          <p:cNvPr id="7" name="Espace réservé du numéro de diapositive 6">
            <a:extLst>
              <a:ext uri="{FF2B5EF4-FFF2-40B4-BE49-F238E27FC236}">
                <a16:creationId xmlns:a16="http://schemas.microsoft.com/office/drawing/2014/main" id="{42174667-6DEC-0B95-5806-23EC54152470}"/>
              </a:ext>
            </a:extLst>
          </p:cNvPr>
          <p:cNvSpPr>
            <a:spLocks noGrp="1"/>
          </p:cNvSpPr>
          <p:nvPr>
            <p:ph type="sldNum" sz="quarter" idx="12"/>
          </p:nvPr>
        </p:nvSpPr>
        <p:spPr/>
        <p:txBody>
          <a:bodyPr/>
          <a:lstStyle/>
          <a:p>
            <a:fld id="{7924E1FE-F45E-4AC9-BC37-882A34BA69EB}" type="slidenum">
              <a:rPr lang="fr-FR" smtClean="0"/>
              <a:t>19</a:t>
            </a:fld>
            <a:endParaRPr lang="fr-FR" dirty="0"/>
          </a:p>
        </p:txBody>
      </p:sp>
      <p:pic>
        <p:nvPicPr>
          <p:cNvPr id="6" name="Image 5" descr="Une image contenant texte, ligne, Tracé, capture d’écran&#10;&#10;Le contenu généré par l’IA peut être incorrect.">
            <a:extLst>
              <a:ext uri="{FF2B5EF4-FFF2-40B4-BE49-F238E27FC236}">
                <a16:creationId xmlns:a16="http://schemas.microsoft.com/office/drawing/2014/main" id="{70552DD1-00C7-A589-3DEC-0DBB6C30D813}"/>
              </a:ext>
            </a:extLst>
          </p:cNvPr>
          <p:cNvPicPr>
            <a:picLocks noChangeAspect="1"/>
          </p:cNvPicPr>
          <p:nvPr/>
        </p:nvPicPr>
        <p:blipFill>
          <a:blip r:embed="rId4"/>
          <a:stretch>
            <a:fillRect/>
          </a:stretch>
        </p:blipFill>
        <p:spPr>
          <a:xfrm>
            <a:off x="7144867" y="2034696"/>
            <a:ext cx="4659206" cy="3710687"/>
          </a:xfrm>
          <a:prstGeom prst="rect">
            <a:avLst/>
          </a:prstGeom>
        </p:spPr>
      </p:pic>
    </p:spTree>
    <p:extLst>
      <p:ext uri="{BB962C8B-B14F-4D97-AF65-F5344CB8AC3E}">
        <p14:creationId xmlns:p14="http://schemas.microsoft.com/office/powerpoint/2010/main" val="1267182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6DC78-9CB1-9ACF-58CD-C328A62B61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39C06C-C96D-0A05-4F08-93603E3964AF}"/>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8B1020FF-D01B-96F9-F975-F4ADA66381DE}"/>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2"/>
            </a:pPr>
            <a:r>
              <a:rPr lang="fr-FR" dirty="0"/>
              <a:t>Corrélation entre l'âge du client et le montant des achats</a:t>
            </a:r>
          </a:p>
        </p:txBody>
      </p:sp>
      <p:pic>
        <p:nvPicPr>
          <p:cNvPr id="6" name="Image 5" descr="Une image contenant texte, capture d’écran, Tracé, ligne&#10;&#10;Le contenu généré par l’IA peut être incorrect.">
            <a:extLst>
              <a:ext uri="{FF2B5EF4-FFF2-40B4-BE49-F238E27FC236}">
                <a16:creationId xmlns:a16="http://schemas.microsoft.com/office/drawing/2014/main" id="{0122CE86-678E-F432-F0E6-73D4AA01F185}"/>
              </a:ext>
            </a:extLst>
          </p:cNvPr>
          <p:cNvPicPr>
            <a:picLocks noChangeAspect="1"/>
          </p:cNvPicPr>
          <p:nvPr/>
        </p:nvPicPr>
        <p:blipFill>
          <a:blip r:embed="rId3"/>
          <a:srcRect t="7082"/>
          <a:stretch>
            <a:fillRect/>
          </a:stretch>
        </p:blipFill>
        <p:spPr>
          <a:xfrm>
            <a:off x="361444" y="2044784"/>
            <a:ext cx="5280153" cy="4052986"/>
          </a:xfrm>
          <a:prstGeom prst="rect">
            <a:avLst/>
          </a:prstGeom>
        </p:spPr>
      </p:pic>
      <p:sp>
        <p:nvSpPr>
          <p:cNvPr id="3" name="ZoneTexte 2">
            <a:extLst>
              <a:ext uri="{FF2B5EF4-FFF2-40B4-BE49-F238E27FC236}">
                <a16:creationId xmlns:a16="http://schemas.microsoft.com/office/drawing/2014/main" id="{55DE5414-8FC6-DCD5-D481-554A16B13D5C}"/>
              </a:ext>
            </a:extLst>
          </p:cNvPr>
          <p:cNvSpPr txBox="1"/>
          <p:nvPr/>
        </p:nvSpPr>
        <p:spPr>
          <a:xfrm>
            <a:off x="5853923" y="2012197"/>
            <a:ext cx="5783725" cy="1200329"/>
          </a:xfrm>
          <a:prstGeom prst="rect">
            <a:avLst/>
          </a:prstGeom>
          <a:noFill/>
        </p:spPr>
        <p:txBody>
          <a:bodyPr wrap="square" rtlCol="0">
            <a:spAutoFit/>
          </a:bodyPr>
          <a:lstStyle/>
          <a:p>
            <a:pPr marL="342900" indent="-342900">
              <a:buFont typeface="+mj-lt"/>
              <a:buAutoNum type="arabicPeriod"/>
            </a:pPr>
            <a:r>
              <a:rPr lang="fr-FR" dirty="0"/>
              <a:t>Données quantitatives</a:t>
            </a:r>
          </a:p>
          <a:p>
            <a:pPr marL="342900" indent="-342900">
              <a:buFont typeface="+mj-lt"/>
              <a:buAutoNum type="arabicPeriod"/>
            </a:pPr>
            <a:r>
              <a:rPr lang="fr-FR" dirty="0"/>
              <a:t>Observations indépendantes</a:t>
            </a:r>
          </a:p>
          <a:p>
            <a:pPr marL="342900" indent="-342900">
              <a:buFont typeface="+mj-lt"/>
              <a:buAutoNum type="arabicPeriod"/>
            </a:pPr>
            <a:r>
              <a:rPr lang="fr-FR" dirty="0"/>
              <a:t>Distribution normale non-validée</a:t>
            </a:r>
          </a:p>
          <a:p>
            <a:pPr marL="342900" indent="-342900">
              <a:buFont typeface="+mj-lt"/>
              <a:buAutoNum type="arabicPeriod"/>
            </a:pPr>
            <a:r>
              <a:rPr lang="fr-FR" dirty="0"/>
              <a:t>Relation linéaire entre les variables</a:t>
            </a:r>
          </a:p>
        </p:txBody>
      </p:sp>
      <p:sp>
        <p:nvSpPr>
          <p:cNvPr id="4" name="Flèche : bas 3">
            <a:extLst>
              <a:ext uri="{FF2B5EF4-FFF2-40B4-BE49-F238E27FC236}">
                <a16:creationId xmlns:a16="http://schemas.microsoft.com/office/drawing/2014/main" id="{0921A9F4-C3F0-D766-9DDC-A820A82E33B4}"/>
              </a:ext>
            </a:extLst>
          </p:cNvPr>
          <p:cNvSpPr/>
          <p:nvPr/>
        </p:nvSpPr>
        <p:spPr>
          <a:xfrm>
            <a:off x="7228122" y="3212526"/>
            <a:ext cx="2462143" cy="1608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Test de Spearman</a:t>
            </a:r>
          </a:p>
        </p:txBody>
      </p:sp>
      <p:sp>
        <p:nvSpPr>
          <p:cNvPr id="10" name="Espace réservé du numéro de diapositive 9">
            <a:extLst>
              <a:ext uri="{FF2B5EF4-FFF2-40B4-BE49-F238E27FC236}">
                <a16:creationId xmlns:a16="http://schemas.microsoft.com/office/drawing/2014/main" id="{95B39992-CDE4-0DEC-D99D-335A44657C2E}"/>
              </a:ext>
            </a:extLst>
          </p:cNvPr>
          <p:cNvSpPr>
            <a:spLocks noGrp="1"/>
          </p:cNvSpPr>
          <p:nvPr>
            <p:ph type="sldNum" sz="quarter" idx="12"/>
          </p:nvPr>
        </p:nvSpPr>
        <p:spPr/>
        <p:txBody>
          <a:bodyPr/>
          <a:lstStyle/>
          <a:p>
            <a:fld id="{7924E1FE-F45E-4AC9-BC37-882A34BA69EB}" type="slidenum">
              <a:rPr lang="fr-FR" smtClean="0"/>
              <a:t>20</a:t>
            </a:fld>
            <a:endParaRPr lang="fr-FR" dirty="0"/>
          </a:p>
        </p:txBody>
      </p:sp>
      <p:pic>
        <p:nvPicPr>
          <p:cNvPr id="9" name="Image 8">
            <a:extLst>
              <a:ext uri="{FF2B5EF4-FFF2-40B4-BE49-F238E27FC236}">
                <a16:creationId xmlns:a16="http://schemas.microsoft.com/office/drawing/2014/main" id="{9533D418-77F5-D254-EB67-56F0C4B0602F}"/>
              </a:ext>
            </a:extLst>
          </p:cNvPr>
          <p:cNvPicPr>
            <a:picLocks noChangeAspect="1"/>
          </p:cNvPicPr>
          <p:nvPr/>
        </p:nvPicPr>
        <p:blipFill>
          <a:blip r:embed="rId4"/>
          <a:stretch>
            <a:fillRect/>
          </a:stretch>
        </p:blipFill>
        <p:spPr>
          <a:xfrm>
            <a:off x="5853923" y="5023469"/>
            <a:ext cx="5878761" cy="451056"/>
          </a:xfrm>
          <a:prstGeom prst="rect">
            <a:avLst/>
          </a:prstGeom>
        </p:spPr>
      </p:pic>
    </p:spTree>
    <p:extLst>
      <p:ext uri="{BB962C8B-B14F-4D97-AF65-F5344CB8AC3E}">
        <p14:creationId xmlns:p14="http://schemas.microsoft.com/office/powerpoint/2010/main" val="3022769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A50B4-442C-ECC7-4DB1-A76095416F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D4014D-ACD2-BF65-CCF1-C547A809C070}"/>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E863E845-0F65-D2F7-BC90-147F70307A6D}"/>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3"/>
            </a:pPr>
            <a:r>
              <a:rPr lang="fr-FR" dirty="0"/>
              <a:t>Corrélation entre l'âge du client et la fréquence d'achat</a:t>
            </a:r>
          </a:p>
        </p:txBody>
      </p:sp>
      <p:pic>
        <p:nvPicPr>
          <p:cNvPr id="4" name="Image 3" descr="Une image contenant Tracé, diagramme, capture d’écran, texte&#10;&#10;Le contenu généré par l’IA peut être incorrect.">
            <a:extLst>
              <a:ext uri="{FF2B5EF4-FFF2-40B4-BE49-F238E27FC236}">
                <a16:creationId xmlns:a16="http://schemas.microsoft.com/office/drawing/2014/main" id="{EE1A6B11-002A-2298-1DAC-3A135E918FB5}"/>
              </a:ext>
            </a:extLst>
          </p:cNvPr>
          <p:cNvPicPr>
            <a:picLocks noChangeAspect="1"/>
          </p:cNvPicPr>
          <p:nvPr/>
        </p:nvPicPr>
        <p:blipFill>
          <a:blip r:embed="rId3"/>
          <a:stretch>
            <a:fillRect/>
          </a:stretch>
        </p:blipFill>
        <p:spPr>
          <a:xfrm>
            <a:off x="149118" y="2035233"/>
            <a:ext cx="6984099" cy="4674325"/>
          </a:xfrm>
          <a:prstGeom prst="rect">
            <a:avLst/>
          </a:prstGeom>
        </p:spPr>
      </p:pic>
      <p:sp>
        <p:nvSpPr>
          <p:cNvPr id="7" name="Espace réservé du numéro de diapositive 6">
            <a:extLst>
              <a:ext uri="{FF2B5EF4-FFF2-40B4-BE49-F238E27FC236}">
                <a16:creationId xmlns:a16="http://schemas.microsoft.com/office/drawing/2014/main" id="{E7860696-792E-9277-08F9-917DCEF0937C}"/>
              </a:ext>
            </a:extLst>
          </p:cNvPr>
          <p:cNvSpPr>
            <a:spLocks noGrp="1"/>
          </p:cNvSpPr>
          <p:nvPr>
            <p:ph type="sldNum" sz="quarter" idx="12"/>
          </p:nvPr>
        </p:nvSpPr>
        <p:spPr/>
        <p:txBody>
          <a:bodyPr/>
          <a:lstStyle/>
          <a:p>
            <a:fld id="{7924E1FE-F45E-4AC9-BC37-882A34BA69EB}" type="slidenum">
              <a:rPr lang="fr-FR" smtClean="0"/>
              <a:t>21</a:t>
            </a:fld>
            <a:endParaRPr lang="fr-FR" dirty="0"/>
          </a:p>
        </p:txBody>
      </p:sp>
      <p:pic>
        <p:nvPicPr>
          <p:cNvPr id="6" name="Image 5" descr="Une image contenant texte, ligne, Tracé, capture d’écran&#10;&#10;Le contenu généré par l’IA peut être incorrect.">
            <a:extLst>
              <a:ext uri="{FF2B5EF4-FFF2-40B4-BE49-F238E27FC236}">
                <a16:creationId xmlns:a16="http://schemas.microsoft.com/office/drawing/2014/main" id="{81774206-CE89-39BA-CD05-09194D077068}"/>
              </a:ext>
            </a:extLst>
          </p:cNvPr>
          <p:cNvPicPr>
            <a:picLocks noChangeAspect="1"/>
          </p:cNvPicPr>
          <p:nvPr/>
        </p:nvPicPr>
        <p:blipFill>
          <a:blip r:embed="rId4"/>
          <a:stretch>
            <a:fillRect/>
          </a:stretch>
        </p:blipFill>
        <p:spPr>
          <a:xfrm>
            <a:off x="7393294" y="2035232"/>
            <a:ext cx="4678408" cy="3664923"/>
          </a:xfrm>
          <a:prstGeom prst="rect">
            <a:avLst/>
          </a:prstGeom>
        </p:spPr>
      </p:pic>
    </p:spTree>
    <p:extLst>
      <p:ext uri="{BB962C8B-B14F-4D97-AF65-F5344CB8AC3E}">
        <p14:creationId xmlns:p14="http://schemas.microsoft.com/office/powerpoint/2010/main" val="322492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355F9-9632-11D7-1642-2AB7831758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2AF7EBF-49C8-BAD5-EF00-61F74740DA99}"/>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DD782B35-4AE9-3876-00E8-03EF05816294}"/>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3"/>
            </a:pPr>
            <a:r>
              <a:rPr lang="fr-FR" dirty="0"/>
              <a:t>Corrélation entre l'âge du client et la fréquence d'achat</a:t>
            </a:r>
          </a:p>
        </p:txBody>
      </p:sp>
      <p:sp>
        <p:nvSpPr>
          <p:cNvPr id="7" name="ZoneTexte 6">
            <a:extLst>
              <a:ext uri="{FF2B5EF4-FFF2-40B4-BE49-F238E27FC236}">
                <a16:creationId xmlns:a16="http://schemas.microsoft.com/office/drawing/2014/main" id="{B1CAEDF3-17C8-2AE6-EECC-929A9AAA7FC1}"/>
              </a:ext>
            </a:extLst>
          </p:cNvPr>
          <p:cNvSpPr txBox="1"/>
          <p:nvPr/>
        </p:nvSpPr>
        <p:spPr>
          <a:xfrm>
            <a:off x="5853923" y="2012197"/>
            <a:ext cx="5783725" cy="1200329"/>
          </a:xfrm>
          <a:prstGeom prst="rect">
            <a:avLst/>
          </a:prstGeom>
          <a:noFill/>
        </p:spPr>
        <p:txBody>
          <a:bodyPr wrap="square" rtlCol="0">
            <a:spAutoFit/>
          </a:bodyPr>
          <a:lstStyle/>
          <a:p>
            <a:pPr marL="342900" indent="-342900">
              <a:buFont typeface="+mj-lt"/>
              <a:buAutoNum type="arabicPeriod"/>
            </a:pPr>
            <a:r>
              <a:rPr lang="fr-FR" dirty="0"/>
              <a:t>Données quantitatives</a:t>
            </a:r>
          </a:p>
          <a:p>
            <a:pPr marL="342900" indent="-342900">
              <a:buFont typeface="+mj-lt"/>
              <a:buAutoNum type="arabicPeriod"/>
            </a:pPr>
            <a:r>
              <a:rPr lang="fr-FR" dirty="0"/>
              <a:t>Observations indépendantes</a:t>
            </a:r>
          </a:p>
          <a:p>
            <a:pPr marL="342900" indent="-342900">
              <a:buFont typeface="+mj-lt"/>
              <a:buAutoNum type="arabicPeriod"/>
            </a:pPr>
            <a:r>
              <a:rPr lang="fr-FR" dirty="0"/>
              <a:t>Distribution normale non-validée</a:t>
            </a:r>
          </a:p>
          <a:p>
            <a:pPr marL="342900" indent="-342900">
              <a:buFont typeface="+mj-lt"/>
              <a:buAutoNum type="arabicPeriod"/>
            </a:pPr>
            <a:r>
              <a:rPr lang="fr-FR" dirty="0"/>
              <a:t>Relation linéaire entre les variables</a:t>
            </a:r>
          </a:p>
        </p:txBody>
      </p:sp>
      <p:sp>
        <p:nvSpPr>
          <p:cNvPr id="8" name="Flèche : bas 7">
            <a:extLst>
              <a:ext uri="{FF2B5EF4-FFF2-40B4-BE49-F238E27FC236}">
                <a16:creationId xmlns:a16="http://schemas.microsoft.com/office/drawing/2014/main" id="{9C4F1213-B720-E238-1C69-AD46C7C9C0AC}"/>
              </a:ext>
            </a:extLst>
          </p:cNvPr>
          <p:cNvSpPr/>
          <p:nvPr/>
        </p:nvSpPr>
        <p:spPr>
          <a:xfrm>
            <a:off x="7228122" y="3212526"/>
            <a:ext cx="2426517" cy="1608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Test de Spearman</a:t>
            </a:r>
          </a:p>
        </p:txBody>
      </p:sp>
      <p:sp>
        <p:nvSpPr>
          <p:cNvPr id="9" name="Espace réservé du numéro de diapositive 8">
            <a:extLst>
              <a:ext uri="{FF2B5EF4-FFF2-40B4-BE49-F238E27FC236}">
                <a16:creationId xmlns:a16="http://schemas.microsoft.com/office/drawing/2014/main" id="{9E6C7BB8-F528-EA9D-02D9-E274CB302193}"/>
              </a:ext>
            </a:extLst>
          </p:cNvPr>
          <p:cNvSpPr>
            <a:spLocks noGrp="1"/>
          </p:cNvSpPr>
          <p:nvPr>
            <p:ph type="sldNum" sz="quarter" idx="12"/>
          </p:nvPr>
        </p:nvSpPr>
        <p:spPr/>
        <p:txBody>
          <a:bodyPr/>
          <a:lstStyle/>
          <a:p>
            <a:fld id="{7924E1FE-F45E-4AC9-BC37-882A34BA69EB}" type="slidenum">
              <a:rPr lang="fr-FR" smtClean="0"/>
              <a:t>22</a:t>
            </a:fld>
            <a:endParaRPr lang="fr-FR" dirty="0"/>
          </a:p>
        </p:txBody>
      </p:sp>
      <p:pic>
        <p:nvPicPr>
          <p:cNvPr id="4" name="Image 3" descr="Une image contenant capture d’écran, ligne, Tracé, diagramme&#10;&#10;Le contenu généré par l’IA peut être incorrect.">
            <a:extLst>
              <a:ext uri="{FF2B5EF4-FFF2-40B4-BE49-F238E27FC236}">
                <a16:creationId xmlns:a16="http://schemas.microsoft.com/office/drawing/2014/main" id="{6D3867BC-A364-BBFD-E1FF-4638E18A313E}"/>
              </a:ext>
            </a:extLst>
          </p:cNvPr>
          <p:cNvPicPr>
            <a:picLocks noChangeAspect="1"/>
          </p:cNvPicPr>
          <p:nvPr/>
        </p:nvPicPr>
        <p:blipFill>
          <a:blip r:embed="rId3"/>
          <a:stretch>
            <a:fillRect/>
          </a:stretch>
        </p:blipFill>
        <p:spPr>
          <a:xfrm>
            <a:off x="149117" y="2085642"/>
            <a:ext cx="5393347" cy="4053901"/>
          </a:xfrm>
          <a:prstGeom prst="rect">
            <a:avLst/>
          </a:prstGeom>
        </p:spPr>
      </p:pic>
      <p:pic>
        <p:nvPicPr>
          <p:cNvPr id="14" name="Image 13">
            <a:extLst>
              <a:ext uri="{FF2B5EF4-FFF2-40B4-BE49-F238E27FC236}">
                <a16:creationId xmlns:a16="http://schemas.microsoft.com/office/drawing/2014/main" id="{F8E1C369-0784-384D-ADAA-00F58146A4E9}"/>
              </a:ext>
            </a:extLst>
          </p:cNvPr>
          <p:cNvPicPr>
            <a:picLocks noChangeAspect="1"/>
          </p:cNvPicPr>
          <p:nvPr/>
        </p:nvPicPr>
        <p:blipFill>
          <a:blip r:embed="rId4"/>
          <a:stretch>
            <a:fillRect/>
          </a:stretch>
        </p:blipFill>
        <p:spPr>
          <a:xfrm>
            <a:off x="5542464" y="5006755"/>
            <a:ext cx="5240331" cy="394433"/>
          </a:xfrm>
          <a:prstGeom prst="rect">
            <a:avLst/>
          </a:prstGeom>
        </p:spPr>
      </p:pic>
    </p:spTree>
    <p:extLst>
      <p:ext uri="{BB962C8B-B14F-4D97-AF65-F5344CB8AC3E}">
        <p14:creationId xmlns:p14="http://schemas.microsoft.com/office/powerpoint/2010/main" val="1203903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D30C-E2AB-1E9C-34C0-53FA8BED9A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392FA7-BB9D-A4A2-7194-F796C2A6DF65}"/>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46F34B42-5DAF-BFB8-E428-6B5F539B3510}"/>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4"/>
            </a:pPr>
            <a:r>
              <a:rPr lang="fr-FR" dirty="0"/>
              <a:t>Corrélation entre l'âge du client et la taille du panier</a:t>
            </a:r>
          </a:p>
        </p:txBody>
      </p:sp>
      <p:sp>
        <p:nvSpPr>
          <p:cNvPr id="7" name="Espace réservé du numéro de diapositive 6">
            <a:extLst>
              <a:ext uri="{FF2B5EF4-FFF2-40B4-BE49-F238E27FC236}">
                <a16:creationId xmlns:a16="http://schemas.microsoft.com/office/drawing/2014/main" id="{60238575-7EBA-7A9D-38AC-3097F8734E31}"/>
              </a:ext>
            </a:extLst>
          </p:cNvPr>
          <p:cNvSpPr>
            <a:spLocks noGrp="1"/>
          </p:cNvSpPr>
          <p:nvPr>
            <p:ph type="sldNum" sz="quarter" idx="12"/>
          </p:nvPr>
        </p:nvSpPr>
        <p:spPr/>
        <p:txBody>
          <a:bodyPr/>
          <a:lstStyle/>
          <a:p>
            <a:fld id="{7924E1FE-F45E-4AC9-BC37-882A34BA69EB}" type="slidenum">
              <a:rPr lang="fr-FR" smtClean="0"/>
              <a:t>23</a:t>
            </a:fld>
            <a:endParaRPr lang="fr-FR" dirty="0"/>
          </a:p>
        </p:txBody>
      </p:sp>
      <p:pic>
        <p:nvPicPr>
          <p:cNvPr id="6" name="Image 5" descr="Une image contenant capture d’écran, Tracé, diagramme, texte&#10;&#10;Le contenu généré par l’IA peut être incorrect.">
            <a:extLst>
              <a:ext uri="{FF2B5EF4-FFF2-40B4-BE49-F238E27FC236}">
                <a16:creationId xmlns:a16="http://schemas.microsoft.com/office/drawing/2014/main" id="{368D5DF7-E81D-7AEA-D750-8CAFB1DE6FCB}"/>
              </a:ext>
            </a:extLst>
          </p:cNvPr>
          <p:cNvPicPr>
            <a:picLocks noChangeAspect="1"/>
          </p:cNvPicPr>
          <p:nvPr/>
        </p:nvPicPr>
        <p:blipFill>
          <a:blip r:embed="rId3"/>
          <a:stretch>
            <a:fillRect/>
          </a:stretch>
        </p:blipFill>
        <p:spPr>
          <a:xfrm>
            <a:off x="149118" y="2137438"/>
            <a:ext cx="6677957" cy="4496427"/>
          </a:xfrm>
          <a:prstGeom prst="rect">
            <a:avLst/>
          </a:prstGeom>
        </p:spPr>
      </p:pic>
      <p:pic>
        <p:nvPicPr>
          <p:cNvPr id="9" name="Image 8" descr="Une image contenant texte, ligne, capture d’écran, Tracé&#10;&#10;Le contenu généré par l’IA peut être incorrect.">
            <a:extLst>
              <a:ext uri="{FF2B5EF4-FFF2-40B4-BE49-F238E27FC236}">
                <a16:creationId xmlns:a16="http://schemas.microsoft.com/office/drawing/2014/main" id="{D13620A2-E0BB-4BE2-06C5-1BD7F5AD9053}"/>
              </a:ext>
            </a:extLst>
          </p:cNvPr>
          <p:cNvPicPr>
            <a:picLocks noChangeAspect="1"/>
          </p:cNvPicPr>
          <p:nvPr/>
        </p:nvPicPr>
        <p:blipFill>
          <a:blip r:embed="rId4"/>
          <a:stretch>
            <a:fillRect/>
          </a:stretch>
        </p:blipFill>
        <p:spPr>
          <a:xfrm>
            <a:off x="7013995" y="2137438"/>
            <a:ext cx="4837579" cy="3780360"/>
          </a:xfrm>
          <a:prstGeom prst="rect">
            <a:avLst/>
          </a:prstGeom>
        </p:spPr>
      </p:pic>
    </p:spTree>
    <p:extLst>
      <p:ext uri="{BB962C8B-B14F-4D97-AF65-F5344CB8AC3E}">
        <p14:creationId xmlns:p14="http://schemas.microsoft.com/office/powerpoint/2010/main" val="1766639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6011-0AF7-3E93-863A-E056435174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494A5D-4BBC-5A14-2FB2-9C7B5F1A2D82}"/>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FBF6D15C-CB6A-91DF-29E1-E6D443037F31}"/>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4"/>
            </a:pPr>
            <a:r>
              <a:rPr lang="fr-FR" dirty="0"/>
              <a:t>Corrélation entre l'âge du client et la taille du panier</a:t>
            </a:r>
          </a:p>
        </p:txBody>
      </p:sp>
      <p:sp>
        <p:nvSpPr>
          <p:cNvPr id="3" name="ZoneTexte 2">
            <a:extLst>
              <a:ext uri="{FF2B5EF4-FFF2-40B4-BE49-F238E27FC236}">
                <a16:creationId xmlns:a16="http://schemas.microsoft.com/office/drawing/2014/main" id="{0BE24549-1154-0340-5593-5BE584CF2367}"/>
              </a:ext>
            </a:extLst>
          </p:cNvPr>
          <p:cNvSpPr txBox="1"/>
          <p:nvPr/>
        </p:nvSpPr>
        <p:spPr>
          <a:xfrm>
            <a:off x="5853923" y="2012197"/>
            <a:ext cx="5783725" cy="1200329"/>
          </a:xfrm>
          <a:prstGeom prst="rect">
            <a:avLst/>
          </a:prstGeom>
          <a:noFill/>
        </p:spPr>
        <p:txBody>
          <a:bodyPr wrap="square" rtlCol="0">
            <a:spAutoFit/>
          </a:bodyPr>
          <a:lstStyle/>
          <a:p>
            <a:pPr marL="342900" indent="-342900">
              <a:buFont typeface="+mj-lt"/>
              <a:buAutoNum type="arabicPeriod"/>
            </a:pPr>
            <a:r>
              <a:rPr lang="fr-FR" dirty="0"/>
              <a:t>Données quantitatives</a:t>
            </a:r>
          </a:p>
          <a:p>
            <a:pPr marL="342900" indent="-342900">
              <a:buFont typeface="+mj-lt"/>
              <a:buAutoNum type="arabicPeriod"/>
            </a:pPr>
            <a:r>
              <a:rPr lang="fr-FR" dirty="0"/>
              <a:t>Observations indépendantes</a:t>
            </a:r>
          </a:p>
          <a:p>
            <a:pPr marL="342900" indent="-342900">
              <a:buFont typeface="+mj-lt"/>
              <a:buAutoNum type="arabicPeriod"/>
            </a:pPr>
            <a:r>
              <a:rPr lang="fr-FR" dirty="0"/>
              <a:t>Distribution normale non-validée</a:t>
            </a:r>
          </a:p>
          <a:p>
            <a:pPr marL="342900" indent="-342900">
              <a:buFont typeface="+mj-lt"/>
              <a:buAutoNum type="arabicPeriod"/>
            </a:pPr>
            <a:r>
              <a:rPr lang="fr-FR" dirty="0"/>
              <a:t>Relation linéaire entre les variables</a:t>
            </a:r>
          </a:p>
        </p:txBody>
      </p:sp>
      <p:sp>
        <p:nvSpPr>
          <p:cNvPr id="4" name="Flèche : bas 3">
            <a:extLst>
              <a:ext uri="{FF2B5EF4-FFF2-40B4-BE49-F238E27FC236}">
                <a16:creationId xmlns:a16="http://schemas.microsoft.com/office/drawing/2014/main" id="{8DC62723-9ADE-6BC1-9DE4-08539A75BB84}"/>
              </a:ext>
            </a:extLst>
          </p:cNvPr>
          <p:cNvSpPr/>
          <p:nvPr/>
        </p:nvSpPr>
        <p:spPr>
          <a:xfrm>
            <a:off x="7228122" y="3212526"/>
            <a:ext cx="2450268" cy="1608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Test de Spearman</a:t>
            </a:r>
          </a:p>
        </p:txBody>
      </p:sp>
      <p:sp>
        <p:nvSpPr>
          <p:cNvPr id="10" name="Espace réservé du numéro de diapositive 9">
            <a:extLst>
              <a:ext uri="{FF2B5EF4-FFF2-40B4-BE49-F238E27FC236}">
                <a16:creationId xmlns:a16="http://schemas.microsoft.com/office/drawing/2014/main" id="{D8E886A3-13EB-B386-53DA-7B2CACB0BF9F}"/>
              </a:ext>
            </a:extLst>
          </p:cNvPr>
          <p:cNvSpPr>
            <a:spLocks noGrp="1"/>
          </p:cNvSpPr>
          <p:nvPr>
            <p:ph type="sldNum" sz="quarter" idx="12"/>
          </p:nvPr>
        </p:nvSpPr>
        <p:spPr/>
        <p:txBody>
          <a:bodyPr/>
          <a:lstStyle/>
          <a:p>
            <a:fld id="{7924E1FE-F45E-4AC9-BC37-882A34BA69EB}" type="slidenum">
              <a:rPr lang="fr-FR" smtClean="0"/>
              <a:t>24</a:t>
            </a:fld>
            <a:endParaRPr lang="fr-FR" dirty="0"/>
          </a:p>
        </p:txBody>
      </p:sp>
      <p:pic>
        <p:nvPicPr>
          <p:cNvPr id="8" name="Image 7" descr="Une image contenant Tracé, ligne, capture d’écran, diagramme&#10;&#10;Le contenu généré par l’IA peut être incorrect.">
            <a:extLst>
              <a:ext uri="{FF2B5EF4-FFF2-40B4-BE49-F238E27FC236}">
                <a16:creationId xmlns:a16="http://schemas.microsoft.com/office/drawing/2014/main" id="{53E4084D-2985-3B29-2237-46818556E187}"/>
              </a:ext>
            </a:extLst>
          </p:cNvPr>
          <p:cNvPicPr>
            <a:picLocks noChangeAspect="1"/>
          </p:cNvPicPr>
          <p:nvPr/>
        </p:nvPicPr>
        <p:blipFill>
          <a:blip r:embed="rId3"/>
          <a:stretch>
            <a:fillRect/>
          </a:stretch>
        </p:blipFill>
        <p:spPr>
          <a:xfrm>
            <a:off x="3800" y="2137438"/>
            <a:ext cx="5575774" cy="4139221"/>
          </a:xfrm>
          <a:prstGeom prst="rect">
            <a:avLst/>
          </a:prstGeom>
        </p:spPr>
      </p:pic>
      <p:pic>
        <p:nvPicPr>
          <p:cNvPr id="11" name="Image 10">
            <a:extLst>
              <a:ext uri="{FF2B5EF4-FFF2-40B4-BE49-F238E27FC236}">
                <a16:creationId xmlns:a16="http://schemas.microsoft.com/office/drawing/2014/main" id="{BEA7EBA9-1AA0-AD65-2C49-EBC6A7809D6D}"/>
              </a:ext>
            </a:extLst>
          </p:cNvPr>
          <p:cNvPicPr>
            <a:picLocks noChangeAspect="1"/>
          </p:cNvPicPr>
          <p:nvPr/>
        </p:nvPicPr>
        <p:blipFill>
          <a:blip r:embed="rId4"/>
          <a:stretch>
            <a:fillRect/>
          </a:stretch>
        </p:blipFill>
        <p:spPr>
          <a:xfrm>
            <a:off x="5660726" y="4946194"/>
            <a:ext cx="5110193" cy="383607"/>
          </a:xfrm>
          <a:prstGeom prst="rect">
            <a:avLst/>
          </a:prstGeom>
        </p:spPr>
      </p:pic>
    </p:spTree>
    <p:extLst>
      <p:ext uri="{BB962C8B-B14F-4D97-AF65-F5344CB8AC3E}">
        <p14:creationId xmlns:p14="http://schemas.microsoft.com/office/powerpoint/2010/main" val="3968491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1E0A1-9EAE-4061-AA8C-4E0375EABA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EBAAFE-188C-9A58-21EE-1F7FD316BDE5}"/>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40B27B8D-024F-EBE4-5358-15E0BD73DB7D}"/>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5"/>
            </a:pPr>
            <a:r>
              <a:rPr lang="fr-FR" dirty="0"/>
              <a:t>Corrélation entre l'âge du client et la catégorie de livre acheté</a:t>
            </a:r>
          </a:p>
        </p:txBody>
      </p:sp>
      <p:pic>
        <p:nvPicPr>
          <p:cNvPr id="12" name="Image 11">
            <a:extLst>
              <a:ext uri="{FF2B5EF4-FFF2-40B4-BE49-F238E27FC236}">
                <a16:creationId xmlns:a16="http://schemas.microsoft.com/office/drawing/2014/main" id="{6C9C115A-57AE-E74E-4494-8B6842476629}"/>
              </a:ext>
            </a:extLst>
          </p:cNvPr>
          <p:cNvPicPr>
            <a:picLocks noChangeAspect="1"/>
          </p:cNvPicPr>
          <p:nvPr/>
        </p:nvPicPr>
        <p:blipFill>
          <a:blip r:embed="rId3"/>
          <a:stretch>
            <a:fillRect/>
          </a:stretch>
        </p:blipFill>
        <p:spPr>
          <a:xfrm>
            <a:off x="2651510" y="5074864"/>
            <a:ext cx="4389148" cy="970872"/>
          </a:xfrm>
          <a:prstGeom prst="rect">
            <a:avLst/>
          </a:prstGeom>
        </p:spPr>
      </p:pic>
      <p:sp>
        <p:nvSpPr>
          <p:cNvPr id="13" name="ZoneTexte 12">
            <a:extLst>
              <a:ext uri="{FF2B5EF4-FFF2-40B4-BE49-F238E27FC236}">
                <a16:creationId xmlns:a16="http://schemas.microsoft.com/office/drawing/2014/main" id="{CB752A64-02E9-CC14-B7C0-F0AEBEA86AF4}"/>
              </a:ext>
            </a:extLst>
          </p:cNvPr>
          <p:cNvSpPr txBox="1"/>
          <p:nvPr/>
        </p:nvSpPr>
        <p:spPr>
          <a:xfrm>
            <a:off x="1595786" y="2320669"/>
            <a:ext cx="7049451" cy="830997"/>
          </a:xfrm>
          <a:prstGeom prst="rect">
            <a:avLst/>
          </a:prstGeom>
          <a:noFill/>
        </p:spPr>
        <p:txBody>
          <a:bodyPr wrap="square" rtlCol="0">
            <a:spAutoFit/>
          </a:bodyPr>
          <a:lstStyle/>
          <a:p>
            <a:pPr algn="ctr"/>
            <a:r>
              <a:rPr lang="fr-FR" sz="2400" dirty="0"/>
              <a:t>Test de l’égalité des variances des groupes via test de </a:t>
            </a:r>
            <a:r>
              <a:rPr lang="fr-FR" sz="2400" dirty="0" err="1"/>
              <a:t>Levene</a:t>
            </a:r>
            <a:endParaRPr lang="fr-FR" sz="2400" dirty="0"/>
          </a:p>
        </p:txBody>
      </p:sp>
      <p:sp>
        <p:nvSpPr>
          <p:cNvPr id="14" name="ZoneTexte 13">
            <a:extLst>
              <a:ext uri="{FF2B5EF4-FFF2-40B4-BE49-F238E27FC236}">
                <a16:creationId xmlns:a16="http://schemas.microsoft.com/office/drawing/2014/main" id="{4ED6173C-D38A-94B6-A21E-A689D1EA1D38}"/>
              </a:ext>
            </a:extLst>
          </p:cNvPr>
          <p:cNvSpPr txBox="1"/>
          <p:nvPr/>
        </p:nvSpPr>
        <p:spPr>
          <a:xfrm>
            <a:off x="1797666" y="3243998"/>
            <a:ext cx="7049452" cy="1754326"/>
          </a:xfrm>
          <a:prstGeom prst="rect">
            <a:avLst/>
          </a:prstGeom>
          <a:noFill/>
        </p:spPr>
        <p:txBody>
          <a:bodyPr wrap="square" rtlCol="0">
            <a:spAutoFit/>
          </a:bodyPr>
          <a:lstStyle/>
          <a:p>
            <a:r>
              <a:rPr lang="fr-FR" dirty="0"/>
              <a:t>H₀ (hypothèse nulle) : les variances d’âge sont égales entre les catégories.</a:t>
            </a:r>
          </a:p>
          <a:p>
            <a:endParaRPr lang="fr-FR" dirty="0"/>
          </a:p>
          <a:p>
            <a:r>
              <a:rPr lang="fr-FR" dirty="0"/>
              <a:t>H₁ (hypothèse alternative) : au moins une catégorie a une variance différente.</a:t>
            </a:r>
          </a:p>
          <a:p>
            <a:endParaRPr lang="fr-FR" dirty="0"/>
          </a:p>
        </p:txBody>
      </p:sp>
      <p:sp>
        <p:nvSpPr>
          <p:cNvPr id="6" name="Espace réservé du numéro de diapositive 5">
            <a:extLst>
              <a:ext uri="{FF2B5EF4-FFF2-40B4-BE49-F238E27FC236}">
                <a16:creationId xmlns:a16="http://schemas.microsoft.com/office/drawing/2014/main" id="{49CB9309-6445-13BE-5144-CC7A4133119B}"/>
              </a:ext>
            </a:extLst>
          </p:cNvPr>
          <p:cNvSpPr>
            <a:spLocks noGrp="1"/>
          </p:cNvSpPr>
          <p:nvPr>
            <p:ph type="sldNum" sz="quarter" idx="12"/>
          </p:nvPr>
        </p:nvSpPr>
        <p:spPr/>
        <p:txBody>
          <a:bodyPr/>
          <a:lstStyle/>
          <a:p>
            <a:fld id="{7924E1FE-F45E-4AC9-BC37-882A34BA69EB}" type="slidenum">
              <a:rPr lang="fr-FR" smtClean="0"/>
              <a:t>25</a:t>
            </a:fld>
            <a:endParaRPr lang="fr-FR" dirty="0"/>
          </a:p>
        </p:txBody>
      </p:sp>
    </p:spTree>
    <p:extLst>
      <p:ext uri="{BB962C8B-B14F-4D97-AF65-F5344CB8AC3E}">
        <p14:creationId xmlns:p14="http://schemas.microsoft.com/office/powerpoint/2010/main" val="2200007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08DEA-5EED-6259-D5D6-7FEDE84B24C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FE2F56F-CDD6-0E50-062B-A22B07029558}"/>
              </a:ext>
            </a:extLst>
          </p:cNvPr>
          <p:cNvSpPr>
            <a:spLocks noGrp="1"/>
          </p:cNvSpPr>
          <p:nvPr>
            <p:ph type="title"/>
          </p:nvPr>
        </p:nvSpPr>
        <p:spPr>
          <a:xfrm>
            <a:off x="1797666" y="0"/>
            <a:ext cx="8596668" cy="1320800"/>
          </a:xfrm>
        </p:spPr>
        <p:txBody>
          <a:bodyPr>
            <a:normAutofit/>
          </a:bodyPr>
          <a:lstStyle/>
          <a:p>
            <a:pPr algn="ctr"/>
            <a:r>
              <a:rPr lang="fr-FR" sz="4400" b="1" dirty="0"/>
              <a:t>Analyses bivariées</a:t>
            </a:r>
          </a:p>
        </p:txBody>
      </p:sp>
      <p:sp>
        <p:nvSpPr>
          <p:cNvPr id="5" name="Titre 1">
            <a:extLst>
              <a:ext uri="{FF2B5EF4-FFF2-40B4-BE49-F238E27FC236}">
                <a16:creationId xmlns:a16="http://schemas.microsoft.com/office/drawing/2014/main" id="{7F0380CC-4012-3288-6EB2-5A2385E53882}"/>
              </a:ext>
            </a:extLst>
          </p:cNvPr>
          <p:cNvSpPr txBox="1">
            <a:spLocks/>
          </p:cNvSpPr>
          <p:nvPr/>
        </p:nvSpPr>
        <p:spPr>
          <a:xfrm>
            <a:off x="149118" y="81663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857250" indent="-857250">
              <a:buFont typeface="+mj-lt"/>
              <a:buAutoNum type="romanUcPeriod" startAt="5"/>
            </a:pPr>
            <a:r>
              <a:rPr lang="fr-FR" dirty="0"/>
              <a:t>Corrélation entre l'âge du client et la catégorie de livre acheté</a:t>
            </a:r>
          </a:p>
        </p:txBody>
      </p:sp>
      <p:pic>
        <p:nvPicPr>
          <p:cNvPr id="4" name="Image 3" descr="Une image contenant texte, capture d’écran, diagramme, affichage&#10;&#10;Le contenu généré par l’IA peut être incorrect.">
            <a:extLst>
              <a:ext uri="{FF2B5EF4-FFF2-40B4-BE49-F238E27FC236}">
                <a16:creationId xmlns:a16="http://schemas.microsoft.com/office/drawing/2014/main" id="{4AAD2FCB-9D7F-2F3D-BA44-DF0DBB599103}"/>
              </a:ext>
            </a:extLst>
          </p:cNvPr>
          <p:cNvPicPr>
            <a:picLocks noChangeAspect="1"/>
          </p:cNvPicPr>
          <p:nvPr/>
        </p:nvPicPr>
        <p:blipFill>
          <a:blip r:embed="rId3"/>
          <a:srcRect t="13605"/>
          <a:stretch>
            <a:fillRect/>
          </a:stretch>
        </p:blipFill>
        <p:spPr>
          <a:xfrm>
            <a:off x="395396" y="2137438"/>
            <a:ext cx="5212250" cy="3997343"/>
          </a:xfrm>
          <a:prstGeom prst="rect">
            <a:avLst/>
          </a:prstGeom>
        </p:spPr>
      </p:pic>
      <p:sp>
        <p:nvSpPr>
          <p:cNvPr id="3" name="ZoneTexte 2">
            <a:extLst>
              <a:ext uri="{FF2B5EF4-FFF2-40B4-BE49-F238E27FC236}">
                <a16:creationId xmlns:a16="http://schemas.microsoft.com/office/drawing/2014/main" id="{DC86FA8C-2213-B2AE-2EBB-06375AEEF34F}"/>
              </a:ext>
            </a:extLst>
          </p:cNvPr>
          <p:cNvSpPr txBox="1"/>
          <p:nvPr/>
        </p:nvSpPr>
        <p:spPr>
          <a:xfrm>
            <a:off x="5853923" y="2012197"/>
            <a:ext cx="5783725" cy="1200329"/>
          </a:xfrm>
          <a:prstGeom prst="rect">
            <a:avLst/>
          </a:prstGeom>
          <a:noFill/>
        </p:spPr>
        <p:txBody>
          <a:bodyPr wrap="square" rtlCol="0">
            <a:spAutoFit/>
          </a:bodyPr>
          <a:lstStyle/>
          <a:p>
            <a:pPr marL="342900" indent="-342900">
              <a:buFont typeface="+mj-lt"/>
              <a:buAutoNum type="arabicPeriod"/>
            </a:pPr>
            <a:r>
              <a:rPr lang="fr-FR" dirty="0"/>
              <a:t>Observations indépendantes</a:t>
            </a:r>
          </a:p>
          <a:p>
            <a:pPr marL="342900" indent="-342900">
              <a:buFont typeface="+mj-lt"/>
              <a:buAutoNum type="arabicPeriod"/>
            </a:pPr>
            <a:r>
              <a:rPr lang="fr-FR" dirty="0"/>
              <a:t>Plus de 3 groupes comparés</a:t>
            </a:r>
          </a:p>
          <a:p>
            <a:pPr marL="342900" indent="-342900">
              <a:buFont typeface="+mj-lt"/>
              <a:buAutoNum type="arabicPeriod"/>
            </a:pPr>
            <a:r>
              <a:rPr lang="fr-FR" dirty="0"/>
              <a:t>Distribution normale non-validée</a:t>
            </a:r>
          </a:p>
          <a:p>
            <a:pPr marL="342900" indent="-342900">
              <a:buFont typeface="+mj-lt"/>
              <a:buAutoNum type="arabicPeriod"/>
            </a:pPr>
            <a:r>
              <a:rPr lang="fr-FR" dirty="0"/>
              <a:t>Variances des groupes inégales</a:t>
            </a:r>
          </a:p>
        </p:txBody>
      </p:sp>
      <p:sp>
        <p:nvSpPr>
          <p:cNvPr id="6" name="Flèche : bas 5">
            <a:extLst>
              <a:ext uri="{FF2B5EF4-FFF2-40B4-BE49-F238E27FC236}">
                <a16:creationId xmlns:a16="http://schemas.microsoft.com/office/drawing/2014/main" id="{BEE085BF-146B-677E-AC12-FBF5C76969CE}"/>
              </a:ext>
            </a:extLst>
          </p:cNvPr>
          <p:cNvSpPr/>
          <p:nvPr/>
        </p:nvSpPr>
        <p:spPr>
          <a:xfrm>
            <a:off x="7228121" y="3316397"/>
            <a:ext cx="2177135" cy="1608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Test </a:t>
            </a:r>
            <a:r>
              <a:rPr lang="fr-FR" sz="2000" dirty="0" err="1"/>
              <a:t>Kruskal</a:t>
            </a:r>
            <a:r>
              <a:rPr lang="fr-FR" sz="2000" dirty="0"/>
              <a:t> - Wallis</a:t>
            </a:r>
          </a:p>
        </p:txBody>
      </p:sp>
      <p:sp>
        <p:nvSpPr>
          <p:cNvPr id="9" name="Espace réservé du numéro de diapositive 8">
            <a:extLst>
              <a:ext uri="{FF2B5EF4-FFF2-40B4-BE49-F238E27FC236}">
                <a16:creationId xmlns:a16="http://schemas.microsoft.com/office/drawing/2014/main" id="{4D22BC91-56AE-E696-9266-35AEFEA74838}"/>
              </a:ext>
            </a:extLst>
          </p:cNvPr>
          <p:cNvSpPr>
            <a:spLocks noGrp="1"/>
          </p:cNvSpPr>
          <p:nvPr>
            <p:ph type="sldNum" sz="quarter" idx="12"/>
          </p:nvPr>
        </p:nvSpPr>
        <p:spPr>
          <a:xfrm>
            <a:off x="8526636" y="6341423"/>
            <a:ext cx="683339" cy="365125"/>
          </a:xfrm>
        </p:spPr>
        <p:txBody>
          <a:bodyPr/>
          <a:lstStyle/>
          <a:p>
            <a:fld id="{7924E1FE-F45E-4AC9-BC37-882A34BA69EB}" type="slidenum">
              <a:rPr lang="fr-FR" smtClean="0"/>
              <a:t>26</a:t>
            </a:fld>
            <a:endParaRPr lang="fr-FR" dirty="0"/>
          </a:p>
        </p:txBody>
      </p:sp>
      <p:pic>
        <p:nvPicPr>
          <p:cNvPr id="8" name="Image 7" descr="Une image contenant texte, capture d’écran, Police, ligne&#10;&#10;Le contenu généré par l’IA peut être incorrect.">
            <a:extLst>
              <a:ext uri="{FF2B5EF4-FFF2-40B4-BE49-F238E27FC236}">
                <a16:creationId xmlns:a16="http://schemas.microsoft.com/office/drawing/2014/main" id="{8480EF48-2E4B-CE03-9236-1936466DB8AB}"/>
              </a:ext>
            </a:extLst>
          </p:cNvPr>
          <p:cNvPicPr>
            <a:picLocks noChangeAspect="1"/>
          </p:cNvPicPr>
          <p:nvPr/>
        </p:nvPicPr>
        <p:blipFill>
          <a:blip r:embed="rId4"/>
          <a:stretch>
            <a:fillRect/>
          </a:stretch>
        </p:blipFill>
        <p:spPr>
          <a:xfrm>
            <a:off x="5723338" y="5002405"/>
            <a:ext cx="4917760" cy="792753"/>
          </a:xfrm>
          <a:prstGeom prst="rect">
            <a:avLst/>
          </a:prstGeom>
        </p:spPr>
      </p:pic>
    </p:spTree>
    <p:extLst>
      <p:ext uri="{BB962C8B-B14F-4D97-AF65-F5344CB8AC3E}">
        <p14:creationId xmlns:p14="http://schemas.microsoft.com/office/powerpoint/2010/main" val="776040264"/>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956</TotalTime>
  <Words>1948</Words>
  <Application>Microsoft Office PowerPoint</Application>
  <PresentationFormat>Grand écran</PresentationFormat>
  <Paragraphs>216</Paragraphs>
  <Slides>26</Slides>
  <Notes>25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26</vt:i4>
      </vt:variant>
    </vt:vector>
  </HeadingPairs>
  <TitlesOfParts>
    <vt:vector size="31" baseType="lpstr">
      <vt:lpstr>Aptos</vt:lpstr>
      <vt:lpstr>Arial</vt:lpstr>
      <vt:lpstr>Trebuchet MS</vt:lpstr>
      <vt:lpstr>Wingdings 3</vt:lpstr>
      <vt:lpstr>Facette</vt:lpstr>
      <vt:lpstr>Analyse des ventes de la librairie Lapage</vt:lpstr>
      <vt:lpstr>Présentation des données de départ</vt:lpstr>
      <vt:lpstr>Présentation des données de départ</vt:lpstr>
      <vt:lpstr>Analyse du chiffre d’affaires avec moyenne mobile</vt:lpstr>
      <vt:lpstr>Analyse du chiffre d’affaires par catégories</vt:lpstr>
      <vt:lpstr>Analyse de la répartition des ventes par catégories</vt:lpstr>
      <vt:lpstr>Analyse du prix moyen par catégorie</vt:lpstr>
      <vt:lpstr>Analyse de l’évolution mensuelle du chiffre d’affaires par catégories</vt:lpstr>
      <vt:lpstr>Analyse de l’évolution mensuelle du nombre de clients</vt:lpstr>
      <vt:lpstr>Analyse de l’évolution mensuelle du nombre de transactions</vt:lpstr>
      <vt:lpstr>Évolution des produits vendus et tendance du chiffre d’affaires</vt:lpstr>
      <vt:lpstr>Analyse des tops ventes</vt:lpstr>
      <vt:lpstr>Analyse des flops</vt:lpstr>
      <vt:lpstr>Analyse de la répartition du chiffre d’affaires BtoB par catégories de produits</vt:lpstr>
      <vt:lpstr>Analyse de la dépense des clients BtoB par catégorie</vt:lpstr>
      <vt:lpstr>Courbe de Lorenz</vt:lpstr>
      <vt:lpstr>Analyses bivariées</vt:lpstr>
      <vt:lpstr>Analyses bivariées</vt:lpstr>
      <vt:lpstr>Analyses bivariées</vt:lpstr>
      <vt:lpstr>Analyses bivariées</vt:lpstr>
      <vt:lpstr>Analyses bivariées</vt:lpstr>
      <vt:lpstr>Analyses bivariées</vt:lpstr>
      <vt:lpstr>Analyses bivariées</vt:lpstr>
      <vt:lpstr>Analyses bivariées</vt:lpstr>
      <vt:lpstr>Analyses bivariées</vt:lpstr>
      <vt:lpstr>Analyses bivariées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evan fol</dc:creator>
  <cp:lastModifiedBy>evan fol</cp:lastModifiedBy>
  <cp:revision>18</cp:revision>
  <dcterms:created xsi:type="dcterms:W3CDTF">2026-01-14T13:00:01Z</dcterms:created>
  <dcterms:modified xsi:type="dcterms:W3CDTF">2026-02-17T09:27:15Z</dcterms:modified>
</cp:coreProperties>
</file>