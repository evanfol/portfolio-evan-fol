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67" r:id="rId4"/>
    <p:sldId id="259" r:id="rId5"/>
    <p:sldId id="268" r:id="rId6"/>
    <p:sldId id="270" r:id="rId7"/>
    <p:sldId id="271" r:id="rId8"/>
    <p:sldId id="279" r:id="rId9"/>
    <p:sldId id="273" r:id="rId10"/>
    <p:sldId id="274" r:id="rId11"/>
    <p:sldId id="275" r:id="rId12"/>
    <p:sldId id="276" r:id="rId13"/>
    <p:sldId id="277" r:id="rId14"/>
    <p:sldId id="27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162" autoAdjust="0"/>
  </p:normalViewPr>
  <p:slideViewPr>
    <p:cSldViewPr snapToGrid="0">
      <p:cViewPr varScale="1">
        <p:scale>
          <a:sx n="89" d="100"/>
          <a:sy n="89" d="100"/>
        </p:scale>
        <p:origin x="135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3589-63D2-4C99-9E91-C8B6A27FB03A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A0CC39-B686-4265-8272-0B98A8CFE7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94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Ici, nous avons choisi de ne réaliser la jointure qu’entre ces deux fichiers, car le troisième ne contient pas d’informations utiles pour l’analyse des 5 index sélectionnés</a:t>
            </a:r>
          </a:p>
          <a:p>
            <a:endParaRPr lang="fr-FR" dirty="0"/>
          </a:p>
          <a:p>
            <a:r>
              <a:rPr lang="fr-FR" dirty="0"/>
              <a:t>2) On vérifie que le type de données corresponds à ce qui est attendu dans nos colonnes, que la structure attendue est également respectée et que les valeurs de certaines colonnes comme H/F sont toujours H ou F et pas autre chose.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004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2) Cela permet d’anonymiser nos informations car la date de naissance est une donnée personnelle trop sensible.</a:t>
            </a:r>
          </a:p>
          <a:p>
            <a:r>
              <a:rPr lang="fr-FR" dirty="0"/>
              <a:t>3) Permet d’avoir un salaire que l’on peut comparer car il est sur le même nombre d’heures</a:t>
            </a:r>
          </a:p>
          <a:p>
            <a:r>
              <a:rPr lang="fr-FR" dirty="0"/>
              <a:t>4) L’ID salarié pourrait permettre une réidentification, donc pour respecter le RGPD, nous le remplaçons par un identifiant </a:t>
            </a:r>
            <a:r>
              <a:rPr lang="fr-FR" dirty="0" err="1"/>
              <a:t>pseudonymisé</a:t>
            </a:r>
            <a:endParaRPr lang="fr-FR" dirty="0"/>
          </a:p>
          <a:p>
            <a:r>
              <a:rPr lang="fr-FR" dirty="0"/>
              <a:t>5) Nos 5 indicateurs vont se baser sur le fichier crée lors de cette étape.</a:t>
            </a:r>
          </a:p>
          <a:p>
            <a:r>
              <a:rPr lang="fr-FR" dirty="0"/>
              <a:t>6) Nous avons également utilisé un </a:t>
            </a:r>
            <a:r>
              <a:rPr lang="fr-FR" dirty="0" err="1"/>
              <a:t>Column</a:t>
            </a:r>
            <a:r>
              <a:rPr lang="fr-FR" dirty="0"/>
              <a:t> </a:t>
            </a:r>
            <a:r>
              <a:rPr lang="fr-FR" dirty="0" err="1"/>
              <a:t>Filter</a:t>
            </a:r>
            <a:r>
              <a:rPr lang="fr-FR" dirty="0"/>
              <a:t> pour supprimer toutes les colonnes non utiles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0893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2) Lignes avec infos manquantes, salaire négatif, on crée une colonne flag (OK si tout est correct, sinon le nom de l’erreur)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654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fr-FR" dirty="0"/>
              <a:t>Par exemple pour le workflow du calcul de l’index sur l’augmentation, on a supprimé 2 lignes ou l’information sur l’augmentation était manquante</a:t>
            </a:r>
          </a:p>
          <a:p>
            <a:pPr marL="228600" indent="-228600">
              <a:buAutoNum type="arabicParenR"/>
            </a:pPr>
            <a:endParaRPr lang="fr-FR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Permet de vérifier que notre analyse reste suffisante et qu’on ne supprime pas trop de lignes.</a:t>
            </a:r>
          </a:p>
          <a:p>
            <a:pPr marL="228600" indent="-228600">
              <a:buAutoNum type="arabicParenR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754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6853A-DE65-6DB3-724F-8756885D5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5D804ED-53A0-7E52-1EED-4F588B741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CD993C8-73BD-E460-9544-3E9BFD75F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1) On ne conserve ici que les tranches dont après calcul du taux et soustraction du seuil de pertinence de 5% sont encore positives, les autres ne sont pas considéré comme assez significatif. (voir doc </a:t>
            </a:r>
            <a:r>
              <a:rPr lang="fr-FR" dirty="0" err="1"/>
              <a:t>excel</a:t>
            </a:r>
            <a:r>
              <a:rPr lang="fr-FR" dirty="0"/>
              <a:t> fournis par le gouvernement)</a:t>
            </a:r>
          </a:p>
          <a:p>
            <a:pPr marL="0" indent="0">
              <a:buNone/>
            </a:pPr>
            <a:r>
              <a:rPr lang="fr-FR" dirty="0"/>
              <a:t>3) Si homme ou femme &lt;3 on ne tient pas compte de la ligne (ici notre ligne &lt;30 ne contenait pas assez d’hommes donc elle a été enlevée) ici que 1 homme donc catégorie non prise en compte</a:t>
            </a:r>
          </a:p>
          <a:p>
            <a:pPr marL="0" indent="0">
              <a:buNone/>
            </a:pPr>
            <a:r>
              <a:rPr lang="fr-FR" dirty="0"/>
              <a:t>4) Ecart pondéré = écart salarial * effectif de la catégorie</a:t>
            </a:r>
          </a:p>
          <a:p>
            <a:pPr marL="0" indent="0">
              <a:buNone/>
            </a:pPr>
            <a:r>
              <a:rPr lang="fr-FR" dirty="0"/>
              <a:t>5) Ecart global = écart pondéré / effectif global on le met avec et sans valeur absolue, cela nous sera utile pour savoir si on penche plus en faveur des hommes ou des femmes pour l’indicateur 2</a:t>
            </a:r>
          </a:p>
          <a:p>
            <a:pPr marL="0" indent="0">
              <a:buNone/>
            </a:pPr>
            <a:r>
              <a:rPr lang="fr-FR" dirty="0"/>
              <a:t>6) On applique le score dégressif de l’indicateur fournis par le gouvernement, sachant que le score max est de 40 pour celui-ci.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2EA955-9D80-325A-B2D9-85BC6896B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4903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FDC1-267B-77E6-F1FF-D7FBB369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511FA78-2FB3-AB0A-A050-BDA5B665D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2ADE138-1D7E-10C0-E4E3-98AAFEA4A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fr-FR" dirty="0"/>
              <a:t>En effet on ne voit pas trop de disparité entre les salaires moyens par tranche d’âge pour les hommes et les femmes.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6C47FD-4E38-A460-DDDD-0E6C138D3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739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48F1-AFFD-63C7-ECDA-0750738B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3AC51DA-4627-37EC-38EB-11A12F9D4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A6B8803-A791-DB64-2DB7-205B1CF37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2) Si positif : en faveur des hommes. Si négatif : en faveur des femmes.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141767-48BF-4B65-A04D-53934C54A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576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7A34B-A945-C6CB-5830-6CCD2A73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C54652B-52BB-B7D9-476C-FC90F42F7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F1CDAA6-11A7-B7CB-AB4E-3D3FB4CFA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fr-FR" dirty="0"/>
              <a:t>En effet on tient compte ici du premier indicateur afin de savoir le nombre de points à attribuer</a:t>
            </a:r>
          </a:p>
          <a:p>
            <a:pPr marL="228600" indent="-228600">
              <a:buAutoNum type="arabicParenR"/>
            </a:pPr>
            <a:endParaRPr lang="fr-FR" dirty="0"/>
          </a:p>
          <a:p>
            <a:pPr marL="228600" indent="-228600">
              <a:buAutoNum type="arabicParenR"/>
            </a:pPr>
            <a:r>
              <a:rPr lang="fr-FR" dirty="0"/>
              <a:t>Si négatif en faveur des femmes si positif en faveur des hommes, d’où l’intérêt de conserver la valeur brute avant de calculer sa valeur absolue.</a:t>
            </a:r>
          </a:p>
          <a:p>
            <a:pPr marL="228600" indent="-228600">
              <a:buAutoNum type="arabicParenR"/>
            </a:pPr>
            <a:endParaRPr lang="fr-FR" dirty="0"/>
          </a:p>
          <a:p>
            <a:pPr marL="228600" indent="-228600">
              <a:buAutoNum type="arabicParenR"/>
            </a:pPr>
            <a:r>
              <a:rPr lang="fr-FR" dirty="0"/>
              <a:t>Respect de la règle imposée par le gouvernement en termes de calcul de la parité homme/femme</a:t>
            </a:r>
          </a:p>
          <a:p>
            <a:pPr marL="0" indent="0">
              <a:buNone/>
            </a:pPr>
            <a:r>
              <a:rPr lang="fr-FR" dirty="0"/>
              <a:t>Écart taux augmentation &lt;= 2 =&gt; 20</a:t>
            </a:r>
          </a:p>
          <a:p>
            <a:pPr marL="0" indent="0">
              <a:buNone/>
            </a:pPr>
            <a:r>
              <a:rPr lang="fr-FR" dirty="0"/>
              <a:t>Écart taux augmentation &lt;= 5 =&gt; 10</a:t>
            </a:r>
          </a:p>
          <a:p>
            <a:pPr marL="0" indent="0">
              <a:buNone/>
            </a:pPr>
            <a:r>
              <a:rPr lang="fr-FR" dirty="0"/>
              <a:t>Écart taux augmentation &lt;= 10 =&gt; 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18CCD9-2EED-9D2C-7B04-F37BA2D92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791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CA9C-7215-9B6D-D6F0-A65CFA55B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52798DA-8A02-2CFF-DDB9-9EA240B03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EE52B4F-0AED-360A-99B7-9591ACA3B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fr-FR" dirty="0" err="1"/>
              <a:t>Bareme</a:t>
            </a:r>
            <a:r>
              <a:rPr lang="fr-FR" dirty="0"/>
              <a:t> : </a:t>
            </a:r>
          </a:p>
          <a:p>
            <a:pPr marL="0" indent="0">
              <a:buNone/>
            </a:pPr>
            <a:r>
              <a:rPr lang="fr-FR" dirty="0"/>
              <a:t>Écart taux promotion &lt;= 2 =&gt; 15</a:t>
            </a:r>
          </a:p>
          <a:p>
            <a:pPr marL="0" indent="0">
              <a:buNone/>
            </a:pPr>
            <a:r>
              <a:rPr lang="fr-FR" dirty="0"/>
              <a:t>Écart taux promotion &lt;= 5 =&gt; 10</a:t>
            </a:r>
          </a:p>
          <a:p>
            <a:pPr marL="0" indent="0">
              <a:buNone/>
            </a:pPr>
            <a:r>
              <a:rPr lang="fr-FR" dirty="0"/>
              <a:t>Écart taux promotion &lt;= 10 =&gt; 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364500-111C-0271-1C34-639B0EFD2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843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6FD1E-D25F-6A93-7F56-9D836885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268806-7AEC-E081-5C1A-95E050FDE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ADB726B-E618-2009-F3D9-C95E6A80D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fr-FR" dirty="0"/>
              <a:t>Si personne 0 et si différent de 100 =&gt; 0</a:t>
            </a:r>
          </a:p>
          <a:p>
            <a:pPr marL="228600" indent="-228600">
              <a:buAutoNum type="arabicParenR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8BE25E-EFDA-3016-E5DB-5C722C1BE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113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7C4DF-D9FC-2C40-F6B4-56E0B4D3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C9F7F90-4A2C-B7F1-9F79-ADCF63CBC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FF9724D-8BCA-6970-1D3E-2DE587D46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Barème :</a:t>
            </a:r>
          </a:p>
          <a:p>
            <a:pPr marL="0" indent="0">
              <a:buNone/>
            </a:pPr>
            <a:r>
              <a:rPr lang="en-US" dirty="0"/>
              <a:t>Effectif_top10 &gt;= 4 =&gt; 10</a:t>
            </a:r>
          </a:p>
          <a:p>
            <a:pPr marL="0" indent="0">
              <a:buNone/>
            </a:pPr>
            <a:r>
              <a:rPr lang="en-US" dirty="0"/>
              <a:t>Effectif_top10 &gt;= 2 =&gt; 5</a:t>
            </a:r>
          </a:p>
          <a:p>
            <a:pPr marL="0" indent="0">
              <a:buNone/>
            </a:pPr>
            <a:r>
              <a:rPr lang="en-US" dirty="0"/>
              <a:t>Effectif_top10 &gt;= 0 =&gt; 0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6663A3-11FA-7936-04FA-A869B3BB5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009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5D6F-81FA-CBFC-D04A-90B0B088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D6F2D6-BD4C-A8F0-3CD4-384EFF381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41F01D-2D93-9F67-F1AF-9C9A59296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fr-FR" dirty="0"/>
              <a:t>Attention sur l’écart salarial, il existe une forte disparité sur la tranche d’âge &lt;30, non prise en compte ici car l’effectif est insuffisant. C’est un point à surveiller.</a:t>
            </a:r>
          </a:p>
          <a:p>
            <a:pPr marL="228600" indent="-228600">
              <a:buAutoNum type="arabicParenR"/>
            </a:pPr>
            <a:endParaRPr lang="fr-FR" dirty="0"/>
          </a:p>
          <a:p>
            <a:pPr marL="228600" indent="-228600">
              <a:buAutoNum type="arabicParenR"/>
            </a:pPr>
            <a:r>
              <a:rPr lang="fr-FR" dirty="0"/>
              <a:t>Point d’attention également sur l’écart de taux d’augmentation : il est ici compensé par l’écart salarial, mais un changement ferait chuter le score (7,9 → perte de 15 points).</a:t>
            </a:r>
          </a:p>
          <a:p>
            <a:pPr marL="228600" indent="-228600">
              <a:buAutoNum type="arabicParenR"/>
            </a:pPr>
            <a:endParaRPr lang="fr-FR" dirty="0"/>
          </a:p>
          <a:p>
            <a:pPr marL="228600" indent="-228600">
              <a:buAutoNum type="arabicParenR"/>
            </a:pPr>
            <a:r>
              <a:rPr lang="fr-FR" dirty="0"/>
              <a:t>Possibilité d’amélioration sur les hautes rémunérations : une femme supplémentaire parmi le Top 10 ferait passer le score à 10 points.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C255D5-60B8-91E2-3667-6DB250FAE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391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821EC-6066-257F-22EB-DDD48B30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FC675B0-E64B-278E-654B-4592C8F77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9A16328-7AB7-0279-0A45-F92CFD0AC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3FA370-0744-B47F-2E06-C2E3DFBE8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0CC39-B686-4265-8272-0B98A8CFE7D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576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45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184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8781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843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385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934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85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492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932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924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248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9217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17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043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484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4817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954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A330ED3-2CED-4D85-931F-3A2B4569094E}" type="datetimeFigureOut">
              <a:rPr lang="fr-FR" smtClean="0"/>
              <a:t>23/01/2026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769B2A1-CC2E-4509-9671-482A7384CC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657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628AC3-E920-D929-FA66-3F1BF1F3E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8953"/>
            <a:ext cx="9144000" cy="3140093"/>
          </a:xfrm>
          <a:solidFill>
            <a:srgbClr val="000000">
              <a:alpha val="25098"/>
            </a:srgbClr>
          </a:solidFill>
        </p:spPr>
        <p:txBody>
          <a:bodyPr anchor="ctr">
            <a:normAutofit fontScale="90000"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Analyse des indicateurs de l'égalité femmes/hommes dans le respect du RGPD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017615C-CB4E-5BA3-29B7-1FBE0D75A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89906" y="6167535"/>
            <a:ext cx="2202094" cy="641189"/>
          </a:xfrm>
        </p:spPr>
        <p:txBody>
          <a:bodyPr/>
          <a:lstStyle/>
          <a:p>
            <a:r>
              <a:rPr lang="fr-FR" dirty="0"/>
              <a:t>Evan Fol</a:t>
            </a:r>
          </a:p>
        </p:txBody>
      </p:sp>
    </p:spTree>
    <p:extLst>
      <p:ext uri="{BB962C8B-B14F-4D97-AF65-F5344CB8AC3E}">
        <p14:creationId xmlns:p14="http://schemas.microsoft.com/office/powerpoint/2010/main" val="544139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B0B5CC-0C9D-1AE3-A9EB-F9A0BA6ED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743" y="449589"/>
            <a:ext cx="8534400" cy="1507067"/>
          </a:xfrm>
        </p:spPr>
        <p:txBody>
          <a:bodyPr/>
          <a:lstStyle/>
          <a:p>
            <a:r>
              <a:rPr lang="fr-FR" b="1" dirty="0"/>
              <a:t>Collecte, agrégation et mise en forme des données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9F4CDF1-BC70-C30C-7C35-9E65CEF34B57}"/>
              </a:ext>
            </a:extLst>
          </p:cNvPr>
          <p:cNvSpPr txBox="1"/>
          <p:nvPr/>
        </p:nvSpPr>
        <p:spPr>
          <a:xfrm>
            <a:off x="7027524" y="2679524"/>
            <a:ext cx="48699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b="1" dirty="0"/>
              <a:t>Importation des fichiers via CSV Reader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Validation de la conformité de nos données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Affichage et nettoyage de nos doublons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Jointure interne de nos deux fichiers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DDFEF5C-65E4-0546-218F-BDAD59001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2" y="1879064"/>
            <a:ext cx="5978243" cy="474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15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415C7-1CB5-CD12-FB34-FFE7AAA94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6A2563-E589-A2AD-8442-68A748F7C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743" y="449589"/>
            <a:ext cx="8534400" cy="1507067"/>
          </a:xfrm>
        </p:spPr>
        <p:txBody>
          <a:bodyPr/>
          <a:lstStyle/>
          <a:p>
            <a:r>
              <a:rPr lang="fr-FR" b="1"/>
              <a:t>Collecte, agrégation et mise en forme des données</a:t>
            </a:r>
            <a:endParaRPr lang="fr-FR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73C12AD-1F8E-3DA0-06D6-9FC4316A25DF}"/>
              </a:ext>
            </a:extLst>
          </p:cNvPr>
          <p:cNvSpPr txBox="1"/>
          <p:nvPr/>
        </p:nvSpPr>
        <p:spPr>
          <a:xfrm>
            <a:off x="7027524" y="2679524"/>
            <a:ext cx="4869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fr-FR" b="1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CDFB535-CEB5-6782-F978-C19178939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19" y="2215773"/>
            <a:ext cx="10478962" cy="181000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53FB4F3-73BA-5267-2ACD-7DAA38463B4C}"/>
              </a:ext>
            </a:extLst>
          </p:cNvPr>
          <p:cNvSpPr txBox="1"/>
          <p:nvPr/>
        </p:nvSpPr>
        <p:spPr>
          <a:xfrm>
            <a:off x="630148" y="4171878"/>
            <a:ext cx="109317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b="1" dirty="0"/>
              <a:t>Calcul de l’âge de la personne à partir de la date de naissance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Création des tranches d’âge (&lt;30, 30-39, 40-49 et &gt;50)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Calcul du salaire de base 35H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 err="1"/>
              <a:t>Pseudonymisation</a:t>
            </a:r>
            <a:r>
              <a:rPr lang="fr-FR" b="1" dirty="0"/>
              <a:t> de la colonne </a:t>
            </a:r>
            <a:r>
              <a:rPr lang="fr-FR" b="1" dirty="0" err="1"/>
              <a:t>ID_salarié</a:t>
            </a: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Création d’un fichier CSV nettoyé utilisable pour les analyses à venir</a:t>
            </a:r>
          </a:p>
        </p:txBody>
      </p:sp>
    </p:spTree>
    <p:extLst>
      <p:ext uri="{BB962C8B-B14F-4D97-AF65-F5344CB8AC3E}">
        <p14:creationId xmlns:p14="http://schemas.microsoft.com/office/powerpoint/2010/main" val="112567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386D3-F7D5-19F5-9C64-F1907215C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3AE516-78A6-15BB-A3CB-0AE634A0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743" y="439313"/>
            <a:ext cx="8534400" cy="1507067"/>
          </a:xfrm>
        </p:spPr>
        <p:txBody>
          <a:bodyPr/>
          <a:lstStyle/>
          <a:p>
            <a:r>
              <a:rPr lang="fr-FR" b="1" dirty="0"/>
              <a:t>Analyse des données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030582-6116-6A3C-47EC-A5BA10359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98" y="2505923"/>
            <a:ext cx="4858428" cy="318179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FEB845A-98E8-D338-A0BC-A1F1D0A1822A}"/>
              </a:ext>
            </a:extLst>
          </p:cNvPr>
          <p:cNvSpPr txBox="1"/>
          <p:nvPr/>
        </p:nvSpPr>
        <p:spPr>
          <a:xfrm>
            <a:off x="6255876" y="3102394"/>
            <a:ext cx="48699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b="1" dirty="0"/>
              <a:t>Importation du fichier nettoyé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Utilisation d’un </a:t>
            </a:r>
            <a:r>
              <a:rPr lang="fr-FR" b="1" dirty="0" err="1"/>
              <a:t>rule</a:t>
            </a:r>
            <a:r>
              <a:rPr lang="fr-FR" b="1" dirty="0"/>
              <a:t> engine pour vérifier les erreurs possibles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Filtre pour afficher seulement les lignes contenant une erreur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91108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AAB01-9E00-5E78-1288-36AC819F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1E29D0-67AE-ADF1-56F4-4E1E782B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017" y="164603"/>
            <a:ext cx="8534400" cy="1507067"/>
          </a:xfrm>
        </p:spPr>
        <p:txBody>
          <a:bodyPr/>
          <a:lstStyle/>
          <a:p>
            <a:r>
              <a:rPr lang="fr-FR" b="1" dirty="0"/>
              <a:t>Analyse des données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B29192-CB80-C14D-C19F-E8296119C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2" y="1560255"/>
            <a:ext cx="5044943" cy="513314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308D675-02D3-3711-ED12-3D74F9F94448}"/>
              </a:ext>
            </a:extLst>
          </p:cNvPr>
          <p:cNvSpPr txBox="1"/>
          <p:nvPr/>
        </p:nvSpPr>
        <p:spPr>
          <a:xfrm>
            <a:off x="6274087" y="2834164"/>
            <a:ext cx="4869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b="1" dirty="0"/>
              <a:t>Suppression des lignes incohérentes dans chaque workflow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Utilisation de Row </a:t>
            </a:r>
            <a:r>
              <a:rPr lang="fr-FR" b="1" dirty="0" err="1"/>
              <a:t>Filter</a:t>
            </a:r>
            <a:r>
              <a:rPr lang="fr-FR" b="1" dirty="0"/>
              <a:t> pour afficher les lignes supprimées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90688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230D8-D80B-FC8D-1F29-2C83070D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C324E8-13CD-E57A-498E-43B6F7B2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285201"/>
            <a:ext cx="8534400" cy="1507067"/>
          </a:xfrm>
        </p:spPr>
        <p:txBody>
          <a:bodyPr/>
          <a:lstStyle/>
          <a:p>
            <a:pPr algn="ctr"/>
            <a:r>
              <a:rPr lang="fr-FR" b="1" dirty="0"/>
              <a:t>Index écart salarial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04DFC60-8702-2644-E984-1FDF442120A4}"/>
              </a:ext>
            </a:extLst>
          </p:cNvPr>
          <p:cNvSpPr txBox="1"/>
          <p:nvPr/>
        </p:nvSpPr>
        <p:spPr>
          <a:xfrm>
            <a:off x="698538" y="5382155"/>
            <a:ext cx="539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1) Calcul de l’écart salarial par tranche d’âge</a:t>
            </a:r>
          </a:p>
        </p:txBody>
      </p:sp>
      <p:pic>
        <p:nvPicPr>
          <p:cNvPr id="3" name="Espace réservé du contenu 4">
            <a:extLst>
              <a:ext uri="{FF2B5EF4-FFF2-40B4-BE49-F238E27FC236}">
                <a16:creationId xmlns:a16="http://schemas.microsoft.com/office/drawing/2014/main" id="{272B903F-136C-F311-A1FA-2709F8484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9965" y="1621631"/>
            <a:ext cx="10192069" cy="3614738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8777972F-0985-A19A-FE56-F1D88E85F2B2}"/>
              </a:ext>
            </a:extLst>
          </p:cNvPr>
          <p:cNvSpPr/>
          <p:nvPr/>
        </p:nvSpPr>
        <p:spPr>
          <a:xfrm>
            <a:off x="1705510" y="3503488"/>
            <a:ext cx="5476126" cy="1006867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E49C9C6-2F13-3E8A-FB75-8FD63E66DBD1}"/>
              </a:ext>
            </a:extLst>
          </p:cNvPr>
          <p:cNvSpPr txBox="1"/>
          <p:nvPr/>
        </p:nvSpPr>
        <p:spPr>
          <a:xfrm>
            <a:off x="6068601" y="5382155"/>
            <a:ext cx="599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2) Calcul des effectifs par tranche d’âge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5DFA725-7627-F42C-FE3A-0B748E6823E9}"/>
              </a:ext>
            </a:extLst>
          </p:cNvPr>
          <p:cNvSpPr txBox="1"/>
          <p:nvPr/>
        </p:nvSpPr>
        <p:spPr>
          <a:xfrm>
            <a:off x="698538" y="5852243"/>
            <a:ext cx="539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3) Suppression des effectifs trop petits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479E0FC-7413-811C-F219-9BCE61CAD6B6}"/>
              </a:ext>
            </a:extLst>
          </p:cNvPr>
          <p:cNvSpPr/>
          <p:nvPr/>
        </p:nvSpPr>
        <p:spPr>
          <a:xfrm>
            <a:off x="1828799" y="4510355"/>
            <a:ext cx="3328828" cy="678094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BABDC25-534F-1E14-B8EB-ADE38F52380B}"/>
              </a:ext>
            </a:extLst>
          </p:cNvPr>
          <p:cNvSpPr txBox="1"/>
          <p:nvPr/>
        </p:nvSpPr>
        <p:spPr>
          <a:xfrm>
            <a:off x="6068601" y="5852243"/>
            <a:ext cx="539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4) Calcul de l’écart pondéré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2F86A5C-53DA-7ED4-3ED5-F4C95A9379AD}"/>
              </a:ext>
            </a:extLst>
          </p:cNvPr>
          <p:cNvSpPr txBox="1"/>
          <p:nvPr/>
        </p:nvSpPr>
        <p:spPr>
          <a:xfrm>
            <a:off x="698538" y="6322331"/>
            <a:ext cx="539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5) Calcul de l’écart global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86BD986-792A-2764-9290-7214377BCD2E}"/>
              </a:ext>
            </a:extLst>
          </p:cNvPr>
          <p:cNvSpPr txBox="1"/>
          <p:nvPr/>
        </p:nvSpPr>
        <p:spPr>
          <a:xfrm>
            <a:off x="6096000" y="6322331"/>
            <a:ext cx="539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6) Application du score de l’indicateur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809C190-093C-09EF-64A8-2D539A5E3E2E}"/>
              </a:ext>
            </a:extLst>
          </p:cNvPr>
          <p:cNvSpPr/>
          <p:nvPr/>
        </p:nvSpPr>
        <p:spPr>
          <a:xfrm>
            <a:off x="6606283" y="4006921"/>
            <a:ext cx="2260315" cy="10742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6ADEF34-F523-F409-CD75-3E398EABF36B}"/>
              </a:ext>
            </a:extLst>
          </p:cNvPr>
          <p:cNvSpPr/>
          <p:nvPr/>
        </p:nvSpPr>
        <p:spPr>
          <a:xfrm>
            <a:off x="5989835" y="2661007"/>
            <a:ext cx="2876764" cy="1006867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91BE4193-6D45-5C93-E1C5-E42B3197D2DA}"/>
              </a:ext>
            </a:extLst>
          </p:cNvPr>
          <p:cNvSpPr/>
          <p:nvPr/>
        </p:nvSpPr>
        <p:spPr>
          <a:xfrm>
            <a:off x="8671389" y="2661007"/>
            <a:ext cx="2520645" cy="1006867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E1B57B5-9F55-2B0B-FF03-3303D7D0BE98}"/>
              </a:ext>
            </a:extLst>
          </p:cNvPr>
          <p:cNvSpPr/>
          <p:nvPr/>
        </p:nvSpPr>
        <p:spPr>
          <a:xfrm>
            <a:off x="10181690" y="3667874"/>
            <a:ext cx="1010344" cy="1006867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50E8531-6FFF-AF08-F489-00355B073451}"/>
              </a:ext>
            </a:extLst>
          </p:cNvPr>
          <p:cNvSpPr txBox="1"/>
          <p:nvPr/>
        </p:nvSpPr>
        <p:spPr>
          <a:xfrm>
            <a:off x="1501814" y="353498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B2C7730-01F3-923E-62FB-AF435AF73FEA}"/>
              </a:ext>
            </a:extLst>
          </p:cNvPr>
          <p:cNvSpPr txBox="1"/>
          <p:nvPr/>
        </p:nvSpPr>
        <p:spPr>
          <a:xfrm>
            <a:off x="5103624" y="477716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5"/>
                </a:solidFill>
              </a:rPr>
              <a:t>2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1762BE9-E39A-0FDA-9EA7-D813916E3F83}"/>
              </a:ext>
            </a:extLst>
          </p:cNvPr>
          <p:cNvSpPr txBox="1"/>
          <p:nvPr/>
        </p:nvSpPr>
        <p:spPr>
          <a:xfrm>
            <a:off x="8733033" y="469242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916AF05-36FB-3ADD-10BA-76392F1E63A5}"/>
              </a:ext>
            </a:extLst>
          </p:cNvPr>
          <p:cNvSpPr txBox="1"/>
          <p:nvPr/>
        </p:nvSpPr>
        <p:spPr>
          <a:xfrm>
            <a:off x="7827195" y="22843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1FCC76F-9F9C-EC6D-F663-E98E01915675}"/>
              </a:ext>
            </a:extLst>
          </p:cNvPr>
          <p:cNvSpPr txBox="1"/>
          <p:nvPr/>
        </p:nvSpPr>
        <p:spPr>
          <a:xfrm>
            <a:off x="10440380" y="230716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0679C75-BA57-3B21-29F5-72D0FEF2ED10}"/>
              </a:ext>
            </a:extLst>
          </p:cNvPr>
          <p:cNvSpPr txBox="1"/>
          <p:nvPr/>
        </p:nvSpPr>
        <p:spPr>
          <a:xfrm>
            <a:off x="10290612" y="456678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44188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50E11-E0DA-BA6C-1FF4-87C974D7F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579574-7F58-8229-BC3B-31350092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0"/>
            <a:ext cx="8534400" cy="1507067"/>
          </a:xfrm>
        </p:spPr>
        <p:txBody>
          <a:bodyPr/>
          <a:lstStyle/>
          <a:p>
            <a:pPr algn="ctr"/>
            <a:r>
              <a:rPr lang="fr-FR" b="1" dirty="0"/>
              <a:t>Index écart salarial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4B3DC6-C216-49F0-C15B-9A9E198CC859}"/>
              </a:ext>
            </a:extLst>
          </p:cNvPr>
          <p:cNvSpPr txBox="1"/>
          <p:nvPr/>
        </p:nvSpPr>
        <p:spPr>
          <a:xfrm>
            <a:off x="698538" y="5382155"/>
            <a:ext cx="486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C54AF48-D4BF-132E-73F1-A52C007DC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20" t="32035"/>
          <a:stretch>
            <a:fillRect/>
          </a:stretch>
        </p:blipFill>
        <p:spPr>
          <a:xfrm>
            <a:off x="434951" y="5979558"/>
            <a:ext cx="9688426" cy="70482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9A92833A-D776-52BB-93B9-6250DC3ECD8B}"/>
              </a:ext>
            </a:extLst>
          </p:cNvPr>
          <p:cNvSpPr txBox="1"/>
          <p:nvPr/>
        </p:nvSpPr>
        <p:spPr>
          <a:xfrm>
            <a:off x="6664505" y="1987538"/>
            <a:ext cx="48699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b="1" dirty="0"/>
              <a:t>Le score obtenu est de 39/40 !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L’écart global étant de 0,2% en faveur des hommes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  <p:pic>
        <p:nvPicPr>
          <p:cNvPr id="4" name="Image 3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B98EEFF8-2C79-B649-2B1C-3C0A20E16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51" y="1267489"/>
            <a:ext cx="5661048" cy="4483998"/>
          </a:xfrm>
          <a:prstGeom prst="rect">
            <a:avLst/>
          </a:prstGeom>
        </p:spPr>
      </p:pic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8524AEE6-F205-7F78-CA6F-5430F4DF9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425" y="4286107"/>
            <a:ext cx="3057952" cy="1352739"/>
          </a:xfrm>
          <a:prstGeom prst="rect">
            <a:avLst/>
          </a:prstGeom>
        </p:spPr>
      </p:pic>
      <p:pic>
        <p:nvPicPr>
          <p:cNvPr id="8" name="Graphique 7" descr="Avertissement avec un remplissage uni">
            <a:extLst>
              <a:ext uri="{FF2B5EF4-FFF2-40B4-BE49-F238E27FC236}">
                <a16:creationId xmlns:a16="http://schemas.microsoft.com/office/drawing/2014/main" id="{C8E2F954-1E68-0182-B980-1CA8D0972F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3199" y="44677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24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4CBBB-376F-96A2-2A76-070202A88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F48109-B5EB-E2B2-1826-9349B7D75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143553"/>
            <a:ext cx="8534400" cy="1507067"/>
          </a:xfrm>
        </p:spPr>
        <p:txBody>
          <a:bodyPr/>
          <a:lstStyle/>
          <a:p>
            <a:pPr algn="ctr"/>
            <a:r>
              <a:rPr lang="fr-FR" b="1" dirty="0"/>
              <a:t>Index Écart de taux d’augmentations individuelles</a:t>
            </a:r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00B476A7-9EDB-C27D-F67C-E9226528F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4" y="2175850"/>
            <a:ext cx="11830050" cy="1390310"/>
          </a:xfrm>
          <a:prstGeom prst="rect">
            <a:avLst/>
          </a:prstGeom>
        </p:spPr>
      </p:pic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197547CB-C1EE-FBF7-ED71-E1EBB60EBA47}"/>
              </a:ext>
            </a:extLst>
          </p:cNvPr>
          <p:cNvSpPr/>
          <p:nvPr/>
        </p:nvSpPr>
        <p:spPr>
          <a:xfrm>
            <a:off x="251460" y="2205990"/>
            <a:ext cx="3931920" cy="1223010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269C4984-D846-C7FD-942B-F0E770A23A3E}"/>
              </a:ext>
            </a:extLst>
          </p:cNvPr>
          <p:cNvSpPr/>
          <p:nvPr/>
        </p:nvSpPr>
        <p:spPr>
          <a:xfrm>
            <a:off x="4187190" y="2236130"/>
            <a:ext cx="4922520" cy="1223010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5F4DCF83-5881-A11F-794C-30B4BD34E31A}"/>
              </a:ext>
            </a:extLst>
          </p:cNvPr>
          <p:cNvSpPr/>
          <p:nvPr/>
        </p:nvSpPr>
        <p:spPr>
          <a:xfrm>
            <a:off x="9109710" y="2205990"/>
            <a:ext cx="2901314" cy="1223010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8D78D89-153C-F2DC-A634-FE650C286A8B}"/>
              </a:ext>
            </a:extLst>
          </p:cNvPr>
          <p:cNvSpPr txBox="1"/>
          <p:nvPr/>
        </p:nvSpPr>
        <p:spPr>
          <a:xfrm>
            <a:off x="1531620" y="1622490"/>
            <a:ext cx="480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BA03FD9-E33D-00C2-8F66-5E2B2EB81A8D}"/>
              </a:ext>
            </a:extLst>
          </p:cNvPr>
          <p:cNvSpPr txBox="1"/>
          <p:nvPr/>
        </p:nvSpPr>
        <p:spPr>
          <a:xfrm>
            <a:off x="6507480" y="1637560"/>
            <a:ext cx="480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5C4D306-6C73-51E9-5F8C-FDC787805538}"/>
              </a:ext>
            </a:extLst>
          </p:cNvPr>
          <p:cNvSpPr txBox="1"/>
          <p:nvPr/>
        </p:nvSpPr>
        <p:spPr>
          <a:xfrm>
            <a:off x="10363199" y="1637560"/>
            <a:ext cx="480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58B5555-B771-A599-9AEE-C0A7423BB24B}"/>
              </a:ext>
            </a:extLst>
          </p:cNvPr>
          <p:cNvSpPr txBox="1"/>
          <p:nvPr/>
        </p:nvSpPr>
        <p:spPr>
          <a:xfrm>
            <a:off x="1451610" y="4011930"/>
            <a:ext cx="9875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2000" b="1" dirty="0"/>
              <a:t>Calcul du taux d’augmentation par sexe</a:t>
            </a:r>
          </a:p>
          <a:p>
            <a:pPr marL="342900" indent="-342900">
              <a:buFont typeface="+mj-lt"/>
              <a:buAutoNum type="arabicPeriod"/>
            </a:pPr>
            <a:endParaRPr lang="fr-FR" sz="2000" b="1" dirty="0"/>
          </a:p>
          <a:p>
            <a:pPr marL="342900" indent="-342900">
              <a:buFont typeface="+mj-lt"/>
              <a:buAutoNum type="arabicPeriod"/>
            </a:pPr>
            <a:r>
              <a:rPr lang="fr-FR" sz="2000" b="1" dirty="0"/>
              <a:t>Calcul de l’écart du taux d’augmentation</a:t>
            </a:r>
          </a:p>
          <a:p>
            <a:pPr marL="342900" indent="-342900">
              <a:buFont typeface="+mj-lt"/>
              <a:buAutoNum type="arabicPeriod"/>
            </a:pPr>
            <a:endParaRPr lang="fr-FR" sz="2000" b="1" dirty="0"/>
          </a:p>
          <a:p>
            <a:pPr marL="342900" indent="-342900">
              <a:buFont typeface="+mj-lt"/>
              <a:buAutoNum type="arabicPeriod"/>
            </a:pPr>
            <a:r>
              <a:rPr lang="fr-FR" sz="2000" b="1" dirty="0"/>
              <a:t>Calcul du score de l’indicateur en fonction des paramètres donnés par le gouvernement</a:t>
            </a:r>
          </a:p>
        </p:txBody>
      </p:sp>
    </p:spTree>
    <p:extLst>
      <p:ext uri="{BB962C8B-B14F-4D97-AF65-F5344CB8AC3E}">
        <p14:creationId xmlns:p14="http://schemas.microsoft.com/office/powerpoint/2010/main" val="1132833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7470B-B398-30FE-4DEF-B65F3F82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591DFD-7191-4163-6F1D-6C784F7C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0"/>
            <a:ext cx="8534400" cy="1507067"/>
          </a:xfrm>
        </p:spPr>
        <p:txBody>
          <a:bodyPr/>
          <a:lstStyle/>
          <a:p>
            <a:pPr algn="ctr"/>
            <a:r>
              <a:rPr lang="fr-FR" b="1" dirty="0"/>
              <a:t>Index Écart de taux d’augmentations individuelles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22E1342-4B2D-F02A-C55E-A7EF88C004FB}"/>
              </a:ext>
            </a:extLst>
          </p:cNvPr>
          <p:cNvSpPr txBox="1"/>
          <p:nvPr/>
        </p:nvSpPr>
        <p:spPr>
          <a:xfrm>
            <a:off x="698538" y="5382155"/>
            <a:ext cx="486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8095242-4F8E-81BD-666E-598FEC049896}"/>
              </a:ext>
            </a:extLst>
          </p:cNvPr>
          <p:cNvSpPr txBox="1"/>
          <p:nvPr/>
        </p:nvSpPr>
        <p:spPr>
          <a:xfrm>
            <a:off x="6664505" y="1987538"/>
            <a:ext cx="48699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b="1" dirty="0"/>
              <a:t>Le score obtenu est de 20/20 !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Il y a un écart de -7,9% en faveur donc des femmes pour ce qui est des augmentations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Comme les salaires étaient en faveur des hommes la note de 20 est automatiquement donnée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8692583-8EF7-4502-A07E-BC346FDAE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59" y="1507067"/>
            <a:ext cx="6110720" cy="410666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33B7156-E2BE-9782-0F57-48B478596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1464" y="5075407"/>
            <a:ext cx="1257475" cy="16899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5523ABD-9D30-227F-6646-C743F5660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03" y="5889240"/>
            <a:ext cx="11736438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07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8A06F-C91C-E715-DF73-CBC0E397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F567AB-CB74-6981-9DA5-E81ECB3C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0"/>
            <a:ext cx="8534400" cy="1507067"/>
          </a:xfrm>
        </p:spPr>
        <p:txBody>
          <a:bodyPr/>
          <a:lstStyle/>
          <a:p>
            <a:pPr algn="ctr"/>
            <a:r>
              <a:rPr lang="fr-FR" b="1" dirty="0"/>
              <a:t>Index Écart de taux de promotions individuelles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62D378-C91C-1F13-FBB2-14F08B0ED591}"/>
              </a:ext>
            </a:extLst>
          </p:cNvPr>
          <p:cNvSpPr txBox="1"/>
          <p:nvPr/>
        </p:nvSpPr>
        <p:spPr>
          <a:xfrm>
            <a:off x="698538" y="5382155"/>
            <a:ext cx="486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522F2BB-8582-8080-43A7-3B523F04B436}"/>
              </a:ext>
            </a:extLst>
          </p:cNvPr>
          <p:cNvSpPr txBox="1"/>
          <p:nvPr/>
        </p:nvSpPr>
        <p:spPr>
          <a:xfrm>
            <a:off x="6664505" y="1987538"/>
            <a:ext cx="48699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b="1" dirty="0"/>
              <a:t>Le score obtenu est de 15/15 !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Il y a un écart de 0,8%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47D8DE3-41D6-FEFF-ACC1-260FE9F32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40" y="1507067"/>
            <a:ext cx="5959011" cy="368668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41CB5D5-E4EA-644B-2417-15BF4062A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778" y="4608973"/>
            <a:ext cx="1257475" cy="16899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89C161-14F6-8C0E-0461-2C5FF2B1B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240" y="5927043"/>
            <a:ext cx="10688542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4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7AB72-085B-AB55-AAB2-D0E74C1C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510835-C81B-000C-9C63-F70F19BE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0"/>
            <a:ext cx="8534400" cy="1507067"/>
          </a:xfrm>
        </p:spPr>
        <p:txBody>
          <a:bodyPr/>
          <a:lstStyle/>
          <a:p>
            <a:pPr algn="ctr"/>
            <a:r>
              <a:rPr lang="fr-FR" b="1" dirty="0"/>
              <a:t>Index Augmentations au retour de congé maternité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0260339-35B9-492D-8BF2-ABADCEE238C1}"/>
              </a:ext>
            </a:extLst>
          </p:cNvPr>
          <p:cNvSpPr txBox="1"/>
          <p:nvPr/>
        </p:nvSpPr>
        <p:spPr>
          <a:xfrm>
            <a:off x="698538" y="5382155"/>
            <a:ext cx="486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FAC970D-FF67-D059-5DD1-626AF209D20B}"/>
              </a:ext>
            </a:extLst>
          </p:cNvPr>
          <p:cNvSpPr txBox="1"/>
          <p:nvPr/>
        </p:nvSpPr>
        <p:spPr>
          <a:xfrm>
            <a:off x="3250059" y="4999362"/>
            <a:ext cx="4869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b="1" dirty="0"/>
              <a:t>Le score obtenu est de 15/15 !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Toutes les femmes de retour de congé maternité ont été augmentées.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FFB2AF7-8C4D-8550-FCEE-E45C55499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22" y="4160176"/>
            <a:ext cx="10650436" cy="64779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08F6CDB-5B7B-C5E6-7964-28C885D7E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704" y="2523264"/>
            <a:ext cx="5887272" cy="132416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7BD7D4C-086B-C875-5B3C-4B4BFA1CA96F}"/>
              </a:ext>
            </a:extLst>
          </p:cNvPr>
          <p:cNvSpPr txBox="1"/>
          <p:nvPr/>
        </p:nvSpPr>
        <p:spPr>
          <a:xfrm>
            <a:off x="3937026" y="1962536"/>
            <a:ext cx="486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Workflow pour ce traitement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F94E1AE-D1C7-D5D3-299B-9D8F9FF7DBF8}"/>
              </a:ext>
            </a:extLst>
          </p:cNvPr>
          <p:cNvCxnSpPr/>
          <p:nvPr/>
        </p:nvCxnSpPr>
        <p:spPr>
          <a:xfrm>
            <a:off x="157537" y="3996647"/>
            <a:ext cx="11054994" cy="0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268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BCE3-1280-7CC3-83F0-A065A31FF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55D2A2-4F22-0638-72E3-5B2F8C80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0"/>
            <a:ext cx="8534400" cy="1507067"/>
          </a:xfrm>
        </p:spPr>
        <p:txBody>
          <a:bodyPr/>
          <a:lstStyle/>
          <a:p>
            <a:pPr algn="ctr"/>
            <a:r>
              <a:rPr lang="fr-FR" b="1" dirty="0"/>
              <a:t>Index – Top 10 des plus hautes rémunérations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7F1C353-785E-5F91-B0B0-FFF68BB312BF}"/>
              </a:ext>
            </a:extLst>
          </p:cNvPr>
          <p:cNvSpPr txBox="1"/>
          <p:nvPr/>
        </p:nvSpPr>
        <p:spPr>
          <a:xfrm>
            <a:off x="698538" y="5382155"/>
            <a:ext cx="486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CF10D8-E97A-20BF-E3F1-2A717DE4CC03}"/>
              </a:ext>
            </a:extLst>
          </p:cNvPr>
          <p:cNvSpPr txBox="1"/>
          <p:nvPr/>
        </p:nvSpPr>
        <p:spPr>
          <a:xfrm>
            <a:off x="6715876" y="2413337"/>
            <a:ext cx="4869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b="1" dirty="0"/>
              <a:t>Le score obtenu est de 5/10, ce qui traduit une performance moyenne</a:t>
            </a:r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3 femmes sur 10 parmi les 10 meilleurs salaires de l’entreprise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541270B-15D0-FB1E-520A-FAF54585D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15" y="1682623"/>
            <a:ext cx="6025096" cy="362901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DAACA1C-B3BB-F4B9-78BE-7783936E7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3725" y="4820960"/>
            <a:ext cx="1257475" cy="16899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7FF047F-08BC-1415-0BC9-70055C663E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12" y="5822004"/>
            <a:ext cx="9802593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67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A2D50-832C-4C63-E766-B956904ED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230646-6CFA-74CB-E2D0-CB954718F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0"/>
            <a:ext cx="8534400" cy="1507067"/>
          </a:xfrm>
        </p:spPr>
        <p:txBody>
          <a:bodyPr/>
          <a:lstStyle/>
          <a:p>
            <a:pPr algn="ctr"/>
            <a:r>
              <a:rPr lang="fr-FR" b="1" dirty="0"/>
              <a:t>Répartition globale des indicateurs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14DA752-A817-B1D2-75FB-16242EFC99ED}"/>
              </a:ext>
            </a:extLst>
          </p:cNvPr>
          <p:cNvSpPr txBox="1"/>
          <p:nvPr/>
        </p:nvSpPr>
        <p:spPr>
          <a:xfrm>
            <a:off x="698538" y="5382155"/>
            <a:ext cx="486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7F1543E-9048-70F0-0BB8-D2FD733ED074}"/>
              </a:ext>
            </a:extLst>
          </p:cNvPr>
          <p:cNvSpPr txBox="1"/>
          <p:nvPr/>
        </p:nvSpPr>
        <p:spPr>
          <a:xfrm>
            <a:off x="7346022" y="2413337"/>
            <a:ext cx="42398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b="1" dirty="0"/>
              <a:t>La répartition des points est globalement équilibrée.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b="1" dirty="0"/>
              <a:t>Une amélioration est possible sur l’écart salarial et les hautes rémunérations.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05335AC-01FD-3463-F904-09CE9A18D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40" y="1507067"/>
            <a:ext cx="6402873" cy="4231141"/>
          </a:xfrm>
          <a:prstGeom prst="rect">
            <a:avLst/>
          </a:prstGeom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1E7135F4-E624-B58C-1164-73091318F1E0}"/>
              </a:ext>
            </a:extLst>
          </p:cNvPr>
          <p:cNvCxnSpPr>
            <a:cxnSpLocks/>
          </p:cNvCxnSpPr>
          <p:nvPr/>
        </p:nvCxnSpPr>
        <p:spPr>
          <a:xfrm flipV="1">
            <a:off x="2311685" y="2788561"/>
            <a:ext cx="184935" cy="324509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0655A145-2E38-1631-C7CE-024D55E9453A}"/>
              </a:ext>
            </a:extLst>
          </p:cNvPr>
          <p:cNvSpPr txBox="1"/>
          <p:nvPr/>
        </p:nvSpPr>
        <p:spPr>
          <a:xfrm>
            <a:off x="2424701" y="2801840"/>
            <a:ext cx="53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56752A8-ABA7-743F-67EB-0D890493B7B6}"/>
              </a:ext>
            </a:extLst>
          </p:cNvPr>
          <p:cNvSpPr txBox="1"/>
          <p:nvPr/>
        </p:nvSpPr>
        <p:spPr>
          <a:xfrm>
            <a:off x="6356385" y="2228671"/>
            <a:ext cx="53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D64CAF5-4DEA-EA8C-FCB9-D803CA122B18}"/>
              </a:ext>
            </a:extLst>
          </p:cNvPr>
          <p:cNvSpPr txBox="1"/>
          <p:nvPr/>
        </p:nvSpPr>
        <p:spPr>
          <a:xfrm>
            <a:off x="3583969" y="3477659"/>
            <a:ext cx="53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0D3DC4D-CF04-1F38-DF64-371AB7835974}"/>
              </a:ext>
            </a:extLst>
          </p:cNvPr>
          <p:cNvSpPr txBox="1"/>
          <p:nvPr/>
        </p:nvSpPr>
        <p:spPr>
          <a:xfrm>
            <a:off x="3614791" y="4144332"/>
            <a:ext cx="53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6A3118E-650A-8EC7-6968-C589E4C11114}"/>
              </a:ext>
            </a:extLst>
          </p:cNvPr>
          <p:cNvSpPr txBox="1"/>
          <p:nvPr/>
        </p:nvSpPr>
        <p:spPr>
          <a:xfrm>
            <a:off x="4210692" y="4909347"/>
            <a:ext cx="53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20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4971375-B361-C241-A03C-CAD080D95481}"/>
              </a:ext>
            </a:extLst>
          </p:cNvPr>
          <p:cNvCxnSpPr>
            <a:cxnSpLocks/>
          </p:cNvCxnSpPr>
          <p:nvPr/>
        </p:nvCxnSpPr>
        <p:spPr>
          <a:xfrm flipV="1">
            <a:off x="6356385" y="2148009"/>
            <a:ext cx="184935" cy="324509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2CC4FC5-0F0C-1BC6-9100-31CDC6ECBB18}"/>
              </a:ext>
            </a:extLst>
          </p:cNvPr>
          <p:cNvCxnSpPr>
            <a:cxnSpLocks/>
          </p:cNvCxnSpPr>
          <p:nvPr/>
        </p:nvCxnSpPr>
        <p:spPr>
          <a:xfrm flipV="1">
            <a:off x="3532598" y="3451643"/>
            <a:ext cx="184935" cy="324509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C1E6B057-D9DE-20F1-0B41-6A832608E153}"/>
              </a:ext>
            </a:extLst>
          </p:cNvPr>
          <p:cNvCxnSpPr>
            <a:cxnSpLocks/>
          </p:cNvCxnSpPr>
          <p:nvPr/>
        </p:nvCxnSpPr>
        <p:spPr>
          <a:xfrm flipV="1">
            <a:off x="3563420" y="4091670"/>
            <a:ext cx="184935" cy="324509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A099A29-70F2-69B4-CA6F-05A39E710D63}"/>
              </a:ext>
            </a:extLst>
          </p:cNvPr>
          <p:cNvCxnSpPr>
            <a:cxnSpLocks/>
          </p:cNvCxnSpPr>
          <p:nvPr/>
        </p:nvCxnSpPr>
        <p:spPr>
          <a:xfrm flipV="1">
            <a:off x="4118225" y="4850694"/>
            <a:ext cx="184935" cy="324509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932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E6334-03E8-D762-44E2-E4547B2D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86362-D0BF-2007-7AB6-C060DCB6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0"/>
            <a:ext cx="8534400" cy="1507067"/>
          </a:xfrm>
        </p:spPr>
        <p:txBody>
          <a:bodyPr/>
          <a:lstStyle/>
          <a:p>
            <a:pPr algn="ctr"/>
            <a:r>
              <a:rPr lang="fr-FR" b="1" dirty="0"/>
              <a:t>Conclusion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DFCB69D-46A6-8B9E-1547-F7704E1F642C}"/>
              </a:ext>
            </a:extLst>
          </p:cNvPr>
          <p:cNvSpPr txBox="1"/>
          <p:nvPr/>
        </p:nvSpPr>
        <p:spPr>
          <a:xfrm>
            <a:off x="698538" y="5382155"/>
            <a:ext cx="486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fr-FR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7A2A58A-463A-4301-25F7-FAA9269391D0}"/>
              </a:ext>
            </a:extLst>
          </p:cNvPr>
          <p:cNvSpPr txBox="1"/>
          <p:nvPr/>
        </p:nvSpPr>
        <p:spPr>
          <a:xfrm>
            <a:off x="1330501" y="3604202"/>
            <a:ext cx="95309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Le score de l’entreprise est de 94/100, ce qui est excellent, il faut maintenir les actions en place et consolider la stratégie de l’entreprise.</a:t>
            </a:r>
          </a:p>
          <a:p>
            <a:endParaRPr lang="fr-FR" b="1" dirty="0"/>
          </a:p>
          <a:p>
            <a:r>
              <a:rPr lang="fr-FR" b="1" dirty="0"/>
              <a:t>Ce score excellent montre que l’entreprise travaille depuis plusieurs années à respecter les normes de parité.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45DD754-26FB-E981-0B3B-8020EC31D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61" y="2184137"/>
            <a:ext cx="10400076" cy="88054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131037841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TM02900771[[fn=Secteur]]</Template>
  <TotalTime>395</TotalTime>
  <Words>1148</Words>
  <Application>Microsoft Office PowerPoint</Application>
  <PresentationFormat>Grand écran</PresentationFormat>
  <Paragraphs>151</Paragraphs>
  <Slides>14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Aptos</vt:lpstr>
      <vt:lpstr>Arial</vt:lpstr>
      <vt:lpstr>Century Gothic</vt:lpstr>
      <vt:lpstr>Wingdings 3</vt:lpstr>
      <vt:lpstr>Secteur</vt:lpstr>
      <vt:lpstr>Analyse des indicateurs de l'égalité femmes/hommes dans le respect du RGPD </vt:lpstr>
      <vt:lpstr>Collecte, agrégation et mise en forme des données</vt:lpstr>
      <vt:lpstr>Collecte, agrégation et mise en forme des données</vt:lpstr>
      <vt:lpstr>Analyse des données</vt:lpstr>
      <vt:lpstr>Analyse des données</vt:lpstr>
      <vt:lpstr>Index écart salarial</vt:lpstr>
      <vt:lpstr>Index écart salarial</vt:lpstr>
      <vt:lpstr>Index Écart de taux d’augmentations individuelles</vt:lpstr>
      <vt:lpstr>Index Écart de taux d’augmentations individuelles</vt:lpstr>
      <vt:lpstr>Index Écart de taux de promotions individuelles</vt:lpstr>
      <vt:lpstr>Index Augmentations au retour de congé maternité</vt:lpstr>
      <vt:lpstr>Index – Top 10 des plus hautes rémunérations</vt:lpstr>
      <vt:lpstr>Répartition globale des indicateurs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fol</dc:creator>
  <cp:lastModifiedBy>evan fol</cp:lastModifiedBy>
  <cp:revision>9</cp:revision>
  <dcterms:created xsi:type="dcterms:W3CDTF">2025-12-02T14:17:16Z</dcterms:created>
  <dcterms:modified xsi:type="dcterms:W3CDTF">2026-01-23T08:06:43Z</dcterms:modified>
</cp:coreProperties>
</file>