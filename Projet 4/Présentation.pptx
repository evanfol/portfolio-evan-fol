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5" r:id="rId19"/>
    <p:sldId id="274" r:id="rId20"/>
    <p:sldId id="271"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rjfFyYNBG5sNntC35Cbhoqt17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165" autoAdjust="0"/>
  </p:normalViewPr>
  <p:slideViewPr>
    <p:cSldViewPr snapToGrid="0">
      <p:cViewPr varScale="1">
        <p:scale>
          <a:sx n="92" d="100"/>
          <a:sy n="92" d="100"/>
        </p:scale>
        <p:origin x="119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Dispo des ressources alimentaires dans le monde, accès à la nourriture et sous-nutrition. </a:t>
            </a:r>
            <a:endParaRPr dirty="0"/>
          </a:p>
        </p:txBody>
      </p:sp>
      <p:sp>
        <p:nvSpPr>
          <p:cNvPr id="118" name="Google Shape;1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8" name="Google Shape;1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Étape 2 : correspond à multiplier certaines colonnes pour avoir les bonnes valeurs de population ou de kg, ou encore renommer certaines colonnes.</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Etape 3 :  On fusionne des </a:t>
            </a:r>
            <a:r>
              <a:rPr lang="fr-FR" dirty="0" err="1"/>
              <a:t>dataframe</a:t>
            </a:r>
            <a:r>
              <a:rPr lang="fr-FR" dirty="0"/>
              <a:t> pour obtenir de nouvelles informations et pouvoir réaliser nos analyses comme lorsque l’on fusionne la dispo alimentaire avec la population afin de connaitre les kcal totale afin de calculer combien de personnes peuvent théoriquement être nourris dans le monde.</a:t>
            </a:r>
            <a:endParaRPr dirty="0"/>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33f607d4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1- Syrie 2014 corresponds à la montée en puissance de l’état islamique et la crise humanitaire (guerre)</a:t>
            </a:r>
          </a:p>
          <a:p>
            <a:pPr marL="0" lvl="0" indent="0" algn="l" rtl="0">
              <a:lnSpc>
                <a:spcPct val="100000"/>
              </a:lnSpc>
              <a:spcBef>
                <a:spcPts val="0"/>
              </a:spcBef>
              <a:spcAft>
                <a:spcPts val="0"/>
              </a:spcAft>
              <a:buSzPts val="1400"/>
              <a:buNone/>
            </a:pPr>
            <a:r>
              <a:rPr lang="fr-FR" dirty="0"/>
              <a:t>2- Soudan 2013-2014 crise économique, manifestation, en 2015-2016 la situation ne semble pas s’être amélioré mais la baisse de l’aide est du au fait que la majeure partie a été redirigée vers la Syrie.</a:t>
            </a:r>
          </a:p>
          <a:p>
            <a:pPr marL="0" lvl="0" indent="0" algn="l" rtl="0">
              <a:lnSpc>
                <a:spcPct val="100000"/>
              </a:lnSpc>
              <a:spcBef>
                <a:spcPts val="0"/>
              </a:spcBef>
              <a:spcAft>
                <a:spcPts val="0"/>
              </a:spcAft>
              <a:buSzPts val="1400"/>
              <a:buNone/>
            </a:pPr>
            <a:r>
              <a:rPr lang="fr-FR" dirty="0"/>
              <a:t>3- Soudan du sud même chose que Soudan instabilité politique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193" name="Google Shape;193;g2233f607d4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Ces pays sont largement au dessus du seuil minimum recommandé par l’ONU pour être au dessus de l’état de sous-nutrition</a:t>
            </a:r>
            <a:endParaRPr dirty="0"/>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7" name="Google Shape;20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CB96FB44-BAE2-E88A-75AF-1FC750ABF8D1}"/>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C4D1207C-FDE0-EC79-C9BA-DA1746132E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a:extLst>
              <a:ext uri="{FF2B5EF4-FFF2-40B4-BE49-F238E27FC236}">
                <a16:creationId xmlns:a16="http://schemas.microsoft.com/office/drawing/2014/main" id="{93F60AC0-8AD2-C374-4C1C-F5D81F2CF3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1657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A086BA2F-72DA-E3EB-0F36-12A5D8DB0B69}"/>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8412E1D8-B00B-E771-8417-25B179B193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a:extLst>
              <a:ext uri="{FF2B5EF4-FFF2-40B4-BE49-F238E27FC236}">
                <a16:creationId xmlns:a16="http://schemas.microsoft.com/office/drawing/2014/main" id="{40A276DC-2643-F3C0-E34E-BEAF24DF54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46700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A3E469D1-D6BA-DF4E-E53C-E7F7EE719CCF}"/>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F93FB08A-7CD3-10B7-ED5B-CAB26D2F0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a:extLst>
              <a:ext uri="{FF2B5EF4-FFF2-40B4-BE49-F238E27FC236}">
                <a16:creationId xmlns:a16="http://schemas.microsoft.com/office/drawing/2014/main" id="{4C386933-7A44-60CC-8CAB-0DE030FE63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2259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C318D198-2308-40C9-2794-84080A846FE0}"/>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62193B09-A8EA-39B3-A000-8B022C5431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On a pris ici les pays avec la plus haute dispo alimentaire au lieu de la plus faible proportion de sous-nutrition car beaucoup de pays sont à 0 et cela ne les ordonne donc pas vraiment.</a:t>
            </a:r>
            <a:endParaRPr dirty="0"/>
          </a:p>
        </p:txBody>
      </p:sp>
      <p:sp>
        <p:nvSpPr>
          <p:cNvPr id="221" name="Google Shape;221;p14:notes">
            <a:extLst>
              <a:ext uri="{FF2B5EF4-FFF2-40B4-BE49-F238E27FC236}">
                <a16:creationId xmlns:a16="http://schemas.microsoft.com/office/drawing/2014/main" id="{FED0037E-ED50-B595-BCC4-8E8603CD24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0223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7"/>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7" name="Google Shape;17;p17"/>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lnSpc>
                <a:spcPct val="100000"/>
              </a:lnSpc>
              <a:spcBef>
                <a:spcPts val="360"/>
              </a:spcBef>
              <a:spcAft>
                <a:spcPts val="0"/>
              </a:spcAft>
              <a:buSzPts val="1800"/>
              <a:buNone/>
              <a:defRPr>
                <a:solidFill>
                  <a:schemeClr val="lt1"/>
                </a:solidFill>
              </a:defRPr>
            </a:lvl1pPr>
            <a:lvl2pPr lvl="1" algn="ctr">
              <a:lnSpc>
                <a:spcPct val="100000"/>
              </a:lnSpc>
              <a:spcBef>
                <a:spcPts val="600"/>
              </a:spcBef>
              <a:spcAft>
                <a:spcPts val="0"/>
              </a:spcAft>
              <a:buSzPts val="1600"/>
              <a:buNone/>
              <a:defRPr>
                <a:solidFill>
                  <a:schemeClr val="lt1"/>
                </a:solidFill>
              </a:defRPr>
            </a:lvl2pPr>
            <a:lvl3pPr lvl="2" algn="ctr">
              <a:lnSpc>
                <a:spcPct val="100000"/>
              </a:lnSpc>
              <a:spcBef>
                <a:spcPts val="600"/>
              </a:spcBef>
              <a:spcAft>
                <a:spcPts val="0"/>
              </a:spcAft>
              <a:buSzPts val="1400"/>
              <a:buNone/>
              <a:defRPr>
                <a:solidFill>
                  <a:schemeClr val="lt1"/>
                </a:solidFill>
              </a:defRPr>
            </a:lvl3pPr>
            <a:lvl4pPr lvl="3" algn="ctr">
              <a:lnSpc>
                <a:spcPct val="100000"/>
              </a:lnSpc>
              <a:spcBef>
                <a:spcPts val="600"/>
              </a:spcBef>
              <a:spcAft>
                <a:spcPts val="0"/>
              </a:spcAft>
              <a:buSzPts val="1200"/>
              <a:buNone/>
              <a:defRPr>
                <a:solidFill>
                  <a:schemeClr val="lt1"/>
                </a:solidFill>
              </a:defRPr>
            </a:lvl4pPr>
            <a:lvl5pPr lvl="4" algn="ctr">
              <a:lnSpc>
                <a:spcPct val="100000"/>
              </a:lnSpc>
              <a:spcBef>
                <a:spcPts val="600"/>
              </a:spcBef>
              <a:spcAft>
                <a:spcPts val="0"/>
              </a:spcAft>
              <a:buSzPts val="1200"/>
              <a:buNone/>
              <a:defRPr>
                <a:solidFill>
                  <a:schemeClr val="lt1"/>
                </a:solidFill>
              </a:defRPr>
            </a:lvl5pPr>
            <a:lvl6pPr lvl="5" algn="ctr">
              <a:lnSpc>
                <a:spcPct val="100000"/>
              </a:lnSpc>
              <a:spcBef>
                <a:spcPts val="600"/>
              </a:spcBef>
              <a:spcAft>
                <a:spcPts val="0"/>
              </a:spcAft>
              <a:buSzPts val="1200"/>
              <a:buNone/>
              <a:defRPr>
                <a:solidFill>
                  <a:schemeClr val="lt1"/>
                </a:solidFill>
              </a:defRPr>
            </a:lvl6pPr>
            <a:lvl7pPr lvl="6" algn="ctr">
              <a:lnSpc>
                <a:spcPct val="100000"/>
              </a:lnSpc>
              <a:spcBef>
                <a:spcPts val="600"/>
              </a:spcBef>
              <a:spcAft>
                <a:spcPts val="0"/>
              </a:spcAft>
              <a:buSzPts val="1200"/>
              <a:buNone/>
              <a:defRPr>
                <a:solidFill>
                  <a:schemeClr val="lt1"/>
                </a:solidFill>
              </a:defRPr>
            </a:lvl7pPr>
            <a:lvl8pPr lvl="7" algn="ctr">
              <a:lnSpc>
                <a:spcPct val="100000"/>
              </a:lnSpc>
              <a:spcBef>
                <a:spcPts val="600"/>
              </a:spcBef>
              <a:spcAft>
                <a:spcPts val="0"/>
              </a:spcAft>
              <a:buSzPts val="1200"/>
              <a:buNone/>
              <a:defRPr>
                <a:solidFill>
                  <a:schemeClr val="lt1"/>
                </a:solidFill>
              </a:defRPr>
            </a:lvl8pPr>
            <a:lvl9pPr lvl="8" algn="ctr">
              <a:lnSpc>
                <a:spcPct val="100000"/>
              </a:lnSpc>
              <a:spcBef>
                <a:spcPts val="600"/>
              </a:spcBef>
              <a:spcAft>
                <a:spcPts val="600"/>
              </a:spcAft>
              <a:buSzPts val="1200"/>
              <a:buNone/>
              <a:defRPr>
                <a:solidFill>
                  <a:schemeClr val="lt1"/>
                </a:solidFill>
              </a:defRPr>
            </a:lvl9pPr>
          </a:lstStyle>
          <a:p>
            <a:endParaRPr/>
          </a:p>
        </p:txBody>
      </p:sp>
      <p:sp>
        <p:nvSpPr>
          <p:cNvPr id="19" name="Google Shape;19;p1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2"/>
        <p:cNvGrpSpPr/>
        <p:nvPr/>
      </p:nvGrpSpPr>
      <p:grpSpPr>
        <a:xfrm>
          <a:off x="0" y="0"/>
          <a:ext cx="0" cy="0"/>
          <a:chOff x="0" y="0"/>
          <a:chExt cx="0" cy="0"/>
        </a:xfrm>
      </p:grpSpPr>
      <p:sp>
        <p:nvSpPr>
          <p:cNvPr id="23" name="Google Shape;23;p18"/>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4" name="Google Shape;24;p1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26" name="Google Shape;26;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tête de section" type="secHead">
  <p:cSld name="SECTION_HEADER">
    <p:spTree>
      <p:nvGrpSpPr>
        <p:cNvPr id="1" name="Shape 29"/>
        <p:cNvGrpSpPr/>
        <p:nvPr/>
      </p:nvGrpSpPr>
      <p:grpSpPr>
        <a:xfrm>
          <a:off x="0" y="0"/>
          <a:ext cx="0" cy="0"/>
          <a:chOff x="0" y="0"/>
          <a:chExt cx="0" cy="0"/>
        </a:xfrm>
      </p:grpSpPr>
      <p:sp>
        <p:nvSpPr>
          <p:cNvPr id="30" name="Google Shape;30;p19"/>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1" name="Google Shape;31;p19"/>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lnSpc>
                <a:spcPct val="100000"/>
              </a:lnSpc>
              <a:spcBef>
                <a:spcPts val="0"/>
              </a:spcBef>
              <a:spcAft>
                <a:spcPts val="0"/>
              </a:spcAft>
              <a:buClr>
                <a:srgbClr val="FEFEFE"/>
              </a:buClr>
              <a:buSzPts val="4800"/>
              <a:buFont typeface="Century Gothic"/>
              <a:buNone/>
              <a:defRPr sz="48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33" name="Google Shape;33;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6"/>
        <p:cNvGrpSpPr/>
        <p:nvPr/>
      </p:nvGrpSpPr>
      <p:grpSpPr>
        <a:xfrm>
          <a:off x="0" y="0"/>
          <a:ext cx="0" cy="0"/>
          <a:chOff x="0" y="0"/>
          <a:chExt cx="0" cy="0"/>
        </a:xfrm>
      </p:grpSpPr>
      <p:sp>
        <p:nvSpPr>
          <p:cNvPr id="37" name="Google Shape;37;p20"/>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8" name="Google Shape;38;p2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0" name="Google Shape;40;p20"/>
          <p:cNvSpPr txBox="1">
            <a:spLocks noGrp="1"/>
          </p:cNvSpPr>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1" name="Google Shape;41;p2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4"/>
        <p:cNvGrpSpPr/>
        <p:nvPr/>
      </p:nvGrpSpPr>
      <p:grpSpPr>
        <a:xfrm>
          <a:off x="0" y="0"/>
          <a:ext cx="0" cy="0"/>
          <a:chOff x="0" y="0"/>
          <a:chExt cx="0" cy="0"/>
        </a:xfrm>
      </p:grpSpPr>
      <p:sp>
        <p:nvSpPr>
          <p:cNvPr id="45" name="Google Shape;45;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6" name="Google Shape;46;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48" name="Google Shape;48;p21"/>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9" name="Google Shape;49;p21"/>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50" name="Google Shape;50;p21"/>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51" name="Google Shape;5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uniquement" type="titleOnly">
  <p:cSld name="TITLE_ONLY">
    <p:spTree>
      <p:nvGrpSpPr>
        <p:cNvPr id="1" name="Shape 54"/>
        <p:cNvGrpSpPr/>
        <p:nvPr/>
      </p:nvGrpSpPr>
      <p:grpSpPr>
        <a:xfrm>
          <a:off x="0" y="0"/>
          <a:ext cx="0" cy="0"/>
          <a:chOff x="0" y="0"/>
          <a:chExt cx="0" cy="0"/>
        </a:xfrm>
      </p:grpSpPr>
      <p:sp>
        <p:nvSpPr>
          <p:cNvPr id="55" name="Google Shape;55;p2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6" name="Google Shape;56;p2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0"/>
        <p:cNvGrpSpPr/>
        <p:nvPr/>
      </p:nvGrpSpPr>
      <p:grpSpPr>
        <a:xfrm>
          <a:off x="0" y="0"/>
          <a:ext cx="0" cy="0"/>
          <a:chOff x="0" y="0"/>
          <a:chExt cx="0" cy="0"/>
        </a:xfrm>
      </p:grpSpPr>
      <p:sp>
        <p:nvSpPr>
          <p:cNvPr id="61" name="Google Shape;61;p2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4"/>
        <p:cNvGrpSpPr/>
        <p:nvPr/>
      </p:nvGrpSpPr>
      <p:grpSpPr>
        <a:xfrm>
          <a:off x="0" y="0"/>
          <a:ext cx="0" cy="0"/>
          <a:chOff x="0" y="0"/>
          <a:chExt cx="0" cy="0"/>
        </a:xfrm>
      </p:grpSpPr>
      <p:sp>
        <p:nvSpPr>
          <p:cNvPr id="65" name="Google Shape;65;p24"/>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6" name="Google Shape;66;p24"/>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2000"/>
              <a:buFont typeface="Century Gothic"/>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68" name="Google Shape;68;p24"/>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80"/>
              </a:spcBef>
              <a:spcAft>
                <a:spcPts val="0"/>
              </a:spcAft>
              <a:buSzPts val="1400"/>
              <a:buNone/>
              <a:defRPr sz="14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69" name="Google Shape;69;p2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a:effectLst>
            <a:outerShdw blurRad="50800">
              <a:srgbClr val="000000">
                <a:alpha val="40000"/>
              </a:srgbClr>
            </a:outerShdw>
          </a:effectLst>
        </p:spPr>
      </p:sp>
      <p:sp>
        <p:nvSpPr>
          <p:cNvPr id="75" name="Google Shape;75;p25"/>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76" name="Google Shape;76;p25"/>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panoramique avec légende">
  <p:cSld name="Image panoramique avec légende">
    <p:spTree>
      <p:nvGrpSpPr>
        <p:cNvPr id="1" name="Shape 79"/>
        <p:cNvGrpSpPr/>
        <p:nvPr/>
      </p:nvGrpSpPr>
      <p:grpSpPr>
        <a:xfrm>
          <a:off x="0" y="0"/>
          <a:ext cx="0" cy="0"/>
          <a:chOff x="0" y="0"/>
          <a:chExt cx="0" cy="0"/>
        </a:xfrm>
      </p:grpSpPr>
      <p:sp>
        <p:nvSpPr>
          <p:cNvPr id="80" name="Google Shape;80;p26"/>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82" name="Google Shape;82;p26"/>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83" name="Google Shape;83;p2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itation avec légende">
  <p:cSld name="Citation avec légende">
    <p:spTree>
      <p:nvGrpSpPr>
        <p:cNvPr id="1" name="Shape 86"/>
        <p:cNvGrpSpPr/>
        <p:nvPr/>
      </p:nvGrpSpPr>
      <p:grpSpPr>
        <a:xfrm>
          <a:off x="0" y="0"/>
          <a:ext cx="0" cy="0"/>
          <a:chOff x="0" y="0"/>
          <a:chExt cx="0" cy="0"/>
        </a:xfrm>
      </p:grpSpPr>
      <p:sp>
        <p:nvSpPr>
          <p:cNvPr id="87" name="Google Shape;87;p27"/>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8" name="Google Shape;88;p27"/>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200"/>
              <a:buFont typeface="Century Gothic"/>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7"/>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90" name="Google Shape;90;p27"/>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1" name="Google Shape;91;p2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rte de nom">
  <p:cSld name="Carte de nom">
    <p:spTree>
      <p:nvGrpSpPr>
        <p:cNvPr id="1" name="Shape 94"/>
        <p:cNvGrpSpPr/>
        <p:nvPr/>
      </p:nvGrpSpPr>
      <p:grpSpPr>
        <a:xfrm>
          <a:off x="0" y="0"/>
          <a:ext cx="0" cy="0"/>
          <a:chOff x="0" y="0"/>
          <a:chExt cx="0" cy="0"/>
        </a:xfrm>
      </p:grpSpPr>
      <p:sp>
        <p:nvSpPr>
          <p:cNvPr id="95" name="Google Shape;95;p28"/>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6" name="Google Shape;96;p28"/>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8"/>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8" name="Google Shape;98;p2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01"/>
        <p:cNvGrpSpPr/>
        <p:nvPr/>
      </p:nvGrpSpPr>
      <p:grpSpPr>
        <a:xfrm>
          <a:off x="0" y="0"/>
          <a:ext cx="0" cy="0"/>
          <a:chOff x="0" y="0"/>
          <a:chExt cx="0" cy="0"/>
        </a:xfrm>
      </p:grpSpPr>
      <p:sp>
        <p:nvSpPr>
          <p:cNvPr id="102" name="Google Shape;102;p29"/>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3" name="Google Shape;103;p2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05" name="Google Shape;105;p2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08"/>
        <p:cNvGrpSpPr/>
        <p:nvPr/>
      </p:nvGrpSpPr>
      <p:grpSpPr>
        <a:xfrm>
          <a:off x="0" y="0"/>
          <a:ext cx="0" cy="0"/>
          <a:chOff x="0" y="0"/>
          <a:chExt cx="0" cy="0"/>
        </a:xfrm>
      </p:grpSpPr>
      <p:sp>
        <p:nvSpPr>
          <p:cNvPr id="109" name="Google Shape;109;p30"/>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10" name="Google Shape;110;p30"/>
          <p:cNvSpPr txBox="1">
            <a:spLocks noGrp="1"/>
          </p:cNvSpPr>
          <p:nvPr>
            <p:ph type="title"/>
          </p:nvPr>
        </p:nvSpPr>
        <p:spPr>
          <a:xfrm rot="5400000">
            <a:off x="6863536"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0"/>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12" name="Google Shape;112;p3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lnSpc>
                <a:spcPct val="100000"/>
              </a:lnSpc>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100000"/>
              </a:lnSpc>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lnSpc>
                <a:spcPct val="100000"/>
              </a:lnSpc>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12" name="Google Shape;12;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3" name="Google Shape;13;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creativecommons.org/licenses/by/3.0/" TargetMode="External"/><Relationship Id="rId4" Type="http://schemas.openxmlformats.org/officeDocument/2006/relationships/hyperlink" Target="https://popularresistance.org/five-reasons-why-food-is-a-massive-global-health-issu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9"/>
        <p:cNvGrpSpPr/>
        <p:nvPr/>
      </p:nvGrpSpPr>
      <p:grpSpPr>
        <a:xfrm>
          <a:off x="0" y="0"/>
          <a:ext cx="0" cy="0"/>
          <a:chOff x="0" y="0"/>
          <a:chExt cx="0" cy="0"/>
        </a:xfrm>
      </p:grpSpPr>
      <p:sp>
        <p:nvSpPr>
          <p:cNvPr id="120" name="Google Shape;120;p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entury Gothic"/>
              <a:ea typeface="Century Gothic"/>
              <a:cs typeface="Century Gothic"/>
              <a:sym typeface="Century Gothic"/>
            </a:endParaRPr>
          </a:p>
        </p:txBody>
      </p:sp>
      <p:sp>
        <p:nvSpPr>
          <p:cNvPr id="121" name="Google Shape;121;p1"/>
          <p:cNvSpPr/>
          <p:nvPr/>
        </p:nvSpPr>
        <p:spPr>
          <a:xfrm rot="-5400000">
            <a:off x="-650724" y="650724"/>
            <a:ext cx="6858000" cy="5556552"/>
          </a:xfrm>
          <a:custGeom>
            <a:avLst/>
            <a:gdLst/>
            <a:ahLst/>
            <a:cxnLst/>
            <a:rect l="l" t="t" r="r" b="b"/>
            <a:pathLst>
              <a:path w="6858000" h="5556552" extrusionOk="0">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txBox="1">
            <a:spLocks noGrp="1"/>
          </p:cNvSpPr>
          <p:nvPr>
            <p:ph type="subTitle" idx="1"/>
          </p:nvPr>
        </p:nvSpPr>
        <p:spPr>
          <a:xfrm>
            <a:off x="643466" y="2281574"/>
            <a:ext cx="3994015" cy="229485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800"/>
              <a:buNone/>
            </a:pPr>
            <a:r>
              <a:rPr lang="fr-FR" sz="2800" dirty="0"/>
              <a:t>Evan Fol</a:t>
            </a:r>
            <a:endParaRPr sz="2800" dirty="0"/>
          </a:p>
          <a:p>
            <a:pPr marL="0" lvl="0" indent="0" algn="ctr" rtl="0">
              <a:lnSpc>
                <a:spcPct val="100000"/>
              </a:lnSpc>
              <a:spcBef>
                <a:spcPts val="1160"/>
              </a:spcBef>
              <a:spcAft>
                <a:spcPts val="0"/>
              </a:spcAft>
              <a:buSzPts val="2800"/>
              <a:buNone/>
            </a:pPr>
            <a:r>
              <a:rPr lang="fr-FR" sz="2800" dirty="0"/>
              <a:t>FAO</a:t>
            </a:r>
            <a:endParaRPr dirty="0"/>
          </a:p>
        </p:txBody>
      </p:sp>
      <p:sp>
        <p:nvSpPr>
          <p:cNvPr id="123" name="Google Shape;123;p1"/>
          <p:cNvSpPr txBox="1">
            <a:spLocks noGrp="1"/>
          </p:cNvSpPr>
          <p:nvPr>
            <p:ph type="ctrTitle"/>
          </p:nvPr>
        </p:nvSpPr>
        <p:spPr>
          <a:xfrm>
            <a:off x="5803899" y="122751"/>
            <a:ext cx="5452533" cy="3306249"/>
          </a:xfrm>
          <a:prstGeom prst="rect">
            <a:avLst/>
          </a:prstGeom>
          <a:noFill/>
          <a:ln>
            <a:noFill/>
          </a:ln>
          <a:effectLst>
            <a:outerShdw blurRad="50800">
              <a:srgbClr val="000000">
                <a:alpha val="6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EFEFE"/>
              </a:buClr>
              <a:buSzPts val="4400"/>
              <a:buFont typeface="Century Gothic"/>
              <a:buNone/>
            </a:pPr>
            <a:r>
              <a:rPr lang="fr-FR" sz="4400"/>
              <a:t>Étude sur l’alimentation dans le monde</a:t>
            </a:r>
            <a:endParaRPr/>
          </a:p>
        </p:txBody>
      </p:sp>
      <p:pic>
        <p:nvPicPr>
          <p:cNvPr id="3" name="Image 2" descr="Une image contenant légume, nourriture&#10;&#10;Le contenu généré par l’IA peut être incorrect.">
            <a:extLst>
              <a:ext uri="{FF2B5EF4-FFF2-40B4-BE49-F238E27FC236}">
                <a16:creationId xmlns:a16="http://schemas.microsoft.com/office/drawing/2014/main" id="{814320C9-B42A-A770-40F0-4D523485CDA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630333" y="3708400"/>
            <a:ext cx="6561667" cy="3149600"/>
          </a:xfrm>
          <a:prstGeom prst="rect">
            <a:avLst/>
          </a:prstGeom>
        </p:spPr>
      </p:pic>
      <p:sp>
        <p:nvSpPr>
          <p:cNvPr id="4" name="ZoneTexte 3">
            <a:extLst>
              <a:ext uri="{FF2B5EF4-FFF2-40B4-BE49-F238E27FC236}">
                <a16:creationId xmlns:a16="http://schemas.microsoft.com/office/drawing/2014/main" id="{9300831C-DF99-5466-2F00-474029392B75}"/>
              </a:ext>
            </a:extLst>
          </p:cNvPr>
          <p:cNvSpPr txBox="1"/>
          <p:nvPr/>
        </p:nvSpPr>
        <p:spPr>
          <a:xfrm>
            <a:off x="5910580" y="6651452"/>
            <a:ext cx="5715000" cy="230832"/>
          </a:xfrm>
          <a:prstGeom prst="rect">
            <a:avLst/>
          </a:prstGeom>
          <a:noFill/>
        </p:spPr>
        <p:txBody>
          <a:bodyPr wrap="square" rtlCol="0">
            <a:spAutoFit/>
          </a:bodyPr>
          <a:lstStyle/>
          <a:p>
            <a:r>
              <a:rPr lang="fr-FR" sz="900" dirty="0">
                <a:hlinkClick r:id="rId4" tooltip="https://popularresistance.org/five-reasons-why-food-is-a-massive-global-health-issue/"/>
              </a:rPr>
              <a:t>Cette photo</a:t>
            </a:r>
            <a:r>
              <a:rPr lang="fr-FR" sz="900" dirty="0"/>
              <a:t> par Auteur inconnu est soumise à la licence </a:t>
            </a:r>
            <a:r>
              <a:rPr lang="fr-FR" sz="900" dirty="0">
                <a:hlinkClick r:id="rId5" tooltip="https://creativecommons.org/licenses/by/3.0/"/>
              </a:rPr>
              <a:t>CC BY</a:t>
            </a:r>
            <a:endParaRPr lang="fr-FR"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Contexte et spécification des données</a:t>
            </a:r>
            <a:endParaRPr sz="3200"/>
          </a:p>
        </p:txBody>
      </p:sp>
      <p:sp>
        <p:nvSpPr>
          <p:cNvPr id="131" name="Google Shape;131;p2"/>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spcBef>
                <a:spcPts val="0"/>
              </a:spcBef>
              <a:buFont typeface="Wingdings" panose="05000000000000000000" pitchFamily="2" charset="2"/>
              <a:buChar char="§"/>
            </a:pPr>
            <a:r>
              <a:rPr lang="fr-FR" dirty="0"/>
              <a:t>Analyse des données FAO (Food and Agriculture </a:t>
            </a:r>
            <a:r>
              <a:rPr lang="fr-FR" dirty="0" err="1"/>
              <a:t>Organization</a:t>
            </a:r>
            <a:r>
              <a:rPr lang="fr-FR" dirty="0"/>
              <a:t>) sur l’alimentation mondiale (2013-2017), à partir du lexique et des données, pour compléter l’étude déjà faite sur 2018-aujourd’hui.</a:t>
            </a:r>
          </a:p>
          <a:p>
            <a:pPr>
              <a:spcBef>
                <a:spcPts val="0"/>
              </a:spcBef>
              <a:buFont typeface="Wingdings" panose="05000000000000000000" pitchFamily="2" charset="2"/>
              <a:buChar char="§"/>
            </a:pPr>
            <a:endParaRPr lang="fr-FR" dirty="0"/>
          </a:p>
          <a:p>
            <a:pPr>
              <a:spcBef>
                <a:spcPts val="0"/>
              </a:spcBef>
              <a:buFont typeface="Wingdings" panose="05000000000000000000" pitchFamily="2" charset="2"/>
              <a:buChar char="§"/>
            </a:pPr>
            <a:r>
              <a:rPr lang="fr-FR" dirty="0"/>
              <a:t>Types de données : </a:t>
            </a:r>
          </a:p>
          <a:p>
            <a:pPr lvl="1">
              <a:spcBef>
                <a:spcPts val="0"/>
              </a:spcBef>
              <a:buFont typeface="Wingdings" panose="05000000000000000000" pitchFamily="2" charset="2"/>
              <a:buChar char="§"/>
            </a:pPr>
            <a:r>
              <a:rPr lang="fr-FR" dirty="0"/>
              <a:t>Données sur la population des différents pays entre 2013 et 2018</a:t>
            </a:r>
          </a:p>
          <a:p>
            <a:pPr lvl="1">
              <a:spcBef>
                <a:spcPts val="0"/>
              </a:spcBef>
              <a:buFont typeface="Wingdings" panose="05000000000000000000" pitchFamily="2" charset="2"/>
              <a:buChar char="§"/>
            </a:pPr>
            <a:r>
              <a:rPr lang="fr-FR" dirty="0"/>
              <a:t>Données sur la sous-nutrition pour ces mêmes années</a:t>
            </a:r>
          </a:p>
          <a:p>
            <a:pPr lvl="1">
              <a:spcBef>
                <a:spcPts val="0"/>
              </a:spcBef>
              <a:buFont typeface="Wingdings" panose="05000000000000000000" pitchFamily="2" charset="2"/>
              <a:buChar char="§"/>
            </a:pPr>
            <a:r>
              <a:rPr lang="fr-FR" dirty="0"/>
              <a:t>Données sur la dispo alimentaire en 2017 dans ces pays avec le détail de ces composantes / pays</a:t>
            </a:r>
          </a:p>
          <a:p>
            <a:pPr lvl="1">
              <a:spcBef>
                <a:spcPts val="0"/>
              </a:spcBef>
              <a:buFont typeface="Wingdings" panose="05000000000000000000" pitchFamily="2" charset="2"/>
              <a:buChar char="§"/>
            </a:pPr>
            <a:r>
              <a:rPr lang="fr-FR" dirty="0"/>
              <a:t>Données sur les différents types d’aide alimentaire reçus par années et par pays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Méthodologie de l’analyse</a:t>
            </a:r>
            <a:endParaRPr sz="3200"/>
          </a:p>
        </p:txBody>
      </p:sp>
      <p:sp>
        <p:nvSpPr>
          <p:cNvPr id="6" name="Espace réservé du texte 5">
            <a:extLst>
              <a:ext uri="{FF2B5EF4-FFF2-40B4-BE49-F238E27FC236}">
                <a16:creationId xmlns:a16="http://schemas.microsoft.com/office/drawing/2014/main" id="{D98306F0-99F1-CF49-EF03-5B2B785E3E30}"/>
              </a:ext>
            </a:extLst>
          </p:cNvPr>
          <p:cNvSpPr>
            <a:spLocks noGrp="1"/>
          </p:cNvSpPr>
          <p:nvPr>
            <p:ph type="body" idx="1"/>
          </p:nvPr>
        </p:nvSpPr>
        <p:spPr>
          <a:xfrm>
            <a:off x="467983" y="2297442"/>
            <a:ext cx="10554574" cy="3636511"/>
          </a:xfrm>
        </p:spPr>
        <p:txBody>
          <a:bodyPr/>
          <a:lstStyle/>
          <a:p>
            <a:pPr>
              <a:buFont typeface="Wingdings" panose="05000000000000000000" pitchFamily="2" charset="2"/>
              <a:buChar char="§"/>
            </a:pPr>
            <a:r>
              <a:rPr lang="fr-FR" dirty="0"/>
              <a:t>Le RGPD ne s’applique pas car il s’agit de données publiques et non personnelles.</a:t>
            </a:r>
          </a:p>
          <a:p>
            <a:pPr>
              <a:buFont typeface="Wingdings" panose="05000000000000000000" pitchFamily="2" charset="2"/>
              <a:buChar char="§"/>
            </a:pPr>
            <a:endParaRPr lang="fr-FR" dirty="0"/>
          </a:p>
          <a:p>
            <a:pPr>
              <a:buFont typeface="Wingdings" panose="05000000000000000000" pitchFamily="2" charset="2"/>
              <a:buChar char="§"/>
            </a:pPr>
            <a:r>
              <a:rPr lang="fr-FR" dirty="0"/>
              <a:t>1</a:t>
            </a:r>
            <a:r>
              <a:rPr lang="fr-FR" baseline="30000" dirty="0"/>
              <a:t>ère</a:t>
            </a:r>
            <a:r>
              <a:rPr lang="fr-FR" dirty="0"/>
              <a:t> étape import des données FAO 2013-2017</a:t>
            </a:r>
          </a:p>
          <a:p>
            <a:pPr>
              <a:buFont typeface="Wingdings" panose="05000000000000000000" pitchFamily="2" charset="2"/>
              <a:buChar char="§"/>
            </a:pPr>
            <a:endParaRPr lang="fr-FR" dirty="0"/>
          </a:p>
          <a:p>
            <a:pPr>
              <a:buFont typeface="Wingdings" panose="05000000000000000000" pitchFamily="2" charset="2"/>
              <a:buChar char="§"/>
            </a:pPr>
            <a:r>
              <a:rPr lang="fr-FR" dirty="0"/>
              <a:t>2</a:t>
            </a:r>
            <a:r>
              <a:rPr lang="fr-FR" baseline="30000" dirty="0"/>
              <a:t>ème</a:t>
            </a:r>
            <a:r>
              <a:rPr lang="fr-FR" dirty="0"/>
              <a:t> étape préparation des données</a:t>
            </a:r>
          </a:p>
          <a:p>
            <a:pPr>
              <a:buFont typeface="Wingdings" panose="05000000000000000000" pitchFamily="2" charset="2"/>
              <a:buChar char="§"/>
            </a:pPr>
            <a:endParaRPr lang="fr-FR" dirty="0"/>
          </a:p>
          <a:p>
            <a:pPr>
              <a:buFont typeface="Wingdings" panose="05000000000000000000" pitchFamily="2" charset="2"/>
              <a:buChar char="§"/>
            </a:pPr>
            <a:r>
              <a:rPr lang="fr-FR" dirty="0"/>
              <a:t>3</a:t>
            </a:r>
            <a:r>
              <a:rPr lang="fr-FR" baseline="30000" dirty="0"/>
              <a:t>ème</a:t>
            </a:r>
            <a:r>
              <a:rPr lang="fr-FR" dirty="0"/>
              <a:t> étape analyse globale</a:t>
            </a:r>
          </a:p>
          <a:p>
            <a:endParaRPr lang="fr-FR" dirty="0"/>
          </a:p>
          <a:p>
            <a:pPr>
              <a:buFont typeface="Wingdings" panose="05000000000000000000" pitchFamily="2" charset="2"/>
              <a:buChar char="§"/>
            </a:pPr>
            <a:r>
              <a:rPr lang="fr-FR" dirty="0"/>
              <a:t>4</a:t>
            </a:r>
            <a:r>
              <a:rPr lang="fr-FR" baseline="30000" dirty="0"/>
              <a:t>ème</a:t>
            </a:r>
            <a:r>
              <a:rPr lang="fr-FR" dirty="0"/>
              <a:t> étape création de graphiques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 Proportion de personnes en état de sous-nutrition en 2017</a:t>
            </a:r>
            <a:endParaRPr sz="3200"/>
          </a:p>
        </p:txBody>
      </p:sp>
      <p:sp>
        <p:nvSpPr>
          <p:cNvPr id="146" name="Google Shape;146;p4"/>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indent="-285750">
              <a:spcBef>
                <a:spcPts val="0"/>
              </a:spcBef>
              <a:buFont typeface="Wingdings" panose="05000000000000000000" pitchFamily="2" charset="2"/>
              <a:buChar char="§"/>
            </a:pPr>
            <a:r>
              <a:rPr lang="fr-FR" dirty="0"/>
              <a:t>Population globale en 2017 = 7,543 milliards</a:t>
            </a:r>
          </a:p>
          <a:p>
            <a:pPr marL="285750" indent="-285750">
              <a:spcBef>
                <a:spcPts val="0"/>
              </a:spcBef>
              <a:buFont typeface="Wingdings" panose="05000000000000000000" pitchFamily="2" charset="2"/>
              <a:buChar char="§"/>
            </a:pPr>
            <a:endParaRPr lang="fr-FR" dirty="0"/>
          </a:p>
          <a:p>
            <a:pPr marL="285750" indent="-285750">
              <a:spcBef>
                <a:spcPts val="0"/>
              </a:spcBef>
              <a:buFont typeface="Wingdings" panose="05000000000000000000" pitchFamily="2" charset="2"/>
              <a:buChar char="§"/>
            </a:pPr>
            <a:r>
              <a:rPr lang="fr-FR" dirty="0"/>
              <a:t>Population en état de sous nutrition en 2017 = 535,7 millions</a:t>
            </a:r>
          </a:p>
          <a:p>
            <a:pPr marL="285750" indent="-285750">
              <a:spcBef>
                <a:spcPts val="0"/>
              </a:spcBef>
              <a:buFont typeface="Wingdings" panose="05000000000000000000" pitchFamily="2" charset="2"/>
              <a:buChar char="§"/>
            </a:pPr>
            <a:endParaRPr lang="fr-FR" dirty="0"/>
          </a:p>
          <a:p>
            <a:pPr marL="285750" indent="-285750">
              <a:spcBef>
                <a:spcPts val="0"/>
              </a:spcBef>
              <a:buFont typeface="Wingdings" panose="05000000000000000000" pitchFamily="2" charset="2"/>
              <a:buChar char="§"/>
            </a:pPr>
            <a:r>
              <a:rPr lang="fr-FR" dirty="0"/>
              <a:t>7% de la population globale en état de sous nutrition</a:t>
            </a:r>
          </a:p>
          <a:p>
            <a:pPr marL="285750" indent="-285750">
              <a:spcBef>
                <a:spcPts val="0"/>
              </a:spcBef>
              <a:buFont typeface="Wingdings" panose="05000000000000000000" pitchFamily="2" charset="2"/>
              <a:buChar char="§"/>
            </a:pPr>
            <a:endParaRPr lang="fr-FR" dirty="0"/>
          </a:p>
          <a:p>
            <a:pPr marL="285750" indent="-285750">
              <a:spcBef>
                <a:spcPts val="0"/>
              </a:spcBef>
              <a:buFont typeface="Wingdings" panose="05000000000000000000" pitchFamily="2" charset="2"/>
              <a:buChar char="§"/>
            </a:pPr>
            <a:r>
              <a:rPr lang="fr-FR" dirty="0"/>
              <a:t>Soit 1/14 !</a:t>
            </a:r>
            <a:endParaRPr dirty="0"/>
          </a:p>
        </p:txBody>
      </p:sp>
      <p:pic>
        <p:nvPicPr>
          <p:cNvPr id="3" name="Graphique 2" descr="Utilisateur avec un remplissage uni">
            <a:extLst>
              <a:ext uri="{FF2B5EF4-FFF2-40B4-BE49-F238E27FC236}">
                <a16:creationId xmlns:a16="http://schemas.microsoft.com/office/drawing/2014/main" id="{65A73965-C27B-8046-A11F-FC803AB494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75840" y="4658360"/>
            <a:ext cx="375920" cy="375920"/>
          </a:xfrm>
          <a:prstGeom prst="rect">
            <a:avLst/>
          </a:prstGeom>
        </p:spPr>
      </p:pic>
      <p:pic>
        <p:nvPicPr>
          <p:cNvPr id="4" name="Graphique 3" descr="Utilisateur avec un remplissage uni">
            <a:extLst>
              <a:ext uri="{FF2B5EF4-FFF2-40B4-BE49-F238E27FC236}">
                <a16:creationId xmlns:a16="http://schemas.microsoft.com/office/drawing/2014/main" id="{7F13BA7E-3B45-A42C-1532-472FBA8B9A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28240" y="4658360"/>
            <a:ext cx="375920" cy="375920"/>
          </a:xfrm>
          <a:prstGeom prst="rect">
            <a:avLst/>
          </a:prstGeom>
        </p:spPr>
      </p:pic>
      <p:pic>
        <p:nvPicPr>
          <p:cNvPr id="5" name="Graphique 4" descr="Utilisateur avec un remplissage uni">
            <a:extLst>
              <a:ext uri="{FF2B5EF4-FFF2-40B4-BE49-F238E27FC236}">
                <a16:creationId xmlns:a16="http://schemas.microsoft.com/office/drawing/2014/main" id="{48C832EA-D83C-38BA-B8B9-58EC116E4B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80640" y="4658360"/>
            <a:ext cx="375920" cy="375920"/>
          </a:xfrm>
          <a:prstGeom prst="rect">
            <a:avLst/>
          </a:prstGeom>
        </p:spPr>
      </p:pic>
      <p:pic>
        <p:nvPicPr>
          <p:cNvPr id="6" name="Graphique 5" descr="Utilisateur avec un remplissage uni">
            <a:extLst>
              <a:ext uri="{FF2B5EF4-FFF2-40B4-BE49-F238E27FC236}">
                <a16:creationId xmlns:a16="http://schemas.microsoft.com/office/drawing/2014/main" id="{A16C88D6-5A85-CA9B-2D95-BB10305504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3040" y="4658360"/>
            <a:ext cx="375920" cy="375920"/>
          </a:xfrm>
          <a:prstGeom prst="rect">
            <a:avLst/>
          </a:prstGeom>
        </p:spPr>
      </p:pic>
      <p:pic>
        <p:nvPicPr>
          <p:cNvPr id="7" name="Graphique 6" descr="Utilisateur avec un remplissage uni">
            <a:extLst>
              <a:ext uri="{FF2B5EF4-FFF2-40B4-BE49-F238E27FC236}">
                <a16:creationId xmlns:a16="http://schemas.microsoft.com/office/drawing/2014/main" id="{22D0B3B0-3599-690A-18D7-EA3AF2E137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85440" y="4658360"/>
            <a:ext cx="375920" cy="375920"/>
          </a:xfrm>
          <a:prstGeom prst="rect">
            <a:avLst/>
          </a:prstGeom>
        </p:spPr>
      </p:pic>
      <p:pic>
        <p:nvPicPr>
          <p:cNvPr id="8" name="Graphique 7" descr="Utilisateur avec un remplissage uni">
            <a:extLst>
              <a:ext uri="{FF2B5EF4-FFF2-40B4-BE49-F238E27FC236}">
                <a16:creationId xmlns:a16="http://schemas.microsoft.com/office/drawing/2014/main" id="{7E24EDCD-02D4-EE0F-FBF2-835A27E34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37840" y="4658360"/>
            <a:ext cx="375920" cy="375920"/>
          </a:xfrm>
          <a:prstGeom prst="rect">
            <a:avLst/>
          </a:prstGeom>
        </p:spPr>
      </p:pic>
      <p:pic>
        <p:nvPicPr>
          <p:cNvPr id="9" name="Graphique 8" descr="Utilisateur avec un remplissage uni">
            <a:extLst>
              <a:ext uri="{FF2B5EF4-FFF2-40B4-BE49-F238E27FC236}">
                <a16:creationId xmlns:a16="http://schemas.microsoft.com/office/drawing/2014/main" id="{8AA8A74D-5ABE-2A20-9374-47FC0053E6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0240" y="4658360"/>
            <a:ext cx="375920" cy="375920"/>
          </a:xfrm>
          <a:prstGeom prst="rect">
            <a:avLst/>
          </a:prstGeom>
        </p:spPr>
      </p:pic>
      <p:pic>
        <p:nvPicPr>
          <p:cNvPr id="10" name="Graphique 9" descr="Utilisateur avec un remplissage uni">
            <a:extLst>
              <a:ext uri="{FF2B5EF4-FFF2-40B4-BE49-F238E27FC236}">
                <a16:creationId xmlns:a16="http://schemas.microsoft.com/office/drawing/2014/main" id="{EAC0ABB9-8F7A-5818-8808-5B459804C5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2640" y="4658360"/>
            <a:ext cx="375920" cy="375920"/>
          </a:xfrm>
          <a:prstGeom prst="rect">
            <a:avLst/>
          </a:prstGeom>
        </p:spPr>
      </p:pic>
      <p:pic>
        <p:nvPicPr>
          <p:cNvPr id="11" name="Graphique 10" descr="Utilisateur avec un remplissage uni">
            <a:extLst>
              <a:ext uri="{FF2B5EF4-FFF2-40B4-BE49-F238E27FC236}">
                <a16:creationId xmlns:a16="http://schemas.microsoft.com/office/drawing/2014/main" id="{2432051D-7D87-9A80-4026-05DE959D42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95040" y="4658360"/>
            <a:ext cx="375920" cy="375920"/>
          </a:xfrm>
          <a:prstGeom prst="rect">
            <a:avLst/>
          </a:prstGeom>
        </p:spPr>
      </p:pic>
      <p:pic>
        <p:nvPicPr>
          <p:cNvPr id="12" name="Graphique 11" descr="Utilisateur avec un remplissage uni">
            <a:extLst>
              <a:ext uri="{FF2B5EF4-FFF2-40B4-BE49-F238E27FC236}">
                <a16:creationId xmlns:a16="http://schemas.microsoft.com/office/drawing/2014/main" id="{F53D1DA6-17A9-614C-1DDB-D66AC42C72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47440" y="4658360"/>
            <a:ext cx="375920" cy="375920"/>
          </a:xfrm>
          <a:prstGeom prst="rect">
            <a:avLst/>
          </a:prstGeom>
        </p:spPr>
      </p:pic>
      <p:pic>
        <p:nvPicPr>
          <p:cNvPr id="13" name="Graphique 12" descr="Utilisateur avec un remplissage uni">
            <a:extLst>
              <a:ext uri="{FF2B5EF4-FFF2-40B4-BE49-F238E27FC236}">
                <a16:creationId xmlns:a16="http://schemas.microsoft.com/office/drawing/2014/main" id="{EC5A6B45-41EC-8BD1-E7FF-598700BE32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99840" y="4658360"/>
            <a:ext cx="375920" cy="375920"/>
          </a:xfrm>
          <a:prstGeom prst="rect">
            <a:avLst/>
          </a:prstGeom>
        </p:spPr>
      </p:pic>
      <p:pic>
        <p:nvPicPr>
          <p:cNvPr id="14" name="Graphique 13" descr="Utilisateur avec un remplissage uni">
            <a:extLst>
              <a:ext uri="{FF2B5EF4-FFF2-40B4-BE49-F238E27FC236}">
                <a16:creationId xmlns:a16="http://schemas.microsoft.com/office/drawing/2014/main" id="{F7AE9FF6-8415-0C23-5664-AF067006D7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52240" y="4658360"/>
            <a:ext cx="375920" cy="375920"/>
          </a:xfrm>
          <a:prstGeom prst="rect">
            <a:avLst/>
          </a:prstGeom>
        </p:spPr>
      </p:pic>
      <p:pic>
        <p:nvPicPr>
          <p:cNvPr id="15" name="Graphique 14" descr="Utilisateur avec un remplissage uni">
            <a:extLst>
              <a:ext uri="{FF2B5EF4-FFF2-40B4-BE49-F238E27FC236}">
                <a16:creationId xmlns:a16="http://schemas.microsoft.com/office/drawing/2014/main" id="{0D0EA5FA-D76B-4531-48C4-6AD9098710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4640" y="4658360"/>
            <a:ext cx="375920" cy="375920"/>
          </a:xfrm>
          <a:prstGeom prst="rect">
            <a:avLst/>
          </a:prstGeom>
        </p:spPr>
      </p:pic>
      <p:pic>
        <p:nvPicPr>
          <p:cNvPr id="17" name="Graphique 16" descr="Utilisateur contour">
            <a:extLst>
              <a:ext uri="{FF2B5EF4-FFF2-40B4-BE49-F238E27FC236}">
                <a16:creationId xmlns:a16="http://schemas.microsoft.com/office/drawing/2014/main" id="{6CE71BEC-F762-ACDD-FB9B-9B5CA916AA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57040" y="4658360"/>
            <a:ext cx="375920" cy="375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2) Nombre théorique de personnes qui pourraient être nourries en 2017</a:t>
            </a:r>
            <a:endParaRPr sz="3200"/>
          </a:p>
        </p:txBody>
      </p:sp>
      <p:sp>
        <p:nvSpPr>
          <p:cNvPr id="153" name="Google Shape;153;p5"/>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indent="-285750">
              <a:lnSpc>
                <a:spcPct val="200000"/>
              </a:lnSpc>
              <a:spcBef>
                <a:spcPts val="0"/>
              </a:spcBef>
              <a:buFont typeface="Wingdings" panose="05000000000000000000" pitchFamily="2" charset="2"/>
              <a:buChar char="§"/>
            </a:pPr>
            <a:r>
              <a:rPr lang="fr-FR" dirty="0"/>
              <a:t>Selon les normes onusiennes, la moyenne de calories qu’un humain doit manger au minimum par jour est d’environs 2100kcal.</a:t>
            </a:r>
          </a:p>
          <a:p>
            <a:pPr marL="285750" indent="-285750">
              <a:lnSpc>
                <a:spcPct val="200000"/>
              </a:lnSpc>
              <a:spcBef>
                <a:spcPts val="0"/>
              </a:spcBef>
              <a:buFont typeface="Wingdings" panose="05000000000000000000" pitchFamily="2" charset="2"/>
              <a:buChar char="§"/>
            </a:pPr>
            <a:r>
              <a:rPr lang="fr-FR" dirty="0"/>
              <a:t>Notre étude montre que 20 918 milliards de kcal sont dispo par jour dans le monde en 2017.</a:t>
            </a:r>
          </a:p>
          <a:p>
            <a:pPr marL="285750" indent="-285750">
              <a:lnSpc>
                <a:spcPct val="200000"/>
              </a:lnSpc>
              <a:spcBef>
                <a:spcPts val="0"/>
              </a:spcBef>
              <a:buFont typeface="Wingdings" panose="05000000000000000000" pitchFamily="2" charset="2"/>
              <a:buChar char="§"/>
            </a:pPr>
            <a:r>
              <a:rPr lang="fr-FR" dirty="0"/>
              <a:t>Lorsque l’on divise ce chiffre par 2100kcal on obtient une population de 9,961 milliards de personnes qui pourraient être nourris convenablement.</a:t>
            </a:r>
          </a:p>
          <a:p>
            <a:pPr marL="285750" indent="-285750">
              <a:spcBef>
                <a:spcPts val="0"/>
              </a:spcBef>
              <a:buFont typeface="Wingdings" panose="05000000000000000000" pitchFamily="2" charset="2"/>
              <a:buChar char="§"/>
            </a:pPr>
            <a:endParaRPr lang="fr-FR" dirty="0"/>
          </a:p>
          <a:p>
            <a:pPr marL="0" lvl="0" indent="0" algn="l" rtl="0">
              <a:lnSpc>
                <a:spcPct val="100000"/>
              </a:lnSpc>
              <a:spcBef>
                <a:spcPts val="0"/>
              </a:spcBef>
              <a:spcAft>
                <a:spcPts val="0"/>
              </a:spcAft>
              <a:buSzPts val="1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3) Nombre théorique de personnes qui pourraient être nourries uniquement avec les végétaux en 2017</a:t>
            </a:r>
            <a:endParaRPr/>
          </a:p>
        </p:txBody>
      </p:sp>
      <p:sp>
        <p:nvSpPr>
          <p:cNvPr id="160" name="Google Shape;160;p6"/>
          <p:cNvSpPr txBox="1">
            <a:spLocks noGrp="1"/>
          </p:cNvSpPr>
          <p:nvPr>
            <p:ph type="body" idx="1"/>
          </p:nvPr>
        </p:nvSpPr>
        <p:spPr>
          <a:xfrm>
            <a:off x="827424" y="2471669"/>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indent="-285750">
              <a:lnSpc>
                <a:spcPct val="150000"/>
              </a:lnSpc>
              <a:spcBef>
                <a:spcPts val="0"/>
              </a:spcBef>
              <a:buFont typeface="Wingdings" panose="05000000000000000000" pitchFamily="2" charset="2"/>
              <a:buChar char="§"/>
            </a:pPr>
            <a:r>
              <a:rPr lang="fr-FR" dirty="0"/>
              <a:t>Notre étude montre que 17 200 milliards de kcal végétales sont dispo par jour dans le monde en 2017.</a:t>
            </a:r>
          </a:p>
          <a:p>
            <a:pPr marL="285750" indent="-285750">
              <a:lnSpc>
                <a:spcPct val="150000"/>
              </a:lnSpc>
              <a:spcBef>
                <a:spcPts val="0"/>
              </a:spcBef>
              <a:buFont typeface="Wingdings" panose="05000000000000000000" pitchFamily="2" charset="2"/>
              <a:buChar char="§"/>
            </a:pPr>
            <a:endParaRPr lang="fr-FR" dirty="0"/>
          </a:p>
          <a:p>
            <a:pPr marL="285750" indent="-285750">
              <a:lnSpc>
                <a:spcPct val="150000"/>
              </a:lnSpc>
              <a:spcBef>
                <a:spcPts val="0"/>
              </a:spcBef>
              <a:buFont typeface="Wingdings" panose="05000000000000000000" pitchFamily="2" charset="2"/>
              <a:buChar char="§"/>
            </a:pPr>
            <a:r>
              <a:rPr lang="fr-FR" dirty="0"/>
              <a:t>Lorsque l’on divise ce chiffre par 2100kcal on obtient une population de 8,219 milliards de personnes qui pourraient être nourris convenablement.</a:t>
            </a:r>
          </a:p>
          <a:p>
            <a:pPr marL="285750" indent="-285750">
              <a:lnSpc>
                <a:spcPct val="150000"/>
              </a:lnSpc>
              <a:spcBef>
                <a:spcPts val="0"/>
              </a:spcBef>
              <a:buFont typeface="Wingdings" panose="05000000000000000000" pitchFamily="2" charset="2"/>
              <a:buChar char="§"/>
            </a:pPr>
            <a:endParaRPr lang="fr-FR" dirty="0"/>
          </a:p>
          <a:p>
            <a:pPr marL="285750" indent="-285750">
              <a:lnSpc>
                <a:spcPct val="150000"/>
              </a:lnSpc>
              <a:spcBef>
                <a:spcPts val="0"/>
              </a:spcBef>
              <a:buFont typeface="Wingdings" panose="05000000000000000000" pitchFamily="2" charset="2"/>
              <a:buChar char="§"/>
            </a:pPr>
            <a:r>
              <a:rPr lang="fr-FR" dirty="0"/>
              <a:t>L’alimentation végétale serait théoriquement suffisante pour nourrir tout le monde dans l’hypothèse d’une redistribution parfaite.</a:t>
            </a:r>
          </a:p>
          <a:p>
            <a:pPr marL="0" lvl="0" indent="0" algn="l" rtl="0">
              <a:lnSpc>
                <a:spcPct val="100000"/>
              </a:lnSpc>
              <a:spcBef>
                <a:spcPts val="0"/>
              </a:spcBef>
              <a:spcAft>
                <a:spcPts val="0"/>
              </a:spcAft>
              <a:buSzPts val="18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4) Répartition de la disponibilité intérieure</a:t>
            </a:r>
            <a:endParaRPr/>
          </a:p>
        </p:txBody>
      </p:sp>
      <p:sp>
        <p:nvSpPr>
          <p:cNvPr id="169" name="Google Shape;169;p7"/>
          <p:cNvSpPr/>
          <p:nvPr/>
        </p:nvSpPr>
        <p:spPr>
          <a:xfrm>
            <a:off x="6991949" y="2843805"/>
            <a:ext cx="3432000" cy="2582400"/>
          </a:xfrm>
          <a:prstGeom prst="rect">
            <a:avLst/>
          </a:prstGeom>
          <a:solidFill>
            <a:srgbClr val="FFFF00"/>
          </a:solidFill>
          <a:ln w="15875" cap="rnd" cmpd="sng">
            <a:solidFill>
              <a:srgbClr val="AE81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fr-FR" sz="1600" b="1" i="0" u="sng" strike="noStrike" cap="none" dirty="0">
                <a:solidFill>
                  <a:srgbClr val="000000"/>
                </a:solidFill>
                <a:latin typeface="Century Gothic"/>
                <a:ea typeface="Century Gothic"/>
                <a:cs typeface="Century Gothic"/>
                <a:sym typeface="Century Gothic"/>
              </a:rPr>
              <a:t>Equation </a:t>
            </a:r>
            <a:endParaRPr sz="1600" b="1" i="0" u="sng" strike="noStrike" cap="none" dirty="0">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dirty="0">
                <a:solidFill>
                  <a:srgbClr val="000000"/>
                </a:solidFill>
                <a:latin typeface="Century Gothic"/>
                <a:ea typeface="Century Gothic"/>
                <a:cs typeface="Century Gothic"/>
                <a:sym typeface="Century Gothic"/>
              </a:rPr>
              <a:t>Production + Importations - Exportations + Variation de stock</a:t>
            </a:r>
            <a:endParaRPr sz="1600" b="0" i="0" u="none" strike="noStrike" cap="none" dirty="0">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dirty="0">
                <a:solidFill>
                  <a:srgbClr val="000000"/>
                </a:solidFill>
                <a:latin typeface="Century Gothic"/>
                <a:ea typeface="Century Gothic"/>
                <a:cs typeface="Century Gothic"/>
                <a:sym typeface="Century Gothic"/>
              </a:rPr>
              <a:t>=</a:t>
            </a:r>
            <a:endParaRPr sz="1600" b="0" i="0" u="none" strike="noStrike" cap="none" dirty="0">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dirty="0">
                <a:solidFill>
                  <a:srgbClr val="000000"/>
                </a:solidFill>
                <a:latin typeface="Century Gothic"/>
                <a:ea typeface="Century Gothic"/>
                <a:cs typeface="Century Gothic"/>
                <a:sym typeface="Century Gothic"/>
              </a:rPr>
              <a:t>Disponibilité intérieure</a:t>
            </a:r>
            <a:endParaRPr sz="1600" b="0" i="0" u="none" strike="noStrike" cap="none" dirty="0">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dirty="0">
                <a:solidFill>
                  <a:srgbClr val="000000"/>
                </a:solidFill>
                <a:latin typeface="Century Gothic"/>
                <a:ea typeface="Century Gothic"/>
                <a:cs typeface="Century Gothic"/>
                <a:sym typeface="Century Gothic"/>
              </a:rPr>
              <a:t>=</a:t>
            </a:r>
            <a:endParaRPr sz="1600" b="0" i="0" u="none" strike="noStrike" cap="none" dirty="0">
              <a:solidFill>
                <a:srgbClr val="000000"/>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000000"/>
              </a:buClr>
              <a:buSzPts val="1600"/>
              <a:buFont typeface="Arial"/>
              <a:buNone/>
            </a:pPr>
            <a:r>
              <a:rPr lang="fr-FR" sz="1600" b="0" i="0" u="none" strike="noStrike" cap="none" dirty="0">
                <a:solidFill>
                  <a:srgbClr val="000000"/>
                </a:solidFill>
                <a:latin typeface="Century Gothic"/>
                <a:ea typeface="Century Gothic"/>
                <a:cs typeface="Century Gothic"/>
                <a:sym typeface="Century Gothic"/>
              </a:rPr>
              <a:t>Semences + Pertes + Nourriture + Aliments pour animaux + Traitement + Autres utilisations</a:t>
            </a:r>
            <a:endParaRPr sz="1600" b="0" i="0" u="none" strike="noStrike" cap="none" dirty="0">
              <a:solidFill>
                <a:srgbClr val="000000"/>
              </a:solidFill>
              <a:latin typeface="Century Gothic"/>
              <a:ea typeface="Century Gothic"/>
              <a:cs typeface="Century Gothic"/>
              <a:sym typeface="Century Gothic"/>
            </a:endParaRPr>
          </a:p>
        </p:txBody>
      </p:sp>
      <p:pic>
        <p:nvPicPr>
          <p:cNvPr id="3" name="Image 2">
            <a:extLst>
              <a:ext uri="{FF2B5EF4-FFF2-40B4-BE49-F238E27FC236}">
                <a16:creationId xmlns:a16="http://schemas.microsoft.com/office/drawing/2014/main" id="{29F3B115-3541-61DF-AE33-7240E1E98123}"/>
              </a:ext>
            </a:extLst>
          </p:cNvPr>
          <p:cNvPicPr>
            <a:picLocks noChangeAspect="1"/>
          </p:cNvPicPr>
          <p:nvPr/>
        </p:nvPicPr>
        <p:blipFill>
          <a:blip r:embed="rId3"/>
          <a:stretch>
            <a:fillRect/>
          </a:stretch>
        </p:blipFill>
        <p:spPr>
          <a:xfrm>
            <a:off x="545743" y="2277371"/>
            <a:ext cx="5458817" cy="3971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5) Part de l’utilisation des principales céréales entre l’alimentation humaine et animale</a:t>
            </a:r>
            <a:endParaRPr/>
          </a:p>
        </p:txBody>
      </p:sp>
      <p:sp>
        <p:nvSpPr>
          <p:cNvPr id="5" name="Google Shape;203;p11">
            <a:extLst>
              <a:ext uri="{FF2B5EF4-FFF2-40B4-BE49-F238E27FC236}">
                <a16:creationId xmlns:a16="http://schemas.microsoft.com/office/drawing/2014/main" id="{9268C76C-1A64-8E33-CFC0-B15EE5287F66}"/>
              </a:ext>
            </a:extLst>
          </p:cNvPr>
          <p:cNvSpPr txBox="1">
            <a:spLocks noGrp="1"/>
          </p:cNvSpPr>
          <p:nvPr>
            <p:ph type="body" idx="1"/>
          </p:nvPr>
        </p:nvSpPr>
        <p:spPr>
          <a:xfrm>
            <a:off x="7896226" y="2222287"/>
            <a:ext cx="3477060" cy="4188525"/>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1800"/>
              <a:buFont typeface="Wingdings" panose="05000000000000000000" pitchFamily="2" charset="2"/>
              <a:buChar char="§"/>
            </a:pPr>
            <a:r>
              <a:rPr lang="fr-FR" dirty="0"/>
              <a:t>36% du total des céréales est utilisées pour l’alimentation animale</a:t>
            </a:r>
          </a:p>
        </p:txBody>
      </p:sp>
      <p:pic>
        <p:nvPicPr>
          <p:cNvPr id="7" name="Image 6">
            <a:extLst>
              <a:ext uri="{FF2B5EF4-FFF2-40B4-BE49-F238E27FC236}">
                <a16:creationId xmlns:a16="http://schemas.microsoft.com/office/drawing/2014/main" id="{B4FDDFEE-9381-38E7-E5EB-2AEC7461063A}"/>
              </a:ext>
            </a:extLst>
          </p:cNvPr>
          <p:cNvPicPr>
            <a:picLocks noChangeAspect="1"/>
          </p:cNvPicPr>
          <p:nvPr/>
        </p:nvPicPr>
        <p:blipFill>
          <a:blip r:embed="rId3"/>
          <a:stretch>
            <a:fillRect/>
          </a:stretch>
        </p:blipFill>
        <p:spPr>
          <a:xfrm>
            <a:off x="247650" y="2298369"/>
            <a:ext cx="6648450" cy="41124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6) Liste des 10 pays où la proportion de personnes en état de sous-nutrition est la plus forte en </a:t>
            </a:r>
            <a:r>
              <a:rPr lang="fr-FR" sz="3200">
                <a:solidFill>
                  <a:schemeClr val="lt1"/>
                </a:solidFill>
              </a:rPr>
              <a:t>2017</a:t>
            </a:r>
            <a:endParaRPr/>
          </a:p>
        </p:txBody>
      </p:sp>
      <p:pic>
        <p:nvPicPr>
          <p:cNvPr id="3" name="Image 2">
            <a:extLst>
              <a:ext uri="{FF2B5EF4-FFF2-40B4-BE49-F238E27FC236}">
                <a16:creationId xmlns:a16="http://schemas.microsoft.com/office/drawing/2014/main" id="{1AAA38AD-117B-3555-B67E-F1589BEB5D6D}"/>
              </a:ext>
            </a:extLst>
          </p:cNvPr>
          <p:cNvPicPr>
            <a:picLocks noChangeAspect="1"/>
          </p:cNvPicPr>
          <p:nvPr/>
        </p:nvPicPr>
        <p:blipFill>
          <a:blip r:embed="rId3"/>
          <a:stretch>
            <a:fillRect/>
          </a:stretch>
        </p:blipFill>
        <p:spPr>
          <a:xfrm>
            <a:off x="810000" y="2102401"/>
            <a:ext cx="7513705" cy="47555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7) Liste des 10 pays qui ont le plus bénéficié de l’aide alimentaire entre 2013 et 2016</a:t>
            </a:r>
            <a:endParaRPr/>
          </a:p>
        </p:txBody>
      </p:sp>
      <p:pic>
        <p:nvPicPr>
          <p:cNvPr id="3" name="Image 2">
            <a:extLst>
              <a:ext uri="{FF2B5EF4-FFF2-40B4-BE49-F238E27FC236}">
                <a16:creationId xmlns:a16="http://schemas.microsoft.com/office/drawing/2014/main" id="{0A9D35F9-4397-55BF-7796-34F51281C7F7}"/>
              </a:ext>
            </a:extLst>
          </p:cNvPr>
          <p:cNvPicPr>
            <a:picLocks noChangeAspect="1"/>
          </p:cNvPicPr>
          <p:nvPr/>
        </p:nvPicPr>
        <p:blipFill>
          <a:blip r:embed="rId3"/>
          <a:stretch>
            <a:fillRect/>
          </a:stretch>
        </p:blipFill>
        <p:spPr>
          <a:xfrm>
            <a:off x="470517" y="2203912"/>
            <a:ext cx="3534944" cy="3729528"/>
          </a:xfrm>
          <a:prstGeom prst="rect">
            <a:avLst/>
          </a:prstGeom>
        </p:spPr>
      </p:pic>
      <p:sp>
        <p:nvSpPr>
          <p:cNvPr id="4" name="Google Shape;203;p11">
            <a:extLst>
              <a:ext uri="{FF2B5EF4-FFF2-40B4-BE49-F238E27FC236}">
                <a16:creationId xmlns:a16="http://schemas.microsoft.com/office/drawing/2014/main" id="{1F26389A-D216-AD58-2535-FD1FA3B0CCD3}"/>
              </a:ext>
            </a:extLst>
          </p:cNvPr>
          <p:cNvSpPr txBox="1">
            <a:spLocks noGrp="1"/>
          </p:cNvSpPr>
          <p:nvPr>
            <p:ph type="body" idx="1"/>
          </p:nvPr>
        </p:nvSpPr>
        <p:spPr>
          <a:xfrm>
            <a:off x="4389120" y="2222287"/>
            <a:ext cx="6984166"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1800"/>
              <a:buFont typeface="Wingdings" panose="05000000000000000000" pitchFamily="2" charset="2"/>
              <a:buChar char="§"/>
            </a:pPr>
            <a:r>
              <a:rPr lang="fr-FR" dirty="0"/>
              <a:t>Voici la liste des 10 pays ayant reçus le plus d’aide alimentaire durant les années 2013 à 2016</a:t>
            </a:r>
          </a:p>
          <a:p>
            <a:pPr marL="285750" lvl="0" indent="-285750" algn="l" rtl="0">
              <a:lnSpc>
                <a:spcPct val="100000"/>
              </a:lnSpc>
              <a:spcBef>
                <a:spcPts val="0"/>
              </a:spcBef>
              <a:spcAft>
                <a:spcPts val="0"/>
              </a:spcAft>
              <a:buSzPts val="1800"/>
              <a:buFont typeface="Wingdings" panose="05000000000000000000" pitchFamily="2" charset="2"/>
              <a:buChar char="§"/>
            </a:pPr>
            <a:endParaRPr lang="fr-FR" dirty="0"/>
          </a:p>
          <a:p>
            <a:pPr marL="285750" lvl="0" indent="-285750" algn="l" rtl="0">
              <a:lnSpc>
                <a:spcPct val="100000"/>
              </a:lnSpc>
              <a:spcBef>
                <a:spcPts val="0"/>
              </a:spcBef>
              <a:spcAft>
                <a:spcPts val="0"/>
              </a:spcAft>
              <a:buSzPts val="1800"/>
              <a:buFont typeface="Wingdings" panose="05000000000000000000" pitchFamily="2" charset="2"/>
              <a:buChar char="§"/>
            </a:pPr>
            <a:r>
              <a:rPr lang="fr-FR" dirty="0"/>
              <a:t>On voit également à côté la valeur du cumul de cette aide alimentaire sur les différentes années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2233f607d43_0_0"/>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8) Évolution de l’aide alimentaire pour les 5 pays qui en ont le plus bénéficié entre 2013 et 2016</a:t>
            </a:r>
            <a:endParaRPr/>
          </a:p>
        </p:txBody>
      </p:sp>
      <p:sp>
        <p:nvSpPr>
          <p:cNvPr id="196" name="Google Shape;196;g2233f607d43_0_0"/>
          <p:cNvSpPr txBox="1">
            <a:spLocks noGrp="1"/>
          </p:cNvSpPr>
          <p:nvPr>
            <p:ph type="body" idx="1"/>
          </p:nvPr>
        </p:nvSpPr>
        <p:spPr>
          <a:xfrm>
            <a:off x="6708012" y="2061950"/>
            <a:ext cx="5008200" cy="434886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1800"/>
              <a:buFont typeface="Wingdings" panose="05000000000000000000" pitchFamily="2" charset="2"/>
              <a:buChar char="§"/>
            </a:pPr>
            <a:r>
              <a:rPr lang="fr-FR" sz="1600" dirty="0"/>
              <a:t>On peut voir ici l’évolution au cours des différentes années de l’aide alimentaire reçus par les 5 pays ayant globalement reçus le plus d’aide.</a:t>
            </a:r>
          </a:p>
          <a:p>
            <a:pPr marL="285750" lvl="0" indent="-285750" algn="l" rtl="0">
              <a:lnSpc>
                <a:spcPct val="100000"/>
              </a:lnSpc>
              <a:spcBef>
                <a:spcPts val="0"/>
              </a:spcBef>
              <a:spcAft>
                <a:spcPts val="0"/>
              </a:spcAft>
              <a:buSzPts val="1800"/>
              <a:buFont typeface="Wingdings" panose="05000000000000000000" pitchFamily="2" charset="2"/>
              <a:buChar char="§"/>
            </a:pPr>
            <a:endParaRPr lang="fr-FR" sz="1600" dirty="0"/>
          </a:p>
          <a:p>
            <a:pPr marL="285750" lvl="0" indent="-285750" algn="l" rtl="0">
              <a:lnSpc>
                <a:spcPct val="100000"/>
              </a:lnSpc>
              <a:spcBef>
                <a:spcPts val="0"/>
              </a:spcBef>
              <a:spcAft>
                <a:spcPts val="0"/>
              </a:spcAft>
              <a:buSzPts val="1800"/>
              <a:buFont typeface="Wingdings" panose="05000000000000000000" pitchFamily="2" charset="2"/>
              <a:buChar char="§"/>
            </a:pPr>
            <a:r>
              <a:rPr lang="fr-FR" sz="1600" dirty="0"/>
              <a:t>Diminution des aides pour 4 pays = potentiel signe positif</a:t>
            </a:r>
          </a:p>
          <a:p>
            <a:pPr marL="285750" lvl="0" indent="-285750" algn="l" rtl="0">
              <a:lnSpc>
                <a:spcPct val="100000"/>
              </a:lnSpc>
              <a:spcBef>
                <a:spcPts val="0"/>
              </a:spcBef>
              <a:spcAft>
                <a:spcPts val="0"/>
              </a:spcAft>
              <a:buSzPts val="1800"/>
              <a:buFont typeface="Wingdings" panose="05000000000000000000" pitchFamily="2" charset="2"/>
              <a:buChar char="§"/>
            </a:pPr>
            <a:endParaRPr lang="fr-FR" sz="1600" dirty="0"/>
          </a:p>
          <a:p>
            <a:pPr marL="285750" lvl="0" indent="-285750" algn="l" rtl="0">
              <a:lnSpc>
                <a:spcPct val="100000"/>
              </a:lnSpc>
              <a:spcBef>
                <a:spcPts val="0"/>
              </a:spcBef>
              <a:spcAft>
                <a:spcPts val="0"/>
              </a:spcAft>
              <a:buSzPts val="1800"/>
              <a:buFont typeface="Wingdings" panose="05000000000000000000" pitchFamily="2" charset="2"/>
              <a:buChar char="§"/>
            </a:pPr>
            <a:r>
              <a:rPr lang="fr-FR" sz="1600" dirty="0"/>
              <a:t>Situation différente pour le Yémen, diminution puis ré-augmentation en lien avec l’escalade de la guerre au Yémen</a:t>
            </a:r>
          </a:p>
          <a:p>
            <a:pPr marL="285750" lvl="0" indent="-285750" algn="l" rtl="0">
              <a:lnSpc>
                <a:spcPct val="100000"/>
              </a:lnSpc>
              <a:spcBef>
                <a:spcPts val="0"/>
              </a:spcBef>
              <a:spcAft>
                <a:spcPts val="0"/>
              </a:spcAft>
              <a:buSzPts val="1800"/>
              <a:buFont typeface="Wingdings" panose="05000000000000000000" pitchFamily="2" charset="2"/>
              <a:buChar char="§"/>
            </a:pPr>
            <a:endParaRPr lang="fr-FR" sz="1600" dirty="0"/>
          </a:p>
          <a:p>
            <a:pPr marL="285750" lvl="0" indent="-285750" algn="l" rtl="0">
              <a:lnSpc>
                <a:spcPct val="100000"/>
              </a:lnSpc>
              <a:spcBef>
                <a:spcPts val="0"/>
              </a:spcBef>
              <a:spcAft>
                <a:spcPts val="0"/>
              </a:spcAft>
              <a:buSzPts val="1800"/>
              <a:buFont typeface="Wingdings" panose="05000000000000000000" pitchFamily="2" charset="2"/>
              <a:buChar char="§"/>
            </a:pPr>
            <a:r>
              <a:rPr lang="fr-FR" sz="1600" dirty="0"/>
              <a:t>Aides liées aux crises politiques et guerres plus qu’à la proportion de sous-nutrition</a:t>
            </a:r>
            <a:r>
              <a:rPr lang="fr-FR" dirty="0"/>
              <a:t>.</a:t>
            </a:r>
          </a:p>
          <a:p>
            <a:pPr marL="285750" lvl="0" indent="-285750" algn="l" rtl="0">
              <a:lnSpc>
                <a:spcPct val="100000"/>
              </a:lnSpc>
              <a:spcBef>
                <a:spcPts val="0"/>
              </a:spcBef>
              <a:spcAft>
                <a:spcPts val="0"/>
              </a:spcAft>
              <a:buSzPts val="1800"/>
              <a:buFont typeface="Wingdings" panose="05000000000000000000" pitchFamily="2" charset="2"/>
              <a:buChar char="§"/>
            </a:pPr>
            <a:endParaRPr lang="fr-FR" dirty="0"/>
          </a:p>
          <a:p>
            <a:pPr marL="285750" lvl="0" indent="-285750" algn="l" rtl="0">
              <a:lnSpc>
                <a:spcPct val="100000"/>
              </a:lnSpc>
              <a:spcBef>
                <a:spcPts val="0"/>
              </a:spcBef>
              <a:spcAft>
                <a:spcPts val="0"/>
              </a:spcAft>
              <a:buSzPts val="1800"/>
              <a:buFont typeface="Wingdings" panose="05000000000000000000" pitchFamily="2" charset="2"/>
              <a:buChar char="§"/>
            </a:pPr>
            <a:endParaRPr dirty="0"/>
          </a:p>
        </p:txBody>
      </p:sp>
      <p:pic>
        <p:nvPicPr>
          <p:cNvPr id="4" name="Image 3">
            <a:extLst>
              <a:ext uri="{FF2B5EF4-FFF2-40B4-BE49-F238E27FC236}">
                <a16:creationId xmlns:a16="http://schemas.microsoft.com/office/drawing/2014/main" id="{D9571007-CF72-5AFB-8A68-41FD71403429}"/>
              </a:ext>
            </a:extLst>
          </p:cNvPr>
          <p:cNvPicPr>
            <a:picLocks noChangeAspect="1"/>
          </p:cNvPicPr>
          <p:nvPr/>
        </p:nvPicPr>
        <p:blipFill>
          <a:blip r:embed="rId3"/>
          <a:stretch>
            <a:fillRect/>
          </a:stretch>
        </p:blipFill>
        <p:spPr>
          <a:xfrm>
            <a:off x="81280" y="2942446"/>
            <a:ext cx="6157486" cy="18756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forte disponibilité alimentaire par habitant</a:t>
            </a:r>
            <a:endParaRPr sz="3200"/>
          </a:p>
        </p:txBody>
      </p:sp>
      <p:pic>
        <p:nvPicPr>
          <p:cNvPr id="3" name="Image 2">
            <a:extLst>
              <a:ext uri="{FF2B5EF4-FFF2-40B4-BE49-F238E27FC236}">
                <a16:creationId xmlns:a16="http://schemas.microsoft.com/office/drawing/2014/main" id="{DFD0D8AA-9833-9529-EF6B-AFD4450D03D9}"/>
              </a:ext>
            </a:extLst>
          </p:cNvPr>
          <p:cNvPicPr>
            <a:picLocks noChangeAspect="1"/>
          </p:cNvPicPr>
          <p:nvPr/>
        </p:nvPicPr>
        <p:blipFill>
          <a:blip r:embed="rId3"/>
          <a:stretch>
            <a:fillRect/>
          </a:stretch>
        </p:blipFill>
        <p:spPr>
          <a:xfrm>
            <a:off x="1814760" y="2188584"/>
            <a:ext cx="8562478" cy="43770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10) Liste des 10 pays qui ont la plus faible disponibilité alimentaire par habitant</a:t>
            </a:r>
            <a:endParaRPr dirty="0"/>
          </a:p>
        </p:txBody>
      </p:sp>
      <p:pic>
        <p:nvPicPr>
          <p:cNvPr id="4" name="Image 3">
            <a:extLst>
              <a:ext uri="{FF2B5EF4-FFF2-40B4-BE49-F238E27FC236}">
                <a16:creationId xmlns:a16="http://schemas.microsoft.com/office/drawing/2014/main" id="{D493482B-0BE6-9FD9-520E-CC677763303B}"/>
              </a:ext>
            </a:extLst>
          </p:cNvPr>
          <p:cNvPicPr>
            <a:picLocks noChangeAspect="1"/>
          </p:cNvPicPr>
          <p:nvPr/>
        </p:nvPicPr>
        <p:blipFill>
          <a:blip r:embed="rId3"/>
          <a:stretch>
            <a:fillRect/>
          </a:stretch>
        </p:blipFill>
        <p:spPr>
          <a:xfrm>
            <a:off x="145970" y="2096004"/>
            <a:ext cx="7899559" cy="4561336"/>
          </a:xfrm>
          <a:prstGeom prst="rect">
            <a:avLst/>
          </a:prstGeom>
        </p:spPr>
      </p:pic>
      <p:sp>
        <p:nvSpPr>
          <p:cNvPr id="3" name="Google Shape;203;p11">
            <a:extLst>
              <a:ext uri="{FF2B5EF4-FFF2-40B4-BE49-F238E27FC236}">
                <a16:creationId xmlns:a16="http://schemas.microsoft.com/office/drawing/2014/main" id="{D5BE8D85-CBBC-10C5-6779-4820166D6DC2}"/>
              </a:ext>
            </a:extLst>
          </p:cNvPr>
          <p:cNvSpPr txBox="1">
            <a:spLocks noGrp="1"/>
          </p:cNvSpPr>
          <p:nvPr>
            <p:ph type="body" idx="1"/>
          </p:nvPr>
        </p:nvSpPr>
        <p:spPr>
          <a:xfrm>
            <a:off x="8162924" y="2222286"/>
            <a:ext cx="3883106" cy="443505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1800"/>
              <a:buFont typeface="Wingdings" panose="05000000000000000000" pitchFamily="2" charset="2"/>
              <a:buChar char="§"/>
            </a:pPr>
            <a:r>
              <a:rPr lang="fr-FR" dirty="0"/>
              <a:t>Comme on s’en doutait on retrouve la plupart des pays avec un haut taux de sous-nutrition</a:t>
            </a:r>
          </a:p>
          <a:p>
            <a:pPr marL="285750" lvl="0" indent="-285750" algn="l" rtl="0">
              <a:lnSpc>
                <a:spcPct val="100000"/>
              </a:lnSpc>
              <a:spcBef>
                <a:spcPts val="0"/>
              </a:spcBef>
              <a:spcAft>
                <a:spcPts val="0"/>
              </a:spcAft>
              <a:buSzPts val="1800"/>
              <a:buFont typeface="Wingdings" panose="05000000000000000000" pitchFamily="2" charset="2"/>
              <a:buChar char="§"/>
            </a:pPr>
            <a:endParaRPr lang="fr-FR" dirty="0"/>
          </a:p>
          <a:p>
            <a:pPr marL="285750" lvl="0" indent="-285750" algn="l" rtl="0">
              <a:lnSpc>
                <a:spcPct val="100000"/>
              </a:lnSpc>
              <a:spcBef>
                <a:spcPts val="0"/>
              </a:spcBef>
              <a:spcAft>
                <a:spcPts val="0"/>
              </a:spcAft>
              <a:buSzPts val="1800"/>
              <a:buFont typeface="Wingdings" panose="05000000000000000000" pitchFamily="2" charset="2"/>
              <a:buChar char="§"/>
            </a:pPr>
            <a:r>
              <a:rPr lang="fr-FR" dirty="0"/>
              <a:t>La plupart de ces pays sont en dessous du seuil recommandé par l’ONU</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3"/>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dirty="0"/>
              <a:t>11) Étude sur le manioc en Thaïlande</a:t>
            </a:r>
            <a:endParaRPr dirty="0"/>
          </a:p>
        </p:txBody>
      </p:sp>
      <p:sp>
        <p:nvSpPr>
          <p:cNvPr id="217" name="Google Shape;217;p13"/>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1800"/>
              <a:buFont typeface="Wingdings" panose="05000000000000000000" pitchFamily="2" charset="2"/>
              <a:buChar char="§"/>
            </a:pPr>
            <a:r>
              <a:rPr lang="fr-FR" dirty="0"/>
              <a:t>9% de la population en sous-nutrition en Thaïlande</a:t>
            </a:r>
          </a:p>
          <a:p>
            <a:pPr marL="285750" lvl="0" indent="-285750" algn="l" rtl="0">
              <a:lnSpc>
                <a:spcPct val="100000"/>
              </a:lnSpc>
              <a:spcBef>
                <a:spcPts val="0"/>
              </a:spcBef>
              <a:spcAft>
                <a:spcPts val="0"/>
              </a:spcAft>
              <a:buSzPts val="1800"/>
              <a:buFont typeface="Wingdings" panose="05000000000000000000" pitchFamily="2" charset="2"/>
              <a:buChar char="§"/>
            </a:pPr>
            <a:endParaRPr lang="fr-FR" dirty="0"/>
          </a:p>
          <a:p>
            <a:pPr marL="285750" lvl="0" indent="-285750" algn="l" rtl="0">
              <a:lnSpc>
                <a:spcPct val="100000"/>
              </a:lnSpc>
              <a:spcBef>
                <a:spcPts val="0"/>
              </a:spcBef>
              <a:spcAft>
                <a:spcPts val="0"/>
              </a:spcAft>
              <a:buSzPts val="1800"/>
              <a:buFont typeface="Wingdings" panose="05000000000000000000" pitchFamily="2" charset="2"/>
              <a:buChar char="§"/>
            </a:pPr>
            <a:r>
              <a:rPr lang="fr-FR" dirty="0"/>
              <a:t>La disponibilité par habitant est de 2785/kcal/jour/habitant</a:t>
            </a:r>
          </a:p>
          <a:p>
            <a:pPr marL="285750" lvl="0" indent="-285750" algn="l" rtl="0">
              <a:lnSpc>
                <a:spcPct val="100000"/>
              </a:lnSpc>
              <a:spcBef>
                <a:spcPts val="0"/>
              </a:spcBef>
              <a:spcAft>
                <a:spcPts val="0"/>
              </a:spcAft>
              <a:buSzPts val="1800"/>
              <a:buFont typeface="Wingdings" panose="05000000000000000000" pitchFamily="2" charset="2"/>
              <a:buChar char="§"/>
            </a:pPr>
            <a:endParaRPr lang="fr-FR" dirty="0"/>
          </a:p>
          <a:p>
            <a:pPr marL="285750" lvl="0" indent="-285750" algn="l" rtl="0">
              <a:lnSpc>
                <a:spcPct val="100000"/>
              </a:lnSpc>
              <a:spcBef>
                <a:spcPts val="0"/>
              </a:spcBef>
              <a:spcAft>
                <a:spcPts val="0"/>
              </a:spcAft>
              <a:buSzPts val="1800"/>
              <a:buFont typeface="Wingdings" panose="05000000000000000000" pitchFamily="2" charset="2"/>
              <a:buChar char="§"/>
            </a:pPr>
            <a:r>
              <a:rPr lang="fr-FR" dirty="0"/>
              <a:t>83% du manioc produit est exporté ce qui n’est pas logique en prenant en compte le fait qu’il y a de la sous nutrition dans le pays.</a:t>
            </a:r>
          </a:p>
          <a:p>
            <a:pPr marL="285750" lvl="0" indent="-285750" algn="l" rtl="0">
              <a:lnSpc>
                <a:spcPct val="100000"/>
              </a:lnSpc>
              <a:spcBef>
                <a:spcPts val="0"/>
              </a:spcBef>
              <a:spcAft>
                <a:spcPts val="0"/>
              </a:spcAft>
              <a:buSzPts val="1800"/>
              <a:buFont typeface="Wingdings" panose="05000000000000000000" pitchFamily="2" charset="2"/>
              <a:buChar char="§"/>
            </a:pPr>
            <a:endParaRPr lang="fr-FR" dirty="0"/>
          </a:p>
          <a:p>
            <a:pPr marL="285750" lvl="0" indent="-285750">
              <a:spcBef>
                <a:spcPts val="0"/>
              </a:spcBef>
              <a:buFont typeface="Wingdings" panose="05000000000000000000" pitchFamily="2" charset="2"/>
              <a:buChar char="§"/>
            </a:pPr>
            <a:r>
              <a:rPr lang="fr-FR" dirty="0"/>
              <a:t>18 % de la population en sous nutrition pourrait être nourrie avec le manioc exporté soit 1/5ème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4"/>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12) Végétale VS Animale</a:t>
            </a:r>
            <a:endParaRPr sz="3200" dirty="0"/>
          </a:p>
        </p:txBody>
      </p:sp>
      <p:sp>
        <p:nvSpPr>
          <p:cNvPr id="224" name="Google Shape;224;p14"/>
          <p:cNvSpPr txBox="1">
            <a:spLocks noGrp="1"/>
          </p:cNvSpPr>
          <p:nvPr>
            <p:ph type="body" idx="1"/>
          </p:nvPr>
        </p:nvSpPr>
        <p:spPr>
          <a:xfrm>
            <a:off x="6543040" y="2222287"/>
            <a:ext cx="4830246"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lvl="0" algn="l" rtl="0">
              <a:lnSpc>
                <a:spcPct val="100000"/>
              </a:lnSpc>
              <a:spcBef>
                <a:spcPts val="0"/>
              </a:spcBef>
              <a:spcAft>
                <a:spcPts val="0"/>
              </a:spcAft>
              <a:buSzPts val="1800"/>
              <a:buFont typeface="Wingdings" panose="05000000000000000000" pitchFamily="2" charset="2"/>
              <a:buChar char="§"/>
            </a:pPr>
            <a:r>
              <a:rPr lang="fr-FR" dirty="0"/>
              <a:t>4/5 </a:t>
            </a:r>
            <a:r>
              <a:rPr lang="fr-FR" dirty="0" err="1"/>
              <a:t>ème</a:t>
            </a:r>
            <a:r>
              <a:rPr lang="fr-FR" dirty="0"/>
              <a:t> de la nourriture disponible dans le monde provient de l’alimentation végétale</a:t>
            </a:r>
          </a:p>
          <a:p>
            <a:pPr lvl="0" algn="l" rtl="0">
              <a:lnSpc>
                <a:spcPct val="100000"/>
              </a:lnSpc>
              <a:spcBef>
                <a:spcPts val="0"/>
              </a:spcBef>
              <a:spcAft>
                <a:spcPts val="0"/>
              </a:spcAft>
              <a:buSzPts val="1800"/>
              <a:buFont typeface="Wingdings" panose="05000000000000000000" pitchFamily="2" charset="2"/>
              <a:buChar char="§"/>
            </a:pPr>
            <a:endParaRPr lang="fr-FR" dirty="0"/>
          </a:p>
        </p:txBody>
      </p:sp>
      <p:pic>
        <p:nvPicPr>
          <p:cNvPr id="3" name="Image 2">
            <a:extLst>
              <a:ext uri="{FF2B5EF4-FFF2-40B4-BE49-F238E27FC236}">
                <a16:creationId xmlns:a16="http://schemas.microsoft.com/office/drawing/2014/main" id="{9FEF127D-2657-842A-941C-CF3FC8063105}"/>
              </a:ext>
            </a:extLst>
          </p:cNvPr>
          <p:cNvPicPr>
            <a:picLocks noChangeAspect="1"/>
          </p:cNvPicPr>
          <p:nvPr/>
        </p:nvPicPr>
        <p:blipFill>
          <a:blip r:embed="rId3"/>
          <a:stretch>
            <a:fillRect/>
          </a:stretch>
        </p:blipFill>
        <p:spPr>
          <a:xfrm>
            <a:off x="810000" y="2372161"/>
            <a:ext cx="4191585" cy="34866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8EA89AE7-D9E6-920A-3E45-FBAB542F2A51}"/>
            </a:ext>
          </a:extLst>
        </p:cNvPr>
        <p:cNvGrpSpPr/>
        <p:nvPr/>
      </p:nvGrpSpPr>
      <p:grpSpPr>
        <a:xfrm>
          <a:off x="0" y="0"/>
          <a:ext cx="0" cy="0"/>
          <a:chOff x="0" y="0"/>
          <a:chExt cx="0" cy="0"/>
        </a:xfrm>
      </p:grpSpPr>
      <p:sp>
        <p:nvSpPr>
          <p:cNvPr id="223" name="Google Shape;223;p14">
            <a:extLst>
              <a:ext uri="{FF2B5EF4-FFF2-40B4-BE49-F238E27FC236}">
                <a16:creationId xmlns:a16="http://schemas.microsoft.com/office/drawing/2014/main" id="{9F8BB977-F224-FDDD-3345-53D1BE282031}"/>
              </a:ext>
            </a:extLst>
          </p:cNvPr>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13) 5 plus importantes sources de calories</a:t>
            </a:r>
            <a:endParaRPr sz="3200" dirty="0"/>
          </a:p>
        </p:txBody>
      </p:sp>
      <p:sp>
        <p:nvSpPr>
          <p:cNvPr id="224" name="Google Shape;224;p14">
            <a:extLst>
              <a:ext uri="{FF2B5EF4-FFF2-40B4-BE49-F238E27FC236}">
                <a16:creationId xmlns:a16="http://schemas.microsoft.com/office/drawing/2014/main" id="{E8F4B593-6979-B11D-F43B-94FD00C1F502}"/>
              </a:ext>
            </a:extLst>
          </p:cNvPr>
          <p:cNvSpPr txBox="1">
            <a:spLocks noGrp="1"/>
          </p:cNvSpPr>
          <p:nvPr>
            <p:ph type="body" idx="1"/>
          </p:nvPr>
        </p:nvSpPr>
        <p:spPr>
          <a:xfrm>
            <a:off x="6583680" y="2294917"/>
            <a:ext cx="5165526"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lvl="0">
              <a:spcBef>
                <a:spcPts val="0"/>
              </a:spcBef>
              <a:buFont typeface="Wingdings" panose="05000000000000000000" pitchFamily="2" charset="2"/>
              <a:buChar char="§"/>
            </a:pPr>
            <a:r>
              <a:rPr lang="fr-FR" dirty="0" err="1"/>
              <a:t>Tkcal</a:t>
            </a:r>
            <a:r>
              <a:rPr lang="fr-FR" dirty="0"/>
              <a:t> = 10¹² soit mille milliards de kcal</a:t>
            </a:r>
          </a:p>
          <a:p>
            <a:pPr lvl="0" algn="l" rtl="0">
              <a:lnSpc>
                <a:spcPct val="100000"/>
              </a:lnSpc>
              <a:spcBef>
                <a:spcPts val="0"/>
              </a:spcBef>
              <a:spcAft>
                <a:spcPts val="0"/>
              </a:spcAft>
              <a:buSzPts val="1800"/>
              <a:buFont typeface="Wingdings" panose="05000000000000000000" pitchFamily="2" charset="2"/>
              <a:buChar char="§"/>
            </a:pPr>
            <a:endParaRPr lang="fr-FR" dirty="0"/>
          </a:p>
          <a:p>
            <a:pPr lvl="0" algn="l" rtl="0">
              <a:lnSpc>
                <a:spcPct val="100000"/>
              </a:lnSpc>
              <a:spcBef>
                <a:spcPts val="0"/>
              </a:spcBef>
              <a:spcAft>
                <a:spcPts val="0"/>
              </a:spcAft>
              <a:buSzPts val="1800"/>
              <a:buFont typeface="Wingdings" panose="05000000000000000000" pitchFamily="2" charset="2"/>
              <a:buChar char="§"/>
            </a:pPr>
            <a:r>
              <a:rPr lang="fr-FR" dirty="0"/>
              <a:t>On voit que les 5 plus grandes sources de calories proviennent du végétal</a:t>
            </a:r>
          </a:p>
          <a:p>
            <a:pPr lvl="0" algn="l" rtl="0">
              <a:lnSpc>
                <a:spcPct val="100000"/>
              </a:lnSpc>
              <a:spcBef>
                <a:spcPts val="0"/>
              </a:spcBef>
              <a:spcAft>
                <a:spcPts val="0"/>
              </a:spcAft>
              <a:buSzPts val="1800"/>
              <a:buFont typeface="Wingdings" panose="05000000000000000000" pitchFamily="2" charset="2"/>
              <a:buChar char="§"/>
            </a:pPr>
            <a:endParaRPr lang="fr-FR" dirty="0"/>
          </a:p>
          <a:p>
            <a:pPr lvl="0" algn="l" rtl="0">
              <a:lnSpc>
                <a:spcPct val="100000"/>
              </a:lnSpc>
              <a:spcBef>
                <a:spcPts val="0"/>
              </a:spcBef>
              <a:spcAft>
                <a:spcPts val="0"/>
              </a:spcAft>
              <a:buSzPts val="1800"/>
              <a:buFont typeface="Wingdings" panose="05000000000000000000" pitchFamily="2" charset="2"/>
              <a:buChar char="§"/>
            </a:pPr>
            <a:r>
              <a:rPr lang="fr-FR" dirty="0"/>
              <a:t>Le riz et le blé représentent les deux plus importantes sources et de loin</a:t>
            </a:r>
            <a:endParaRPr dirty="0"/>
          </a:p>
        </p:txBody>
      </p:sp>
      <p:pic>
        <p:nvPicPr>
          <p:cNvPr id="3" name="Image 2">
            <a:extLst>
              <a:ext uri="{FF2B5EF4-FFF2-40B4-BE49-F238E27FC236}">
                <a16:creationId xmlns:a16="http://schemas.microsoft.com/office/drawing/2014/main" id="{D5FCA15B-37D8-1704-7C00-91EFFF7D07B4}"/>
              </a:ext>
            </a:extLst>
          </p:cNvPr>
          <p:cNvPicPr>
            <a:picLocks noChangeAspect="1"/>
          </p:cNvPicPr>
          <p:nvPr/>
        </p:nvPicPr>
        <p:blipFill>
          <a:blip r:embed="rId3"/>
          <a:stretch>
            <a:fillRect/>
          </a:stretch>
        </p:blipFill>
        <p:spPr>
          <a:xfrm>
            <a:off x="114905" y="2222287"/>
            <a:ext cx="6092855" cy="3781772"/>
          </a:xfrm>
          <a:prstGeom prst="rect">
            <a:avLst/>
          </a:prstGeom>
        </p:spPr>
      </p:pic>
    </p:spTree>
    <p:extLst>
      <p:ext uri="{BB962C8B-B14F-4D97-AF65-F5344CB8AC3E}">
        <p14:creationId xmlns:p14="http://schemas.microsoft.com/office/powerpoint/2010/main" val="3784615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0B4127C4-DABD-556F-9542-C4A02B303980}"/>
            </a:ext>
          </a:extLst>
        </p:cNvPr>
        <p:cNvGrpSpPr/>
        <p:nvPr/>
      </p:nvGrpSpPr>
      <p:grpSpPr>
        <a:xfrm>
          <a:off x="0" y="0"/>
          <a:ext cx="0" cy="0"/>
          <a:chOff x="0" y="0"/>
          <a:chExt cx="0" cy="0"/>
        </a:xfrm>
      </p:grpSpPr>
      <p:sp>
        <p:nvSpPr>
          <p:cNvPr id="223" name="Google Shape;223;p14">
            <a:extLst>
              <a:ext uri="{FF2B5EF4-FFF2-40B4-BE49-F238E27FC236}">
                <a16:creationId xmlns:a16="http://schemas.microsoft.com/office/drawing/2014/main" id="{751ED821-7778-FCE9-43FF-128DA8FA356C}"/>
              </a:ext>
            </a:extLst>
          </p:cNvPr>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14) Comparaison dispo alimentaire et sous nutrition</a:t>
            </a:r>
            <a:endParaRPr sz="3200" dirty="0"/>
          </a:p>
        </p:txBody>
      </p:sp>
      <p:sp>
        <p:nvSpPr>
          <p:cNvPr id="224" name="Google Shape;224;p14">
            <a:extLst>
              <a:ext uri="{FF2B5EF4-FFF2-40B4-BE49-F238E27FC236}">
                <a16:creationId xmlns:a16="http://schemas.microsoft.com/office/drawing/2014/main" id="{B6B8F39A-8383-F52A-ABE3-38439853B699}"/>
              </a:ext>
            </a:extLst>
          </p:cNvPr>
          <p:cNvSpPr txBox="1">
            <a:spLocks noGrp="1"/>
          </p:cNvSpPr>
          <p:nvPr>
            <p:ph type="body" idx="1"/>
          </p:nvPr>
        </p:nvSpPr>
        <p:spPr>
          <a:xfrm>
            <a:off x="6592392" y="2533165"/>
            <a:ext cx="4789606"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lvl="0" algn="l" rtl="0">
              <a:lnSpc>
                <a:spcPct val="100000"/>
              </a:lnSpc>
              <a:spcBef>
                <a:spcPts val="0"/>
              </a:spcBef>
              <a:spcAft>
                <a:spcPts val="0"/>
              </a:spcAft>
              <a:buSzPts val="1800"/>
              <a:buFont typeface="Wingdings" panose="05000000000000000000" pitchFamily="2" charset="2"/>
              <a:buChar char="§"/>
            </a:pPr>
            <a:r>
              <a:rPr lang="fr-FR" dirty="0"/>
              <a:t>On observe que pour les pays ayant de la sous nutrition, globalement la proportion de la population en sous nutrition diminue avec la disponibilité en kcal</a:t>
            </a:r>
          </a:p>
          <a:p>
            <a:pPr lvl="0" algn="l" rtl="0">
              <a:lnSpc>
                <a:spcPct val="100000"/>
              </a:lnSpc>
              <a:spcBef>
                <a:spcPts val="0"/>
              </a:spcBef>
              <a:spcAft>
                <a:spcPts val="0"/>
              </a:spcAft>
              <a:buSzPts val="1800"/>
              <a:buFont typeface="Wingdings" panose="05000000000000000000" pitchFamily="2" charset="2"/>
              <a:buChar char="§"/>
            </a:pPr>
            <a:endParaRPr lang="fr-FR" dirty="0"/>
          </a:p>
          <a:p>
            <a:pPr lvl="0" algn="l" rtl="0">
              <a:lnSpc>
                <a:spcPct val="100000"/>
              </a:lnSpc>
              <a:spcBef>
                <a:spcPts val="0"/>
              </a:spcBef>
              <a:spcAft>
                <a:spcPts val="0"/>
              </a:spcAft>
              <a:buSzPts val="1800"/>
              <a:buFont typeface="Wingdings" panose="05000000000000000000" pitchFamily="2" charset="2"/>
              <a:buChar char="§"/>
            </a:pPr>
            <a:r>
              <a:rPr lang="fr-FR" dirty="0"/>
              <a:t>Nous avons pris ici seulement les pays ayant plus de 0% de leur population en sous nutrition</a:t>
            </a:r>
            <a:endParaRPr dirty="0"/>
          </a:p>
        </p:txBody>
      </p:sp>
      <p:pic>
        <p:nvPicPr>
          <p:cNvPr id="3" name="Image 2">
            <a:extLst>
              <a:ext uri="{FF2B5EF4-FFF2-40B4-BE49-F238E27FC236}">
                <a16:creationId xmlns:a16="http://schemas.microsoft.com/office/drawing/2014/main" id="{409AC19D-63F8-CF43-4115-443FF7284BC5}"/>
              </a:ext>
            </a:extLst>
          </p:cNvPr>
          <p:cNvPicPr>
            <a:picLocks noChangeAspect="1"/>
          </p:cNvPicPr>
          <p:nvPr/>
        </p:nvPicPr>
        <p:blipFill>
          <a:blip r:embed="rId3"/>
          <a:stretch>
            <a:fillRect/>
          </a:stretch>
        </p:blipFill>
        <p:spPr>
          <a:xfrm>
            <a:off x="410474" y="2222287"/>
            <a:ext cx="5315692" cy="4258269"/>
          </a:xfrm>
          <a:prstGeom prst="rect">
            <a:avLst/>
          </a:prstGeom>
        </p:spPr>
      </p:pic>
    </p:spTree>
    <p:extLst>
      <p:ext uri="{BB962C8B-B14F-4D97-AF65-F5344CB8AC3E}">
        <p14:creationId xmlns:p14="http://schemas.microsoft.com/office/powerpoint/2010/main" val="3729010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CE0B8378-C13A-3BB1-D117-3E19127EBE05}"/>
            </a:ext>
          </a:extLst>
        </p:cNvPr>
        <p:cNvGrpSpPr/>
        <p:nvPr/>
      </p:nvGrpSpPr>
      <p:grpSpPr>
        <a:xfrm>
          <a:off x="0" y="0"/>
          <a:ext cx="0" cy="0"/>
          <a:chOff x="0" y="0"/>
          <a:chExt cx="0" cy="0"/>
        </a:xfrm>
      </p:grpSpPr>
      <p:sp>
        <p:nvSpPr>
          <p:cNvPr id="223" name="Google Shape;223;p14">
            <a:extLst>
              <a:ext uri="{FF2B5EF4-FFF2-40B4-BE49-F238E27FC236}">
                <a16:creationId xmlns:a16="http://schemas.microsoft.com/office/drawing/2014/main" id="{B7D526A5-554E-B75F-4405-17FA6D6BB93D}"/>
              </a:ext>
            </a:extLst>
          </p:cNvPr>
          <p:cNvSpPr txBox="1">
            <a:spLocks noGrp="1"/>
          </p:cNvSpPr>
          <p:nvPr>
            <p:ph type="title"/>
          </p:nvPr>
        </p:nvSpPr>
        <p:spPr>
          <a:xfrm>
            <a:off x="810001" y="711200"/>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15) Proportion d'importations/exportations dans les 5 pays avec la plus grande proportion de sous-nutrition</a:t>
            </a:r>
            <a:endParaRPr sz="3200" dirty="0"/>
          </a:p>
        </p:txBody>
      </p:sp>
      <p:sp>
        <p:nvSpPr>
          <p:cNvPr id="224" name="Google Shape;224;p14">
            <a:extLst>
              <a:ext uri="{FF2B5EF4-FFF2-40B4-BE49-F238E27FC236}">
                <a16:creationId xmlns:a16="http://schemas.microsoft.com/office/drawing/2014/main" id="{530F09F0-D07D-7C45-7A16-C6EB86097DEA}"/>
              </a:ext>
            </a:extLst>
          </p:cNvPr>
          <p:cNvSpPr txBox="1">
            <a:spLocks noGrp="1"/>
          </p:cNvSpPr>
          <p:nvPr>
            <p:ph type="body" idx="1"/>
          </p:nvPr>
        </p:nvSpPr>
        <p:spPr>
          <a:xfrm>
            <a:off x="8036560" y="2409121"/>
            <a:ext cx="3712646"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lvl="0" algn="l" rtl="0">
              <a:lnSpc>
                <a:spcPct val="100000"/>
              </a:lnSpc>
              <a:spcBef>
                <a:spcPts val="0"/>
              </a:spcBef>
              <a:spcAft>
                <a:spcPts val="0"/>
              </a:spcAft>
              <a:buSzPts val="1800"/>
              <a:buFont typeface="Wingdings" panose="05000000000000000000" pitchFamily="2" charset="2"/>
              <a:buChar char="§"/>
            </a:pPr>
            <a:r>
              <a:rPr lang="fr-FR" dirty="0"/>
              <a:t>Globalement très peu d’exportations</a:t>
            </a:r>
            <a:endParaRPr dirty="0"/>
          </a:p>
        </p:txBody>
      </p:sp>
      <p:pic>
        <p:nvPicPr>
          <p:cNvPr id="4" name="Image 3">
            <a:extLst>
              <a:ext uri="{FF2B5EF4-FFF2-40B4-BE49-F238E27FC236}">
                <a16:creationId xmlns:a16="http://schemas.microsoft.com/office/drawing/2014/main" id="{28B45539-0B52-F0F8-5CC8-B1DFC10F65F9}"/>
              </a:ext>
            </a:extLst>
          </p:cNvPr>
          <p:cNvPicPr>
            <a:picLocks noChangeAspect="1"/>
          </p:cNvPicPr>
          <p:nvPr/>
        </p:nvPicPr>
        <p:blipFill>
          <a:blip r:embed="rId3"/>
          <a:stretch>
            <a:fillRect/>
          </a:stretch>
        </p:blipFill>
        <p:spPr>
          <a:xfrm>
            <a:off x="737594" y="2228475"/>
            <a:ext cx="6696668" cy="4229475"/>
          </a:xfrm>
          <a:prstGeom prst="rect">
            <a:avLst/>
          </a:prstGeom>
        </p:spPr>
      </p:pic>
    </p:spTree>
    <p:extLst>
      <p:ext uri="{BB962C8B-B14F-4D97-AF65-F5344CB8AC3E}">
        <p14:creationId xmlns:p14="http://schemas.microsoft.com/office/powerpoint/2010/main" val="4063093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D61173CF-963C-1F07-1AB6-881B28E2B4DE}"/>
            </a:ext>
          </a:extLst>
        </p:cNvPr>
        <p:cNvGrpSpPr/>
        <p:nvPr/>
      </p:nvGrpSpPr>
      <p:grpSpPr>
        <a:xfrm>
          <a:off x="0" y="0"/>
          <a:ext cx="0" cy="0"/>
          <a:chOff x="0" y="0"/>
          <a:chExt cx="0" cy="0"/>
        </a:xfrm>
      </p:grpSpPr>
      <p:sp>
        <p:nvSpPr>
          <p:cNvPr id="223" name="Google Shape;223;p14">
            <a:extLst>
              <a:ext uri="{FF2B5EF4-FFF2-40B4-BE49-F238E27FC236}">
                <a16:creationId xmlns:a16="http://schemas.microsoft.com/office/drawing/2014/main" id="{7A388C8D-ACE0-88B6-B4EF-2DE73AB97A98}"/>
              </a:ext>
            </a:extLst>
          </p:cNvPr>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16) Proportion d'importations et exportations dans les 5 pays avec le plus de dispo alimentaire</a:t>
            </a:r>
            <a:endParaRPr sz="3200" dirty="0"/>
          </a:p>
        </p:txBody>
      </p:sp>
      <p:pic>
        <p:nvPicPr>
          <p:cNvPr id="4" name="Image 3">
            <a:extLst>
              <a:ext uri="{FF2B5EF4-FFF2-40B4-BE49-F238E27FC236}">
                <a16:creationId xmlns:a16="http://schemas.microsoft.com/office/drawing/2014/main" id="{62CF73DE-AF28-8636-16DA-1F937BE2A8DC}"/>
              </a:ext>
            </a:extLst>
          </p:cNvPr>
          <p:cNvPicPr>
            <a:picLocks noChangeAspect="1"/>
          </p:cNvPicPr>
          <p:nvPr/>
        </p:nvPicPr>
        <p:blipFill>
          <a:blip r:embed="rId3"/>
          <a:stretch>
            <a:fillRect/>
          </a:stretch>
        </p:blipFill>
        <p:spPr>
          <a:xfrm>
            <a:off x="2161875" y="2114207"/>
            <a:ext cx="7868248" cy="4511129"/>
          </a:xfrm>
          <a:prstGeom prst="rect">
            <a:avLst/>
          </a:prstGeom>
        </p:spPr>
      </p:pic>
    </p:spTree>
    <p:extLst>
      <p:ext uri="{BB962C8B-B14F-4D97-AF65-F5344CB8AC3E}">
        <p14:creationId xmlns:p14="http://schemas.microsoft.com/office/powerpoint/2010/main" val="3796173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dirty="0"/>
              <a:t>Conclusion</a:t>
            </a:r>
            <a:endParaRPr dirty="0"/>
          </a:p>
        </p:txBody>
      </p:sp>
      <p:sp>
        <p:nvSpPr>
          <p:cNvPr id="231" name="Google Shape;231;p15"/>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lvl="0" algn="l" rtl="0">
              <a:lnSpc>
                <a:spcPct val="100000"/>
              </a:lnSpc>
              <a:spcBef>
                <a:spcPts val="0"/>
              </a:spcBef>
              <a:spcAft>
                <a:spcPts val="0"/>
              </a:spcAft>
              <a:buSzPts val="1800"/>
              <a:buFont typeface="Wingdings" panose="05000000000000000000" pitchFamily="2" charset="2"/>
              <a:buChar char="§"/>
            </a:pPr>
            <a:r>
              <a:rPr lang="fr-FR" dirty="0"/>
              <a:t>Production suffisante, faim persistante → problème surtout d’accès / répartition / pertes, pas de volume.</a:t>
            </a:r>
          </a:p>
          <a:p>
            <a:pPr lvl="0" algn="l" rtl="0">
              <a:lnSpc>
                <a:spcPct val="100000"/>
              </a:lnSpc>
              <a:spcBef>
                <a:spcPts val="0"/>
              </a:spcBef>
              <a:spcAft>
                <a:spcPts val="0"/>
              </a:spcAft>
              <a:buSzPts val="1800"/>
              <a:buFont typeface="Wingdings" panose="05000000000000000000" pitchFamily="2" charset="2"/>
              <a:buChar char="§"/>
            </a:pPr>
            <a:endParaRPr lang="fr-FR" dirty="0"/>
          </a:p>
          <a:p>
            <a:pPr lvl="0" algn="l" rtl="0">
              <a:lnSpc>
                <a:spcPct val="100000"/>
              </a:lnSpc>
              <a:spcBef>
                <a:spcPts val="0"/>
              </a:spcBef>
              <a:spcAft>
                <a:spcPts val="0"/>
              </a:spcAft>
              <a:buSzPts val="1800"/>
              <a:buFont typeface="Wingdings" panose="05000000000000000000" pitchFamily="2" charset="2"/>
              <a:buChar char="§"/>
            </a:pPr>
            <a:r>
              <a:rPr lang="fr-FR" dirty="0"/>
              <a:t>Poids du végétal : l’allocation humain / animal / pertes détermine la dispo calorique finale car le végétale représente 83% de la disponibilité totale.</a:t>
            </a:r>
          </a:p>
          <a:p>
            <a:pPr lvl="0" algn="l" rtl="0">
              <a:lnSpc>
                <a:spcPct val="100000"/>
              </a:lnSpc>
              <a:spcBef>
                <a:spcPts val="0"/>
              </a:spcBef>
              <a:spcAft>
                <a:spcPts val="0"/>
              </a:spcAft>
              <a:buSzPts val="1800"/>
              <a:buFont typeface="Wingdings" panose="05000000000000000000" pitchFamily="2" charset="2"/>
              <a:buChar char="§"/>
            </a:pPr>
            <a:endParaRPr lang="fr-FR" dirty="0"/>
          </a:p>
          <a:p>
            <a:pPr lvl="0" algn="l" rtl="0">
              <a:lnSpc>
                <a:spcPct val="100000"/>
              </a:lnSpc>
              <a:spcBef>
                <a:spcPts val="0"/>
              </a:spcBef>
              <a:spcAft>
                <a:spcPts val="0"/>
              </a:spcAft>
              <a:buSzPts val="1800"/>
              <a:buFont typeface="Wingdings" panose="05000000000000000000" pitchFamily="2" charset="2"/>
              <a:buChar char="§"/>
            </a:pPr>
            <a:r>
              <a:rPr lang="fr-FR" dirty="0"/>
              <a:t>Les aliments d’origine animale représentent une faible partie de la disponibilité totale et coutent en plus une partie importante de l’utilisation des ressources végétale.</a:t>
            </a:r>
          </a:p>
          <a:p>
            <a:pPr lvl="0" algn="l" rtl="0">
              <a:lnSpc>
                <a:spcPct val="100000"/>
              </a:lnSpc>
              <a:spcBef>
                <a:spcPts val="0"/>
              </a:spcBef>
              <a:spcAft>
                <a:spcPts val="0"/>
              </a:spcAft>
              <a:buSzPts val="1800"/>
              <a:buFont typeface="Wingdings" panose="05000000000000000000" pitchFamily="2" charset="2"/>
              <a:buChar char="§"/>
            </a:pPr>
            <a:endParaRPr lang="fr-FR" dirty="0"/>
          </a:p>
          <a:p>
            <a:pPr lvl="0" algn="l" rtl="0">
              <a:lnSpc>
                <a:spcPct val="100000"/>
              </a:lnSpc>
              <a:spcBef>
                <a:spcPts val="0"/>
              </a:spcBef>
              <a:spcAft>
                <a:spcPts val="0"/>
              </a:spcAft>
              <a:buSzPts val="1800"/>
              <a:buFont typeface="Wingdings" panose="05000000000000000000" pitchFamily="2" charset="2"/>
              <a:buChar char="§"/>
            </a:pPr>
            <a:r>
              <a:rPr lang="fr-FR" dirty="0"/>
              <a:t>Aide alimentaire : concentrée, pics en période de crise, pas toujours distribuée aux pays ayant le plus haut taux de sous nutrition.</a:t>
            </a:r>
          </a:p>
          <a:p>
            <a:pPr lvl="0" algn="l" rtl="0">
              <a:lnSpc>
                <a:spcPct val="100000"/>
              </a:lnSpc>
              <a:spcBef>
                <a:spcPts val="0"/>
              </a:spcBef>
              <a:spcAft>
                <a:spcPts val="0"/>
              </a:spcAft>
              <a:buSzPts val="1800"/>
              <a:buFont typeface="Wingdings" panose="05000000000000000000" pitchFamily="2" charset="2"/>
              <a:buChar char="§"/>
            </a:pPr>
            <a:endParaRPr lang="fr-FR" dirty="0"/>
          </a:p>
        </p:txBody>
      </p:sp>
    </p:spTree>
  </p:cSld>
  <p:clrMapOvr>
    <a:masterClrMapping/>
  </p:clrMapOvr>
</p:sld>
</file>

<file path=ppt/theme/theme1.xml><?xml version="1.0" encoding="utf-8"?>
<a:theme xmlns:a="http://schemas.openxmlformats.org/drawingml/2006/main" name="Entre guillemets">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6812</TotalTime>
  <Words>1154</Words>
  <Application>Microsoft Office PowerPoint</Application>
  <PresentationFormat>Grand écran</PresentationFormat>
  <Paragraphs>110</Paragraphs>
  <Slides>20</Slides>
  <Notes>20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Calibri</vt:lpstr>
      <vt:lpstr>Arial</vt:lpstr>
      <vt:lpstr>Noto Sans Symbols</vt:lpstr>
      <vt:lpstr>Century Gothic</vt:lpstr>
      <vt:lpstr>Wingdings</vt:lpstr>
      <vt:lpstr>Entre guillemets</vt:lpstr>
      <vt:lpstr>Étude sur l’alimentation dans le monde</vt:lpstr>
      <vt:lpstr>Contexte et spécification des données</vt:lpstr>
      <vt:lpstr>Méthodologie de l’analyse</vt:lpstr>
      <vt:lpstr>1) Proportion de personnes en état de sous-nutrition en 2017</vt:lpstr>
      <vt:lpstr>2) Nombre théorique de personnes qui pourraient être nourries en 2017</vt:lpstr>
      <vt:lpstr>3) Nombre théorique de personnes qui pourraient être nourries uniquement avec les végétaux en 2017</vt:lpstr>
      <vt:lpstr>4) Répartition de la disponibilité intérieure</vt:lpstr>
      <vt:lpstr>5) Part de l’utilisation des principales céréales entre l’alimentation humaine et animale</vt:lpstr>
      <vt:lpstr>6) Liste des 10 pays où la proportion de personnes en état de sous-nutrition est la plus forte en 2017</vt:lpstr>
      <vt:lpstr>7) Liste des 10 pays qui ont le plus bénéficié de l’aide alimentaire entre 2013 et 2016</vt:lpstr>
      <vt:lpstr>8) Évolution de l’aide alimentaire pour les 5 pays qui en ont le plus bénéficié entre 2013 et 2016</vt:lpstr>
      <vt:lpstr>9) Liste des 10 pays qui ont la plus forte disponibilité alimentaire par habitant</vt:lpstr>
      <vt:lpstr>10) Liste des 10 pays qui ont la plus faible disponibilité alimentaire par habitant</vt:lpstr>
      <vt:lpstr>11) Étude sur le manioc en Thaïlande</vt:lpstr>
      <vt:lpstr>12) Végétale VS Animale</vt:lpstr>
      <vt:lpstr>13) 5 plus importantes sources de calories</vt:lpstr>
      <vt:lpstr>14) Comparaison dispo alimentaire et sous nutrition</vt:lpstr>
      <vt:lpstr>15) Proportion d'importations/exportations dans les 5 pays avec la plus grande proportion de sous-nutrition</vt:lpstr>
      <vt:lpstr>16) Proportion d'importations et exportations dans les 5 pays avec le plus de dispo alimentaire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JeY jEy</dc:creator>
  <cp:lastModifiedBy>evan fol</cp:lastModifiedBy>
  <cp:revision>14</cp:revision>
  <dcterms:created xsi:type="dcterms:W3CDTF">2023-03-17T20:58:30Z</dcterms:created>
  <dcterms:modified xsi:type="dcterms:W3CDTF">2025-09-25T14:15:30Z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