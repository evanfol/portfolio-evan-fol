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1" r:id="rId2"/>
    <p:sldId id="262" r:id="rId3"/>
    <p:sldId id="265" r:id="rId4"/>
    <p:sldId id="264" r:id="rId5"/>
    <p:sldId id="263"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1343" autoAdjust="0"/>
  </p:normalViewPr>
  <p:slideViewPr>
    <p:cSldViewPr snapToGrid="0">
      <p:cViewPr varScale="1">
        <p:scale>
          <a:sx n="68" d="100"/>
          <a:sy n="68" d="100"/>
        </p:scale>
        <p:origin x="2148" y="288"/>
      </p:cViewPr>
      <p:guideLst/>
    </p:cSldViewPr>
  </p:slideViewPr>
  <p:notesTextViewPr>
    <p:cViewPr>
      <p:scale>
        <a:sx n="1" d="1"/>
        <a:sy n="1" d="1"/>
      </p:scale>
      <p:origin x="0" y="-10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6B5A7-C3B3-4ADD-8570-E9E65D1FEE86}" type="datetimeFigureOut">
              <a:rPr lang="fr-FR" smtClean="0"/>
              <a:t>22/08/2025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361954-D563-4E24-9779-B85F35EE2BF7}" type="slidenum">
              <a:rPr lang="fr-FR" smtClean="0"/>
              <a:t>‹N°›</a:t>
            </a:fld>
            <a:endParaRPr lang="fr-FR"/>
          </a:p>
        </p:txBody>
      </p:sp>
    </p:spTree>
    <p:extLst>
      <p:ext uri="{BB962C8B-B14F-4D97-AF65-F5344CB8AC3E}">
        <p14:creationId xmlns:p14="http://schemas.microsoft.com/office/powerpoint/2010/main" val="1399308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Introduction de la nourriture en juillet 2019 et suppression du high-tech en 2020</a:t>
            </a:r>
          </a:p>
          <a:p>
            <a:r>
              <a:rPr lang="fr-FR" dirty="0"/>
              <a:t>2- Tech et bien de conso assez stable au cours des différents mois avec légère diminution de la tech en fin d’année</a:t>
            </a:r>
          </a:p>
          <a:p>
            <a:r>
              <a:rPr lang="fr-FR" dirty="0"/>
              <a:t>3- Augmentation rapide de la part du CA lié à la nourriture</a:t>
            </a:r>
          </a:p>
          <a:p>
            <a:r>
              <a:rPr lang="fr-FR" dirty="0"/>
              <a:t>4- Malgré suppression du high tech et focus sur les biens de conso. et la nourriture, seule la nourriture a réellement augmenté même si il est difficile d’en conclure que cette augmentation est liée à la suppression car elle augmentait déjà avant. </a:t>
            </a:r>
          </a:p>
        </p:txBody>
      </p:sp>
      <p:sp>
        <p:nvSpPr>
          <p:cNvPr id="4" name="Espace réservé du numéro de diapositive 3"/>
          <p:cNvSpPr>
            <a:spLocks noGrp="1"/>
          </p:cNvSpPr>
          <p:nvPr>
            <p:ph type="sldNum" sz="quarter" idx="5"/>
          </p:nvPr>
        </p:nvSpPr>
        <p:spPr/>
        <p:txBody>
          <a:bodyPr/>
          <a:lstStyle/>
          <a:p>
            <a:fld id="{A3361954-D563-4E24-9779-B85F35EE2BF7}" type="slidenum">
              <a:rPr lang="fr-FR" smtClean="0"/>
              <a:t>1</a:t>
            </a:fld>
            <a:endParaRPr lang="fr-FR"/>
          </a:p>
        </p:txBody>
      </p:sp>
    </p:spTree>
    <p:extLst>
      <p:ext uri="{BB962C8B-B14F-4D97-AF65-F5344CB8AC3E}">
        <p14:creationId xmlns:p14="http://schemas.microsoft.com/office/powerpoint/2010/main" val="698006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FADF2-472C-F7CB-356D-C16C7B9AA2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8CBC844-AFF5-5923-0C43-B27A4D3E5B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AF5D83-F8C7-A38C-BFE4-6E2D6775C5D0}"/>
              </a:ext>
            </a:extLst>
          </p:cNvPr>
          <p:cNvSpPr>
            <a:spLocks noGrp="1"/>
          </p:cNvSpPr>
          <p:nvPr>
            <p:ph type="body" idx="1"/>
          </p:nvPr>
        </p:nvSpPr>
        <p:spPr/>
        <p:txBody>
          <a:bodyPr/>
          <a:lstStyle/>
          <a:p>
            <a:r>
              <a:rPr lang="fr-FR" dirty="0"/>
              <a:t>1- On voit que le panier moyen se situe autour des 40€ et dépasse rarement les 55€ en ne descendant jamais sous les 20€</a:t>
            </a:r>
          </a:p>
          <a:p>
            <a:r>
              <a:rPr lang="fr-FR" dirty="0"/>
              <a:t>2- Pour ce qui est du temps passé sur le site il se situe en moyenne autour des 7 minutes, rarement moins que 3 minutes et rarement plus que 11 minutes.</a:t>
            </a:r>
          </a:p>
          <a:p>
            <a:r>
              <a:rPr lang="fr-FR" dirty="0"/>
              <a:t>3- Il semble également y avoir une corrélation entre le montant et le temps passé ce qui indiquerait que plus les gens achètent plus il passe de temps. Temps passé sur le site par les visiteurs ayant acheté</a:t>
            </a:r>
          </a:p>
        </p:txBody>
      </p:sp>
      <p:sp>
        <p:nvSpPr>
          <p:cNvPr id="4" name="Espace réservé du numéro de diapositive 3">
            <a:extLst>
              <a:ext uri="{FF2B5EF4-FFF2-40B4-BE49-F238E27FC236}">
                <a16:creationId xmlns:a16="http://schemas.microsoft.com/office/drawing/2014/main" id="{6F6C992E-036B-AAA6-A261-D0B550AA5383}"/>
              </a:ext>
            </a:extLst>
          </p:cNvPr>
          <p:cNvSpPr>
            <a:spLocks noGrp="1"/>
          </p:cNvSpPr>
          <p:nvPr>
            <p:ph type="sldNum" sz="quarter" idx="5"/>
          </p:nvPr>
        </p:nvSpPr>
        <p:spPr/>
        <p:txBody>
          <a:bodyPr/>
          <a:lstStyle/>
          <a:p>
            <a:fld id="{A3361954-D563-4E24-9779-B85F35EE2BF7}" type="slidenum">
              <a:rPr lang="fr-FR" smtClean="0"/>
              <a:t>2</a:t>
            </a:fld>
            <a:endParaRPr lang="fr-FR"/>
          </a:p>
        </p:txBody>
      </p:sp>
    </p:spTree>
    <p:extLst>
      <p:ext uri="{BB962C8B-B14F-4D97-AF65-F5344CB8AC3E}">
        <p14:creationId xmlns:p14="http://schemas.microsoft.com/office/powerpoint/2010/main" val="259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1446-187F-2C90-07C9-8D4F892EB8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6DB049-93B4-1B8B-3867-511EB93D555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C7AD3C-D74E-AD5D-C1D3-81BFD8DF889B}"/>
              </a:ext>
            </a:extLst>
          </p:cNvPr>
          <p:cNvSpPr>
            <a:spLocks noGrp="1"/>
          </p:cNvSpPr>
          <p:nvPr>
            <p:ph type="body" idx="1"/>
          </p:nvPr>
        </p:nvSpPr>
        <p:spPr/>
        <p:txBody>
          <a:bodyPr/>
          <a:lstStyle/>
          <a:p>
            <a:r>
              <a:rPr lang="fr-FR" dirty="0"/>
              <a:t>On observe sur ce graphique que :</a:t>
            </a:r>
          </a:p>
          <a:p>
            <a:r>
              <a:rPr lang="fr-FR" dirty="0"/>
              <a:t>1- la majorité des clients passe environ 7 minutes</a:t>
            </a:r>
          </a:p>
          <a:p>
            <a:r>
              <a:rPr lang="fr-FR" dirty="0"/>
              <a:t>2- les comportements sont plus dispersés : certains achètent vite, d’autres explorent longtemps</a:t>
            </a:r>
          </a:p>
          <a:p>
            <a:endParaRPr lang="fr-FR" dirty="0"/>
          </a:p>
          <a:p>
            <a:r>
              <a:rPr lang="fr-FR" dirty="0"/>
              <a:t>On peut expliquer cela par le fait que de nombreux produits ont été ajoutés sur la plateforme cette année ce qui a augmenter le temps de recherche.</a:t>
            </a:r>
          </a:p>
          <a:p>
            <a:r>
              <a:rPr lang="fr-FR" dirty="0"/>
              <a:t>Pour ce qui est de la diminution globale du temps passé cela est probablement du au fait que la nourriture étant désormais l’un des éléments le plus acheté les gens passent moins de temps à chercher car ils savent déjà ce qu’ils cherchent généralement.</a:t>
            </a:r>
          </a:p>
        </p:txBody>
      </p:sp>
      <p:sp>
        <p:nvSpPr>
          <p:cNvPr id="4" name="Espace réservé du numéro de diapositive 3">
            <a:extLst>
              <a:ext uri="{FF2B5EF4-FFF2-40B4-BE49-F238E27FC236}">
                <a16:creationId xmlns:a16="http://schemas.microsoft.com/office/drawing/2014/main" id="{3380D8E7-8A33-E929-7839-B8F7FD06B5F5}"/>
              </a:ext>
            </a:extLst>
          </p:cNvPr>
          <p:cNvSpPr>
            <a:spLocks noGrp="1"/>
          </p:cNvSpPr>
          <p:nvPr>
            <p:ph type="sldNum" sz="quarter" idx="5"/>
          </p:nvPr>
        </p:nvSpPr>
        <p:spPr/>
        <p:txBody>
          <a:bodyPr/>
          <a:lstStyle/>
          <a:p>
            <a:fld id="{A3361954-D563-4E24-9779-B85F35EE2BF7}" type="slidenum">
              <a:rPr lang="fr-FR" smtClean="0"/>
              <a:t>3</a:t>
            </a:fld>
            <a:endParaRPr lang="fr-FR"/>
          </a:p>
        </p:txBody>
      </p:sp>
    </p:spTree>
    <p:extLst>
      <p:ext uri="{BB962C8B-B14F-4D97-AF65-F5344CB8AC3E}">
        <p14:creationId xmlns:p14="http://schemas.microsoft.com/office/powerpoint/2010/main" val="1151264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AC2EF-3622-267A-C5E1-CDD1D1069B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513E1D-CF38-3655-32EA-A36972DAEE4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106123-3478-F792-1E05-837FC9309A0F}"/>
              </a:ext>
            </a:extLst>
          </p:cNvPr>
          <p:cNvSpPr>
            <a:spLocks noGrp="1"/>
          </p:cNvSpPr>
          <p:nvPr>
            <p:ph type="body" idx="1"/>
          </p:nvPr>
        </p:nvSpPr>
        <p:spPr/>
        <p:txBody>
          <a:bodyPr/>
          <a:lstStyle/>
          <a:p>
            <a:r>
              <a:rPr lang="fr-FR" dirty="0"/>
              <a:t>1- Augmentation importante du nombre de visites sur le site</a:t>
            </a:r>
          </a:p>
          <a:p>
            <a:r>
              <a:rPr lang="fr-FR" dirty="0"/>
              <a:t>2- Ici l’augmentation du nombre de vente semble plus légère mais on la voit tout de même (cela s’explique par la différence des chiffres, mais comme on l’a vu sur la diapo d’avant il y a bien une importante augmentation des ventes en lien avec l’augmentation du nombre de visites)</a:t>
            </a:r>
          </a:p>
          <a:p>
            <a:r>
              <a:rPr lang="fr-FR" dirty="0"/>
              <a:t>3- Le taux de conversion est plus faible mais les deux indicateurs sont tout de même en grande augmentation ce qui indique une bonne direction</a:t>
            </a:r>
          </a:p>
          <a:p>
            <a:r>
              <a:rPr lang="fr-FR" dirty="0"/>
              <a:t>4- Les visites explosent → mais la conversion a été divisée par 2 → travailler sur le parcours client est l’opportunité</a:t>
            </a:r>
          </a:p>
        </p:txBody>
      </p:sp>
      <p:sp>
        <p:nvSpPr>
          <p:cNvPr id="4" name="Espace réservé du numéro de diapositive 3">
            <a:extLst>
              <a:ext uri="{FF2B5EF4-FFF2-40B4-BE49-F238E27FC236}">
                <a16:creationId xmlns:a16="http://schemas.microsoft.com/office/drawing/2014/main" id="{297EC3AA-5015-6FB2-B3C5-86B52474B07D}"/>
              </a:ext>
            </a:extLst>
          </p:cNvPr>
          <p:cNvSpPr>
            <a:spLocks noGrp="1"/>
          </p:cNvSpPr>
          <p:nvPr>
            <p:ph type="sldNum" sz="quarter" idx="5"/>
          </p:nvPr>
        </p:nvSpPr>
        <p:spPr/>
        <p:txBody>
          <a:bodyPr/>
          <a:lstStyle/>
          <a:p>
            <a:fld id="{A3361954-D563-4E24-9779-B85F35EE2BF7}" type="slidenum">
              <a:rPr lang="fr-FR" smtClean="0"/>
              <a:t>4</a:t>
            </a:fld>
            <a:endParaRPr lang="fr-FR"/>
          </a:p>
        </p:txBody>
      </p:sp>
    </p:spTree>
    <p:extLst>
      <p:ext uri="{BB962C8B-B14F-4D97-AF65-F5344CB8AC3E}">
        <p14:creationId xmlns:p14="http://schemas.microsoft.com/office/powerpoint/2010/main" val="3197948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6C71-7A20-62D3-A940-FA8BAAB8B0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C4517B-8810-63A1-AF15-D088848A99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C1B2470-0A96-B420-3E07-C89B0BFACD60}"/>
              </a:ext>
            </a:extLst>
          </p:cNvPr>
          <p:cNvSpPr>
            <a:spLocks noGrp="1"/>
          </p:cNvSpPr>
          <p:nvPr>
            <p:ph type="body" idx="1"/>
          </p:nvPr>
        </p:nvSpPr>
        <p:spPr/>
        <p:txBody>
          <a:bodyPr/>
          <a:lstStyle/>
          <a:p>
            <a:r>
              <a:rPr lang="fr-FR" dirty="0"/>
              <a:t>1- On voit que le CA a bien augmenter puis s’est stabilisé en fin d’année avant de descendre en début d’année.</a:t>
            </a:r>
          </a:p>
          <a:p>
            <a:r>
              <a:rPr lang="fr-FR" dirty="0"/>
              <a:t>2- Le nombre de vente lui est bien en augmentation constante en battant des records en début d’année.</a:t>
            </a:r>
          </a:p>
          <a:p>
            <a:r>
              <a:rPr lang="fr-FR" dirty="0"/>
              <a:t>3- La diminution du CA malgré cette augmentation impressionnante du nombre de vente peut s’expliquer par le retrait d High-Tech qui coutait plus chère et gonflait donc le CA.</a:t>
            </a:r>
          </a:p>
          <a:p>
            <a:endParaRPr lang="fr-FR" dirty="0"/>
          </a:p>
          <a:p>
            <a:r>
              <a:rPr lang="fr-FR" dirty="0"/>
              <a:t>Conclusion : Le CA baisse car on a coupé le High Tech qui représentait presque la moitié du Ca sur les 12 derniers mois. Mais nos moteurs (visites + achats) sont en forte croissance. </a:t>
            </a:r>
          </a:p>
          <a:p>
            <a:r>
              <a:rPr lang="fr-FR" dirty="0"/>
              <a:t>Au vu également des résultats obtenus sur la nourriture il serait intéressant d’augmenter notre mise en avant de ces produit, le vrai levier ici va être le taux de conversion. </a:t>
            </a:r>
          </a:p>
          <a:p>
            <a:endParaRPr lang="fr-FR" dirty="0"/>
          </a:p>
          <a:p>
            <a:r>
              <a:rPr lang="fr-FR" dirty="0"/>
              <a:t>Suggestion d’axe stratégique, comme on peut le voir les gens qui dépensent moins passe moins de temps sur le site et globalement le temps passé sur le site varie beaucoup plus qu’avant. De plus le taux de conversion a été divisé par deux. Cela pourrait être du au fait que le site n’est pas assez optimisé pour l’expérience utilisateur l’une des stratégies serait donc d’améliorer le site afin de fluidifier et améliorer l’expérience client pour augmenter le taux de conversion. Cela permettra donc d’augmenter les ventes et donc le CA. </a:t>
            </a:r>
          </a:p>
          <a:p>
            <a:r>
              <a:rPr lang="fr-FR" dirty="0"/>
              <a:t>On voit également avec docs deuxième partie que les clients affiliés consomment plus et notamment plus de nourriture il serait donc intéressant d’investir plus dans l’affiliation.</a:t>
            </a:r>
          </a:p>
          <a:p>
            <a:endParaRPr lang="fr-FR" dirty="0"/>
          </a:p>
          <a:p>
            <a:r>
              <a:rPr lang="fr-FR" dirty="0"/>
              <a:t>Projection simple basée sur la tendance récente des 12 derniers mois, on a une reprise progressive, </a:t>
            </a:r>
            <a:r>
              <a:rPr lang="fr-FR" b="0" dirty="0"/>
              <a:t>si</a:t>
            </a:r>
            <a:r>
              <a:rPr lang="fr-FR" dirty="0"/>
              <a:t> on </a:t>
            </a:r>
            <a:r>
              <a:rPr lang="fr-FR"/>
              <a:t>active nos leviers.</a:t>
            </a:r>
            <a:endParaRPr lang="fr-FR" dirty="0"/>
          </a:p>
          <a:p>
            <a:endParaRPr lang="fr-FR" dirty="0"/>
          </a:p>
        </p:txBody>
      </p:sp>
      <p:sp>
        <p:nvSpPr>
          <p:cNvPr id="4" name="Espace réservé du numéro de diapositive 3">
            <a:extLst>
              <a:ext uri="{FF2B5EF4-FFF2-40B4-BE49-F238E27FC236}">
                <a16:creationId xmlns:a16="http://schemas.microsoft.com/office/drawing/2014/main" id="{1F30FA9D-781B-395F-0FEB-3C3A573476FC}"/>
              </a:ext>
            </a:extLst>
          </p:cNvPr>
          <p:cNvSpPr>
            <a:spLocks noGrp="1"/>
          </p:cNvSpPr>
          <p:nvPr>
            <p:ph type="sldNum" sz="quarter" idx="5"/>
          </p:nvPr>
        </p:nvSpPr>
        <p:spPr/>
        <p:txBody>
          <a:bodyPr/>
          <a:lstStyle/>
          <a:p>
            <a:fld id="{A3361954-D563-4E24-9779-B85F35EE2BF7}" type="slidenum">
              <a:rPr lang="fr-FR" smtClean="0"/>
              <a:t>5</a:t>
            </a:fld>
            <a:endParaRPr lang="fr-FR"/>
          </a:p>
        </p:txBody>
      </p:sp>
    </p:spTree>
    <p:extLst>
      <p:ext uri="{BB962C8B-B14F-4D97-AF65-F5344CB8AC3E}">
        <p14:creationId xmlns:p14="http://schemas.microsoft.com/office/powerpoint/2010/main" val="564920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439749-6EC5-F650-F87B-AA404CFA101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8D0D9DA-62C8-2525-4230-1FE77174FF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A4DB8C4-3EE8-F771-935B-0CA036A949DA}"/>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5" name="Espace réservé du pied de page 4">
            <a:extLst>
              <a:ext uri="{FF2B5EF4-FFF2-40B4-BE49-F238E27FC236}">
                <a16:creationId xmlns:a16="http://schemas.microsoft.com/office/drawing/2014/main" id="{E546CE4D-5541-6B12-CB63-53FC7FD2F9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B056168-17FB-EDA4-DFE0-EFCF2E25DAF2}"/>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2788840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69DBB-7D21-D485-91A4-3B8ECEDF64D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D7253CA-6331-3C9D-BF9E-56F360A71E1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29E7B24-90DA-C09D-46A6-373D16E1B71A}"/>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5" name="Espace réservé du pied de page 4">
            <a:extLst>
              <a:ext uri="{FF2B5EF4-FFF2-40B4-BE49-F238E27FC236}">
                <a16:creationId xmlns:a16="http://schemas.microsoft.com/office/drawing/2014/main" id="{F5C59A80-8060-9E52-A1A0-17CF7DCBE86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2A8CB6E-03BE-21CF-188C-AFBD82AA46D6}"/>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3701207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B17701-9025-0855-461C-7B1BED67F50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8F45877-BB7D-E9A3-A6C3-3B335983AC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5A34489-1AAD-BC80-F817-D9A3A1D19FDE}"/>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5" name="Espace réservé du pied de page 4">
            <a:extLst>
              <a:ext uri="{FF2B5EF4-FFF2-40B4-BE49-F238E27FC236}">
                <a16:creationId xmlns:a16="http://schemas.microsoft.com/office/drawing/2014/main" id="{1CB1DCED-9BD7-4443-A468-BBAAC13ADC8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66B3476-7D42-4211-D971-4A6D0252D48B}"/>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372859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C2DC79-AC51-4A1B-5BA3-87F51ED162F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1774AAF-EC83-ED84-8178-97C56785D8C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3C57846-67C8-94C7-B93E-5DAEDEE5461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D90B9E2-34AF-9887-B980-587B997B7766}"/>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6" name="Espace réservé du pied de page 5">
            <a:extLst>
              <a:ext uri="{FF2B5EF4-FFF2-40B4-BE49-F238E27FC236}">
                <a16:creationId xmlns:a16="http://schemas.microsoft.com/office/drawing/2014/main" id="{DFEF09E2-5DAD-A0AA-D748-08B12F1A2CF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5BF9349-A604-EDE6-9234-3038613516DC}"/>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1066334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DE1E0-7CA1-5E63-4FB0-20244CB77E9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E806E4F-C152-7681-D26D-1CF84C24F3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68EF743-35C8-854B-BEE1-8FD717AD6D5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50D01B6-6CD1-6EEB-78B4-F12403BD40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8CB0CBA-1CA3-2F64-F2CA-C7C92AFAACB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9C9506F-46FF-942F-5A4B-6FDFF270DC35}"/>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8" name="Espace réservé du pied de page 7">
            <a:extLst>
              <a:ext uri="{FF2B5EF4-FFF2-40B4-BE49-F238E27FC236}">
                <a16:creationId xmlns:a16="http://schemas.microsoft.com/office/drawing/2014/main" id="{3D831005-AC2B-C4CD-A7D1-DCFC31DC660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2E5F3EF-757B-E578-B4E3-8B906E689EB0}"/>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2324452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307E27-DAF4-9575-9F7A-64532675445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496A435-A7F6-B919-6A3F-9D89447C6F78}"/>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4" name="Espace réservé du pied de page 3">
            <a:extLst>
              <a:ext uri="{FF2B5EF4-FFF2-40B4-BE49-F238E27FC236}">
                <a16:creationId xmlns:a16="http://schemas.microsoft.com/office/drawing/2014/main" id="{5394E5B8-BBE8-80D2-75B7-11D5487CA4D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CE8A48B-C124-A256-5835-F367F6EAC732}"/>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3690662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2F8B2B1-26B6-6FDE-9B2D-CFAB646A6214}"/>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3" name="Espace réservé du pied de page 2">
            <a:extLst>
              <a:ext uri="{FF2B5EF4-FFF2-40B4-BE49-F238E27FC236}">
                <a16:creationId xmlns:a16="http://schemas.microsoft.com/office/drawing/2014/main" id="{B1545E5A-EC01-D3A7-D4BF-52E2CD0B5426}"/>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5A959D6-C51C-0735-BA8A-6DC0CC4C935A}"/>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1444830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49050F-E10A-5E77-F8A8-979F6E8AE1B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E84BCF3-A058-A1C6-DCC5-0C2D55DF17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F070AB5-F65A-7855-3FDA-80FFEB20FA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5DAF931-D0E9-D0BA-4FEC-9645FC8F8304}"/>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6" name="Espace réservé du pied de page 5">
            <a:extLst>
              <a:ext uri="{FF2B5EF4-FFF2-40B4-BE49-F238E27FC236}">
                <a16:creationId xmlns:a16="http://schemas.microsoft.com/office/drawing/2014/main" id="{A3112A26-DEA1-80AA-D8E4-D05DE6971E9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D7CD86-0877-4434-4B15-C4430D2C92E3}"/>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191343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5ECB85-7BB4-EF0B-3CD3-89833E16394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DA79E33-F438-6CC8-1F52-4A913FA05B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308A197-120F-8F95-7DBE-60AD6CF021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6675394-8E66-DDD3-6332-2F47FD34B558}"/>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6" name="Espace réservé du pied de page 5">
            <a:extLst>
              <a:ext uri="{FF2B5EF4-FFF2-40B4-BE49-F238E27FC236}">
                <a16:creationId xmlns:a16="http://schemas.microsoft.com/office/drawing/2014/main" id="{B534670F-B464-94A3-880C-977A3DA5F05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6F3365E-E91E-D55B-6693-2150383097AD}"/>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357360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0006DD-B825-5EBD-32E1-929E62F9F90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119D490-A17D-91BE-FC41-3183A0AB521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3155337-1CEC-D6B3-C0E4-A17D2C7158B4}"/>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5" name="Espace réservé du pied de page 4">
            <a:extLst>
              <a:ext uri="{FF2B5EF4-FFF2-40B4-BE49-F238E27FC236}">
                <a16:creationId xmlns:a16="http://schemas.microsoft.com/office/drawing/2014/main" id="{2181C897-04AE-202C-1CD8-042B8ABBAC6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8C4201-91F9-9A83-767F-2863F806786D}"/>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3658271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68857DE-9787-F957-A65B-86758A95757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F933940-E26D-3CE7-8E41-3C2183850BC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31C6059-3DB8-4971-404A-6E618842008E}"/>
              </a:ext>
            </a:extLst>
          </p:cNvPr>
          <p:cNvSpPr>
            <a:spLocks noGrp="1"/>
          </p:cNvSpPr>
          <p:nvPr>
            <p:ph type="dt" sz="half" idx="10"/>
          </p:nvPr>
        </p:nvSpPr>
        <p:spPr/>
        <p:txBody>
          <a:bodyPr/>
          <a:lstStyle/>
          <a:p>
            <a:fld id="{A91EEC05-9885-4F32-A821-70D9939097E1}" type="datetimeFigureOut">
              <a:rPr lang="fr-FR" smtClean="0"/>
              <a:t>22/08/2025</a:t>
            </a:fld>
            <a:endParaRPr lang="fr-FR"/>
          </a:p>
        </p:txBody>
      </p:sp>
      <p:sp>
        <p:nvSpPr>
          <p:cNvPr id="5" name="Espace réservé du pied de page 4">
            <a:extLst>
              <a:ext uri="{FF2B5EF4-FFF2-40B4-BE49-F238E27FC236}">
                <a16:creationId xmlns:a16="http://schemas.microsoft.com/office/drawing/2014/main" id="{F1345A0F-620A-AA0D-252F-D2F62D4273D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DF795C7-DEF6-29BC-4688-8CA64F45D72A}"/>
              </a:ext>
            </a:extLst>
          </p:cNvPr>
          <p:cNvSpPr>
            <a:spLocks noGrp="1"/>
          </p:cNvSpPr>
          <p:nvPr>
            <p:ph type="sldNum" sz="quarter" idx="12"/>
          </p:nvPr>
        </p:nvSpPr>
        <p:spPr/>
        <p:txBody>
          <a:bodyPr/>
          <a:lstStyle/>
          <a:p>
            <a:fld id="{AA39A47B-213B-494A-BB0D-CA1A0806B84D}" type="slidenum">
              <a:rPr lang="fr-FR" smtClean="0"/>
              <a:t>‹N°›</a:t>
            </a:fld>
            <a:endParaRPr lang="fr-FR"/>
          </a:p>
        </p:txBody>
      </p:sp>
    </p:spTree>
    <p:extLst>
      <p:ext uri="{BB962C8B-B14F-4D97-AF65-F5344CB8AC3E}">
        <p14:creationId xmlns:p14="http://schemas.microsoft.com/office/powerpoint/2010/main" val="312344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90E9ADE-14F3-CEB5-CABA-E24964E5E8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88B2EC2-6301-3799-B8AE-F8AAB00234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4CDD9FF-F9A8-7BCA-E88F-BA23DFB263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1EEC05-9885-4F32-A821-70D9939097E1}" type="datetimeFigureOut">
              <a:rPr lang="fr-FR" smtClean="0"/>
              <a:t>22/08/2025</a:t>
            </a:fld>
            <a:endParaRPr lang="fr-FR"/>
          </a:p>
        </p:txBody>
      </p:sp>
      <p:sp>
        <p:nvSpPr>
          <p:cNvPr id="5" name="Espace réservé du pied de page 4">
            <a:extLst>
              <a:ext uri="{FF2B5EF4-FFF2-40B4-BE49-F238E27FC236}">
                <a16:creationId xmlns:a16="http://schemas.microsoft.com/office/drawing/2014/main" id="{2219AD45-7849-DB4E-5907-F659DB4837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F288EB0-FB4B-6BF2-440C-5DDDD954C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39A47B-213B-494A-BB0D-CA1A0806B84D}" type="slidenum">
              <a:rPr lang="fr-FR" smtClean="0"/>
              <a:t>‹N°›</a:t>
            </a:fld>
            <a:endParaRPr lang="fr-FR"/>
          </a:p>
        </p:txBody>
      </p:sp>
    </p:spTree>
    <p:extLst>
      <p:ext uri="{BB962C8B-B14F-4D97-AF65-F5344CB8AC3E}">
        <p14:creationId xmlns:p14="http://schemas.microsoft.com/office/powerpoint/2010/main" val="642681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7CE4C9-E7A7-9ADD-870C-444353643A27}"/>
            </a:ext>
          </a:extLst>
        </p:cNvPr>
        <p:cNvGrpSpPr/>
        <p:nvPr/>
      </p:nvGrpSpPr>
      <p:grpSpPr>
        <a:xfrm>
          <a:off x="0" y="0"/>
          <a:ext cx="0" cy="0"/>
          <a:chOff x="0" y="0"/>
          <a:chExt cx="0" cy="0"/>
        </a:xfrm>
      </p:grpSpPr>
      <p:sp>
        <p:nvSpPr>
          <p:cNvPr id="12"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36570B7-0951-026F-B8F2-2D42C8E43E66}"/>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fr-FR" sz="2700" b="1" dirty="0">
                <a:solidFill>
                  <a:srgbClr val="FFFFFF"/>
                </a:solidFill>
              </a:rPr>
              <a:t>La nourriture, composante majoritaire du CA (68%)</a:t>
            </a:r>
            <a:br>
              <a:rPr lang="en-US" sz="3200" kern="1200" dirty="0">
                <a:solidFill>
                  <a:srgbClr val="FFFFFF"/>
                </a:solidFill>
                <a:latin typeface="+mj-lt"/>
                <a:ea typeface="+mj-ea"/>
                <a:cs typeface="+mj-cs"/>
              </a:rPr>
            </a:br>
            <a:endParaRPr lang="en-US" sz="3200" kern="1200" dirty="0">
              <a:solidFill>
                <a:srgbClr val="FFFFFF"/>
              </a:solidFill>
              <a:latin typeface="+mj-lt"/>
              <a:ea typeface="+mj-ea"/>
              <a:cs typeface="+mj-cs"/>
            </a:endParaRPr>
          </a:p>
        </p:txBody>
      </p:sp>
      <p:pic>
        <p:nvPicPr>
          <p:cNvPr id="5" name="Espace réservé du contenu 4" descr="Une image contenant texte, capture d’écran, ligne, Caractère coloré&#10;&#10;Le contenu généré par l’IA peut être incorrect.">
            <a:extLst>
              <a:ext uri="{FF2B5EF4-FFF2-40B4-BE49-F238E27FC236}">
                <a16:creationId xmlns:a16="http://schemas.microsoft.com/office/drawing/2014/main" id="{93AF51E9-0BC5-D79C-453B-4B964E16A2B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94038" y="640080"/>
            <a:ext cx="7175326" cy="5578816"/>
          </a:xfrm>
          <a:prstGeom prst="rect">
            <a:avLst/>
          </a:prstGeom>
        </p:spPr>
      </p:pic>
    </p:spTree>
    <p:extLst>
      <p:ext uri="{BB962C8B-B14F-4D97-AF65-F5344CB8AC3E}">
        <p14:creationId xmlns:p14="http://schemas.microsoft.com/office/powerpoint/2010/main" val="50123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40C2BE-E988-AB60-76C9-AE233866A54E}"/>
            </a:ext>
          </a:extLst>
        </p:cNvPr>
        <p:cNvGrpSpPr/>
        <p:nvPr/>
      </p:nvGrpSpPr>
      <p:grpSpPr>
        <a:xfrm>
          <a:off x="0" y="0"/>
          <a:ext cx="0" cy="0"/>
          <a:chOff x="0" y="0"/>
          <a:chExt cx="0" cy="0"/>
        </a:xfrm>
      </p:grpSpPr>
      <p:sp>
        <p:nvSpPr>
          <p:cNvPr id="15" name="Flowchart: Document 14">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8F41B5C-4D52-E88D-7FEA-2A1917CE7E54}"/>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fr-FR" sz="2700" b="1" kern="1200" dirty="0">
                <a:solidFill>
                  <a:srgbClr val="FFFFFF"/>
                </a:solidFill>
                <a:latin typeface="+mj-lt"/>
                <a:ea typeface="+mj-ea"/>
                <a:cs typeface="+mj-cs"/>
              </a:rPr>
              <a:t>Panier moyen stable à 40 € / 7 min de navigation</a:t>
            </a:r>
            <a:br>
              <a:rPr lang="en-US" sz="2700" kern="1200" dirty="0">
                <a:solidFill>
                  <a:srgbClr val="FFFFFF"/>
                </a:solidFill>
                <a:latin typeface="+mj-lt"/>
                <a:ea typeface="+mj-ea"/>
                <a:cs typeface="+mj-cs"/>
              </a:rPr>
            </a:br>
            <a:endParaRPr lang="en-US" sz="2700" kern="1200" dirty="0">
              <a:solidFill>
                <a:srgbClr val="FFFFFF"/>
              </a:solidFill>
              <a:latin typeface="+mj-lt"/>
              <a:ea typeface="+mj-ea"/>
              <a:cs typeface="+mj-cs"/>
            </a:endParaRPr>
          </a:p>
        </p:txBody>
      </p:sp>
      <p:pic>
        <p:nvPicPr>
          <p:cNvPr id="7" name="Espace réservé du contenu 6" descr="Une image contenant capture d’écran, visualisation&#10;&#10;Le contenu généré par l’IA peut être incorrect.">
            <a:extLst>
              <a:ext uri="{FF2B5EF4-FFF2-40B4-BE49-F238E27FC236}">
                <a16:creationId xmlns:a16="http://schemas.microsoft.com/office/drawing/2014/main" id="{FE6EFBDE-0564-A6F6-E13B-AAD3C231CC0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94038" y="640080"/>
            <a:ext cx="7175326" cy="5578816"/>
          </a:xfrm>
          <a:prstGeom prst="rect">
            <a:avLst/>
          </a:prstGeom>
        </p:spPr>
      </p:pic>
    </p:spTree>
    <p:extLst>
      <p:ext uri="{BB962C8B-B14F-4D97-AF65-F5344CB8AC3E}">
        <p14:creationId xmlns:p14="http://schemas.microsoft.com/office/powerpoint/2010/main" val="851811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6CC9EE-0D45-653D-27CE-BCC0A473E62F}"/>
            </a:ext>
          </a:extLst>
        </p:cNvPr>
        <p:cNvGrpSpPr/>
        <p:nvPr/>
      </p:nvGrpSpPr>
      <p:grpSpPr>
        <a:xfrm>
          <a:off x="0" y="0"/>
          <a:ext cx="0" cy="0"/>
          <a:chOff x="0" y="0"/>
          <a:chExt cx="0" cy="0"/>
        </a:xfrm>
      </p:grpSpPr>
      <p:sp>
        <p:nvSpPr>
          <p:cNvPr id="19" name="Flowchart: Document 1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8DB34E4-6500-6575-EA6F-B6B2AC330E91}"/>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fr-FR" sz="2700" b="1" dirty="0">
                <a:solidFill>
                  <a:srgbClr val="FFFFFF"/>
                </a:solidFill>
              </a:rPr>
              <a:t>Variabilité du temps passé par les acheteurs en hausse</a:t>
            </a:r>
            <a:endParaRPr lang="en-US" sz="2700" b="1" dirty="0">
              <a:solidFill>
                <a:srgbClr val="FFFFFF"/>
              </a:solidFill>
            </a:endParaRPr>
          </a:p>
        </p:txBody>
      </p:sp>
      <p:pic>
        <p:nvPicPr>
          <p:cNvPr id="6" name="Espace réservé du contenu 5" descr="Une image contenant texte, diagramme, capture d’écran, Rectangle&#10;&#10;Le contenu généré par l’IA peut être incorrect.">
            <a:extLst>
              <a:ext uri="{FF2B5EF4-FFF2-40B4-BE49-F238E27FC236}">
                <a16:creationId xmlns:a16="http://schemas.microsoft.com/office/drawing/2014/main" id="{D318EBA4-192B-5075-B427-D46A8933433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94038" y="640080"/>
            <a:ext cx="7175326" cy="5578816"/>
          </a:xfrm>
          <a:prstGeom prst="rect">
            <a:avLst/>
          </a:prstGeom>
        </p:spPr>
      </p:pic>
    </p:spTree>
    <p:extLst>
      <p:ext uri="{BB962C8B-B14F-4D97-AF65-F5344CB8AC3E}">
        <p14:creationId xmlns:p14="http://schemas.microsoft.com/office/powerpoint/2010/main" val="43383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14FF52-20B4-2FAE-CB2C-D5DFCFDF224A}"/>
            </a:ext>
          </a:extLst>
        </p:cNvPr>
        <p:cNvGrpSpPr/>
        <p:nvPr/>
      </p:nvGrpSpPr>
      <p:grpSpPr>
        <a:xfrm>
          <a:off x="0" y="0"/>
          <a:ext cx="0" cy="0"/>
          <a:chOff x="0" y="0"/>
          <a:chExt cx="0" cy="0"/>
        </a:xfrm>
      </p:grpSpPr>
      <p:sp>
        <p:nvSpPr>
          <p:cNvPr id="16" name="Flowchart: Document 1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D56B666-22DB-304B-B07C-A491D57C4F29}"/>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fr-FR" sz="2700" b="1" dirty="0">
                <a:solidFill>
                  <a:srgbClr val="FFFFFF"/>
                </a:solidFill>
              </a:rPr>
              <a:t>Explosion des visites du site</a:t>
            </a:r>
            <a:endParaRPr lang="en-US" sz="2700" b="1" dirty="0">
              <a:solidFill>
                <a:srgbClr val="FFFFFF"/>
              </a:solidFill>
            </a:endParaRPr>
          </a:p>
        </p:txBody>
      </p:sp>
      <p:pic>
        <p:nvPicPr>
          <p:cNvPr id="7" name="Espace réservé du contenu 6" descr="Une image contenant texte, capture d’écran, Tracé, ligne&#10;&#10;Le contenu généré par l’IA peut être incorrect.">
            <a:extLst>
              <a:ext uri="{FF2B5EF4-FFF2-40B4-BE49-F238E27FC236}">
                <a16:creationId xmlns:a16="http://schemas.microsoft.com/office/drawing/2014/main" id="{79EFA050-0F02-0C63-C7C2-82E998B13CB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94038" y="640080"/>
            <a:ext cx="7175326" cy="5578816"/>
          </a:xfrm>
          <a:prstGeom prst="rect">
            <a:avLst/>
          </a:prstGeom>
        </p:spPr>
      </p:pic>
      <p:sp>
        <p:nvSpPr>
          <p:cNvPr id="3" name="ZoneTexte 2">
            <a:extLst>
              <a:ext uri="{FF2B5EF4-FFF2-40B4-BE49-F238E27FC236}">
                <a16:creationId xmlns:a16="http://schemas.microsoft.com/office/drawing/2014/main" id="{C684C875-D9D1-A292-40BF-A3BB7A0F10BB}"/>
              </a:ext>
            </a:extLst>
          </p:cNvPr>
          <p:cNvSpPr txBox="1"/>
          <p:nvPr/>
        </p:nvSpPr>
        <p:spPr>
          <a:xfrm>
            <a:off x="638175" y="4263390"/>
            <a:ext cx="2950845" cy="923330"/>
          </a:xfrm>
          <a:prstGeom prst="rect">
            <a:avLst/>
          </a:prstGeom>
          <a:noFill/>
        </p:spPr>
        <p:txBody>
          <a:bodyPr wrap="square" rtlCol="0">
            <a:spAutoFit/>
          </a:bodyPr>
          <a:lstStyle/>
          <a:p>
            <a:r>
              <a:rPr lang="fr-FR" dirty="0"/>
              <a:t>Conversion en baisse, compensée par visites en forte hausse</a:t>
            </a:r>
          </a:p>
        </p:txBody>
      </p:sp>
    </p:spTree>
    <p:extLst>
      <p:ext uri="{BB962C8B-B14F-4D97-AF65-F5344CB8AC3E}">
        <p14:creationId xmlns:p14="http://schemas.microsoft.com/office/powerpoint/2010/main" val="785366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78903E-BC7B-7CDB-808D-D5BF0FBE93BE}"/>
            </a:ext>
          </a:extLst>
        </p:cNvPr>
        <p:cNvGrpSpPr/>
        <p:nvPr/>
      </p:nvGrpSpPr>
      <p:grpSpPr>
        <a:xfrm>
          <a:off x="0" y="0"/>
          <a:ext cx="0" cy="0"/>
          <a:chOff x="0" y="0"/>
          <a:chExt cx="0" cy="0"/>
        </a:xfrm>
      </p:grpSpPr>
      <p:sp>
        <p:nvSpPr>
          <p:cNvPr id="22" name="Flowchart: Document 2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2831BB-1DE2-EA16-ECE7-3F9E466B80F5}"/>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fr-FR" sz="2700" b="1" dirty="0">
                <a:solidFill>
                  <a:srgbClr val="FFFFFF"/>
                </a:solidFill>
              </a:rPr>
              <a:t>CA en baisse post-pivot, projection en reprise</a:t>
            </a:r>
            <a:br>
              <a:rPr lang="en-US" sz="3200" kern="1200" dirty="0">
                <a:solidFill>
                  <a:srgbClr val="FFFFFF"/>
                </a:solidFill>
                <a:latin typeface="+mj-lt"/>
                <a:ea typeface="+mj-ea"/>
                <a:cs typeface="+mj-cs"/>
              </a:rPr>
            </a:br>
            <a:endParaRPr lang="en-US" sz="3200" kern="1200" dirty="0">
              <a:solidFill>
                <a:srgbClr val="FFFFFF"/>
              </a:solidFill>
              <a:latin typeface="+mj-lt"/>
              <a:ea typeface="+mj-ea"/>
              <a:cs typeface="+mj-cs"/>
            </a:endParaRPr>
          </a:p>
        </p:txBody>
      </p:sp>
      <p:pic>
        <p:nvPicPr>
          <p:cNvPr id="6" name="Espace réservé du contenu 5" descr="Une image contenant texte, capture d’écran, ligne, Tracé&#10;&#10;Le contenu généré par l’IA peut être incorrect.">
            <a:extLst>
              <a:ext uri="{FF2B5EF4-FFF2-40B4-BE49-F238E27FC236}">
                <a16:creationId xmlns:a16="http://schemas.microsoft.com/office/drawing/2014/main" id="{FFDBBD48-B8C5-D8FA-F2C4-A65041EE00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94038" y="640080"/>
            <a:ext cx="7175326" cy="5578816"/>
          </a:xfrm>
          <a:prstGeom prst="rect">
            <a:avLst/>
          </a:prstGeom>
        </p:spPr>
      </p:pic>
      <p:sp>
        <p:nvSpPr>
          <p:cNvPr id="3" name="ZoneTexte 2">
            <a:extLst>
              <a:ext uri="{FF2B5EF4-FFF2-40B4-BE49-F238E27FC236}">
                <a16:creationId xmlns:a16="http://schemas.microsoft.com/office/drawing/2014/main" id="{36B46508-6B73-CFEC-9BA5-C9E2D6401DCA}"/>
              </a:ext>
            </a:extLst>
          </p:cNvPr>
          <p:cNvSpPr txBox="1"/>
          <p:nvPr/>
        </p:nvSpPr>
        <p:spPr>
          <a:xfrm>
            <a:off x="156992" y="4287356"/>
            <a:ext cx="4202598" cy="923330"/>
          </a:xfrm>
          <a:prstGeom prst="rect">
            <a:avLst/>
          </a:prstGeom>
          <a:noFill/>
        </p:spPr>
        <p:txBody>
          <a:bodyPr wrap="square" rtlCol="0">
            <a:spAutoFit/>
          </a:bodyPr>
          <a:lstStyle/>
          <a:p>
            <a:r>
              <a:rPr lang="fr-FR" dirty="0"/>
              <a:t>Malgré une baisse du CA, le nombre de ventes et de visites ne cesse d’augmenter. </a:t>
            </a:r>
          </a:p>
        </p:txBody>
      </p:sp>
      <p:sp>
        <p:nvSpPr>
          <p:cNvPr id="4" name="Flèche : droite 3">
            <a:extLst>
              <a:ext uri="{FF2B5EF4-FFF2-40B4-BE49-F238E27FC236}">
                <a16:creationId xmlns:a16="http://schemas.microsoft.com/office/drawing/2014/main" id="{B92713DE-6885-9608-0687-62937B93856D}"/>
              </a:ext>
            </a:extLst>
          </p:cNvPr>
          <p:cNvSpPr/>
          <p:nvPr/>
        </p:nvSpPr>
        <p:spPr>
          <a:xfrm rot="19313089">
            <a:off x="428722" y="5689676"/>
            <a:ext cx="1234440" cy="78443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1906215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368</TotalTime>
  <Words>769</Words>
  <Application>Microsoft Office PowerPoint</Application>
  <PresentationFormat>Grand écran</PresentationFormat>
  <Paragraphs>40</Paragraphs>
  <Slides>5</Slides>
  <Notes>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Aptos</vt:lpstr>
      <vt:lpstr>Aptos Display</vt:lpstr>
      <vt:lpstr>Arial</vt:lpstr>
      <vt:lpstr>Thème Office</vt:lpstr>
      <vt:lpstr>La nourriture, composante majoritaire du CA (68%) </vt:lpstr>
      <vt:lpstr>Panier moyen stable à 40 € / 7 min de navigation </vt:lpstr>
      <vt:lpstr>Variabilité du temps passé par les acheteurs en hausse</vt:lpstr>
      <vt:lpstr>Explosion des visites du site</vt:lpstr>
      <vt:lpstr>CA en baisse post-pivot, projection en reprise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fol</dc:creator>
  <cp:lastModifiedBy>evan fol</cp:lastModifiedBy>
  <cp:revision>8</cp:revision>
  <dcterms:created xsi:type="dcterms:W3CDTF">2025-08-12T09:41:15Z</dcterms:created>
  <dcterms:modified xsi:type="dcterms:W3CDTF">2025-08-22T06:58:13Z</dcterms:modified>
</cp:coreProperties>
</file>