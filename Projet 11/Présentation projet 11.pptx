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257" r:id="rId3"/>
    <p:sldId id="258" r:id="rId4"/>
    <p:sldId id="260" r:id="rId5"/>
    <p:sldId id="287" r:id="rId6"/>
    <p:sldId id="261" r:id="rId7"/>
    <p:sldId id="262" r:id="rId8"/>
    <p:sldId id="263" r:id="rId9"/>
    <p:sldId id="265" r:id="rId10"/>
    <p:sldId id="266" r:id="rId11"/>
    <p:sldId id="269" r:id="rId12"/>
    <p:sldId id="271" r:id="rId13"/>
    <p:sldId id="272" r:id="rId14"/>
    <p:sldId id="273" r:id="rId15"/>
    <p:sldId id="284" r:id="rId16"/>
    <p:sldId id="274" r:id="rId17"/>
    <p:sldId id="275" r:id="rId18"/>
    <p:sldId id="277" r:id="rId19"/>
    <p:sldId id="278" r:id="rId20"/>
    <p:sldId id="280" r:id="rId21"/>
    <p:sldId id="285" r:id="rId22"/>
    <p:sldId id="281" r:id="rId23"/>
    <p:sldId id="282" r:id="rId24"/>
    <p:sldId id="283" r:id="rId25"/>
    <p:sldId id="286"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0993" autoAdjust="0"/>
  </p:normalViewPr>
  <p:slideViewPr>
    <p:cSldViewPr snapToGrid="0">
      <p:cViewPr varScale="1">
        <p:scale>
          <a:sx n="86" d="100"/>
          <a:sy n="86" d="100"/>
        </p:scale>
        <p:origin x="47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9ED7F9-DB58-4FC3-85F3-7920AF3E9D42}" type="datetimeFigureOut">
              <a:rPr lang="fr-FR" smtClean="0"/>
              <a:t>21/04/2026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4F9080-C9D5-43B2-99BC-07807BB32E59}" type="slidenum">
              <a:rPr lang="fr-FR" smtClean="0"/>
              <a:t>‹N°›</a:t>
            </a:fld>
            <a:endParaRPr lang="fr-FR"/>
          </a:p>
        </p:txBody>
      </p:sp>
    </p:spTree>
    <p:extLst>
      <p:ext uri="{BB962C8B-B14F-4D97-AF65-F5344CB8AC3E}">
        <p14:creationId xmlns:p14="http://schemas.microsoft.com/office/powerpoint/2010/main" val="7300464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On ne détail pas ici le nettoyage et la fusion car c’est essentiellement similaire à la première table</a:t>
            </a:r>
          </a:p>
        </p:txBody>
      </p:sp>
      <p:sp>
        <p:nvSpPr>
          <p:cNvPr id="4" name="Espace réservé du numéro de diapositive 3"/>
          <p:cNvSpPr>
            <a:spLocks noGrp="1"/>
          </p:cNvSpPr>
          <p:nvPr>
            <p:ph type="sldNum" sz="quarter" idx="5"/>
          </p:nvPr>
        </p:nvSpPr>
        <p:spPr/>
        <p:txBody>
          <a:bodyPr/>
          <a:lstStyle/>
          <a:p>
            <a:fld id="{194F9080-C9D5-43B2-99BC-07807BB32E59}" type="slidenum">
              <a:rPr lang="fr-FR" smtClean="0"/>
              <a:t>3</a:t>
            </a:fld>
            <a:endParaRPr lang="fr-FR"/>
          </a:p>
        </p:txBody>
      </p:sp>
    </p:spTree>
    <p:extLst>
      <p:ext uri="{BB962C8B-B14F-4D97-AF65-F5344CB8AC3E}">
        <p14:creationId xmlns:p14="http://schemas.microsoft.com/office/powerpoint/2010/main" val="37928762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On voit qu’on obtient une table finale pour l’année 2017 contenant une ligne par pays et 10 variables au total</a:t>
            </a:r>
          </a:p>
          <a:p>
            <a:endParaRPr lang="fr-FR" dirty="0"/>
          </a:p>
          <a:p>
            <a:r>
              <a:rPr lang="fr-FR" dirty="0"/>
              <a:t>La population totale en 2017 étant de 7,6 milliards on a bien plus de 60% de la population et plus de 100 pays pris en compte dans l’analyse</a:t>
            </a:r>
          </a:p>
          <a:p>
            <a:endParaRPr lang="fr-FR" dirty="0"/>
          </a:p>
          <a:p>
            <a:endParaRPr lang="fr-FR" dirty="0"/>
          </a:p>
        </p:txBody>
      </p:sp>
      <p:sp>
        <p:nvSpPr>
          <p:cNvPr id="4" name="Espace réservé du numéro de diapositive 3"/>
          <p:cNvSpPr>
            <a:spLocks noGrp="1"/>
          </p:cNvSpPr>
          <p:nvPr>
            <p:ph type="sldNum" sz="quarter" idx="5"/>
          </p:nvPr>
        </p:nvSpPr>
        <p:spPr/>
        <p:txBody>
          <a:bodyPr/>
          <a:lstStyle/>
          <a:p>
            <a:fld id="{194F9080-C9D5-43B2-99BC-07807BB32E59}" type="slidenum">
              <a:rPr lang="fr-FR" smtClean="0"/>
              <a:t>4</a:t>
            </a:fld>
            <a:endParaRPr lang="fr-FR"/>
          </a:p>
        </p:txBody>
      </p:sp>
    </p:spTree>
    <p:extLst>
      <p:ext uri="{BB962C8B-B14F-4D97-AF65-F5344CB8AC3E}">
        <p14:creationId xmlns:p14="http://schemas.microsoft.com/office/powerpoint/2010/main" val="2932710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6F9B5-2E15-A3BC-2947-3AD25E6B6C9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9747D78-FF7A-7536-D679-C15E0F7D656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2D9F164-A1FF-4DCC-5D00-39CF86E4D716}"/>
              </a:ext>
            </a:extLst>
          </p:cNvPr>
          <p:cNvSpPr>
            <a:spLocks noGrp="1"/>
          </p:cNvSpPr>
          <p:nvPr>
            <p:ph type="body" idx="1"/>
          </p:nvPr>
        </p:nvSpPr>
        <p:spPr/>
        <p:txBody>
          <a:bodyPr/>
          <a:lstStyle/>
          <a:p>
            <a:r>
              <a:rPr lang="fr-FR" dirty="0"/>
              <a:t>Pour notre analyse nous avons choisi de nous concentrer sur les 4 premières composantes du PESTEL car c’est celles qui étaient les plus intéressantes pour nos objectifs.</a:t>
            </a:r>
          </a:p>
        </p:txBody>
      </p:sp>
      <p:sp>
        <p:nvSpPr>
          <p:cNvPr id="4" name="Espace réservé du numéro de diapositive 3">
            <a:extLst>
              <a:ext uri="{FF2B5EF4-FFF2-40B4-BE49-F238E27FC236}">
                <a16:creationId xmlns:a16="http://schemas.microsoft.com/office/drawing/2014/main" id="{FC4ED6E3-6D5E-A30F-B01D-0448869EBD7B}"/>
              </a:ext>
            </a:extLst>
          </p:cNvPr>
          <p:cNvSpPr>
            <a:spLocks noGrp="1"/>
          </p:cNvSpPr>
          <p:nvPr>
            <p:ph type="sldNum" sz="quarter" idx="5"/>
          </p:nvPr>
        </p:nvSpPr>
        <p:spPr/>
        <p:txBody>
          <a:bodyPr/>
          <a:lstStyle/>
          <a:p>
            <a:fld id="{194F9080-C9D5-43B2-99BC-07807BB32E59}" type="slidenum">
              <a:rPr lang="fr-FR" smtClean="0"/>
              <a:t>5</a:t>
            </a:fld>
            <a:endParaRPr lang="fr-FR"/>
          </a:p>
        </p:txBody>
      </p:sp>
    </p:spTree>
    <p:extLst>
      <p:ext uri="{BB962C8B-B14F-4D97-AF65-F5344CB8AC3E}">
        <p14:creationId xmlns:p14="http://schemas.microsoft.com/office/powerpoint/2010/main" val="5624066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Cette variable mesure le niveau de dépendance d’un pays aux importations de viande de volaille</a:t>
            </a:r>
          </a:p>
        </p:txBody>
      </p:sp>
      <p:sp>
        <p:nvSpPr>
          <p:cNvPr id="4" name="Espace réservé du numéro de diapositive 3"/>
          <p:cNvSpPr>
            <a:spLocks noGrp="1"/>
          </p:cNvSpPr>
          <p:nvPr>
            <p:ph type="sldNum" sz="quarter" idx="5"/>
          </p:nvPr>
        </p:nvSpPr>
        <p:spPr/>
        <p:txBody>
          <a:bodyPr/>
          <a:lstStyle/>
          <a:p>
            <a:fld id="{194F9080-C9D5-43B2-99BC-07807BB32E59}" type="slidenum">
              <a:rPr lang="fr-FR" smtClean="0"/>
              <a:t>6</a:t>
            </a:fld>
            <a:endParaRPr lang="fr-FR"/>
          </a:p>
        </p:txBody>
      </p:sp>
    </p:spTree>
    <p:extLst>
      <p:ext uri="{BB962C8B-B14F-4D97-AF65-F5344CB8AC3E}">
        <p14:creationId xmlns:p14="http://schemas.microsoft.com/office/powerpoint/2010/main" val="21395876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Cette variable mesure la capacité de production de viande de volaille d’un pays</a:t>
            </a:r>
          </a:p>
        </p:txBody>
      </p:sp>
      <p:sp>
        <p:nvSpPr>
          <p:cNvPr id="4" name="Espace réservé du numéro de diapositive 3"/>
          <p:cNvSpPr>
            <a:spLocks noGrp="1"/>
          </p:cNvSpPr>
          <p:nvPr>
            <p:ph type="sldNum" sz="quarter" idx="5"/>
          </p:nvPr>
        </p:nvSpPr>
        <p:spPr/>
        <p:txBody>
          <a:bodyPr/>
          <a:lstStyle/>
          <a:p>
            <a:fld id="{194F9080-C9D5-43B2-99BC-07807BB32E59}" type="slidenum">
              <a:rPr lang="fr-FR" smtClean="0"/>
              <a:t>7</a:t>
            </a:fld>
            <a:endParaRPr lang="fr-FR"/>
          </a:p>
        </p:txBody>
      </p:sp>
    </p:spTree>
    <p:extLst>
      <p:ext uri="{BB962C8B-B14F-4D97-AF65-F5344CB8AC3E}">
        <p14:creationId xmlns:p14="http://schemas.microsoft.com/office/powerpoint/2010/main" val="31932409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Cette variable mesure le taux d’urbanisation d’un pays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Elle permet d’identifier les pays où la demande est plus forte et plus accessible, car les populations urbaines consomment généralement davantage et sont plus faciles à desservir.</a:t>
            </a:r>
          </a:p>
        </p:txBody>
      </p:sp>
      <p:sp>
        <p:nvSpPr>
          <p:cNvPr id="4" name="Espace réservé du numéro de diapositive 3"/>
          <p:cNvSpPr>
            <a:spLocks noGrp="1"/>
          </p:cNvSpPr>
          <p:nvPr>
            <p:ph type="sldNum" sz="quarter" idx="5"/>
          </p:nvPr>
        </p:nvSpPr>
        <p:spPr/>
        <p:txBody>
          <a:bodyPr/>
          <a:lstStyle/>
          <a:p>
            <a:fld id="{194F9080-C9D5-43B2-99BC-07807BB32E59}" type="slidenum">
              <a:rPr lang="fr-FR" smtClean="0"/>
              <a:t>8</a:t>
            </a:fld>
            <a:endParaRPr lang="fr-FR"/>
          </a:p>
        </p:txBody>
      </p:sp>
    </p:spTree>
    <p:extLst>
      <p:ext uri="{BB962C8B-B14F-4D97-AF65-F5344CB8AC3E}">
        <p14:creationId xmlns:p14="http://schemas.microsoft.com/office/powerpoint/2010/main" val="42338919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Les importations de volaille sont concentrées dans plusieurs pays fortement dépendants</a:t>
            </a:r>
          </a:p>
        </p:txBody>
      </p:sp>
      <p:sp>
        <p:nvSpPr>
          <p:cNvPr id="4" name="Espace réservé du numéro de diapositive 3"/>
          <p:cNvSpPr>
            <a:spLocks noGrp="1"/>
          </p:cNvSpPr>
          <p:nvPr>
            <p:ph type="sldNum" sz="quarter" idx="5"/>
          </p:nvPr>
        </p:nvSpPr>
        <p:spPr/>
        <p:txBody>
          <a:bodyPr/>
          <a:lstStyle/>
          <a:p>
            <a:fld id="{194F9080-C9D5-43B2-99BC-07807BB32E59}" type="slidenum">
              <a:rPr lang="fr-FR" smtClean="0"/>
              <a:t>9</a:t>
            </a:fld>
            <a:endParaRPr lang="fr-FR"/>
          </a:p>
        </p:txBody>
      </p:sp>
    </p:spTree>
    <p:extLst>
      <p:ext uri="{BB962C8B-B14F-4D97-AF65-F5344CB8AC3E}">
        <p14:creationId xmlns:p14="http://schemas.microsoft.com/office/powerpoint/2010/main" val="12912995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La consommation de volaille est particulièrement élevée dans certains pays, la moyenne étant à 18,93 Kg/an/personne</a:t>
            </a:r>
          </a:p>
        </p:txBody>
      </p:sp>
      <p:sp>
        <p:nvSpPr>
          <p:cNvPr id="4" name="Espace réservé du numéro de diapositive 3"/>
          <p:cNvSpPr>
            <a:spLocks noGrp="1"/>
          </p:cNvSpPr>
          <p:nvPr>
            <p:ph type="sldNum" sz="quarter" idx="5"/>
          </p:nvPr>
        </p:nvSpPr>
        <p:spPr/>
        <p:txBody>
          <a:bodyPr/>
          <a:lstStyle/>
          <a:p>
            <a:fld id="{194F9080-C9D5-43B2-99BC-07807BB32E59}" type="slidenum">
              <a:rPr lang="fr-FR" smtClean="0"/>
              <a:t>10</a:t>
            </a:fld>
            <a:endParaRPr lang="fr-FR"/>
          </a:p>
        </p:txBody>
      </p:sp>
    </p:spTree>
    <p:extLst>
      <p:ext uri="{BB962C8B-B14F-4D97-AF65-F5344CB8AC3E}">
        <p14:creationId xmlns:p14="http://schemas.microsoft.com/office/powerpoint/2010/main" val="23209279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effectLst/>
                <a:latin typeface="+mn-lt"/>
                <a:ea typeface="+mn-ea"/>
                <a:cs typeface="+mn-cs"/>
              </a:rPr>
              <a:t>Rappel : </a:t>
            </a:r>
            <a:r>
              <a:rPr lang="fr-FR" sz="1200" b="0" i="0" kern="1200" dirty="0">
                <a:solidFill>
                  <a:schemeClr val="tx1"/>
                </a:solidFill>
                <a:effectLst/>
                <a:latin typeface="+mn-lt"/>
                <a:ea typeface="+mn-ea"/>
                <a:cs typeface="+mn-cs"/>
              </a:rPr>
              <a:t>Toute valeur de l'échantillon inférieure à Q1 – 1,5 EI (écart interquartile) ou supérieure à Q3 + 1,5 EI est à considérer comme aberrante (</a:t>
            </a:r>
            <a:r>
              <a:rPr lang="fr-FR" sz="1200" b="0" i="0" kern="1200" dirty="0" err="1">
                <a:solidFill>
                  <a:schemeClr val="tx1"/>
                </a:solidFill>
                <a:effectLst/>
                <a:latin typeface="+mn-lt"/>
                <a:ea typeface="+mn-ea"/>
                <a:cs typeface="+mn-cs"/>
              </a:rPr>
              <a:t>Outliers</a:t>
            </a:r>
            <a:r>
              <a:rPr lang="fr-FR" sz="1200" b="0" i="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effectLst/>
                <a:latin typeface="+mn-lt"/>
                <a:ea typeface="+mn-ea"/>
                <a:cs typeface="+mn-cs"/>
              </a:rPr>
              <a:t>on retrouve la belgique, on explique le fait que ce soit un </a:t>
            </a:r>
            <a:r>
              <a:rPr lang="fr-FR" sz="1200" b="0" kern="1200" dirty="0" err="1">
                <a:solidFill>
                  <a:schemeClr val="tx1"/>
                </a:solidFill>
                <a:effectLst/>
                <a:latin typeface="+mn-lt"/>
                <a:ea typeface="+mn-ea"/>
                <a:cs typeface="+mn-cs"/>
              </a:rPr>
              <a:t>outlier</a:t>
            </a:r>
            <a:r>
              <a:rPr lang="fr-FR" sz="1200" b="0" kern="1200" dirty="0">
                <a:solidFill>
                  <a:schemeClr val="tx1"/>
                </a:solidFill>
                <a:effectLst/>
                <a:latin typeface="+mn-lt"/>
                <a:ea typeface="+mn-ea"/>
                <a:cs typeface="+mn-cs"/>
              </a:rPr>
              <a:t> dans les deux car c'est un hub commercial, elle produit et importe beaucoup mais exporte aussi beaucoup (6X plus)</a:t>
            </a:r>
          </a:p>
          <a:p>
            <a:endParaRPr lang="fr-FR" dirty="0"/>
          </a:p>
          <a:p>
            <a:r>
              <a:rPr lang="fr-FR" sz="1200" b="0" kern="1200" dirty="0">
                <a:solidFill>
                  <a:schemeClr val="tx1"/>
                </a:solidFill>
                <a:effectLst/>
                <a:latin typeface="+mn-lt"/>
                <a:ea typeface="+mn-ea"/>
                <a:cs typeface="+mn-cs"/>
              </a:rPr>
              <a:t>Pour ce qui est de </a:t>
            </a:r>
            <a:r>
              <a:rPr lang="fr-FR" sz="1200" b="0" kern="1200" dirty="0" err="1">
                <a:solidFill>
                  <a:schemeClr val="tx1"/>
                </a:solidFill>
                <a:effectLst/>
                <a:latin typeface="+mn-lt"/>
                <a:ea typeface="+mn-ea"/>
                <a:cs typeface="+mn-cs"/>
              </a:rPr>
              <a:t>hong-kong</a:t>
            </a:r>
            <a:r>
              <a:rPr lang="fr-FR" sz="1200" b="0" kern="1200" dirty="0">
                <a:solidFill>
                  <a:schemeClr val="tx1"/>
                </a:solidFill>
                <a:effectLst/>
                <a:latin typeface="+mn-lt"/>
                <a:ea typeface="+mn-ea"/>
                <a:cs typeface="+mn-cs"/>
              </a:rPr>
              <a:t>, c'est une ville elle produit donc assez peu et importe beaucoup ce qui est logique</a:t>
            </a:r>
          </a:p>
          <a:p>
            <a:r>
              <a:rPr lang="fr-FR" sz="1200" b="0" kern="1200" dirty="0">
                <a:solidFill>
                  <a:schemeClr val="tx1"/>
                </a:solidFill>
                <a:effectLst/>
                <a:latin typeface="+mn-lt"/>
                <a:ea typeface="+mn-ea"/>
                <a:cs typeface="+mn-cs"/>
              </a:rPr>
              <a:t>Les autres pays ayant une valeur très faible on tout simplement une production très faible de volailles</a:t>
            </a:r>
          </a:p>
          <a:p>
            <a:endParaRPr lang="fr-FR" dirty="0"/>
          </a:p>
        </p:txBody>
      </p:sp>
      <p:sp>
        <p:nvSpPr>
          <p:cNvPr id="4" name="Espace réservé du numéro de diapositive 3"/>
          <p:cNvSpPr>
            <a:spLocks noGrp="1"/>
          </p:cNvSpPr>
          <p:nvPr>
            <p:ph type="sldNum" sz="quarter" idx="5"/>
          </p:nvPr>
        </p:nvSpPr>
        <p:spPr/>
        <p:txBody>
          <a:bodyPr/>
          <a:lstStyle/>
          <a:p>
            <a:fld id="{194F9080-C9D5-43B2-99BC-07807BB32E59}" type="slidenum">
              <a:rPr lang="fr-FR" smtClean="0"/>
              <a:t>11</a:t>
            </a:fld>
            <a:endParaRPr lang="fr-FR"/>
          </a:p>
        </p:txBody>
      </p:sp>
    </p:spTree>
    <p:extLst>
      <p:ext uri="{BB962C8B-B14F-4D97-AF65-F5344CB8AC3E}">
        <p14:creationId xmlns:p14="http://schemas.microsoft.com/office/powerpoint/2010/main" val="17372835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Il existe une corrélation positive significative entre le niveau d’infrastructure et la consommation, indiquant que les pays les mieux développés consomment davantage</a:t>
            </a:r>
          </a:p>
        </p:txBody>
      </p:sp>
      <p:sp>
        <p:nvSpPr>
          <p:cNvPr id="4" name="Espace réservé du numéro de diapositive 3"/>
          <p:cNvSpPr>
            <a:spLocks noGrp="1"/>
          </p:cNvSpPr>
          <p:nvPr>
            <p:ph type="sldNum" sz="quarter" idx="5"/>
          </p:nvPr>
        </p:nvSpPr>
        <p:spPr/>
        <p:txBody>
          <a:bodyPr/>
          <a:lstStyle/>
          <a:p>
            <a:fld id="{194F9080-C9D5-43B2-99BC-07807BB32E59}" type="slidenum">
              <a:rPr lang="fr-FR" smtClean="0"/>
              <a:t>12</a:t>
            </a:fld>
            <a:endParaRPr lang="fr-FR"/>
          </a:p>
        </p:txBody>
      </p:sp>
    </p:spTree>
    <p:extLst>
      <p:ext uri="{BB962C8B-B14F-4D97-AF65-F5344CB8AC3E}">
        <p14:creationId xmlns:p14="http://schemas.microsoft.com/office/powerpoint/2010/main" val="18718874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Il existe une corrélation positive significative entre le taux d’urbanisation et la consommation, indiquant que les pays plus urbanisés consomment davantage</a:t>
            </a:r>
          </a:p>
        </p:txBody>
      </p:sp>
      <p:sp>
        <p:nvSpPr>
          <p:cNvPr id="4" name="Espace réservé du numéro de diapositive 3"/>
          <p:cNvSpPr>
            <a:spLocks noGrp="1"/>
          </p:cNvSpPr>
          <p:nvPr>
            <p:ph type="sldNum" sz="quarter" idx="5"/>
          </p:nvPr>
        </p:nvSpPr>
        <p:spPr/>
        <p:txBody>
          <a:bodyPr/>
          <a:lstStyle/>
          <a:p>
            <a:fld id="{194F9080-C9D5-43B2-99BC-07807BB32E59}" type="slidenum">
              <a:rPr lang="fr-FR" smtClean="0"/>
              <a:t>13</a:t>
            </a:fld>
            <a:endParaRPr lang="fr-FR"/>
          </a:p>
        </p:txBody>
      </p:sp>
    </p:spTree>
    <p:extLst>
      <p:ext uri="{BB962C8B-B14F-4D97-AF65-F5344CB8AC3E}">
        <p14:creationId xmlns:p14="http://schemas.microsoft.com/office/powerpoint/2010/main" val="33766006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La matrice de corrélation met en évidence plusieurs relations significatives entre les variables : les variables liées au développement (PIB, infrastructure, stabilité politique et urbanisation) sont fortement corrélées entre elles et également liées à une consommation plus élevée</a:t>
            </a:r>
          </a:p>
          <a:p>
            <a:endParaRPr lang="fr-FR" dirty="0"/>
          </a:p>
          <a:p>
            <a:r>
              <a:rPr lang="fr-FR" dirty="0"/>
              <a:t>Certaines variables fortement corrélées, comme la production et la disponibilité intérieure, apportent une information redondante. Afin d’éviter un biais dans l’analyse et de simplifier le modèle, il est pertinent d’en conserver une seule</a:t>
            </a:r>
          </a:p>
          <a:p>
            <a:endParaRPr lang="fr-FR" dirty="0"/>
          </a:p>
          <a:p>
            <a:r>
              <a:rPr lang="fr-FR" dirty="0"/>
              <a:t>Après avoir fait toutes ces analyses j’ai créé un fichier final que j’ai utilisé pour l’ACP et ou j’ai supprimé les colonnes Production / Importations / Disponibilité intérieure et Population urbaine car soit trop corrélé à d’autres variables soit utilisées dans le calcul d’autres variables comme l’autosuffisance</a:t>
            </a:r>
          </a:p>
        </p:txBody>
      </p:sp>
      <p:sp>
        <p:nvSpPr>
          <p:cNvPr id="4" name="Espace réservé du numéro de diapositive 3"/>
          <p:cNvSpPr>
            <a:spLocks noGrp="1"/>
          </p:cNvSpPr>
          <p:nvPr>
            <p:ph type="sldNum" sz="quarter" idx="5"/>
          </p:nvPr>
        </p:nvSpPr>
        <p:spPr/>
        <p:txBody>
          <a:bodyPr/>
          <a:lstStyle/>
          <a:p>
            <a:fld id="{194F9080-C9D5-43B2-99BC-07807BB32E59}" type="slidenum">
              <a:rPr lang="fr-FR" smtClean="0"/>
              <a:t>14</a:t>
            </a:fld>
            <a:endParaRPr lang="fr-FR"/>
          </a:p>
        </p:txBody>
      </p:sp>
    </p:spTree>
    <p:extLst>
      <p:ext uri="{BB962C8B-B14F-4D97-AF65-F5344CB8AC3E}">
        <p14:creationId xmlns:p14="http://schemas.microsoft.com/office/powerpoint/2010/main" val="834846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07DF6-655D-F71B-9EA2-CB4EB0F5589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B20FB48-80CE-C34A-8C48-BDB25DE09B9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0E647D0-3A4B-D292-66F8-C5A6686DA71A}"/>
              </a:ext>
            </a:extLst>
          </p:cNvPr>
          <p:cNvSpPr>
            <a:spLocks noGrp="1"/>
          </p:cNvSpPr>
          <p:nvPr>
            <p:ph type="body" idx="1"/>
          </p:nvPr>
        </p:nvSpPr>
        <p:spPr/>
        <p:txBody>
          <a:bodyPr/>
          <a:lstStyle/>
          <a:p>
            <a:r>
              <a:rPr lang="fr-FR" dirty="0"/>
              <a:t>Le graphique de l’éboulis des valeurs propres montre que les trois premiers axes expliquent environ 68 % de l’inertie totale. Il est donc pertinent de retenir 3 axes, car ils permettent une bonne synthèse de l’information tout en restant interprétables</a:t>
            </a:r>
          </a:p>
        </p:txBody>
      </p:sp>
      <p:sp>
        <p:nvSpPr>
          <p:cNvPr id="4" name="Espace réservé du numéro de diapositive 3">
            <a:extLst>
              <a:ext uri="{FF2B5EF4-FFF2-40B4-BE49-F238E27FC236}">
                <a16:creationId xmlns:a16="http://schemas.microsoft.com/office/drawing/2014/main" id="{F5EBB83B-0D9D-7624-9033-8BDA81707204}"/>
              </a:ext>
            </a:extLst>
          </p:cNvPr>
          <p:cNvSpPr>
            <a:spLocks noGrp="1"/>
          </p:cNvSpPr>
          <p:nvPr>
            <p:ph type="sldNum" sz="quarter" idx="5"/>
          </p:nvPr>
        </p:nvSpPr>
        <p:spPr/>
        <p:txBody>
          <a:bodyPr/>
          <a:lstStyle/>
          <a:p>
            <a:fld id="{194F9080-C9D5-43B2-99BC-07807BB32E59}" type="slidenum">
              <a:rPr lang="fr-FR" smtClean="0"/>
              <a:t>15</a:t>
            </a:fld>
            <a:endParaRPr lang="fr-FR"/>
          </a:p>
        </p:txBody>
      </p:sp>
    </p:spTree>
    <p:extLst>
      <p:ext uri="{BB962C8B-B14F-4D97-AF65-F5344CB8AC3E}">
        <p14:creationId xmlns:p14="http://schemas.microsoft.com/office/powerpoint/2010/main" val="28728826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 que l’on peut en déduire :</a:t>
            </a:r>
          </a:p>
          <a:p>
            <a:endParaRPr lang="fr-FR"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fr-FR" dirty="0"/>
              <a:t>F1 : </a:t>
            </a:r>
            <a:r>
              <a:rPr lang="fr-FR" sz="1200" b="0" kern="1200" dirty="0">
                <a:solidFill>
                  <a:schemeClr val="tx1"/>
                </a:solidFill>
                <a:effectLst/>
                <a:latin typeface="+mn-lt"/>
                <a:ea typeface="+mn-ea"/>
                <a:cs typeface="+mn-cs"/>
              </a:rPr>
              <a:t>Axe de développement économique et structurel</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fr-FR" sz="1200" b="0" kern="1200" dirty="0">
                <a:solidFill>
                  <a:schemeClr val="tx1"/>
                </a:solidFill>
                <a:effectLst/>
                <a:latin typeface="+mn-lt"/>
                <a:ea typeface="+mn-ea"/>
                <a:cs typeface="+mn-cs"/>
              </a:rPr>
              <a:t>Composantes principales : (PIB + infrastructure + urbanisation)</a:t>
            </a:r>
          </a:p>
          <a:p>
            <a:endParaRPr lang="fr-FR"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fr-FR" dirty="0"/>
              <a:t>F2 : </a:t>
            </a:r>
            <a:r>
              <a:rPr lang="fr-FR" sz="1200" b="0" kern="1200" dirty="0">
                <a:solidFill>
                  <a:schemeClr val="tx1"/>
                </a:solidFill>
                <a:effectLst/>
                <a:latin typeface="+mn-lt"/>
                <a:ea typeface="+mn-ea"/>
                <a:cs typeface="+mn-cs"/>
              </a:rPr>
              <a:t>Axe autosuffisance vs dépendance importations</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fr-FR" sz="1200" b="0" kern="1200" dirty="0">
                <a:solidFill>
                  <a:schemeClr val="tx1"/>
                </a:solidFill>
                <a:effectLst/>
                <a:latin typeface="+mn-lt"/>
                <a:ea typeface="+mn-ea"/>
                <a:cs typeface="+mn-cs"/>
              </a:rPr>
              <a:t>Composantes principales : (Autosuffisance et Dépendance aux importations)</a:t>
            </a:r>
          </a:p>
          <a:p>
            <a:endParaRPr lang="fr-FR"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fr-FR" dirty="0"/>
              <a:t>F3 : </a:t>
            </a:r>
            <a:r>
              <a:rPr lang="fr-FR" sz="1200" b="0" kern="1200" dirty="0">
                <a:solidFill>
                  <a:schemeClr val="tx1"/>
                </a:solidFill>
                <a:effectLst/>
                <a:latin typeface="+mn-lt"/>
                <a:ea typeface="+mn-ea"/>
                <a:cs typeface="+mn-cs"/>
              </a:rPr>
              <a:t>Axe sur la </a:t>
            </a:r>
            <a:r>
              <a:rPr lang="fr-FR" dirty="0"/>
              <a:t>taille du marché et les flux commerciaux</a:t>
            </a:r>
            <a:endParaRPr lang="fr-FR" sz="1200" b="0" kern="1200" dirty="0">
              <a:solidFill>
                <a:schemeClr val="tx1"/>
              </a:solidFill>
              <a:effectLst/>
              <a:latin typeface="+mn-lt"/>
              <a:ea typeface="+mn-ea"/>
              <a:cs typeface="+mn-cs"/>
            </a:endParaRP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fr-FR" sz="1200" b="0" kern="1200" dirty="0">
                <a:solidFill>
                  <a:schemeClr val="tx1"/>
                </a:solidFill>
                <a:effectLst/>
                <a:latin typeface="+mn-lt"/>
                <a:ea typeface="+mn-ea"/>
                <a:cs typeface="+mn-cs"/>
              </a:rPr>
              <a:t>Composantes principales : (Population, exportation, importation)</a:t>
            </a:r>
          </a:p>
          <a:p>
            <a:pPr marL="628650" marR="0" lvl="1" indent="-171450" algn="l" defTabSz="914400" rtl="0" eaLnBrk="1" fontAlgn="auto" latinLnBrk="0" hangingPunct="1">
              <a:lnSpc>
                <a:spcPct val="100000"/>
              </a:lnSpc>
              <a:spcBef>
                <a:spcPts val="0"/>
              </a:spcBef>
              <a:spcAft>
                <a:spcPts val="0"/>
              </a:spcAft>
              <a:buClrTx/>
              <a:buSzTx/>
              <a:buFontTx/>
              <a:buChar char="-"/>
              <a:tabLst/>
              <a:defRPr/>
            </a:pPr>
            <a:endParaRPr lang="fr-FR" sz="1200" b="0" kern="1200" dirty="0">
              <a:solidFill>
                <a:schemeClr val="tx1"/>
              </a:solidFill>
              <a:effectLst/>
              <a:latin typeface="+mn-lt"/>
              <a:ea typeface="+mn-ea"/>
              <a:cs typeface="+mn-cs"/>
            </a:endParaRPr>
          </a:p>
          <a:p>
            <a:pPr marL="628650" marR="0" lvl="1" indent="-171450" algn="l" defTabSz="914400" rtl="0" eaLnBrk="1" fontAlgn="auto" latinLnBrk="0" hangingPunct="1">
              <a:lnSpc>
                <a:spcPct val="100000"/>
              </a:lnSpc>
              <a:spcBef>
                <a:spcPts val="0"/>
              </a:spcBef>
              <a:spcAft>
                <a:spcPts val="0"/>
              </a:spcAft>
              <a:buClrTx/>
              <a:buSzTx/>
              <a:buFontTx/>
              <a:buChar char="-"/>
              <a:tabLst/>
              <a:defRPr/>
            </a:pPr>
            <a:endParaRPr lang="fr-FR" sz="1200" b="0" kern="1200" dirty="0">
              <a:solidFill>
                <a:schemeClr val="tx1"/>
              </a:solidFill>
              <a:effectLst/>
              <a:latin typeface="+mn-lt"/>
              <a:ea typeface="+mn-ea"/>
              <a:cs typeface="+mn-cs"/>
            </a:endParaRPr>
          </a:p>
          <a:p>
            <a:endParaRPr lang="fr-FR" dirty="0"/>
          </a:p>
          <a:p>
            <a:endParaRPr lang="fr-FR" dirty="0"/>
          </a:p>
          <a:p>
            <a:endParaRPr lang="fr-FR" dirty="0"/>
          </a:p>
          <a:p>
            <a:endParaRPr lang="fr-FR" dirty="0"/>
          </a:p>
        </p:txBody>
      </p:sp>
      <p:sp>
        <p:nvSpPr>
          <p:cNvPr id="4" name="Espace réservé du numéro de diapositive 3"/>
          <p:cNvSpPr>
            <a:spLocks noGrp="1"/>
          </p:cNvSpPr>
          <p:nvPr>
            <p:ph type="sldNum" sz="quarter" idx="5"/>
          </p:nvPr>
        </p:nvSpPr>
        <p:spPr/>
        <p:txBody>
          <a:bodyPr/>
          <a:lstStyle/>
          <a:p>
            <a:fld id="{194F9080-C9D5-43B2-99BC-07807BB32E59}" type="slidenum">
              <a:rPr lang="fr-FR" smtClean="0"/>
              <a:t>16</a:t>
            </a:fld>
            <a:endParaRPr lang="fr-FR"/>
          </a:p>
        </p:txBody>
      </p:sp>
    </p:spTree>
    <p:extLst>
      <p:ext uri="{BB962C8B-B14F-4D97-AF65-F5344CB8AC3E}">
        <p14:creationId xmlns:p14="http://schemas.microsoft.com/office/powerpoint/2010/main" val="19907218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CD9E5-CFF3-709F-5465-6E7D6FDC408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BB94BC0-CE75-E349-6624-18761465680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4FCCA2A-B485-6572-C4BC-B2C9DA717165}"/>
              </a:ext>
            </a:extLst>
          </p:cNvPr>
          <p:cNvSpPr>
            <a:spLocks noGrp="1"/>
          </p:cNvSpPr>
          <p:nvPr>
            <p:ph type="body" idx="1"/>
          </p:nvPr>
        </p:nvSpPr>
        <p:spPr/>
        <p:txBody>
          <a:bodyPr/>
          <a:lstStyle/>
          <a:p>
            <a:r>
              <a:rPr lang="fr-FR" dirty="0"/>
              <a:t>Ce que l’on peut en déduire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F1 correspond au niveau de développement, tandis que F2 oppose les pays autosuffisants et exportateurs aux pays dépendants des importations</a:t>
            </a:r>
          </a:p>
        </p:txBody>
      </p:sp>
      <p:sp>
        <p:nvSpPr>
          <p:cNvPr id="4" name="Espace réservé du numéro de diapositive 3">
            <a:extLst>
              <a:ext uri="{FF2B5EF4-FFF2-40B4-BE49-F238E27FC236}">
                <a16:creationId xmlns:a16="http://schemas.microsoft.com/office/drawing/2014/main" id="{3EF4BA99-BD5E-BDD4-3F51-67AC0608FD06}"/>
              </a:ext>
            </a:extLst>
          </p:cNvPr>
          <p:cNvSpPr>
            <a:spLocks noGrp="1"/>
          </p:cNvSpPr>
          <p:nvPr>
            <p:ph type="sldNum" sz="quarter" idx="5"/>
          </p:nvPr>
        </p:nvSpPr>
        <p:spPr/>
        <p:txBody>
          <a:bodyPr/>
          <a:lstStyle/>
          <a:p>
            <a:fld id="{194F9080-C9D5-43B2-99BC-07807BB32E59}" type="slidenum">
              <a:rPr lang="fr-FR" smtClean="0"/>
              <a:t>17</a:t>
            </a:fld>
            <a:endParaRPr lang="fr-FR"/>
          </a:p>
        </p:txBody>
      </p:sp>
    </p:spTree>
    <p:extLst>
      <p:ext uri="{BB962C8B-B14F-4D97-AF65-F5344CB8AC3E}">
        <p14:creationId xmlns:p14="http://schemas.microsoft.com/office/powerpoint/2010/main" val="28489342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37E8B-4706-CA9B-2695-2D90EE404F3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113077F-16DC-FD29-4C90-F255E279662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9CC1E4E-0416-1020-8A7A-D294037A9BC4}"/>
              </a:ext>
            </a:extLst>
          </p:cNvPr>
          <p:cNvSpPr>
            <a:spLocks noGrp="1"/>
          </p:cNvSpPr>
          <p:nvPr>
            <p:ph type="body" idx="1"/>
          </p:nvPr>
        </p:nvSpPr>
        <p:spPr/>
        <p:txBody>
          <a:bodyPr/>
          <a:lstStyle/>
          <a:p>
            <a:r>
              <a:rPr lang="fr-FR" dirty="0"/>
              <a:t>Les pays qui nous intéressent se situent comme on peut le voir en bas à droite, c’est les pays développés qui sont dépendants des importations de volailles.</a:t>
            </a:r>
          </a:p>
        </p:txBody>
      </p:sp>
      <p:sp>
        <p:nvSpPr>
          <p:cNvPr id="4" name="Espace réservé du numéro de diapositive 3">
            <a:extLst>
              <a:ext uri="{FF2B5EF4-FFF2-40B4-BE49-F238E27FC236}">
                <a16:creationId xmlns:a16="http://schemas.microsoft.com/office/drawing/2014/main" id="{819E76E5-4C33-F4C8-9554-3AEAA7D0C992}"/>
              </a:ext>
            </a:extLst>
          </p:cNvPr>
          <p:cNvSpPr>
            <a:spLocks noGrp="1"/>
          </p:cNvSpPr>
          <p:nvPr>
            <p:ph type="sldNum" sz="quarter" idx="5"/>
          </p:nvPr>
        </p:nvSpPr>
        <p:spPr/>
        <p:txBody>
          <a:bodyPr/>
          <a:lstStyle/>
          <a:p>
            <a:fld id="{194F9080-C9D5-43B2-99BC-07807BB32E59}" type="slidenum">
              <a:rPr lang="fr-FR" smtClean="0"/>
              <a:t>18</a:t>
            </a:fld>
            <a:endParaRPr lang="fr-FR"/>
          </a:p>
        </p:txBody>
      </p:sp>
    </p:spTree>
    <p:extLst>
      <p:ext uri="{BB962C8B-B14F-4D97-AF65-F5344CB8AC3E}">
        <p14:creationId xmlns:p14="http://schemas.microsoft.com/office/powerpoint/2010/main" val="16204990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D6732-16F5-E21D-B077-1D021A0918B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80AC980-2E3E-D1C9-4D45-78528A98653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AA7C490-31AC-BD64-7A78-38CAC71F0B1D}"/>
              </a:ext>
            </a:extLst>
          </p:cNvPr>
          <p:cNvSpPr>
            <a:spLocks noGrp="1"/>
          </p:cNvSpPr>
          <p:nvPr>
            <p:ph type="body" idx="1"/>
          </p:nvPr>
        </p:nvSpPr>
        <p:spPr/>
        <p:txBody>
          <a:bodyPr/>
          <a:lstStyle/>
          <a:p>
            <a:r>
              <a:rPr lang="fr-FR" dirty="0"/>
              <a:t>1- On sélectionne seulement les pays développés : F1&gt;0 et les pays dépendants des imports : F2 &lt;0 ainsi qu’ayant une stabilité positive</a:t>
            </a:r>
          </a:p>
          <a:p>
            <a:r>
              <a:rPr lang="fr-FR" dirty="0"/>
              <a:t>2- On calcul un score basé sur F1(30%) et F2(20%) mais aussi sur la consommation(20%), la population, le PIB par habitant et la stabilité (10% chacun)</a:t>
            </a:r>
          </a:p>
        </p:txBody>
      </p:sp>
      <p:sp>
        <p:nvSpPr>
          <p:cNvPr id="4" name="Espace réservé du numéro de diapositive 3">
            <a:extLst>
              <a:ext uri="{FF2B5EF4-FFF2-40B4-BE49-F238E27FC236}">
                <a16:creationId xmlns:a16="http://schemas.microsoft.com/office/drawing/2014/main" id="{D10D6BA1-BE4C-B2D5-302C-2DD575CCAB6A}"/>
              </a:ext>
            </a:extLst>
          </p:cNvPr>
          <p:cNvSpPr>
            <a:spLocks noGrp="1"/>
          </p:cNvSpPr>
          <p:nvPr>
            <p:ph type="sldNum" sz="quarter" idx="5"/>
          </p:nvPr>
        </p:nvSpPr>
        <p:spPr/>
        <p:txBody>
          <a:bodyPr/>
          <a:lstStyle/>
          <a:p>
            <a:fld id="{194F9080-C9D5-43B2-99BC-07807BB32E59}" type="slidenum">
              <a:rPr lang="fr-FR" smtClean="0"/>
              <a:t>19</a:t>
            </a:fld>
            <a:endParaRPr lang="fr-FR"/>
          </a:p>
        </p:txBody>
      </p:sp>
    </p:spTree>
    <p:extLst>
      <p:ext uri="{BB962C8B-B14F-4D97-AF65-F5344CB8AC3E}">
        <p14:creationId xmlns:p14="http://schemas.microsoft.com/office/powerpoint/2010/main" val="39913957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6EE71-6608-E1C6-2998-18A05926AFE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9068CDD-2FCD-3BCA-67F2-79A5DF0FFC2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CED61D8-B76D-7154-3327-3DBDE79FB72F}"/>
              </a:ext>
            </a:extLst>
          </p:cNvPr>
          <p:cNvSpPr>
            <a:spLocks noGrp="1"/>
          </p:cNvSpPr>
          <p:nvPr>
            <p:ph type="body" idx="1"/>
          </p:nvPr>
        </p:nvSpPr>
        <p:spPr/>
        <p:txBody>
          <a:bodyPr/>
          <a:lstStyle/>
          <a:p>
            <a:r>
              <a:rPr lang="fr-FR" dirty="0"/>
              <a:t>Le dendrogramme montre une séparation nette en deux grands groupes, mais une segmentation en 3 ou 4 clusters est plus pertinente pour capturer la diversité des profils.</a:t>
            </a:r>
          </a:p>
        </p:txBody>
      </p:sp>
      <p:sp>
        <p:nvSpPr>
          <p:cNvPr id="4" name="Espace réservé du numéro de diapositive 3">
            <a:extLst>
              <a:ext uri="{FF2B5EF4-FFF2-40B4-BE49-F238E27FC236}">
                <a16:creationId xmlns:a16="http://schemas.microsoft.com/office/drawing/2014/main" id="{08420594-864A-66EE-FE51-2DAFA609F4AF}"/>
              </a:ext>
            </a:extLst>
          </p:cNvPr>
          <p:cNvSpPr>
            <a:spLocks noGrp="1"/>
          </p:cNvSpPr>
          <p:nvPr>
            <p:ph type="sldNum" sz="quarter" idx="5"/>
          </p:nvPr>
        </p:nvSpPr>
        <p:spPr/>
        <p:txBody>
          <a:bodyPr/>
          <a:lstStyle/>
          <a:p>
            <a:fld id="{194F9080-C9D5-43B2-99BC-07807BB32E59}" type="slidenum">
              <a:rPr lang="fr-FR" smtClean="0"/>
              <a:t>20</a:t>
            </a:fld>
            <a:endParaRPr lang="fr-FR"/>
          </a:p>
        </p:txBody>
      </p:sp>
    </p:spTree>
    <p:extLst>
      <p:ext uri="{BB962C8B-B14F-4D97-AF65-F5344CB8AC3E}">
        <p14:creationId xmlns:p14="http://schemas.microsoft.com/office/powerpoint/2010/main" val="18727483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52AA1-E0D4-1A08-5A90-9971E31E690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19B09E9-E97B-234B-B605-F3DF8D77D4C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60D5EBE-5728-E427-96C3-4CC84B9A1B2D}"/>
              </a:ext>
            </a:extLst>
          </p:cNvPr>
          <p:cNvSpPr>
            <a:spLocks noGrp="1"/>
          </p:cNvSpPr>
          <p:nvPr>
            <p:ph type="body" idx="1"/>
          </p:nvPr>
        </p:nvSpPr>
        <p:spPr/>
        <p:txBody>
          <a:bodyPr/>
          <a:lstStyle/>
          <a:p>
            <a:r>
              <a:rPr lang="fr-FR" dirty="0"/>
              <a:t>Clustering basé sur la CHA et sur les axes F1, F2 et F3 de l’ACP</a:t>
            </a:r>
          </a:p>
        </p:txBody>
      </p:sp>
      <p:sp>
        <p:nvSpPr>
          <p:cNvPr id="4" name="Espace réservé du numéro de diapositive 3">
            <a:extLst>
              <a:ext uri="{FF2B5EF4-FFF2-40B4-BE49-F238E27FC236}">
                <a16:creationId xmlns:a16="http://schemas.microsoft.com/office/drawing/2014/main" id="{F7B919B0-F708-EC11-FF64-DB6B2F2B0389}"/>
              </a:ext>
            </a:extLst>
          </p:cNvPr>
          <p:cNvSpPr>
            <a:spLocks noGrp="1"/>
          </p:cNvSpPr>
          <p:nvPr>
            <p:ph type="sldNum" sz="quarter" idx="5"/>
          </p:nvPr>
        </p:nvSpPr>
        <p:spPr/>
        <p:txBody>
          <a:bodyPr/>
          <a:lstStyle/>
          <a:p>
            <a:fld id="{194F9080-C9D5-43B2-99BC-07807BB32E59}" type="slidenum">
              <a:rPr lang="fr-FR" smtClean="0"/>
              <a:t>21</a:t>
            </a:fld>
            <a:endParaRPr lang="fr-FR"/>
          </a:p>
        </p:txBody>
      </p:sp>
    </p:spTree>
    <p:extLst>
      <p:ext uri="{BB962C8B-B14F-4D97-AF65-F5344CB8AC3E}">
        <p14:creationId xmlns:p14="http://schemas.microsoft.com/office/powerpoint/2010/main" val="5127754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B7B5D-4CBF-0828-99DE-CDA666CA74F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4921838-A64F-5C67-B9C5-5ECDC1E474F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3F52AB3-8DA8-72D0-0002-E0E0F39B776F}"/>
              </a:ext>
            </a:extLst>
          </p:cNvPr>
          <p:cNvSpPr>
            <a:spLocks noGrp="1"/>
          </p:cNvSpPr>
          <p:nvPr>
            <p:ph type="body" idx="1"/>
          </p:nvPr>
        </p:nvSpPr>
        <p:spPr/>
        <p:txBody>
          <a:bodyPr/>
          <a:lstStyle/>
          <a:p>
            <a:r>
              <a:rPr lang="fr-FR" dirty="0"/>
              <a:t>On a pris la décision de définir le k-</a:t>
            </a:r>
            <a:r>
              <a:rPr lang="fr-FR" dirty="0" err="1"/>
              <a:t>means</a:t>
            </a:r>
            <a:r>
              <a:rPr lang="fr-FR" dirty="0"/>
              <a:t> sur 3 clusters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Clustering basé sur </a:t>
            </a:r>
            <a:r>
              <a:rPr lang="fr-FR" dirty="0" err="1"/>
              <a:t>lae</a:t>
            </a:r>
            <a:r>
              <a:rPr lang="fr-FR" dirty="0"/>
              <a:t> K-</a:t>
            </a:r>
            <a:r>
              <a:rPr lang="fr-FR" dirty="0" err="1"/>
              <a:t>means</a:t>
            </a:r>
            <a:r>
              <a:rPr lang="fr-FR" dirty="0"/>
              <a:t> et sur les axes F1, F2 et F3 de l’ACP</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Cluster 0 = </a:t>
            </a:r>
            <a:r>
              <a:rPr lang="fr-FR" sz="1200" b="0" kern="1200" dirty="0">
                <a:solidFill>
                  <a:schemeClr val="tx1"/>
                </a:solidFill>
                <a:effectLst/>
                <a:latin typeface="+mn-lt"/>
                <a:ea typeface="+mn-ea"/>
                <a:cs typeface="+mn-cs"/>
              </a:rPr>
              <a:t>Pays développés structurés (marchés stables)</a:t>
            </a: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Cluster 1 = </a:t>
            </a:r>
            <a:r>
              <a:rPr lang="fr-FR" sz="1200" b="0" kern="1200" dirty="0">
                <a:solidFill>
                  <a:schemeClr val="tx1"/>
                </a:solidFill>
                <a:effectLst/>
                <a:latin typeface="+mn-lt"/>
                <a:ea typeface="+mn-ea"/>
                <a:cs typeface="+mn-cs"/>
              </a:rPr>
              <a:t>Pays fragiles / dépendants</a:t>
            </a:r>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Cluster 2 = </a:t>
            </a:r>
            <a:r>
              <a:rPr lang="fr-FR" sz="1200" b="0" kern="1200" dirty="0">
                <a:solidFill>
                  <a:schemeClr val="tx1"/>
                </a:solidFill>
                <a:effectLst/>
                <a:latin typeface="+mn-lt"/>
                <a:ea typeface="+mn-ea"/>
                <a:cs typeface="+mn-cs"/>
              </a:rPr>
              <a:t>Pays intermédiaires</a:t>
            </a:r>
            <a:endParaRPr lang="fr-FR" dirty="0"/>
          </a:p>
          <a:p>
            <a:endParaRPr lang="fr-FR" dirty="0"/>
          </a:p>
          <a:p>
            <a:endParaRPr lang="fr-FR" dirty="0"/>
          </a:p>
          <a:p>
            <a:r>
              <a:rPr lang="fr-FR" dirty="0"/>
              <a:t>La différence CHA / K-</a:t>
            </a:r>
            <a:r>
              <a:rPr lang="fr-FR" dirty="0" err="1"/>
              <a:t>means</a:t>
            </a:r>
            <a:r>
              <a:rPr lang="fr-FR" dirty="0"/>
              <a:t> :</a:t>
            </a:r>
          </a:p>
          <a:p>
            <a:r>
              <a:rPr lang="fr-FR" dirty="0"/>
              <a:t>La CAH met en évidence la structure naturelle des données mais est sensible aux valeurs extrêmes, tandis que le K-</a:t>
            </a:r>
            <a:r>
              <a:rPr lang="fr-FR" dirty="0" err="1"/>
              <a:t>means</a:t>
            </a:r>
            <a:r>
              <a:rPr lang="fr-FR" dirty="0"/>
              <a:t> forme des groupes plus homogènes en fixant un nombre de clusters, le k-</a:t>
            </a:r>
            <a:r>
              <a:rPr lang="fr-FR" dirty="0" err="1"/>
              <a:t>means</a:t>
            </a:r>
            <a:r>
              <a:rPr lang="fr-FR" dirty="0"/>
              <a:t> est crée autour d’un centroïde prédéfini.</a:t>
            </a:r>
          </a:p>
        </p:txBody>
      </p:sp>
      <p:sp>
        <p:nvSpPr>
          <p:cNvPr id="4" name="Espace réservé du numéro de diapositive 3">
            <a:extLst>
              <a:ext uri="{FF2B5EF4-FFF2-40B4-BE49-F238E27FC236}">
                <a16:creationId xmlns:a16="http://schemas.microsoft.com/office/drawing/2014/main" id="{893FF276-A9D2-505E-C324-4462757166E3}"/>
              </a:ext>
            </a:extLst>
          </p:cNvPr>
          <p:cNvSpPr>
            <a:spLocks noGrp="1"/>
          </p:cNvSpPr>
          <p:nvPr>
            <p:ph type="sldNum" sz="quarter" idx="5"/>
          </p:nvPr>
        </p:nvSpPr>
        <p:spPr/>
        <p:txBody>
          <a:bodyPr/>
          <a:lstStyle/>
          <a:p>
            <a:fld id="{194F9080-C9D5-43B2-99BC-07807BB32E59}" type="slidenum">
              <a:rPr lang="fr-FR" smtClean="0"/>
              <a:t>22</a:t>
            </a:fld>
            <a:endParaRPr lang="fr-FR"/>
          </a:p>
        </p:txBody>
      </p:sp>
    </p:spTree>
    <p:extLst>
      <p:ext uri="{BB962C8B-B14F-4D97-AF65-F5344CB8AC3E}">
        <p14:creationId xmlns:p14="http://schemas.microsoft.com/office/powerpoint/2010/main" val="40719605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E50A7-1DD5-4996-827E-97DF6B2FD73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1EFAB64-9271-634D-5022-E3B704F7842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898CCEB-F83E-058E-50D4-FDA731B6B4F2}"/>
              </a:ext>
            </a:extLst>
          </p:cNvPr>
          <p:cNvSpPr>
            <a:spLocks noGrp="1"/>
          </p:cNvSpPr>
          <p:nvPr>
            <p:ph type="body" idx="1"/>
          </p:nvPr>
        </p:nvSpPr>
        <p:spPr/>
        <p:txBody>
          <a:bodyPr/>
          <a:lstStyle/>
          <a:p>
            <a:r>
              <a:rPr lang="fr-FR" dirty="0"/>
              <a:t>Voici nos critères de filtrage pour trouver les pays qui sont intéressants pour l’exportation de nos poulets bio</a:t>
            </a:r>
          </a:p>
        </p:txBody>
      </p:sp>
      <p:sp>
        <p:nvSpPr>
          <p:cNvPr id="4" name="Espace réservé du numéro de diapositive 3">
            <a:extLst>
              <a:ext uri="{FF2B5EF4-FFF2-40B4-BE49-F238E27FC236}">
                <a16:creationId xmlns:a16="http://schemas.microsoft.com/office/drawing/2014/main" id="{FB0A8003-683C-B94A-F98D-2420D7E2827F}"/>
              </a:ext>
            </a:extLst>
          </p:cNvPr>
          <p:cNvSpPr>
            <a:spLocks noGrp="1"/>
          </p:cNvSpPr>
          <p:nvPr>
            <p:ph type="sldNum" sz="quarter" idx="5"/>
          </p:nvPr>
        </p:nvSpPr>
        <p:spPr/>
        <p:txBody>
          <a:bodyPr/>
          <a:lstStyle/>
          <a:p>
            <a:fld id="{194F9080-C9D5-43B2-99BC-07807BB32E59}" type="slidenum">
              <a:rPr lang="fr-FR" smtClean="0"/>
              <a:t>23</a:t>
            </a:fld>
            <a:endParaRPr lang="fr-FR"/>
          </a:p>
        </p:txBody>
      </p:sp>
    </p:spTree>
    <p:extLst>
      <p:ext uri="{BB962C8B-B14F-4D97-AF65-F5344CB8AC3E}">
        <p14:creationId xmlns:p14="http://schemas.microsoft.com/office/powerpoint/2010/main" val="40785603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AF24F-0F44-D915-322C-81EBBEA230C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B03D352-5008-742B-B0B6-2F5DD8107B2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63C520B-DFA6-E716-F4BF-BFF84A6981C0}"/>
              </a:ext>
            </a:extLst>
          </p:cNvPr>
          <p:cNvSpPr>
            <a:spLocks noGrp="1"/>
          </p:cNvSpPr>
          <p:nvPr>
            <p:ph type="body" idx="1"/>
          </p:nvPr>
        </p:nvSpPr>
        <p:spPr/>
        <p:txBody>
          <a:bodyPr/>
          <a:lstStyle/>
          <a:p>
            <a:r>
              <a:rPr lang="fr-FR" dirty="0"/>
              <a:t>Les pays sélectionnés présentent un fort potentiel de marché, combinant un niveau de développement élevé, une consommation significative de volaille et une dépendance aux importations, ce qui en fait des cibles prioritaires pour une stratégie d’exportation.</a:t>
            </a:r>
          </a:p>
        </p:txBody>
      </p:sp>
      <p:sp>
        <p:nvSpPr>
          <p:cNvPr id="4" name="Espace réservé du numéro de diapositive 3">
            <a:extLst>
              <a:ext uri="{FF2B5EF4-FFF2-40B4-BE49-F238E27FC236}">
                <a16:creationId xmlns:a16="http://schemas.microsoft.com/office/drawing/2014/main" id="{02B70AEC-8713-A5C8-530A-4C901997318B}"/>
              </a:ext>
            </a:extLst>
          </p:cNvPr>
          <p:cNvSpPr>
            <a:spLocks noGrp="1"/>
          </p:cNvSpPr>
          <p:nvPr>
            <p:ph type="sldNum" sz="quarter" idx="5"/>
          </p:nvPr>
        </p:nvSpPr>
        <p:spPr/>
        <p:txBody>
          <a:bodyPr/>
          <a:lstStyle/>
          <a:p>
            <a:fld id="{194F9080-C9D5-43B2-99BC-07807BB32E59}" type="slidenum">
              <a:rPr lang="fr-FR" smtClean="0"/>
              <a:t>24</a:t>
            </a:fld>
            <a:endParaRPr lang="fr-FR"/>
          </a:p>
        </p:txBody>
      </p:sp>
    </p:spTree>
    <p:extLst>
      <p:ext uri="{BB962C8B-B14F-4D97-AF65-F5344CB8AC3E}">
        <p14:creationId xmlns:p14="http://schemas.microsoft.com/office/powerpoint/2010/main" val="39226218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AC44B-812C-DDFD-4EB6-F1FC8AA61A4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0A9C9A3-2D7E-CDB9-5671-D6C99F28BF8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6CBEBE8-F5B3-B30F-E592-C72ED721CC82}"/>
              </a:ext>
            </a:extLst>
          </p:cNvPr>
          <p:cNvSpPr>
            <a:spLocks noGrp="1"/>
          </p:cNvSpPr>
          <p:nvPr>
            <p:ph type="body" idx="1"/>
          </p:nvPr>
        </p:nvSpPr>
        <p:spPr/>
        <p:txBody>
          <a:bodyPr/>
          <a:lstStyle/>
          <a:p>
            <a:r>
              <a:rPr lang="fr-FR" dirty="0"/>
              <a:t>Les pays sélectionnés présentent un fort potentiel de marché, combinant un niveau de développement élevé, une consommation significative de volaille et une dépendance aux importations, ce qui en fait des cibles prioritaires pour une stratégie d’exportation.</a:t>
            </a:r>
          </a:p>
        </p:txBody>
      </p:sp>
      <p:sp>
        <p:nvSpPr>
          <p:cNvPr id="4" name="Espace réservé du numéro de diapositive 3">
            <a:extLst>
              <a:ext uri="{FF2B5EF4-FFF2-40B4-BE49-F238E27FC236}">
                <a16:creationId xmlns:a16="http://schemas.microsoft.com/office/drawing/2014/main" id="{1AEB80A4-4D00-F0AE-EC71-2FE30B40B0BA}"/>
              </a:ext>
            </a:extLst>
          </p:cNvPr>
          <p:cNvSpPr>
            <a:spLocks noGrp="1"/>
          </p:cNvSpPr>
          <p:nvPr>
            <p:ph type="sldNum" sz="quarter" idx="5"/>
          </p:nvPr>
        </p:nvSpPr>
        <p:spPr/>
        <p:txBody>
          <a:bodyPr/>
          <a:lstStyle/>
          <a:p>
            <a:fld id="{194F9080-C9D5-43B2-99BC-07807BB32E59}" type="slidenum">
              <a:rPr lang="fr-FR" smtClean="0"/>
              <a:t>25</a:t>
            </a:fld>
            <a:endParaRPr lang="fr-FR"/>
          </a:p>
        </p:txBody>
      </p:sp>
    </p:spTree>
    <p:extLst>
      <p:ext uri="{BB962C8B-B14F-4D97-AF65-F5344CB8AC3E}">
        <p14:creationId xmlns:p14="http://schemas.microsoft.com/office/powerpoint/2010/main" val="6384955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fr-FR"/>
              <a:t>Modifiez le style du titre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5C751CF4-3D53-488E-A8FC-96A20B099891}" type="datetime1">
              <a:rPr lang="fr-FR" smtClean="0"/>
              <a:t>21/04/2026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EB8DB5B-EED4-4E84-94B6-873B46059CF5}" type="slidenum">
              <a:rPr lang="fr-FR" smtClean="0"/>
              <a:t>‹N°›</a:t>
            </a:fld>
            <a:endParaRPr lang="fr-FR"/>
          </a:p>
        </p:txBody>
      </p:sp>
    </p:spTree>
    <p:extLst>
      <p:ext uri="{BB962C8B-B14F-4D97-AF65-F5344CB8AC3E}">
        <p14:creationId xmlns:p14="http://schemas.microsoft.com/office/powerpoint/2010/main" val="3494391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33AF5B31-5D12-4E75-A638-22B4AE1DF379}" type="datetime1">
              <a:rPr lang="fr-FR" smtClean="0"/>
              <a:t>21/04/2026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EB8DB5B-EED4-4E84-94B6-873B46059CF5}" type="slidenum">
              <a:rPr lang="fr-FR" smtClean="0"/>
              <a:t>‹N°›</a:t>
            </a:fld>
            <a:endParaRPr lang="fr-FR"/>
          </a:p>
        </p:txBody>
      </p:sp>
    </p:spTree>
    <p:extLst>
      <p:ext uri="{BB962C8B-B14F-4D97-AF65-F5344CB8AC3E}">
        <p14:creationId xmlns:p14="http://schemas.microsoft.com/office/powerpoint/2010/main" val="2953942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D75A17F4-85D9-4089-83FD-2E57E03511B5}" type="datetime1">
              <a:rPr lang="fr-FR" smtClean="0"/>
              <a:t>21/04/2026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EB8DB5B-EED4-4E84-94B6-873B46059CF5}" type="slidenum">
              <a:rPr lang="fr-FR" smtClean="0"/>
              <a:t>‹N°›</a:t>
            </a:fld>
            <a:endParaRPr lang="fr-FR"/>
          </a:p>
        </p:txBody>
      </p:sp>
    </p:spTree>
    <p:extLst>
      <p:ext uri="{BB962C8B-B14F-4D97-AF65-F5344CB8AC3E}">
        <p14:creationId xmlns:p14="http://schemas.microsoft.com/office/powerpoint/2010/main" val="3490786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A9A52B95-A677-4297-8341-3F1C27EECFCC}" type="datetime1">
              <a:rPr lang="fr-FR" smtClean="0"/>
              <a:t>21/04/2026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FEB8DB5B-EED4-4E84-94B6-873B46059CF5}" type="slidenum">
              <a:rPr lang="fr-FR" smtClean="0"/>
              <a:t>‹N°›</a:t>
            </a:fld>
            <a:endParaRPr lang="fr-FR"/>
          </a:p>
        </p:txBody>
      </p:sp>
    </p:spTree>
    <p:extLst>
      <p:ext uri="{BB962C8B-B14F-4D97-AF65-F5344CB8AC3E}">
        <p14:creationId xmlns:p14="http://schemas.microsoft.com/office/powerpoint/2010/main" val="3737922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28C542C9-EC51-4433-A309-41F481A4620D}" type="datetime1">
              <a:rPr lang="fr-FR" smtClean="0"/>
              <a:t>21/04/2026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FEB8DB5B-EED4-4E84-94B6-873B46059CF5}" type="slidenum">
              <a:rPr lang="fr-FR" smtClean="0"/>
              <a:t>‹N°›</a:t>
            </a:fld>
            <a:endParaRPr lang="fr-FR"/>
          </a:p>
        </p:txBody>
      </p:sp>
    </p:spTree>
    <p:extLst>
      <p:ext uri="{BB962C8B-B14F-4D97-AF65-F5344CB8AC3E}">
        <p14:creationId xmlns:p14="http://schemas.microsoft.com/office/powerpoint/2010/main" val="3371231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02182C5E-C9AD-4EFC-8AA5-37D57B2AFF0A}" type="datetime1">
              <a:rPr lang="fr-FR" smtClean="0"/>
              <a:t>21/04/2026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FEB8DB5B-EED4-4E84-94B6-873B46059CF5}" type="slidenum">
              <a:rPr lang="fr-FR" smtClean="0"/>
              <a:t>‹N°›</a:t>
            </a:fld>
            <a:endParaRPr lang="fr-FR"/>
          </a:p>
        </p:txBody>
      </p:sp>
    </p:spTree>
    <p:extLst>
      <p:ext uri="{BB962C8B-B14F-4D97-AF65-F5344CB8AC3E}">
        <p14:creationId xmlns:p14="http://schemas.microsoft.com/office/powerpoint/2010/main" val="1325724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7E0A9F-771D-41BB-845F-6A7A17149F2E}" type="datetime1">
              <a:rPr lang="fr-FR" smtClean="0"/>
              <a:t>21/04/2026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FEB8DB5B-EED4-4E84-94B6-873B46059CF5}" type="slidenum">
              <a:rPr lang="fr-FR" smtClean="0"/>
              <a:t>‹N°›</a:t>
            </a:fld>
            <a:endParaRPr lang="fr-FR"/>
          </a:p>
        </p:txBody>
      </p:sp>
    </p:spTree>
    <p:extLst>
      <p:ext uri="{BB962C8B-B14F-4D97-AF65-F5344CB8AC3E}">
        <p14:creationId xmlns:p14="http://schemas.microsoft.com/office/powerpoint/2010/main" val="29434088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fr-FR"/>
              <a:t>Modifiez le style du titre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755E697-865D-4913-BADC-D59112AC3370}" type="datetime1">
              <a:rPr lang="fr-FR" smtClean="0"/>
              <a:t>21/04/2026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FEB8DB5B-EED4-4E84-94B6-873B46059CF5}" type="slidenum">
              <a:rPr lang="fr-FR" smtClean="0"/>
              <a:t>‹N°›</a:t>
            </a:fld>
            <a:endParaRPr lang="fr-FR"/>
          </a:p>
        </p:txBody>
      </p:sp>
    </p:spTree>
    <p:extLst>
      <p:ext uri="{BB962C8B-B14F-4D97-AF65-F5344CB8AC3E}">
        <p14:creationId xmlns:p14="http://schemas.microsoft.com/office/powerpoint/2010/main" val="3554067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726D308-A8D1-4E43-AE02-3FD0B46120BA}" type="datetime1">
              <a:rPr lang="fr-FR" smtClean="0"/>
              <a:t>21/04/2026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FEB8DB5B-EED4-4E84-94B6-873B46059CF5}" type="slidenum">
              <a:rPr lang="fr-FR" smtClean="0"/>
              <a:t>‹N°›</a:t>
            </a:fld>
            <a:endParaRPr lang="fr-FR"/>
          </a:p>
        </p:txBody>
      </p:sp>
    </p:spTree>
    <p:extLst>
      <p:ext uri="{BB962C8B-B14F-4D97-AF65-F5344CB8AC3E}">
        <p14:creationId xmlns:p14="http://schemas.microsoft.com/office/powerpoint/2010/main" val="547490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F39E17D-9BFB-4E93-A5AE-B888EB4123E5}" type="datetime1">
              <a:rPr lang="fr-FR" smtClean="0"/>
              <a:t>21/04/2026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EB8DB5B-EED4-4E84-94B6-873B46059CF5}" type="slidenum">
              <a:rPr lang="fr-FR" smtClean="0"/>
              <a:t>‹N°›</a:t>
            </a:fld>
            <a:endParaRPr lang="fr-FR"/>
          </a:p>
        </p:txBody>
      </p:sp>
    </p:spTree>
    <p:extLst>
      <p:ext uri="{BB962C8B-B14F-4D97-AF65-F5344CB8AC3E}">
        <p14:creationId xmlns:p14="http://schemas.microsoft.com/office/powerpoint/2010/main" val="3903688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CDB42BF-A910-4370-A223-15F585F6BD1A}" type="datetime1">
              <a:rPr lang="fr-FR" smtClean="0"/>
              <a:t>21/04/2026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EB8DB5B-EED4-4E84-94B6-873B46059CF5}" type="slidenum">
              <a:rPr lang="fr-FR" smtClean="0"/>
              <a:t>‹N°›</a:t>
            </a:fld>
            <a:endParaRPr lang="fr-F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6760754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127B5A76-B2C4-407B-92BF-30ED1F10452A}" type="datetime1">
              <a:rPr lang="fr-FR" smtClean="0"/>
              <a:t>21/04/2026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EB8DB5B-EED4-4E84-94B6-873B46059CF5}" type="slidenum">
              <a:rPr lang="fr-FR" smtClean="0"/>
              <a:t>‹N°›</a:t>
            </a:fld>
            <a:endParaRPr lang="fr-FR"/>
          </a:p>
        </p:txBody>
      </p:sp>
    </p:spTree>
    <p:extLst>
      <p:ext uri="{BB962C8B-B14F-4D97-AF65-F5344CB8AC3E}">
        <p14:creationId xmlns:p14="http://schemas.microsoft.com/office/powerpoint/2010/main" val="3611030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D470A141-1CF7-443F-8F5C-1D83224500BD}" type="datetime1">
              <a:rPr lang="fr-FR" smtClean="0"/>
              <a:t>21/04/2026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EB8DB5B-EED4-4E84-94B6-873B46059CF5}" type="slidenum">
              <a:rPr lang="fr-FR" smtClean="0"/>
              <a:t>‹N°›</a:t>
            </a:fld>
            <a:endParaRPr lang="fr-F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383425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5286A9EA-DCB7-45E0-BA70-73834A89D0AD}" type="datetime1">
              <a:rPr lang="fr-FR" smtClean="0"/>
              <a:t>21/04/2026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EB8DB5B-EED4-4E84-94B6-873B46059CF5}" type="slidenum">
              <a:rPr lang="fr-FR" smtClean="0"/>
              <a:t>‹N°›</a:t>
            </a:fld>
            <a:endParaRPr lang="fr-FR"/>
          </a:p>
        </p:txBody>
      </p:sp>
    </p:spTree>
    <p:extLst>
      <p:ext uri="{BB962C8B-B14F-4D97-AF65-F5344CB8AC3E}">
        <p14:creationId xmlns:p14="http://schemas.microsoft.com/office/powerpoint/2010/main" val="14081236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157560F9-1F62-47CE-9C3B-5283303AD28E}" type="datetime1">
              <a:rPr lang="fr-FR" smtClean="0"/>
              <a:t>21/04/2026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EB8DB5B-EED4-4E84-94B6-873B46059CF5}" type="slidenum">
              <a:rPr lang="fr-FR" smtClean="0"/>
              <a:t>‹N°›</a:t>
            </a:fld>
            <a:endParaRPr lang="fr-FR"/>
          </a:p>
        </p:txBody>
      </p:sp>
    </p:spTree>
    <p:extLst>
      <p:ext uri="{BB962C8B-B14F-4D97-AF65-F5344CB8AC3E}">
        <p14:creationId xmlns:p14="http://schemas.microsoft.com/office/powerpoint/2010/main" val="11018382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C9AF8B0-E792-4062-A8DE-05C24F86445D}" type="datetime1">
              <a:rPr lang="fr-FR" smtClean="0"/>
              <a:t>21/04/2026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EB8DB5B-EED4-4E84-94B6-873B46059CF5}" type="slidenum">
              <a:rPr lang="fr-FR" smtClean="0"/>
              <a:t>‹N°›</a:t>
            </a:fld>
            <a:endParaRPr lang="fr-FR"/>
          </a:p>
        </p:txBody>
      </p:sp>
    </p:spTree>
    <p:extLst>
      <p:ext uri="{BB962C8B-B14F-4D97-AF65-F5344CB8AC3E}">
        <p14:creationId xmlns:p14="http://schemas.microsoft.com/office/powerpoint/2010/main" val="1574392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9A3D545-5CB1-4CF7-A90B-7C054B62EEB6}" type="datetime1">
              <a:rPr lang="fr-FR" smtClean="0"/>
              <a:t>21/04/2026</a:t>
            </a:fld>
            <a:endParaRPr lang="fr-FR"/>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EB8DB5B-EED4-4E84-94B6-873B46059CF5}" type="slidenum">
              <a:rPr lang="fr-FR" smtClean="0"/>
              <a:t>‹N°›</a:t>
            </a:fld>
            <a:endParaRPr lang="fr-FR"/>
          </a:p>
        </p:txBody>
      </p:sp>
    </p:spTree>
    <p:extLst>
      <p:ext uri="{BB962C8B-B14F-4D97-AF65-F5344CB8AC3E}">
        <p14:creationId xmlns:p14="http://schemas.microsoft.com/office/powerpoint/2010/main" val="33957041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296F221-0093-FCB8-9841-AFF7D7008083}"/>
              </a:ext>
            </a:extLst>
          </p:cNvPr>
          <p:cNvSpPr>
            <a:spLocks noGrp="1"/>
          </p:cNvSpPr>
          <p:nvPr>
            <p:ph type="ctrTitle"/>
          </p:nvPr>
        </p:nvSpPr>
        <p:spPr>
          <a:xfrm>
            <a:off x="1513888" y="2605849"/>
            <a:ext cx="7766936" cy="1646302"/>
          </a:xfrm>
        </p:spPr>
        <p:txBody>
          <a:bodyPr/>
          <a:lstStyle/>
          <a:p>
            <a:pPr algn="ctr"/>
            <a:r>
              <a:rPr lang="fr-FR" dirty="0"/>
              <a:t>Réalisation d’une étude de marché pour La poule qui chante</a:t>
            </a:r>
          </a:p>
        </p:txBody>
      </p:sp>
      <p:sp>
        <p:nvSpPr>
          <p:cNvPr id="3" name="Sous-titre 2">
            <a:extLst>
              <a:ext uri="{FF2B5EF4-FFF2-40B4-BE49-F238E27FC236}">
                <a16:creationId xmlns:a16="http://schemas.microsoft.com/office/drawing/2014/main" id="{3AF6F031-64C0-DF53-FCE9-E3A8B6294842}"/>
              </a:ext>
            </a:extLst>
          </p:cNvPr>
          <p:cNvSpPr>
            <a:spLocks noGrp="1"/>
          </p:cNvSpPr>
          <p:nvPr>
            <p:ph type="subTitle" idx="1"/>
          </p:nvPr>
        </p:nvSpPr>
        <p:spPr>
          <a:xfrm>
            <a:off x="9280824" y="6390526"/>
            <a:ext cx="2911175" cy="467474"/>
          </a:xfrm>
        </p:spPr>
        <p:txBody>
          <a:bodyPr/>
          <a:lstStyle/>
          <a:p>
            <a:pPr algn="ctr"/>
            <a:r>
              <a:rPr lang="fr-FR" dirty="0"/>
              <a:t>Evan Fol</a:t>
            </a:r>
          </a:p>
        </p:txBody>
      </p:sp>
      <p:sp>
        <p:nvSpPr>
          <p:cNvPr id="4" name="Espace réservé du numéro de diapositive 3">
            <a:extLst>
              <a:ext uri="{FF2B5EF4-FFF2-40B4-BE49-F238E27FC236}">
                <a16:creationId xmlns:a16="http://schemas.microsoft.com/office/drawing/2014/main" id="{3FB5A92D-75F8-9E28-5D81-D229BE204502}"/>
              </a:ext>
            </a:extLst>
          </p:cNvPr>
          <p:cNvSpPr>
            <a:spLocks noGrp="1"/>
          </p:cNvSpPr>
          <p:nvPr>
            <p:ph type="sldNum" sz="quarter" idx="12"/>
          </p:nvPr>
        </p:nvSpPr>
        <p:spPr/>
        <p:txBody>
          <a:bodyPr/>
          <a:lstStyle/>
          <a:p>
            <a:fld id="{FEB8DB5B-EED4-4E84-94B6-873B46059CF5}" type="slidenum">
              <a:rPr lang="fr-FR" smtClean="0"/>
              <a:t>1</a:t>
            </a:fld>
            <a:endParaRPr lang="fr-FR"/>
          </a:p>
        </p:txBody>
      </p:sp>
    </p:spTree>
    <p:extLst>
      <p:ext uri="{BB962C8B-B14F-4D97-AF65-F5344CB8AC3E}">
        <p14:creationId xmlns:p14="http://schemas.microsoft.com/office/powerpoint/2010/main" val="25735348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6A7B392-46BD-455C-B911-EE86D3C7E89A}"/>
              </a:ext>
            </a:extLst>
          </p:cNvPr>
          <p:cNvSpPr>
            <a:spLocks noGrp="1"/>
          </p:cNvSpPr>
          <p:nvPr>
            <p:ph type="title"/>
          </p:nvPr>
        </p:nvSpPr>
        <p:spPr/>
        <p:txBody>
          <a:bodyPr/>
          <a:lstStyle/>
          <a:p>
            <a:r>
              <a:rPr lang="fr-FR" dirty="0"/>
              <a:t>Les tables de départs</a:t>
            </a:r>
          </a:p>
        </p:txBody>
      </p:sp>
      <p:sp>
        <p:nvSpPr>
          <p:cNvPr id="3" name="Espace réservé du contenu 2">
            <a:extLst>
              <a:ext uri="{FF2B5EF4-FFF2-40B4-BE49-F238E27FC236}">
                <a16:creationId xmlns:a16="http://schemas.microsoft.com/office/drawing/2014/main" id="{C315A69C-33B2-AC26-E06B-762BE657D0BB}"/>
              </a:ext>
            </a:extLst>
          </p:cNvPr>
          <p:cNvSpPr>
            <a:spLocks noGrp="1"/>
          </p:cNvSpPr>
          <p:nvPr>
            <p:ph idx="1"/>
          </p:nvPr>
        </p:nvSpPr>
        <p:spPr>
          <a:xfrm>
            <a:off x="593251" y="1582520"/>
            <a:ext cx="8975291" cy="4823967"/>
          </a:xfrm>
        </p:spPr>
        <p:txBody>
          <a:bodyPr>
            <a:normAutofit/>
          </a:bodyPr>
          <a:lstStyle/>
          <a:p>
            <a:r>
              <a:rPr lang="fr-FR" dirty="0"/>
              <a:t>Disponibilité alimentaire 2017 (Données fournies, préparation via </a:t>
            </a:r>
            <a:r>
              <a:rPr lang="fr-FR" dirty="0" err="1"/>
              <a:t>PowerQuery</a:t>
            </a:r>
            <a:r>
              <a:rPr lang="fr-FR" dirty="0"/>
              <a:t>) </a:t>
            </a:r>
          </a:p>
          <a:p>
            <a:pPr lvl="1"/>
            <a:r>
              <a:rPr lang="fr-FR" dirty="0"/>
              <a:t>Après nettoyage contient :</a:t>
            </a:r>
          </a:p>
          <a:p>
            <a:pPr lvl="2"/>
            <a:r>
              <a:rPr lang="fr-FR" dirty="0"/>
              <a:t>Zone / </a:t>
            </a:r>
            <a:r>
              <a:rPr lang="fr-FR" dirty="0" err="1"/>
              <a:t>Element</a:t>
            </a:r>
            <a:r>
              <a:rPr lang="fr-FR" dirty="0"/>
              <a:t> / Produits / Unité /Valeur</a:t>
            </a:r>
          </a:p>
          <a:p>
            <a:pPr lvl="1"/>
            <a:r>
              <a:rPr lang="fr-FR" dirty="0"/>
              <a:t>Filtrage pour avoir seulement viande de volailles puis suppression Produits</a:t>
            </a:r>
          </a:p>
          <a:p>
            <a:pPr lvl="1"/>
            <a:r>
              <a:rPr lang="fr-FR" dirty="0"/>
              <a:t>Filtrage </a:t>
            </a:r>
            <a:r>
              <a:rPr lang="fr-FR" dirty="0" err="1"/>
              <a:t>Elements</a:t>
            </a:r>
            <a:endParaRPr lang="fr-FR" dirty="0"/>
          </a:p>
          <a:p>
            <a:pPr lvl="2"/>
            <a:r>
              <a:rPr lang="fr-FR" dirty="0"/>
              <a:t>Seul Production / Importation / Disponibilité intérieure / Disponibilité alimentaire et exportations sont conservées car intéressantes dans notre analyse</a:t>
            </a:r>
          </a:p>
          <a:p>
            <a:pPr lvl="1"/>
            <a:r>
              <a:rPr lang="fr-FR" dirty="0"/>
              <a:t>Mise a jours des valeurs en Kg pour toutes les lignes</a:t>
            </a:r>
          </a:p>
          <a:p>
            <a:pPr lvl="1"/>
            <a:r>
              <a:rPr lang="fr-FR" dirty="0"/>
              <a:t>Suppression colonne unité</a:t>
            </a:r>
          </a:p>
          <a:p>
            <a:pPr lvl="1"/>
            <a:r>
              <a:rPr lang="fr-FR" dirty="0"/>
              <a:t>Pivoter la colonne </a:t>
            </a:r>
            <a:r>
              <a:rPr lang="fr-FR" dirty="0" err="1"/>
              <a:t>Elements</a:t>
            </a:r>
            <a:r>
              <a:rPr lang="fr-FR" dirty="0"/>
              <a:t> en gardant la colonne valeur comme valeur</a:t>
            </a:r>
          </a:p>
          <a:p>
            <a:pPr lvl="2"/>
            <a:r>
              <a:rPr lang="fr-FR" dirty="0"/>
              <a:t>Permet d’obtenir une ligne par pays avec une colonne pour chacune des valeurs de éléments que l’on avait conservé</a:t>
            </a:r>
          </a:p>
          <a:p>
            <a:pPr lvl="1"/>
            <a:r>
              <a:rPr lang="fr-FR" dirty="0"/>
              <a:t>Remplacement des valeur </a:t>
            </a:r>
            <a:r>
              <a:rPr lang="fr-FR" dirty="0" err="1"/>
              <a:t>null</a:t>
            </a:r>
            <a:r>
              <a:rPr lang="fr-FR" dirty="0"/>
              <a:t> et vides par 0</a:t>
            </a:r>
          </a:p>
          <a:p>
            <a:pPr lvl="1"/>
            <a:endParaRPr lang="fr-FR" dirty="0"/>
          </a:p>
          <a:p>
            <a:pPr lvl="1"/>
            <a:endParaRPr lang="fr-FR" dirty="0"/>
          </a:p>
        </p:txBody>
      </p:sp>
      <p:sp>
        <p:nvSpPr>
          <p:cNvPr id="4" name="Espace réservé du numéro de diapositive 3">
            <a:extLst>
              <a:ext uri="{FF2B5EF4-FFF2-40B4-BE49-F238E27FC236}">
                <a16:creationId xmlns:a16="http://schemas.microsoft.com/office/drawing/2014/main" id="{F7C2B6FC-9466-5D82-31D7-2FB9A0BD7E26}"/>
              </a:ext>
            </a:extLst>
          </p:cNvPr>
          <p:cNvSpPr>
            <a:spLocks noGrp="1"/>
          </p:cNvSpPr>
          <p:nvPr>
            <p:ph type="sldNum" sz="quarter" idx="12"/>
          </p:nvPr>
        </p:nvSpPr>
        <p:spPr/>
        <p:txBody>
          <a:bodyPr/>
          <a:lstStyle/>
          <a:p>
            <a:fld id="{FEB8DB5B-EED4-4E84-94B6-873B46059CF5}" type="slidenum">
              <a:rPr lang="fr-FR" smtClean="0"/>
              <a:t>2</a:t>
            </a:fld>
            <a:endParaRPr lang="fr-FR"/>
          </a:p>
        </p:txBody>
      </p:sp>
    </p:spTree>
    <p:extLst>
      <p:ext uri="{BB962C8B-B14F-4D97-AF65-F5344CB8AC3E}">
        <p14:creationId xmlns:p14="http://schemas.microsoft.com/office/powerpoint/2010/main" val="638293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2B18C-4FC7-E584-1C3B-935DAD1AD95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FE1E69F-9EAE-02B5-D03D-DA7569D1A3A4}"/>
              </a:ext>
            </a:extLst>
          </p:cNvPr>
          <p:cNvSpPr>
            <a:spLocks noGrp="1"/>
          </p:cNvSpPr>
          <p:nvPr>
            <p:ph type="title"/>
          </p:nvPr>
        </p:nvSpPr>
        <p:spPr/>
        <p:txBody>
          <a:bodyPr/>
          <a:lstStyle/>
          <a:p>
            <a:r>
              <a:rPr lang="fr-FR" dirty="0"/>
              <a:t>Les tables de départs</a:t>
            </a:r>
          </a:p>
        </p:txBody>
      </p:sp>
      <p:sp>
        <p:nvSpPr>
          <p:cNvPr id="3" name="Espace réservé du contenu 2">
            <a:extLst>
              <a:ext uri="{FF2B5EF4-FFF2-40B4-BE49-F238E27FC236}">
                <a16:creationId xmlns:a16="http://schemas.microsoft.com/office/drawing/2014/main" id="{A48D9C34-814C-9A4F-C916-2DD16775D36D}"/>
              </a:ext>
            </a:extLst>
          </p:cNvPr>
          <p:cNvSpPr>
            <a:spLocks noGrp="1"/>
          </p:cNvSpPr>
          <p:nvPr>
            <p:ph idx="1"/>
          </p:nvPr>
        </p:nvSpPr>
        <p:spPr>
          <a:xfrm>
            <a:off x="593252" y="1582520"/>
            <a:ext cx="8596668" cy="4823967"/>
          </a:xfrm>
        </p:spPr>
        <p:txBody>
          <a:bodyPr>
            <a:normAutofit/>
          </a:bodyPr>
          <a:lstStyle/>
          <a:p>
            <a:r>
              <a:rPr lang="fr-FR" dirty="0"/>
              <a:t>Population (Données fournies)</a:t>
            </a:r>
          </a:p>
          <a:p>
            <a:pPr lvl="1"/>
            <a:r>
              <a:rPr lang="fr-FR" dirty="0"/>
              <a:t>Contient la population totale de chaque pays</a:t>
            </a:r>
          </a:p>
          <a:p>
            <a:pPr lvl="1"/>
            <a:r>
              <a:rPr lang="fr-FR" dirty="0"/>
              <a:t>Nettoyage + Fusion (</a:t>
            </a:r>
            <a:r>
              <a:rPr lang="fr-FR" dirty="0" err="1"/>
              <a:t>Powerquery</a:t>
            </a:r>
            <a:r>
              <a:rPr lang="fr-FR" dirty="0"/>
              <a:t>)</a:t>
            </a:r>
          </a:p>
          <a:p>
            <a:pPr lvl="1"/>
            <a:endParaRPr lang="fr-FR" dirty="0"/>
          </a:p>
          <a:p>
            <a:r>
              <a:rPr lang="fr-FR" dirty="0"/>
              <a:t>PIB par habitant (Données FAO)</a:t>
            </a:r>
          </a:p>
          <a:p>
            <a:pPr lvl="1"/>
            <a:r>
              <a:rPr lang="fr-FR" dirty="0"/>
              <a:t>Contient le PIB par habitant de chaque pays en ($)</a:t>
            </a:r>
          </a:p>
          <a:p>
            <a:pPr lvl="1"/>
            <a:r>
              <a:rPr lang="fr-FR" dirty="0"/>
              <a:t>Nettoyage + Fusion (</a:t>
            </a:r>
            <a:r>
              <a:rPr lang="fr-FR" dirty="0" err="1"/>
              <a:t>Powerquery</a:t>
            </a:r>
            <a:r>
              <a:rPr lang="fr-FR" dirty="0"/>
              <a:t>)</a:t>
            </a:r>
          </a:p>
          <a:p>
            <a:endParaRPr lang="fr-FR" dirty="0"/>
          </a:p>
          <a:p>
            <a:r>
              <a:rPr lang="fr-FR" dirty="0"/>
              <a:t>Index infrastructure (Données </a:t>
            </a:r>
            <a:r>
              <a:rPr lang="fr-FR" dirty="0" err="1"/>
              <a:t>WorldBank</a:t>
            </a:r>
            <a:r>
              <a:rPr lang="fr-FR" dirty="0"/>
              <a:t>)</a:t>
            </a:r>
          </a:p>
          <a:p>
            <a:pPr lvl="1"/>
            <a:r>
              <a:rPr lang="fr-FR" dirty="0"/>
              <a:t>Contient l’index d’infrastructure des pays</a:t>
            </a:r>
          </a:p>
          <a:p>
            <a:pPr lvl="1"/>
            <a:r>
              <a:rPr lang="fr-FR" dirty="0"/>
              <a:t>Nettoyage + Fusion (</a:t>
            </a:r>
            <a:r>
              <a:rPr lang="fr-FR" dirty="0" err="1"/>
              <a:t>Powerquery</a:t>
            </a:r>
            <a:r>
              <a:rPr lang="fr-FR" dirty="0"/>
              <a:t>)</a:t>
            </a:r>
          </a:p>
          <a:p>
            <a:endParaRPr lang="fr-FR" dirty="0"/>
          </a:p>
          <a:p>
            <a:pPr lvl="1"/>
            <a:endParaRPr lang="fr-FR" dirty="0"/>
          </a:p>
          <a:p>
            <a:pPr lvl="1"/>
            <a:endParaRPr lang="fr-FR" dirty="0"/>
          </a:p>
          <a:p>
            <a:pPr lvl="1"/>
            <a:endParaRPr lang="fr-FR" dirty="0"/>
          </a:p>
        </p:txBody>
      </p:sp>
      <p:sp>
        <p:nvSpPr>
          <p:cNvPr id="4" name="Espace réservé du numéro de diapositive 3">
            <a:extLst>
              <a:ext uri="{FF2B5EF4-FFF2-40B4-BE49-F238E27FC236}">
                <a16:creationId xmlns:a16="http://schemas.microsoft.com/office/drawing/2014/main" id="{55C53906-A7CD-F280-DC2F-4171AE7A3998}"/>
              </a:ext>
            </a:extLst>
          </p:cNvPr>
          <p:cNvSpPr>
            <a:spLocks noGrp="1"/>
          </p:cNvSpPr>
          <p:nvPr>
            <p:ph type="sldNum" sz="quarter" idx="12"/>
          </p:nvPr>
        </p:nvSpPr>
        <p:spPr/>
        <p:txBody>
          <a:bodyPr/>
          <a:lstStyle/>
          <a:p>
            <a:fld id="{FEB8DB5B-EED4-4E84-94B6-873B46059CF5}" type="slidenum">
              <a:rPr lang="fr-FR" smtClean="0"/>
              <a:t>3</a:t>
            </a:fld>
            <a:endParaRPr lang="fr-FR"/>
          </a:p>
        </p:txBody>
      </p:sp>
      <p:sp>
        <p:nvSpPr>
          <p:cNvPr id="5" name="Espace réservé du contenu 2">
            <a:extLst>
              <a:ext uri="{FF2B5EF4-FFF2-40B4-BE49-F238E27FC236}">
                <a16:creationId xmlns:a16="http://schemas.microsoft.com/office/drawing/2014/main" id="{65CA5B59-F6E8-9C04-D563-F19E5B16169F}"/>
              </a:ext>
            </a:extLst>
          </p:cNvPr>
          <p:cNvSpPr txBox="1">
            <a:spLocks/>
          </p:cNvSpPr>
          <p:nvPr/>
        </p:nvSpPr>
        <p:spPr>
          <a:xfrm>
            <a:off x="6096000" y="1470225"/>
            <a:ext cx="5612780" cy="2866190"/>
          </a:xfrm>
          <a:prstGeom prst="rect">
            <a:avLst/>
          </a:prstGeom>
          <a:solidFill>
            <a:schemeClr val="bg1">
              <a:alpha val="34902"/>
            </a:schemeClr>
          </a:solidFill>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fr-FR"/>
              <a:t>Stabilité politique (données projet 10 sur l’eau)</a:t>
            </a:r>
          </a:p>
          <a:p>
            <a:pPr lvl="1"/>
            <a:r>
              <a:rPr lang="fr-FR"/>
              <a:t>Contient la stabilité politique de chaque pays</a:t>
            </a:r>
          </a:p>
          <a:p>
            <a:pPr lvl="1"/>
            <a:r>
              <a:rPr lang="fr-FR"/>
              <a:t>Nettoyage + Fusion (Powerquery)</a:t>
            </a:r>
          </a:p>
          <a:p>
            <a:pPr lvl="1"/>
            <a:endParaRPr lang="fr-FR"/>
          </a:p>
          <a:p>
            <a:r>
              <a:rPr lang="fr-FR"/>
              <a:t>Population urbaine (données projet 10 sur l’eau)</a:t>
            </a:r>
          </a:p>
          <a:p>
            <a:pPr lvl="1"/>
            <a:r>
              <a:rPr lang="fr-FR"/>
              <a:t>Contient la population urbaine de chaque pays</a:t>
            </a:r>
          </a:p>
          <a:p>
            <a:pPr lvl="1"/>
            <a:r>
              <a:rPr lang="fr-FR"/>
              <a:t>Nettoyage + Fusion (Powerquery)</a:t>
            </a:r>
          </a:p>
          <a:p>
            <a:endParaRPr lang="fr-FR"/>
          </a:p>
          <a:p>
            <a:endParaRPr lang="fr-FR"/>
          </a:p>
          <a:p>
            <a:pPr lvl="1"/>
            <a:endParaRPr lang="fr-FR"/>
          </a:p>
          <a:p>
            <a:pPr lvl="1"/>
            <a:endParaRPr lang="fr-FR"/>
          </a:p>
          <a:p>
            <a:pPr lvl="1"/>
            <a:endParaRPr lang="fr-FR" dirty="0"/>
          </a:p>
        </p:txBody>
      </p:sp>
    </p:spTree>
    <p:extLst>
      <p:ext uri="{BB962C8B-B14F-4D97-AF65-F5344CB8AC3E}">
        <p14:creationId xmlns:p14="http://schemas.microsoft.com/office/powerpoint/2010/main" val="34464250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A8435-B08D-63AE-E0BE-3A3890F3B38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1E84BF7-6498-F91F-37FD-3BFACB95E18A}"/>
              </a:ext>
            </a:extLst>
          </p:cNvPr>
          <p:cNvSpPr>
            <a:spLocks noGrp="1"/>
          </p:cNvSpPr>
          <p:nvPr>
            <p:ph type="title"/>
          </p:nvPr>
        </p:nvSpPr>
        <p:spPr/>
        <p:txBody>
          <a:bodyPr/>
          <a:lstStyle/>
          <a:p>
            <a:pPr algn="ctr"/>
            <a:r>
              <a:rPr lang="fr-FR" dirty="0"/>
              <a:t>Table finale pour 2017</a:t>
            </a:r>
          </a:p>
        </p:txBody>
      </p:sp>
      <p:sp>
        <p:nvSpPr>
          <p:cNvPr id="3" name="Espace réservé du contenu 2">
            <a:extLst>
              <a:ext uri="{FF2B5EF4-FFF2-40B4-BE49-F238E27FC236}">
                <a16:creationId xmlns:a16="http://schemas.microsoft.com/office/drawing/2014/main" id="{6A3E5C4A-B551-E920-C52E-8AB14337608C}"/>
              </a:ext>
            </a:extLst>
          </p:cNvPr>
          <p:cNvSpPr>
            <a:spLocks noGrp="1"/>
          </p:cNvSpPr>
          <p:nvPr>
            <p:ph idx="1"/>
          </p:nvPr>
        </p:nvSpPr>
        <p:spPr>
          <a:xfrm>
            <a:off x="677334" y="2061411"/>
            <a:ext cx="8596668" cy="2866190"/>
          </a:xfrm>
        </p:spPr>
        <p:txBody>
          <a:bodyPr>
            <a:normAutofit/>
          </a:bodyPr>
          <a:lstStyle/>
          <a:p>
            <a:endParaRPr lang="fr-FR" dirty="0"/>
          </a:p>
          <a:p>
            <a:endParaRPr lang="fr-FR" dirty="0"/>
          </a:p>
          <a:p>
            <a:pPr lvl="1"/>
            <a:endParaRPr lang="fr-FR" dirty="0"/>
          </a:p>
          <a:p>
            <a:pPr lvl="1"/>
            <a:endParaRPr lang="fr-FR" dirty="0"/>
          </a:p>
          <a:p>
            <a:pPr lvl="1"/>
            <a:endParaRPr lang="fr-FR" dirty="0"/>
          </a:p>
        </p:txBody>
      </p:sp>
      <p:sp>
        <p:nvSpPr>
          <p:cNvPr id="4" name="Espace réservé du numéro de diapositive 3">
            <a:extLst>
              <a:ext uri="{FF2B5EF4-FFF2-40B4-BE49-F238E27FC236}">
                <a16:creationId xmlns:a16="http://schemas.microsoft.com/office/drawing/2014/main" id="{8F2BD3BB-5E60-47AA-4A87-261F19A6E0BE}"/>
              </a:ext>
            </a:extLst>
          </p:cNvPr>
          <p:cNvSpPr>
            <a:spLocks noGrp="1"/>
          </p:cNvSpPr>
          <p:nvPr>
            <p:ph type="sldNum" sz="quarter" idx="12"/>
          </p:nvPr>
        </p:nvSpPr>
        <p:spPr/>
        <p:txBody>
          <a:bodyPr/>
          <a:lstStyle/>
          <a:p>
            <a:fld id="{FEB8DB5B-EED4-4E84-94B6-873B46059CF5}" type="slidenum">
              <a:rPr lang="fr-FR" smtClean="0"/>
              <a:t>4</a:t>
            </a:fld>
            <a:endParaRPr lang="fr-FR"/>
          </a:p>
        </p:txBody>
      </p:sp>
      <p:pic>
        <p:nvPicPr>
          <p:cNvPr id="6" name="Image 5">
            <a:extLst>
              <a:ext uri="{FF2B5EF4-FFF2-40B4-BE49-F238E27FC236}">
                <a16:creationId xmlns:a16="http://schemas.microsoft.com/office/drawing/2014/main" id="{458D8247-0C25-A698-C4BF-2A90E02098BF}"/>
              </a:ext>
            </a:extLst>
          </p:cNvPr>
          <p:cNvPicPr>
            <a:picLocks noChangeAspect="1"/>
          </p:cNvPicPr>
          <p:nvPr/>
        </p:nvPicPr>
        <p:blipFill>
          <a:blip r:embed="rId3"/>
          <a:stretch>
            <a:fillRect/>
          </a:stretch>
        </p:blipFill>
        <p:spPr>
          <a:xfrm>
            <a:off x="0" y="1455799"/>
            <a:ext cx="12192000" cy="3946401"/>
          </a:xfrm>
          <a:prstGeom prst="rect">
            <a:avLst/>
          </a:prstGeom>
        </p:spPr>
      </p:pic>
      <p:pic>
        <p:nvPicPr>
          <p:cNvPr id="7" name="Image 6">
            <a:extLst>
              <a:ext uri="{FF2B5EF4-FFF2-40B4-BE49-F238E27FC236}">
                <a16:creationId xmlns:a16="http://schemas.microsoft.com/office/drawing/2014/main" id="{CB5FDF15-93CF-0930-5E40-BF779F457E05}"/>
              </a:ext>
            </a:extLst>
          </p:cNvPr>
          <p:cNvPicPr>
            <a:picLocks noChangeAspect="1"/>
          </p:cNvPicPr>
          <p:nvPr/>
        </p:nvPicPr>
        <p:blipFill>
          <a:blip r:embed="rId4"/>
          <a:stretch>
            <a:fillRect/>
          </a:stretch>
        </p:blipFill>
        <p:spPr>
          <a:xfrm>
            <a:off x="846678" y="5858799"/>
            <a:ext cx="7424205" cy="365125"/>
          </a:xfrm>
          <a:prstGeom prst="rect">
            <a:avLst/>
          </a:prstGeom>
        </p:spPr>
      </p:pic>
    </p:spTree>
    <p:extLst>
      <p:ext uri="{BB962C8B-B14F-4D97-AF65-F5344CB8AC3E}">
        <p14:creationId xmlns:p14="http://schemas.microsoft.com/office/powerpoint/2010/main" val="2139243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42EAA-447E-7503-A4DC-CEF87A5DA7B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734D7FF-56D6-7E3B-616A-E3C587C94C56}"/>
              </a:ext>
            </a:extLst>
          </p:cNvPr>
          <p:cNvSpPr>
            <a:spLocks noGrp="1"/>
          </p:cNvSpPr>
          <p:nvPr>
            <p:ph type="title"/>
          </p:nvPr>
        </p:nvSpPr>
        <p:spPr/>
        <p:txBody>
          <a:bodyPr/>
          <a:lstStyle/>
          <a:p>
            <a:r>
              <a:rPr lang="fr-FR" dirty="0"/>
              <a:t>PESTEL</a:t>
            </a:r>
          </a:p>
        </p:txBody>
      </p:sp>
      <p:sp>
        <p:nvSpPr>
          <p:cNvPr id="3" name="Espace réservé du contenu 2">
            <a:extLst>
              <a:ext uri="{FF2B5EF4-FFF2-40B4-BE49-F238E27FC236}">
                <a16:creationId xmlns:a16="http://schemas.microsoft.com/office/drawing/2014/main" id="{D8466845-A1CB-73AB-495D-7504FD2CA4EC}"/>
              </a:ext>
            </a:extLst>
          </p:cNvPr>
          <p:cNvSpPr>
            <a:spLocks noGrp="1"/>
          </p:cNvSpPr>
          <p:nvPr>
            <p:ph idx="1"/>
          </p:nvPr>
        </p:nvSpPr>
        <p:spPr>
          <a:xfrm>
            <a:off x="677334" y="2061411"/>
            <a:ext cx="8596668" cy="2866190"/>
          </a:xfrm>
        </p:spPr>
        <p:txBody>
          <a:bodyPr>
            <a:normAutofit lnSpcReduction="10000"/>
          </a:bodyPr>
          <a:lstStyle/>
          <a:p>
            <a:r>
              <a:rPr lang="fr-FR" dirty="0"/>
              <a:t>Politique = Stabilité politique</a:t>
            </a:r>
          </a:p>
          <a:p>
            <a:pPr lvl="1"/>
            <a:endParaRPr lang="fr-FR" dirty="0"/>
          </a:p>
          <a:p>
            <a:r>
              <a:rPr lang="fr-FR" dirty="0"/>
              <a:t>Economique = Production / Importations / Exportations / PIB</a:t>
            </a:r>
          </a:p>
          <a:p>
            <a:endParaRPr lang="fr-FR" dirty="0"/>
          </a:p>
          <a:p>
            <a:r>
              <a:rPr lang="fr-FR" dirty="0"/>
              <a:t>Social = Disponibilité intérieure / Consommation / Population totale et urbaine</a:t>
            </a:r>
          </a:p>
          <a:p>
            <a:endParaRPr lang="fr-FR" dirty="0"/>
          </a:p>
          <a:p>
            <a:r>
              <a:rPr lang="fr-FR" dirty="0"/>
              <a:t>Technologie = Index infrastructure</a:t>
            </a:r>
          </a:p>
          <a:p>
            <a:endParaRPr lang="fr-FR" dirty="0"/>
          </a:p>
          <a:p>
            <a:endParaRPr lang="fr-FR" dirty="0"/>
          </a:p>
          <a:p>
            <a:pPr lvl="1"/>
            <a:endParaRPr lang="fr-FR" dirty="0"/>
          </a:p>
          <a:p>
            <a:pPr lvl="1"/>
            <a:endParaRPr lang="fr-FR" dirty="0"/>
          </a:p>
          <a:p>
            <a:pPr lvl="1"/>
            <a:endParaRPr lang="fr-FR" dirty="0"/>
          </a:p>
        </p:txBody>
      </p:sp>
      <p:sp>
        <p:nvSpPr>
          <p:cNvPr id="4" name="Espace réservé du numéro de diapositive 3">
            <a:extLst>
              <a:ext uri="{FF2B5EF4-FFF2-40B4-BE49-F238E27FC236}">
                <a16:creationId xmlns:a16="http://schemas.microsoft.com/office/drawing/2014/main" id="{495758A4-9E1D-77C1-716C-3FA017378523}"/>
              </a:ext>
            </a:extLst>
          </p:cNvPr>
          <p:cNvSpPr>
            <a:spLocks noGrp="1"/>
          </p:cNvSpPr>
          <p:nvPr>
            <p:ph type="sldNum" sz="quarter" idx="12"/>
          </p:nvPr>
        </p:nvSpPr>
        <p:spPr/>
        <p:txBody>
          <a:bodyPr/>
          <a:lstStyle/>
          <a:p>
            <a:fld id="{FEB8DB5B-EED4-4E84-94B6-873B46059CF5}" type="slidenum">
              <a:rPr lang="fr-FR" smtClean="0"/>
              <a:t>5</a:t>
            </a:fld>
            <a:endParaRPr lang="fr-FR"/>
          </a:p>
        </p:txBody>
      </p:sp>
    </p:spTree>
    <p:extLst>
      <p:ext uri="{BB962C8B-B14F-4D97-AF65-F5344CB8AC3E}">
        <p14:creationId xmlns:p14="http://schemas.microsoft.com/office/powerpoint/2010/main" val="2432956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0007C-695D-E1A5-B66E-B8AE2B0A26F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435CCE5-E02A-3020-2CB1-5ADB44EDA494}"/>
              </a:ext>
            </a:extLst>
          </p:cNvPr>
          <p:cNvSpPr>
            <a:spLocks noGrp="1"/>
          </p:cNvSpPr>
          <p:nvPr>
            <p:ph type="title"/>
          </p:nvPr>
        </p:nvSpPr>
        <p:spPr/>
        <p:txBody>
          <a:bodyPr>
            <a:normAutofit/>
          </a:bodyPr>
          <a:lstStyle/>
          <a:p>
            <a:pPr algn="ctr"/>
            <a:r>
              <a:rPr lang="fr-FR" sz="4400" dirty="0"/>
              <a:t>Analyse exploratoire</a:t>
            </a:r>
          </a:p>
        </p:txBody>
      </p:sp>
      <p:sp>
        <p:nvSpPr>
          <p:cNvPr id="3" name="Espace réservé du contenu 2">
            <a:extLst>
              <a:ext uri="{FF2B5EF4-FFF2-40B4-BE49-F238E27FC236}">
                <a16:creationId xmlns:a16="http://schemas.microsoft.com/office/drawing/2014/main" id="{6E845EA4-D3F6-A969-8788-1282E50AA2D0}"/>
              </a:ext>
            </a:extLst>
          </p:cNvPr>
          <p:cNvSpPr>
            <a:spLocks noGrp="1"/>
          </p:cNvSpPr>
          <p:nvPr>
            <p:ph idx="1"/>
          </p:nvPr>
        </p:nvSpPr>
        <p:spPr>
          <a:xfrm>
            <a:off x="677334" y="2552786"/>
            <a:ext cx="8596668" cy="2866190"/>
          </a:xfrm>
        </p:spPr>
        <p:txBody>
          <a:bodyPr>
            <a:normAutofit/>
          </a:bodyPr>
          <a:lstStyle/>
          <a:p>
            <a:r>
              <a:rPr lang="fr-FR" dirty="0"/>
              <a:t>La dépendance au importation</a:t>
            </a:r>
          </a:p>
          <a:p>
            <a:pPr lvl="1"/>
            <a:r>
              <a:rPr lang="fr-FR" dirty="0"/>
              <a:t>Quantité d’importations (Kg) / Disponibilité intérieure (Kg)</a:t>
            </a:r>
          </a:p>
          <a:p>
            <a:pPr lvl="1"/>
            <a:r>
              <a:rPr lang="fr-FR" dirty="0"/>
              <a:t>Permet de voir a quel point un pays est dépendant des importations dans le domaine de la viande de volailles</a:t>
            </a:r>
          </a:p>
          <a:p>
            <a:pPr lvl="1"/>
            <a:endParaRPr lang="fr-FR" dirty="0"/>
          </a:p>
          <a:p>
            <a:pPr lvl="1"/>
            <a:endParaRPr lang="fr-FR" dirty="0"/>
          </a:p>
          <a:p>
            <a:pPr lvl="1"/>
            <a:endParaRPr lang="fr-FR" dirty="0"/>
          </a:p>
        </p:txBody>
      </p:sp>
      <p:sp>
        <p:nvSpPr>
          <p:cNvPr id="4" name="Espace réservé du numéro de diapositive 3">
            <a:extLst>
              <a:ext uri="{FF2B5EF4-FFF2-40B4-BE49-F238E27FC236}">
                <a16:creationId xmlns:a16="http://schemas.microsoft.com/office/drawing/2014/main" id="{AA5B3ECA-A182-9441-C138-0569CAF5F738}"/>
              </a:ext>
            </a:extLst>
          </p:cNvPr>
          <p:cNvSpPr>
            <a:spLocks noGrp="1"/>
          </p:cNvSpPr>
          <p:nvPr>
            <p:ph type="sldNum" sz="quarter" idx="12"/>
          </p:nvPr>
        </p:nvSpPr>
        <p:spPr/>
        <p:txBody>
          <a:bodyPr/>
          <a:lstStyle/>
          <a:p>
            <a:fld id="{FEB8DB5B-EED4-4E84-94B6-873B46059CF5}" type="slidenum">
              <a:rPr lang="fr-FR" smtClean="0"/>
              <a:t>6</a:t>
            </a:fld>
            <a:endParaRPr lang="fr-FR"/>
          </a:p>
        </p:txBody>
      </p:sp>
      <p:sp>
        <p:nvSpPr>
          <p:cNvPr id="5" name="Titre 1">
            <a:extLst>
              <a:ext uri="{FF2B5EF4-FFF2-40B4-BE49-F238E27FC236}">
                <a16:creationId xmlns:a16="http://schemas.microsoft.com/office/drawing/2014/main" id="{9BFA4FE1-25C1-0D46-E52D-D83ECDDA0A5E}"/>
              </a:ext>
            </a:extLst>
          </p:cNvPr>
          <p:cNvSpPr txBox="1">
            <a:spLocks/>
          </p:cNvSpPr>
          <p:nvPr/>
        </p:nvSpPr>
        <p:spPr>
          <a:xfrm>
            <a:off x="335664" y="1854372"/>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3200" dirty="0"/>
              <a:t>I- Création de nouvelles variables</a:t>
            </a:r>
          </a:p>
        </p:txBody>
      </p:sp>
      <p:pic>
        <p:nvPicPr>
          <p:cNvPr id="8" name="Image 7">
            <a:extLst>
              <a:ext uri="{FF2B5EF4-FFF2-40B4-BE49-F238E27FC236}">
                <a16:creationId xmlns:a16="http://schemas.microsoft.com/office/drawing/2014/main" id="{6F76B981-959C-75D1-C598-4A283CC52A2A}"/>
              </a:ext>
            </a:extLst>
          </p:cNvPr>
          <p:cNvPicPr>
            <a:picLocks noChangeAspect="1"/>
          </p:cNvPicPr>
          <p:nvPr/>
        </p:nvPicPr>
        <p:blipFill>
          <a:blip r:embed="rId3"/>
          <a:stretch>
            <a:fillRect/>
          </a:stretch>
        </p:blipFill>
        <p:spPr>
          <a:xfrm>
            <a:off x="0" y="4316604"/>
            <a:ext cx="12192000" cy="1413565"/>
          </a:xfrm>
          <a:prstGeom prst="rect">
            <a:avLst/>
          </a:prstGeom>
        </p:spPr>
      </p:pic>
    </p:spTree>
    <p:extLst>
      <p:ext uri="{BB962C8B-B14F-4D97-AF65-F5344CB8AC3E}">
        <p14:creationId xmlns:p14="http://schemas.microsoft.com/office/powerpoint/2010/main" val="2486149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0FD77-DC0B-5A24-E4BA-81B147CF71B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50CCE29-AAC1-35B9-8302-99C53FD6B026}"/>
              </a:ext>
            </a:extLst>
          </p:cNvPr>
          <p:cNvSpPr>
            <a:spLocks noGrp="1"/>
          </p:cNvSpPr>
          <p:nvPr>
            <p:ph type="title"/>
          </p:nvPr>
        </p:nvSpPr>
        <p:spPr/>
        <p:txBody>
          <a:bodyPr>
            <a:normAutofit/>
          </a:bodyPr>
          <a:lstStyle/>
          <a:p>
            <a:pPr algn="ctr"/>
            <a:r>
              <a:rPr lang="fr-FR" sz="4400" dirty="0"/>
              <a:t>Analyse exploratoire</a:t>
            </a:r>
          </a:p>
        </p:txBody>
      </p:sp>
      <p:sp>
        <p:nvSpPr>
          <p:cNvPr id="3" name="Espace réservé du contenu 2">
            <a:extLst>
              <a:ext uri="{FF2B5EF4-FFF2-40B4-BE49-F238E27FC236}">
                <a16:creationId xmlns:a16="http://schemas.microsoft.com/office/drawing/2014/main" id="{B21453F4-141E-3753-56B4-56D5D9DD7DB2}"/>
              </a:ext>
            </a:extLst>
          </p:cNvPr>
          <p:cNvSpPr>
            <a:spLocks noGrp="1"/>
          </p:cNvSpPr>
          <p:nvPr>
            <p:ph idx="1"/>
          </p:nvPr>
        </p:nvSpPr>
        <p:spPr>
          <a:xfrm>
            <a:off x="677334" y="2552786"/>
            <a:ext cx="8596668" cy="2866190"/>
          </a:xfrm>
        </p:spPr>
        <p:txBody>
          <a:bodyPr>
            <a:normAutofit/>
          </a:bodyPr>
          <a:lstStyle/>
          <a:p>
            <a:r>
              <a:rPr lang="fr-FR" dirty="0"/>
              <a:t>L’autosuffisance</a:t>
            </a:r>
          </a:p>
          <a:p>
            <a:pPr lvl="1"/>
            <a:r>
              <a:rPr lang="fr-FR" dirty="0"/>
              <a:t>Production (Kg) / Disponibilité intérieure (Kg)</a:t>
            </a:r>
          </a:p>
          <a:p>
            <a:pPr lvl="1"/>
            <a:r>
              <a:rPr lang="fr-FR" dirty="0"/>
              <a:t>Permet cette fois de voir l’autosuffisance d’un pays au niveau de sa production de volailles</a:t>
            </a:r>
          </a:p>
          <a:p>
            <a:pPr lvl="1"/>
            <a:endParaRPr lang="fr-FR" dirty="0"/>
          </a:p>
          <a:p>
            <a:pPr lvl="1"/>
            <a:endParaRPr lang="fr-FR" dirty="0"/>
          </a:p>
          <a:p>
            <a:pPr lvl="1"/>
            <a:endParaRPr lang="fr-FR" dirty="0"/>
          </a:p>
        </p:txBody>
      </p:sp>
      <p:sp>
        <p:nvSpPr>
          <p:cNvPr id="4" name="Espace réservé du numéro de diapositive 3">
            <a:extLst>
              <a:ext uri="{FF2B5EF4-FFF2-40B4-BE49-F238E27FC236}">
                <a16:creationId xmlns:a16="http://schemas.microsoft.com/office/drawing/2014/main" id="{4E22A00B-475B-9904-2577-07359DF67B6E}"/>
              </a:ext>
            </a:extLst>
          </p:cNvPr>
          <p:cNvSpPr>
            <a:spLocks noGrp="1"/>
          </p:cNvSpPr>
          <p:nvPr>
            <p:ph type="sldNum" sz="quarter" idx="12"/>
          </p:nvPr>
        </p:nvSpPr>
        <p:spPr/>
        <p:txBody>
          <a:bodyPr/>
          <a:lstStyle/>
          <a:p>
            <a:fld id="{FEB8DB5B-EED4-4E84-94B6-873B46059CF5}" type="slidenum">
              <a:rPr lang="fr-FR" smtClean="0"/>
              <a:t>7</a:t>
            </a:fld>
            <a:endParaRPr lang="fr-FR"/>
          </a:p>
        </p:txBody>
      </p:sp>
      <p:sp>
        <p:nvSpPr>
          <p:cNvPr id="5" name="Titre 1">
            <a:extLst>
              <a:ext uri="{FF2B5EF4-FFF2-40B4-BE49-F238E27FC236}">
                <a16:creationId xmlns:a16="http://schemas.microsoft.com/office/drawing/2014/main" id="{E7F70DD4-7B8C-9C60-4042-CF28DFDC02BE}"/>
              </a:ext>
            </a:extLst>
          </p:cNvPr>
          <p:cNvSpPr txBox="1">
            <a:spLocks/>
          </p:cNvSpPr>
          <p:nvPr/>
        </p:nvSpPr>
        <p:spPr>
          <a:xfrm>
            <a:off x="335664" y="1854372"/>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3200" dirty="0"/>
              <a:t>I- Création de nouvelles variables</a:t>
            </a:r>
          </a:p>
        </p:txBody>
      </p:sp>
      <p:pic>
        <p:nvPicPr>
          <p:cNvPr id="7" name="Image 6">
            <a:extLst>
              <a:ext uri="{FF2B5EF4-FFF2-40B4-BE49-F238E27FC236}">
                <a16:creationId xmlns:a16="http://schemas.microsoft.com/office/drawing/2014/main" id="{398BF5FB-F867-4E6E-17CE-44AF9EF1CA05}"/>
              </a:ext>
            </a:extLst>
          </p:cNvPr>
          <p:cNvPicPr>
            <a:picLocks noChangeAspect="1"/>
          </p:cNvPicPr>
          <p:nvPr/>
        </p:nvPicPr>
        <p:blipFill>
          <a:blip r:embed="rId3"/>
          <a:stretch>
            <a:fillRect/>
          </a:stretch>
        </p:blipFill>
        <p:spPr>
          <a:xfrm>
            <a:off x="0" y="4315639"/>
            <a:ext cx="12192000" cy="1725723"/>
          </a:xfrm>
          <a:prstGeom prst="rect">
            <a:avLst/>
          </a:prstGeom>
        </p:spPr>
      </p:pic>
    </p:spTree>
    <p:extLst>
      <p:ext uri="{BB962C8B-B14F-4D97-AF65-F5344CB8AC3E}">
        <p14:creationId xmlns:p14="http://schemas.microsoft.com/office/powerpoint/2010/main" val="696732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4794D-D16C-F02C-BF7B-9D6D6A21D7E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2321CE3-EFB5-A708-7CF0-5FB2DCD617AF}"/>
              </a:ext>
            </a:extLst>
          </p:cNvPr>
          <p:cNvSpPr>
            <a:spLocks noGrp="1"/>
          </p:cNvSpPr>
          <p:nvPr>
            <p:ph type="title"/>
          </p:nvPr>
        </p:nvSpPr>
        <p:spPr/>
        <p:txBody>
          <a:bodyPr>
            <a:normAutofit/>
          </a:bodyPr>
          <a:lstStyle/>
          <a:p>
            <a:pPr algn="ctr"/>
            <a:r>
              <a:rPr lang="fr-FR" sz="4400" dirty="0"/>
              <a:t>Analyse exploratoire</a:t>
            </a:r>
          </a:p>
        </p:txBody>
      </p:sp>
      <p:sp>
        <p:nvSpPr>
          <p:cNvPr id="3" name="Espace réservé du contenu 2">
            <a:extLst>
              <a:ext uri="{FF2B5EF4-FFF2-40B4-BE49-F238E27FC236}">
                <a16:creationId xmlns:a16="http://schemas.microsoft.com/office/drawing/2014/main" id="{277D27E1-ED83-CE94-4ED6-120530790873}"/>
              </a:ext>
            </a:extLst>
          </p:cNvPr>
          <p:cNvSpPr>
            <a:spLocks noGrp="1"/>
          </p:cNvSpPr>
          <p:nvPr>
            <p:ph idx="1"/>
          </p:nvPr>
        </p:nvSpPr>
        <p:spPr>
          <a:xfrm>
            <a:off x="677334" y="2552786"/>
            <a:ext cx="8596668" cy="2866190"/>
          </a:xfrm>
        </p:spPr>
        <p:txBody>
          <a:bodyPr>
            <a:normAutofit/>
          </a:bodyPr>
          <a:lstStyle/>
          <a:p>
            <a:r>
              <a:rPr lang="fr-FR" dirty="0"/>
              <a:t>Le taux de population urbaine</a:t>
            </a:r>
          </a:p>
          <a:p>
            <a:pPr lvl="1"/>
            <a:r>
              <a:rPr lang="fr-FR" dirty="0"/>
              <a:t>(Population urbaine / Population totale du pays) * 100</a:t>
            </a:r>
          </a:p>
          <a:p>
            <a:pPr lvl="1"/>
            <a:r>
              <a:rPr lang="fr-FR" dirty="0"/>
              <a:t>Permet de voir a quel point un pays urbanisé</a:t>
            </a:r>
          </a:p>
          <a:p>
            <a:pPr lvl="1"/>
            <a:endParaRPr lang="fr-FR" dirty="0"/>
          </a:p>
          <a:p>
            <a:pPr lvl="1"/>
            <a:endParaRPr lang="fr-FR" dirty="0"/>
          </a:p>
          <a:p>
            <a:pPr lvl="1"/>
            <a:endParaRPr lang="fr-FR" dirty="0"/>
          </a:p>
        </p:txBody>
      </p:sp>
      <p:sp>
        <p:nvSpPr>
          <p:cNvPr id="4" name="Espace réservé du numéro de diapositive 3">
            <a:extLst>
              <a:ext uri="{FF2B5EF4-FFF2-40B4-BE49-F238E27FC236}">
                <a16:creationId xmlns:a16="http://schemas.microsoft.com/office/drawing/2014/main" id="{52DD2575-4568-63FD-6A34-278995672A8C}"/>
              </a:ext>
            </a:extLst>
          </p:cNvPr>
          <p:cNvSpPr>
            <a:spLocks noGrp="1"/>
          </p:cNvSpPr>
          <p:nvPr>
            <p:ph type="sldNum" sz="quarter" idx="12"/>
          </p:nvPr>
        </p:nvSpPr>
        <p:spPr/>
        <p:txBody>
          <a:bodyPr/>
          <a:lstStyle/>
          <a:p>
            <a:fld id="{FEB8DB5B-EED4-4E84-94B6-873B46059CF5}" type="slidenum">
              <a:rPr lang="fr-FR" smtClean="0"/>
              <a:t>8</a:t>
            </a:fld>
            <a:endParaRPr lang="fr-FR"/>
          </a:p>
        </p:txBody>
      </p:sp>
      <p:sp>
        <p:nvSpPr>
          <p:cNvPr id="5" name="Titre 1">
            <a:extLst>
              <a:ext uri="{FF2B5EF4-FFF2-40B4-BE49-F238E27FC236}">
                <a16:creationId xmlns:a16="http://schemas.microsoft.com/office/drawing/2014/main" id="{6C51766B-CE44-E515-653E-CC07619378A2}"/>
              </a:ext>
            </a:extLst>
          </p:cNvPr>
          <p:cNvSpPr txBox="1">
            <a:spLocks/>
          </p:cNvSpPr>
          <p:nvPr/>
        </p:nvSpPr>
        <p:spPr>
          <a:xfrm>
            <a:off x="335664" y="1854372"/>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3200" dirty="0"/>
              <a:t>I- Création de nouvelles variables</a:t>
            </a:r>
          </a:p>
        </p:txBody>
      </p:sp>
      <p:pic>
        <p:nvPicPr>
          <p:cNvPr id="7" name="Image 6">
            <a:extLst>
              <a:ext uri="{FF2B5EF4-FFF2-40B4-BE49-F238E27FC236}">
                <a16:creationId xmlns:a16="http://schemas.microsoft.com/office/drawing/2014/main" id="{E59F569B-06E6-078A-2221-9F020DD3775A}"/>
              </a:ext>
            </a:extLst>
          </p:cNvPr>
          <p:cNvPicPr>
            <a:picLocks noChangeAspect="1"/>
          </p:cNvPicPr>
          <p:nvPr/>
        </p:nvPicPr>
        <p:blipFill>
          <a:blip r:embed="rId3"/>
          <a:stretch>
            <a:fillRect/>
          </a:stretch>
        </p:blipFill>
        <p:spPr>
          <a:xfrm>
            <a:off x="0" y="4267846"/>
            <a:ext cx="12192000" cy="1462323"/>
          </a:xfrm>
          <a:prstGeom prst="rect">
            <a:avLst/>
          </a:prstGeom>
        </p:spPr>
      </p:pic>
    </p:spTree>
    <p:extLst>
      <p:ext uri="{BB962C8B-B14F-4D97-AF65-F5344CB8AC3E}">
        <p14:creationId xmlns:p14="http://schemas.microsoft.com/office/powerpoint/2010/main" val="3874951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D3AD4-E805-C74B-0B2C-C1267052F2B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677EECF-7223-5A15-11DB-2381E0CDC9C3}"/>
              </a:ext>
            </a:extLst>
          </p:cNvPr>
          <p:cNvSpPr>
            <a:spLocks noGrp="1"/>
          </p:cNvSpPr>
          <p:nvPr>
            <p:ph type="title"/>
          </p:nvPr>
        </p:nvSpPr>
        <p:spPr>
          <a:xfrm>
            <a:off x="677334" y="37765"/>
            <a:ext cx="8596668" cy="1320800"/>
          </a:xfrm>
        </p:spPr>
        <p:txBody>
          <a:bodyPr>
            <a:normAutofit/>
          </a:bodyPr>
          <a:lstStyle/>
          <a:p>
            <a:pPr algn="ctr"/>
            <a:r>
              <a:rPr lang="fr-FR" sz="4400" dirty="0"/>
              <a:t>Analyse exploratoire</a:t>
            </a:r>
          </a:p>
        </p:txBody>
      </p:sp>
      <p:sp>
        <p:nvSpPr>
          <p:cNvPr id="4" name="Espace réservé du numéro de diapositive 3">
            <a:extLst>
              <a:ext uri="{FF2B5EF4-FFF2-40B4-BE49-F238E27FC236}">
                <a16:creationId xmlns:a16="http://schemas.microsoft.com/office/drawing/2014/main" id="{B4BC0792-A1E3-32A5-0671-AEFF4E92964D}"/>
              </a:ext>
            </a:extLst>
          </p:cNvPr>
          <p:cNvSpPr>
            <a:spLocks noGrp="1"/>
          </p:cNvSpPr>
          <p:nvPr>
            <p:ph type="sldNum" sz="quarter" idx="12"/>
          </p:nvPr>
        </p:nvSpPr>
        <p:spPr/>
        <p:txBody>
          <a:bodyPr/>
          <a:lstStyle/>
          <a:p>
            <a:fld id="{FEB8DB5B-EED4-4E84-94B6-873B46059CF5}" type="slidenum">
              <a:rPr lang="fr-FR" smtClean="0"/>
              <a:t>9</a:t>
            </a:fld>
            <a:endParaRPr lang="fr-FR"/>
          </a:p>
        </p:txBody>
      </p:sp>
      <p:sp>
        <p:nvSpPr>
          <p:cNvPr id="5" name="Titre 1">
            <a:extLst>
              <a:ext uri="{FF2B5EF4-FFF2-40B4-BE49-F238E27FC236}">
                <a16:creationId xmlns:a16="http://schemas.microsoft.com/office/drawing/2014/main" id="{0AD44C35-8582-C8FE-AFF3-92D0D3764D25}"/>
              </a:ext>
            </a:extLst>
          </p:cNvPr>
          <p:cNvSpPr txBox="1">
            <a:spLocks/>
          </p:cNvSpPr>
          <p:nvPr/>
        </p:nvSpPr>
        <p:spPr>
          <a:xfrm>
            <a:off x="335664" y="698165"/>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3200" dirty="0"/>
              <a:t>II- Les tops</a:t>
            </a:r>
          </a:p>
        </p:txBody>
      </p:sp>
      <p:pic>
        <p:nvPicPr>
          <p:cNvPr id="6" name="Image 5">
            <a:extLst>
              <a:ext uri="{FF2B5EF4-FFF2-40B4-BE49-F238E27FC236}">
                <a16:creationId xmlns:a16="http://schemas.microsoft.com/office/drawing/2014/main" id="{55A375EE-A0FF-5506-C18F-28BA8AA5CA87}"/>
              </a:ext>
            </a:extLst>
          </p:cNvPr>
          <p:cNvPicPr>
            <a:picLocks noChangeAspect="1"/>
          </p:cNvPicPr>
          <p:nvPr/>
        </p:nvPicPr>
        <p:blipFill>
          <a:blip r:embed="rId3"/>
          <a:stretch>
            <a:fillRect/>
          </a:stretch>
        </p:blipFill>
        <p:spPr>
          <a:xfrm>
            <a:off x="431514" y="1412779"/>
            <a:ext cx="8243431" cy="5234769"/>
          </a:xfrm>
          <a:prstGeom prst="rect">
            <a:avLst/>
          </a:prstGeom>
        </p:spPr>
      </p:pic>
    </p:spTree>
    <p:extLst>
      <p:ext uri="{BB962C8B-B14F-4D97-AF65-F5344CB8AC3E}">
        <p14:creationId xmlns:p14="http://schemas.microsoft.com/office/powerpoint/2010/main" val="2990580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6D567-18AC-4100-0C31-D2BF6FE04C5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25E6945-DAED-5912-A2D7-CAD04EEC3780}"/>
              </a:ext>
            </a:extLst>
          </p:cNvPr>
          <p:cNvSpPr>
            <a:spLocks noGrp="1"/>
          </p:cNvSpPr>
          <p:nvPr>
            <p:ph type="title"/>
          </p:nvPr>
        </p:nvSpPr>
        <p:spPr>
          <a:xfrm>
            <a:off x="677334" y="37765"/>
            <a:ext cx="8596668" cy="1320800"/>
          </a:xfrm>
        </p:spPr>
        <p:txBody>
          <a:bodyPr>
            <a:normAutofit/>
          </a:bodyPr>
          <a:lstStyle/>
          <a:p>
            <a:pPr algn="ctr"/>
            <a:r>
              <a:rPr lang="fr-FR" sz="4400" dirty="0"/>
              <a:t>Analyse exploratoire</a:t>
            </a:r>
          </a:p>
        </p:txBody>
      </p:sp>
      <p:sp>
        <p:nvSpPr>
          <p:cNvPr id="4" name="Espace réservé du numéro de diapositive 3">
            <a:extLst>
              <a:ext uri="{FF2B5EF4-FFF2-40B4-BE49-F238E27FC236}">
                <a16:creationId xmlns:a16="http://schemas.microsoft.com/office/drawing/2014/main" id="{D39C80B9-B3F5-895E-04FC-2D35E7CC6F89}"/>
              </a:ext>
            </a:extLst>
          </p:cNvPr>
          <p:cNvSpPr>
            <a:spLocks noGrp="1"/>
          </p:cNvSpPr>
          <p:nvPr>
            <p:ph type="sldNum" sz="quarter" idx="12"/>
          </p:nvPr>
        </p:nvSpPr>
        <p:spPr/>
        <p:txBody>
          <a:bodyPr/>
          <a:lstStyle/>
          <a:p>
            <a:fld id="{FEB8DB5B-EED4-4E84-94B6-873B46059CF5}" type="slidenum">
              <a:rPr lang="fr-FR" smtClean="0"/>
              <a:t>10</a:t>
            </a:fld>
            <a:endParaRPr lang="fr-FR"/>
          </a:p>
        </p:txBody>
      </p:sp>
      <p:sp>
        <p:nvSpPr>
          <p:cNvPr id="5" name="Titre 1">
            <a:extLst>
              <a:ext uri="{FF2B5EF4-FFF2-40B4-BE49-F238E27FC236}">
                <a16:creationId xmlns:a16="http://schemas.microsoft.com/office/drawing/2014/main" id="{9BCC1831-948D-5641-3B1F-E6693F844CB8}"/>
              </a:ext>
            </a:extLst>
          </p:cNvPr>
          <p:cNvSpPr txBox="1">
            <a:spLocks/>
          </p:cNvSpPr>
          <p:nvPr/>
        </p:nvSpPr>
        <p:spPr>
          <a:xfrm>
            <a:off x="335664" y="698165"/>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3200" dirty="0"/>
              <a:t>II- Les tops</a:t>
            </a:r>
          </a:p>
        </p:txBody>
      </p:sp>
      <p:pic>
        <p:nvPicPr>
          <p:cNvPr id="6" name="Image 5">
            <a:extLst>
              <a:ext uri="{FF2B5EF4-FFF2-40B4-BE49-F238E27FC236}">
                <a16:creationId xmlns:a16="http://schemas.microsoft.com/office/drawing/2014/main" id="{BBDE301D-53A7-6D21-D10A-17FAAF02B4D7}"/>
              </a:ext>
            </a:extLst>
          </p:cNvPr>
          <p:cNvPicPr>
            <a:picLocks noChangeAspect="1"/>
          </p:cNvPicPr>
          <p:nvPr/>
        </p:nvPicPr>
        <p:blipFill>
          <a:blip r:embed="rId3"/>
          <a:stretch>
            <a:fillRect/>
          </a:stretch>
        </p:blipFill>
        <p:spPr>
          <a:xfrm>
            <a:off x="508940" y="1358565"/>
            <a:ext cx="8423392" cy="5461670"/>
          </a:xfrm>
          <a:prstGeom prst="rect">
            <a:avLst/>
          </a:prstGeom>
        </p:spPr>
      </p:pic>
    </p:spTree>
    <p:extLst>
      <p:ext uri="{BB962C8B-B14F-4D97-AF65-F5344CB8AC3E}">
        <p14:creationId xmlns:p14="http://schemas.microsoft.com/office/powerpoint/2010/main" val="13301355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80F5F-5774-3E31-0455-08ADD5BCABE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95306D0-F13C-38A5-57F9-EC7074AD4931}"/>
              </a:ext>
            </a:extLst>
          </p:cNvPr>
          <p:cNvSpPr>
            <a:spLocks noGrp="1"/>
          </p:cNvSpPr>
          <p:nvPr>
            <p:ph type="title"/>
          </p:nvPr>
        </p:nvSpPr>
        <p:spPr>
          <a:xfrm>
            <a:off x="677334" y="397963"/>
            <a:ext cx="8596668" cy="1320800"/>
          </a:xfrm>
        </p:spPr>
        <p:txBody>
          <a:bodyPr>
            <a:normAutofit/>
          </a:bodyPr>
          <a:lstStyle/>
          <a:p>
            <a:pPr algn="ctr"/>
            <a:r>
              <a:rPr lang="fr-FR" sz="4400" dirty="0"/>
              <a:t>Analyse exploratoire</a:t>
            </a:r>
          </a:p>
        </p:txBody>
      </p:sp>
      <p:sp>
        <p:nvSpPr>
          <p:cNvPr id="4" name="Espace réservé du numéro de diapositive 3">
            <a:extLst>
              <a:ext uri="{FF2B5EF4-FFF2-40B4-BE49-F238E27FC236}">
                <a16:creationId xmlns:a16="http://schemas.microsoft.com/office/drawing/2014/main" id="{465C5118-39DA-E9D0-C648-0A1BF584DC53}"/>
              </a:ext>
            </a:extLst>
          </p:cNvPr>
          <p:cNvSpPr>
            <a:spLocks noGrp="1"/>
          </p:cNvSpPr>
          <p:nvPr>
            <p:ph type="sldNum" sz="quarter" idx="12"/>
          </p:nvPr>
        </p:nvSpPr>
        <p:spPr/>
        <p:txBody>
          <a:bodyPr/>
          <a:lstStyle/>
          <a:p>
            <a:fld id="{FEB8DB5B-EED4-4E84-94B6-873B46059CF5}" type="slidenum">
              <a:rPr lang="fr-FR" smtClean="0"/>
              <a:t>11</a:t>
            </a:fld>
            <a:endParaRPr lang="fr-FR"/>
          </a:p>
        </p:txBody>
      </p:sp>
      <p:sp>
        <p:nvSpPr>
          <p:cNvPr id="5" name="Titre 1">
            <a:extLst>
              <a:ext uri="{FF2B5EF4-FFF2-40B4-BE49-F238E27FC236}">
                <a16:creationId xmlns:a16="http://schemas.microsoft.com/office/drawing/2014/main" id="{4C4C5374-9235-83A6-0E8C-BAA08A7B53DF}"/>
              </a:ext>
            </a:extLst>
          </p:cNvPr>
          <p:cNvSpPr txBox="1">
            <a:spLocks/>
          </p:cNvSpPr>
          <p:nvPr/>
        </p:nvSpPr>
        <p:spPr>
          <a:xfrm>
            <a:off x="335664" y="1718763"/>
            <a:ext cx="9178450"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3200" dirty="0"/>
              <a:t>III- Les </a:t>
            </a:r>
            <a:r>
              <a:rPr lang="fr-FR" sz="3200" dirty="0" err="1"/>
              <a:t>outliers</a:t>
            </a:r>
            <a:r>
              <a:rPr lang="fr-FR" sz="3200" dirty="0"/>
              <a:t> (importations et autosuffisance)</a:t>
            </a:r>
          </a:p>
        </p:txBody>
      </p:sp>
      <p:pic>
        <p:nvPicPr>
          <p:cNvPr id="6" name="Image 5">
            <a:extLst>
              <a:ext uri="{FF2B5EF4-FFF2-40B4-BE49-F238E27FC236}">
                <a16:creationId xmlns:a16="http://schemas.microsoft.com/office/drawing/2014/main" id="{DC922503-549B-246D-FC6E-646FC6607C4A}"/>
              </a:ext>
            </a:extLst>
          </p:cNvPr>
          <p:cNvPicPr>
            <a:picLocks noChangeAspect="1"/>
          </p:cNvPicPr>
          <p:nvPr/>
        </p:nvPicPr>
        <p:blipFill>
          <a:blip r:embed="rId3"/>
          <a:stretch>
            <a:fillRect/>
          </a:stretch>
        </p:blipFill>
        <p:spPr>
          <a:xfrm>
            <a:off x="677334" y="3039563"/>
            <a:ext cx="2410161" cy="1028844"/>
          </a:xfrm>
          <a:prstGeom prst="rect">
            <a:avLst/>
          </a:prstGeom>
        </p:spPr>
      </p:pic>
      <p:pic>
        <p:nvPicPr>
          <p:cNvPr id="9" name="Image 8">
            <a:extLst>
              <a:ext uri="{FF2B5EF4-FFF2-40B4-BE49-F238E27FC236}">
                <a16:creationId xmlns:a16="http://schemas.microsoft.com/office/drawing/2014/main" id="{A8B53448-1528-6E84-BCB7-4D2FD0A16972}"/>
              </a:ext>
            </a:extLst>
          </p:cNvPr>
          <p:cNvPicPr>
            <a:picLocks noChangeAspect="1"/>
          </p:cNvPicPr>
          <p:nvPr/>
        </p:nvPicPr>
        <p:blipFill>
          <a:blip r:embed="rId4"/>
          <a:stretch>
            <a:fillRect/>
          </a:stretch>
        </p:blipFill>
        <p:spPr>
          <a:xfrm>
            <a:off x="3601338" y="3039563"/>
            <a:ext cx="2734057" cy="3620005"/>
          </a:xfrm>
          <a:prstGeom prst="rect">
            <a:avLst/>
          </a:prstGeom>
        </p:spPr>
      </p:pic>
      <p:pic>
        <p:nvPicPr>
          <p:cNvPr id="11" name="Image 10">
            <a:extLst>
              <a:ext uri="{FF2B5EF4-FFF2-40B4-BE49-F238E27FC236}">
                <a16:creationId xmlns:a16="http://schemas.microsoft.com/office/drawing/2014/main" id="{128C64F3-8ECD-3788-D74E-374223A94F4A}"/>
              </a:ext>
            </a:extLst>
          </p:cNvPr>
          <p:cNvPicPr>
            <a:picLocks noChangeAspect="1"/>
          </p:cNvPicPr>
          <p:nvPr/>
        </p:nvPicPr>
        <p:blipFill>
          <a:blip r:embed="rId5"/>
          <a:stretch>
            <a:fillRect/>
          </a:stretch>
        </p:blipFill>
        <p:spPr>
          <a:xfrm>
            <a:off x="6997212" y="4466290"/>
            <a:ext cx="3429479" cy="285790"/>
          </a:xfrm>
          <a:prstGeom prst="rect">
            <a:avLst/>
          </a:prstGeom>
          <a:ln w="38100">
            <a:solidFill>
              <a:schemeClr val="accent5"/>
            </a:solidFill>
          </a:ln>
        </p:spPr>
      </p:pic>
      <p:sp>
        <p:nvSpPr>
          <p:cNvPr id="7" name="Accolade ouvrante 6">
            <a:extLst>
              <a:ext uri="{FF2B5EF4-FFF2-40B4-BE49-F238E27FC236}">
                <a16:creationId xmlns:a16="http://schemas.microsoft.com/office/drawing/2014/main" id="{A6307BE6-5B25-C6B4-3BA8-1037579C4F32}"/>
              </a:ext>
            </a:extLst>
          </p:cNvPr>
          <p:cNvSpPr/>
          <p:nvPr/>
        </p:nvSpPr>
        <p:spPr>
          <a:xfrm rot="5400000">
            <a:off x="1743008" y="1688411"/>
            <a:ext cx="278810" cy="2410161"/>
          </a:xfrm>
          <a:prstGeom prst="leftBrace">
            <a:avLst>
              <a:gd name="adj1" fmla="val 8333"/>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8" name="Accolade ouvrante 7">
            <a:extLst>
              <a:ext uri="{FF2B5EF4-FFF2-40B4-BE49-F238E27FC236}">
                <a16:creationId xmlns:a16="http://schemas.microsoft.com/office/drawing/2014/main" id="{DC356A89-3432-A9CA-F32A-91EC8B38E64C}"/>
              </a:ext>
            </a:extLst>
          </p:cNvPr>
          <p:cNvSpPr/>
          <p:nvPr/>
        </p:nvSpPr>
        <p:spPr>
          <a:xfrm rot="5400000">
            <a:off x="4828961" y="1526464"/>
            <a:ext cx="278810" cy="2734056"/>
          </a:xfrm>
          <a:prstGeom prst="leftBrace">
            <a:avLst>
              <a:gd name="adj1" fmla="val 8333"/>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0" name="ZoneTexte 9">
            <a:extLst>
              <a:ext uri="{FF2B5EF4-FFF2-40B4-BE49-F238E27FC236}">
                <a16:creationId xmlns:a16="http://schemas.microsoft.com/office/drawing/2014/main" id="{5A1EE0AF-4AD9-69D8-C6F1-1235FD1928CF}"/>
              </a:ext>
            </a:extLst>
          </p:cNvPr>
          <p:cNvSpPr txBox="1"/>
          <p:nvPr/>
        </p:nvSpPr>
        <p:spPr>
          <a:xfrm>
            <a:off x="763420" y="2369321"/>
            <a:ext cx="2410162" cy="369332"/>
          </a:xfrm>
          <a:prstGeom prst="rect">
            <a:avLst/>
          </a:prstGeom>
          <a:noFill/>
        </p:spPr>
        <p:txBody>
          <a:bodyPr wrap="square" rtlCol="0">
            <a:spAutoFit/>
          </a:bodyPr>
          <a:lstStyle/>
          <a:p>
            <a:pPr algn="ctr"/>
            <a:r>
              <a:rPr lang="fr-FR" b="1" dirty="0"/>
              <a:t>Importations</a:t>
            </a:r>
          </a:p>
        </p:txBody>
      </p:sp>
      <p:sp>
        <p:nvSpPr>
          <p:cNvPr id="12" name="ZoneTexte 11">
            <a:extLst>
              <a:ext uri="{FF2B5EF4-FFF2-40B4-BE49-F238E27FC236}">
                <a16:creationId xmlns:a16="http://schemas.microsoft.com/office/drawing/2014/main" id="{756E0FB0-70CF-B16D-39AD-49AB6EC2A083}"/>
              </a:ext>
            </a:extLst>
          </p:cNvPr>
          <p:cNvSpPr txBox="1"/>
          <p:nvPr/>
        </p:nvSpPr>
        <p:spPr>
          <a:xfrm>
            <a:off x="3687426" y="2384754"/>
            <a:ext cx="2734055" cy="369332"/>
          </a:xfrm>
          <a:prstGeom prst="rect">
            <a:avLst/>
          </a:prstGeom>
          <a:noFill/>
        </p:spPr>
        <p:txBody>
          <a:bodyPr wrap="square" rtlCol="0">
            <a:spAutoFit/>
          </a:bodyPr>
          <a:lstStyle/>
          <a:p>
            <a:pPr algn="ctr"/>
            <a:r>
              <a:rPr lang="fr-FR" b="1" dirty="0"/>
              <a:t>Autosuffisance</a:t>
            </a:r>
          </a:p>
        </p:txBody>
      </p:sp>
      <p:sp>
        <p:nvSpPr>
          <p:cNvPr id="13" name="ZoneTexte 12">
            <a:extLst>
              <a:ext uri="{FF2B5EF4-FFF2-40B4-BE49-F238E27FC236}">
                <a16:creationId xmlns:a16="http://schemas.microsoft.com/office/drawing/2014/main" id="{EEA19662-BB5A-9958-BC3D-6C070055B836}"/>
              </a:ext>
            </a:extLst>
          </p:cNvPr>
          <p:cNvSpPr txBox="1"/>
          <p:nvPr/>
        </p:nvSpPr>
        <p:spPr>
          <a:xfrm>
            <a:off x="7060980" y="3054996"/>
            <a:ext cx="2734055" cy="369332"/>
          </a:xfrm>
          <a:prstGeom prst="rect">
            <a:avLst/>
          </a:prstGeom>
          <a:noFill/>
          <a:ln>
            <a:solidFill>
              <a:schemeClr val="accent5"/>
            </a:solidFill>
          </a:ln>
        </p:spPr>
        <p:txBody>
          <a:bodyPr wrap="square" rtlCol="0">
            <a:spAutoFit/>
          </a:bodyPr>
          <a:lstStyle/>
          <a:p>
            <a:pPr algn="ctr"/>
            <a:r>
              <a:rPr lang="fr-FR" b="1" dirty="0"/>
              <a:t>Explication Belgique</a:t>
            </a:r>
          </a:p>
        </p:txBody>
      </p:sp>
      <p:sp>
        <p:nvSpPr>
          <p:cNvPr id="14" name="Flèche : bas 13">
            <a:extLst>
              <a:ext uri="{FF2B5EF4-FFF2-40B4-BE49-F238E27FC236}">
                <a16:creationId xmlns:a16="http://schemas.microsoft.com/office/drawing/2014/main" id="{1226AA8C-A78D-3BC2-4E57-E4BA58C7B736}"/>
              </a:ext>
            </a:extLst>
          </p:cNvPr>
          <p:cNvSpPr/>
          <p:nvPr/>
        </p:nvSpPr>
        <p:spPr>
          <a:xfrm>
            <a:off x="8144060" y="3488240"/>
            <a:ext cx="567892" cy="914138"/>
          </a:xfrm>
          <a:prstGeom prst="down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062060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p:cTn id="17" dur="500" fill="hold"/>
                                        <p:tgtEl>
                                          <p:spTgt spid="10"/>
                                        </p:tgtEl>
                                        <p:attrNameLst>
                                          <p:attrName>ppt_w</p:attrName>
                                        </p:attrNameLst>
                                      </p:cBhvr>
                                      <p:tavLst>
                                        <p:tav tm="0">
                                          <p:val>
                                            <p:fltVal val="0"/>
                                          </p:val>
                                        </p:tav>
                                        <p:tav tm="100000">
                                          <p:val>
                                            <p:strVal val="#ppt_w"/>
                                          </p:val>
                                        </p:tav>
                                      </p:tavLst>
                                    </p:anim>
                                    <p:anim calcmode="lin" valueType="num">
                                      <p:cBhvr>
                                        <p:cTn id="18" dur="500" fill="hold"/>
                                        <p:tgtEl>
                                          <p:spTgt spid="10"/>
                                        </p:tgtEl>
                                        <p:attrNameLst>
                                          <p:attrName>ppt_h</p:attrName>
                                        </p:attrNameLst>
                                      </p:cBhvr>
                                      <p:tavLst>
                                        <p:tav tm="0">
                                          <p:val>
                                            <p:fltVal val="0"/>
                                          </p:val>
                                        </p:tav>
                                        <p:tav tm="100000">
                                          <p:val>
                                            <p:strVal val="#ppt_h"/>
                                          </p:val>
                                        </p:tav>
                                      </p:tavLst>
                                    </p:anim>
                                    <p:animEffect transition="in" filter="fade">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p:cTn id="24" dur="500" fill="hold"/>
                                        <p:tgtEl>
                                          <p:spTgt spid="9"/>
                                        </p:tgtEl>
                                        <p:attrNameLst>
                                          <p:attrName>ppt_w</p:attrName>
                                        </p:attrNameLst>
                                      </p:cBhvr>
                                      <p:tavLst>
                                        <p:tav tm="0">
                                          <p:val>
                                            <p:fltVal val="0"/>
                                          </p:val>
                                        </p:tav>
                                        <p:tav tm="100000">
                                          <p:val>
                                            <p:strVal val="#ppt_w"/>
                                          </p:val>
                                        </p:tav>
                                      </p:tavLst>
                                    </p:anim>
                                    <p:anim calcmode="lin" valueType="num">
                                      <p:cBhvr>
                                        <p:cTn id="25" dur="500" fill="hold"/>
                                        <p:tgtEl>
                                          <p:spTgt spid="9"/>
                                        </p:tgtEl>
                                        <p:attrNameLst>
                                          <p:attrName>ppt_h</p:attrName>
                                        </p:attrNameLst>
                                      </p:cBhvr>
                                      <p:tavLst>
                                        <p:tav tm="0">
                                          <p:val>
                                            <p:fltVal val="0"/>
                                          </p:val>
                                        </p:tav>
                                        <p:tav tm="100000">
                                          <p:val>
                                            <p:strVal val="#ppt_h"/>
                                          </p:val>
                                        </p:tav>
                                      </p:tavLst>
                                    </p:anim>
                                    <p:animEffect transition="in" filter="fade">
                                      <p:cBhvr>
                                        <p:cTn id="26" dur="500"/>
                                        <p:tgtEl>
                                          <p:spTgt spid="9"/>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p:cTn id="29" dur="500" fill="hold"/>
                                        <p:tgtEl>
                                          <p:spTgt spid="8"/>
                                        </p:tgtEl>
                                        <p:attrNameLst>
                                          <p:attrName>ppt_w</p:attrName>
                                        </p:attrNameLst>
                                      </p:cBhvr>
                                      <p:tavLst>
                                        <p:tav tm="0">
                                          <p:val>
                                            <p:fltVal val="0"/>
                                          </p:val>
                                        </p:tav>
                                        <p:tav tm="100000">
                                          <p:val>
                                            <p:strVal val="#ppt_w"/>
                                          </p:val>
                                        </p:tav>
                                      </p:tavLst>
                                    </p:anim>
                                    <p:anim calcmode="lin" valueType="num">
                                      <p:cBhvr>
                                        <p:cTn id="30" dur="500" fill="hold"/>
                                        <p:tgtEl>
                                          <p:spTgt spid="8"/>
                                        </p:tgtEl>
                                        <p:attrNameLst>
                                          <p:attrName>ppt_h</p:attrName>
                                        </p:attrNameLst>
                                      </p:cBhvr>
                                      <p:tavLst>
                                        <p:tav tm="0">
                                          <p:val>
                                            <p:fltVal val="0"/>
                                          </p:val>
                                        </p:tav>
                                        <p:tav tm="100000">
                                          <p:val>
                                            <p:strVal val="#ppt_h"/>
                                          </p:val>
                                        </p:tav>
                                      </p:tavLst>
                                    </p:anim>
                                    <p:animEffect transition="in" filter="fade">
                                      <p:cBhvr>
                                        <p:cTn id="31" dur="500"/>
                                        <p:tgtEl>
                                          <p:spTgt spid="8"/>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 calcmode="lin" valueType="num">
                                      <p:cBhvr>
                                        <p:cTn id="34" dur="500" fill="hold"/>
                                        <p:tgtEl>
                                          <p:spTgt spid="12"/>
                                        </p:tgtEl>
                                        <p:attrNameLst>
                                          <p:attrName>ppt_w</p:attrName>
                                        </p:attrNameLst>
                                      </p:cBhvr>
                                      <p:tavLst>
                                        <p:tav tm="0">
                                          <p:val>
                                            <p:fltVal val="0"/>
                                          </p:val>
                                        </p:tav>
                                        <p:tav tm="100000">
                                          <p:val>
                                            <p:strVal val="#ppt_w"/>
                                          </p:val>
                                        </p:tav>
                                      </p:tavLst>
                                    </p:anim>
                                    <p:anim calcmode="lin" valueType="num">
                                      <p:cBhvr>
                                        <p:cTn id="35" dur="500" fill="hold"/>
                                        <p:tgtEl>
                                          <p:spTgt spid="12"/>
                                        </p:tgtEl>
                                        <p:attrNameLst>
                                          <p:attrName>ppt_h</p:attrName>
                                        </p:attrNameLst>
                                      </p:cBhvr>
                                      <p:tavLst>
                                        <p:tav tm="0">
                                          <p:val>
                                            <p:fltVal val="0"/>
                                          </p:val>
                                        </p:tav>
                                        <p:tav tm="100000">
                                          <p:val>
                                            <p:strVal val="#ppt_h"/>
                                          </p:val>
                                        </p:tav>
                                      </p:tavLst>
                                    </p:anim>
                                    <p:animEffect transition="in" filter="fade">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p:cTn id="41" dur="500" fill="hold"/>
                                        <p:tgtEl>
                                          <p:spTgt spid="11"/>
                                        </p:tgtEl>
                                        <p:attrNameLst>
                                          <p:attrName>ppt_w</p:attrName>
                                        </p:attrNameLst>
                                      </p:cBhvr>
                                      <p:tavLst>
                                        <p:tav tm="0">
                                          <p:val>
                                            <p:fltVal val="0"/>
                                          </p:val>
                                        </p:tav>
                                        <p:tav tm="100000">
                                          <p:val>
                                            <p:strVal val="#ppt_w"/>
                                          </p:val>
                                        </p:tav>
                                      </p:tavLst>
                                    </p:anim>
                                    <p:anim calcmode="lin" valueType="num">
                                      <p:cBhvr>
                                        <p:cTn id="42" dur="500" fill="hold"/>
                                        <p:tgtEl>
                                          <p:spTgt spid="11"/>
                                        </p:tgtEl>
                                        <p:attrNameLst>
                                          <p:attrName>ppt_h</p:attrName>
                                        </p:attrNameLst>
                                      </p:cBhvr>
                                      <p:tavLst>
                                        <p:tav tm="0">
                                          <p:val>
                                            <p:fltVal val="0"/>
                                          </p:val>
                                        </p:tav>
                                        <p:tav tm="100000">
                                          <p:val>
                                            <p:strVal val="#ppt_h"/>
                                          </p:val>
                                        </p:tav>
                                      </p:tavLst>
                                    </p:anim>
                                    <p:animEffect transition="in" filter="fade">
                                      <p:cBhvr>
                                        <p:cTn id="43" dur="500"/>
                                        <p:tgtEl>
                                          <p:spTgt spid="11"/>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13"/>
                                        </p:tgtEl>
                                        <p:attrNameLst>
                                          <p:attrName>style.visibility</p:attrName>
                                        </p:attrNameLst>
                                      </p:cBhvr>
                                      <p:to>
                                        <p:strVal val="visible"/>
                                      </p:to>
                                    </p:set>
                                    <p:anim calcmode="lin" valueType="num">
                                      <p:cBhvr>
                                        <p:cTn id="46" dur="500" fill="hold"/>
                                        <p:tgtEl>
                                          <p:spTgt spid="13"/>
                                        </p:tgtEl>
                                        <p:attrNameLst>
                                          <p:attrName>ppt_w</p:attrName>
                                        </p:attrNameLst>
                                      </p:cBhvr>
                                      <p:tavLst>
                                        <p:tav tm="0">
                                          <p:val>
                                            <p:fltVal val="0"/>
                                          </p:val>
                                        </p:tav>
                                        <p:tav tm="100000">
                                          <p:val>
                                            <p:strVal val="#ppt_w"/>
                                          </p:val>
                                        </p:tav>
                                      </p:tavLst>
                                    </p:anim>
                                    <p:anim calcmode="lin" valueType="num">
                                      <p:cBhvr>
                                        <p:cTn id="47" dur="500" fill="hold"/>
                                        <p:tgtEl>
                                          <p:spTgt spid="13"/>
                                        </p:tgtEl>
                                        <p:attrNameLst>
                                          <p:attrName>ppt_h</p:attrName>
                                        </p:attrNameLst>
                                      </p:cBhvr>
                                      <p:tavLst>
                                        <p:tav tm="0">
                                          <p:val>
                                            <p:fltVal val="0"/>
                                          </p:val>
                                        </p:tav>
                                        <p:tav tm="100000">
                                          <p:val>
                                            <p:strVal val="#ppt_h"/>
                                          </p:val>
                                        </p:tav>
                                      </p:tavLst>
                                    </p:anim>
                                    <p:animEffect transition="in" filter="fade">
                                      <p:cBhvr>
                                        <p:cTn id="48" dur="500"/>
                                        <p:tgtEl>
                                          <p:spTgt spid="13"/>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 calcmode="lin" valueType="num">
                                      <p:cBhvr>
                                        <p:cTn id="51" dur="500" fill="hold"/>
                                        <p:tgtEl>
                                          <p:spTgt spid="14"/>
                                        </p:tgtEl>
                                        <p:attrNameLst>
                                          <p:attrName>ppt_w</p:attrName>
                                        </p:attrNameLst>
                                      </p:cBhvr>
                                      <p:tavLst>
                                        <p:tav tm="0">
                                          <p:val>
                                            <p:fltVal val="0"/>
                                          </p:val>
                                        </p:tav>
                                        <p:tav tm="100000">
                                          <p:val>
                                            <p:strVal val="#ppt_w"/>
                                          </p:val>
                                        </p:tav>
                                      </p:tavLst>
                                    </p:anim>
                                    <p:anim calcmode="lin" valueType="num">
                                      <p:cBhvr>
                                        <p:cTn id="52" dur="500" fill="hold"/>
                                        <p:tgtEl>
                                          <p:spTgt spid="14"/>
                                        </p:tgtEl>
                                        <p:attrNameLst>
                                          <p:attrName>ppt_h</p:attrName>
                                        </p:attrNameLst>
                                      </p:cBhvr>
                                      <p:tavLst>
                                        <p:tav tm="0">
                                          <p:val>
                                            <p:fltVal val="0"/>
                                          </p:val>
                                        </p:tav>
                                        <p:tav tm="100000">
                                          <p:val>
                                            <p:strVal val="#ppt_h"/>
                                          </p:val>
                                        </p:tav>
                                      </p:tavLst>
                                    </p:anim>
                                    <p:animEffect transition="in" filter="fade">
                                      <p:cBhvr>
                                        <p:cTn id="5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p:bldP spid="12" grpId="0"/>
      <p:bldP spid="13" grpId="0" animBg="1"/>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BCD05-725A-AB99-9F82-24699942936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983BA81-FC7E-D507-D143-586A06450F7C}"/>
              </a:ext>
            </a:extLst>
          </p:cNvPr>
          <p:cNvSpPr>
            <a:spLocks noGrp="1"/>
          </p:cNvSpPr>
          <p:nvPr>
            <p:ph type="title"/>
          </p:nvPr>
        </p:nvSpPr>
        <p:spPr>
          <a:xfrm>
            <a:off x="677334" y="37765"/>
            <a:ext cx="8596668" cy="771127"/>
          </a:xfrm>
        </p:spPr>
        <p:txBody>
          <a:bodyPr>
            <a:normAutofit/>
          </a:bodyPr>
          <a:lstStyle/>
          <a:p>
            <a:pPr algn="ctr"/>
            <a:r>
              <a:rPr lang="fr-FR" sz="4400" b="1" dirty="0"/>
              <a:t>Analyse exploratoire</a:t>
            </a:r>
          </a:p>
        </p:txBody>
      </p:sp>
      <p:sp>
        <p:nvSpPr>
          <p:cNvPr id="4" name="Espace réservé du numéro de diapositive 3">
            <a:extLst>
              <a:ext uri="{FF2B5EF4-FFF2-40B4-BE49-F238E27FC236}">
                <a16:creationId xmlns:a16="http://schemas.microsoft.com/office/drawing/2014/main" id="{0E03C35E-D505-CC1B-EFE5-8CB28ED802BB}"/>
              </a:ext>
            </a:extLst>
          </p:cNvPr>
          <p:cNvSpPr>
            <a:spLocks noGrp="1"/>
          </p:cNvSpPr>
          <p:nvPr>
            <p:ph type="sldNum" sz="quarter" idx="12"/>
          </p:nvPr>
        </p:nvSpPr>
        <p:spPr/>
        <p:txBody>
          <a:bodyPr/>
          <a:lstStyle/>
          <a:p>
            <a:fld id="{FEB8DB5B-EED4-4E84-94B6-873B46059CF5}" type="slidenum">
              <a:rPr lang="fr-FR" smtClean="0"/>
              <a:t>12</a:t>
            </a:fld>
            <a:endParaRPr lang="fr-FR"/>
          </a:p>
        </p:txBody>
      </p:sp>
      <p:sp>
        <p:nvSpPr>
          <p:cNvPr id="5" name="Titre 1">
            <a:extLst>
              <a:ext uri="{FF2B5EF4-FFF2-40B4-BE49-F238E27FC236}">
                <a16:creationId xmlns:a16="http://schemas.microsoft.com/office/drawing/2014/main" id="{14EE8B19-1AC6-2651-7C0F-B559B5C96574}"/>
              </a:ext>
            </a:extLst>
          </p:cNvPr>
          <p:cNvSpPr txBox="1">
            <a:spLocks/>
          </p:cNvSpPr>
          <p:nvPr/>
        </p:nvSpPr>
        <p:spPr>
          <a:xfrm>
            <a:off x="335664" y="808892"/>
            <a:ext cx="8596668" cy="77112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3200" b="1" dirty="0"/>
              <a:t>IV- Les </a:t>
            </a:r>
            <a:r>
              <a:rPr lang="fr-FR" b="1" dirty="0"/>
              <a:t>corrélations</a:t>
            </a:r>
            <a:endParaRPr lang="fr-FR" sz="3200" b="1" dirty="0"/>
          </a:p>
        </p:txBody>
      </p:sp>
      <p:sp>
        <p:nvSpPr>
          <p:cNvPr id="10" name="Titre 1">
            <a:extLst>
              <a:ext uri="{FF2B5EF4-FFF2-40B4-BE49-F238E27FC236}">
                <a16:creationId xmlns:a16="http://schemas.microsoft.com/office/drawing/2014/main" id="{56579003-42FC-0D52-22C1-CB98616D2AB6}"/>
              </a:ext>
            </a:extLst>
          </p:cNvPr>
          <p:cNvSpPr txBox="1">
            <a:spLocks/>
          </p:cNvSpPr>
          <p:nvPr/>
        </p:nvSpPr>
        <p:spPr>
          <a:xfrm>
            <a:off x="1797666" y="1512406"/>
            <a:ext cx="8596668" cy="77112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3200" dirty="0"/>
              <a:t>Infrastructure VS Consommation</a:t>
            </a:r>
          </a:p>
        </p:txBody>
      </p:sp>
      <p:pic>
        <p:nvPicPr>
          <p:cNvPr id="7" name="Image 6">
            <a:extLst>
              <a:ext uri="{FF2B5EF4-FFF2-40B4-BE49-F238E27FC236}">
                <a16:creationId xmlns:a16="http://schemas.microsoft.com/office/drawing/2014/main" id="{2ACED1A5-A1AB-C865-3C0D-E3030E95CB1A}"/>
              </a:ext>
            </a:extLst>
          </p:cNvPr>
          <p:cNvPicPr>
            <a:picLocks noChangeAspect="1"/>
          </p:cNvPicPr>
          <p:nvPr/>
        </p:nvPicPr>
        <p:blipFill>
          <a:blip r:embed="rId3"/>
          <a:stretch>
            <a:fillRect/>
          </a:stretch>
        </p:blipFill>
        <p:spPr>
          <a:xfrm>
            <a:off x="335664" y="2650305"/>
            <a:ext cx="4731592" cy="3656709"/>
          </a:xfrm>
          <a:prstGeom prst="rect">
            <a:avLst/>
          </a:prstGeom>
        </p:spPr>
      </p:pic>
      <p:pic>
        <p:nvPicPr>
          <p:cNvPr id="11" name="Image 10">
            <a:extLst>
              <a:ext uri="{FF2B5EF4-FFF2-40B4-BE49-F238E27FC236}">
                <a16:creationId xmlns:a16="http://schemas.microsoft.com/office/drawing/2014/main" id="{E5615B64-143B-4534-452D-C322240B1113}"/>
              </a:ext>
            </a:extLst>
          </p:cNvPr>
          <p:cNvPicPr>
            <a:picLocks noChangeAspect="1"/>
          </p:cNvPicPr>
          <p:nvPr/>
        </p:nvPicPr>
        <p:blipFill>
          <a:blip r:embed="rId4"/>
          <a:stretch>
            <a:fillRect/>
          </a:stretch>
        </p:blipFill>
        <p:spPr>
          <a:xfrm>
            <a:off x="5512479" y="4172288"/>
            <a:ext cx="4881855" cy="365125"/>
          </a:xfrm>
          <a:prstGeom prst="rect">
            <a:avLst/>
          </a:prstGeom>
        </p:spPr>
      </p:pic>
    </p:spTree>
    <p:extLst>
      <p:ext uri="{BB962C8B-B14F-4D97-AF65-F5344CB8AC3E}">
        <p14:creationId xmlns:p14="http://schemas.microsoft.com/office/powerpoint/2010/main" val="3023296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p:cTn id="14" dur="500" fill="hold"/>
                                        <p:tgtEl>
                                          <p:spTgt spid="11"/>
                                        </p:tgtEl>
                                        <p:attrNameLst>
                                          <p:attrName>ppt_w</p:attrName>
                                        </p:attrNameLst>
                                      </p:cBhvr>
                                      <p:tavLst>
                                        <p:tav tm="0">
                                          <p:val>
                                            <p:fltVal val="0"/>
                                          </p:val>
                                        </p:tav>
                                        <p:tav tm="100000">
                                          <p:val>
                                            <p:strVal val="#ppt_w"/>
                                          </p:val>
                                        </p:tav>
                                      </p:tavLst>
                                    </p:anim>
                                    <p:anim calcmode="lin" valueType="num">
                                      <p:cBhvr>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1ACF5-D6D2-E59E-BC19-BD1E5D3B2A3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E524524-7B6E-0B5F-E1B6-BAB93EF611C3}"/>
              </a:ext>
            </a:extLst>
          </p:cNvPr>
          <p:cNvSpPr>
            <a:spLocks noGrp="1"/>
          </p:cNvSpPr>
          <p:nvPr>
            <p:ph type="title"/>
          </p:nvPr>
        </p:nvSpPr>
        <p:spPr>
          <a:xfrm>
            <a:off x="677334" y="37765"/>
            <a:ext cx="8596668" cy="771127"/>
          </a:xfrm>
        </p:spPr>
        <p:txBody>
          <a:bodyPr>
            <a:normAutofit/>
          </a:bodyPr>
          <a:lstStyle/>
          <a:p>
            <a:pPr algn="ctr"/>
            <a:r>
              <a:rPr lang="fr-FR" sz="4400" b="1" dirty="0"/>
              <a:t>Analyse exploratoire</a:t>
            </a:r>
          </a:p>
        </p:txBody>
      </p:sp>
      <p:sp>
        <p:nvSpPr>
          <p:cNvPr id="4" name="Espace réservé du numéro de diapositive 3">
            <a:extLst>
              <a:ext uri="{FF2B5EF4-FFF2-40B4-BE49-F238E27FC236}">
                <a16:creationId xmlns:a16="http://schemas.microsoft.com/office/drawing/2014/main" id="{B60D3C6B-32D4-B08A-A5A4-2B5898101F66}"/>
              </a:ext>
            </a:extLst>
          </p:cNvPr>
          <p:cNvSpPr>
            <a:spLocks noGrp="1"/>
          </p:cNvSpPr>
          <p:nvPr>
            <p:ph type="sldNum" sz="quarter" idx="12"/>
          </p:nvPr>
        </p:nvSpPr>
        <p:spPr/>
        <p:txBody>
          <a:bodyPr/>
          <a:lstStyle/>
          <a:p>
            <a:fld id="{FEB8DB5B-EED4-4E84-94B6-873B46059CF5}" type="slidenum">
              <a:rPr lang="fr-FR" smtClean="0"/>
              <a:t>13</a:t>
            </a:fld>
            <a:endParaRPr lang="fr-FR"/>
          </a:p>
        </p:txBody>
      </p:sp>
      <p:sp>
        <p:nvSpPr>
          <p:cNvPr id="5" name="Titre 1">
            <a:extLst>
              <a:ext uri="{FF2B5EF4-FFF2-40B4-BE49-F238E27FC236}">
                <a16:creationId xmlns:a16="http://schemas.microsoft.com/office/drawing/2014/main" id="{4048EDA0-C229-A675-5B4B-74E5136977EE}"/>
              </a:ext>
            </a:extLst>
          </p:cNvPr>
          <p:cNvSpPr txBox="1">
            <a:spLocks/>
          </p:cNvSpPr>
          <p:nvPr/>
        </p:nvSpPr>
        <p:spPr>
          <a:xfrm>
            <a:off x="335664" y="808892"/>
            <a:ext cx="8596668" cy="77112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3200" b="1" dirty="0"/>
              <a:t>IV- Les </a:t>
            </a:r>
            <a:r>
              <a:rPr lang="fr-FR" b="1" dirty="0"/>
              <a:t>corrélations</a:t>
            </a:r>
            <a:endParaRPr lang="fr-FR" sz="3200" b="1" dirty="0"/>
          </a:p>
        </p:txBody>
      </p:sp>
      <p:sp>
        <p:nvSpPr>
          <p:cNvPr id="10" name="Titre 1">
            <a:extLst>
              <a:ext uri="{FF2B5EF4-FFF2-40B4-BE49-F238E27FC236}">
                <a16:creationId xmlns:a16="http://schemas.microsoft.com/office/drawing/2014/main" id="{F463E81E-C2EB-ED6B-4C4D-4499487464D7}"/>
              </a:ext>
            </a:extLst>
          </p:cNvPr>
          <p:cNvSpPr txBox="1">
            <a:spLocks/>
          </p:cNvSpPr>
          <p:nvPr/>
        </p:nvSpPr>
        <p:spPr>
          <a:xfrm>
            <a:off x="1797666" y="1580019"/>
            <a:ext cx="8596668" cy="77112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3200" dirty="0"/>
              <a:t>Consommation VS Taux d’urbanisation</a:t>
            </a:r>
          </a:p>
        </p:txBody>
      </p:sp>
      <p:pic>
        <p:nvPicPr>
          <p:cNvPr id="6" name="Image 5">
            <a:extLst>
              <a:ext uri="{FF2B5EF4-FFF2-40B4-BE49-F238E27FC236}">
                <a16:creationId xmlns:a16="http://schemas.microsoft.com/office/drawing/2014/main" id="{4254B499-644C-CCCC-7A13-CB7AF563B09C}"/>
              </a:ext>
            </a:extLst>
          </p:cNvPr>
          <p:cNvPicPr>
            <a:picLocks noChangeAspect="1"/>
          </p:cNvPicPr>
          <p:nvPr/>
        </p:nvPicPr>
        <p:blipFill>
          <a:blip r:embed="rId3"/>
          <a:stretch>
            <a:fillRect/>
          </a:stretch>
        </p:blipFill>
        <p:spPr>
          <a:xfrm>
            <a:off x="506375" y="2517866"/>
            <a:ext cx="4823246" cy="3706058"/>
          </a:xfrm>
          <a:prstGeom prst="rect">
            <a:avLst/>
          </a:prstGeom>
        </p:spPr>
      </p:pic>
      <p:pic>
        <p:nvPicPr>
          <p:cNvPr id="9" name="Image 8">
            <a:extLst>
              <a:ext uri="{FF2B5EF4-FFF2-40B4-BE49-F238E27FC236}">
                <a16:creationId xmlns:a16="http://schemas.microsoft.com/office/drawing/2014/main" id="{12D7876F-6107-5F9A-A563-E6D172F6D835}"/>
              </a:ext>
            </a:extLst>
          </p:cNvPr>
          <p:cNvPicPr>
            <a:picLocks noChangeAspect="1"/>
          </p:cNvPicPr>
          <p:nvPr/>
        </p:nvPicPr>
        <p:blipFill>
          <a:blip r:embed="rId4"/>
          <a:stretch>
            <a:fillRect/>
          </a:stretch>
        </p:blipFill>
        <p:spPr>
          <a:xfrm>
            <a:off x="5992085" y="3831128"/>
            <a:ext cx="4854808" cy="365125"/>
          </a:xfrm>
          <a:prstGeom prst="rect">
            <a:avLst/>
          </a:prstGeom>
        </p:spPr>
      </p:pic>
    </p:spTree>
    <p:extLst>
      <p:ext uri="{BB962C8B-B14F-4D97-AF65-F5344CB8AC3E}">
        <p14:creationId xmlns:p14="http://schemas.microsoft.com/office/powerpoint/2010/main" val="2563278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fltVal val="0"/>
                                          </p:val>
                                        </p:tav>
                                        <p:tav tm="100000">
                                          <p:val>
                                            <p:strVal val="#ppt_h"/>
                                          </p:val>
                                        </p:tav>
                                      </p:tavLst>
                                    </p:anim>
                                    <p:animEffect transition="in" filter="fade">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39B4B-F06B-E10B-3712-BA082DF6CF1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C87CEB7-F3DB-2CE0-1F2B-ED573400C7D2}"/>
              </a:ext>
            </a:extLst>
          </p:cNvPr>
          <p:cNvSpPr>
            <a:spLocks noGrp="1"/>
          </p:cNvSpPr>
          <p:nvPr>
            <p:ph type="title"/>
          </p:nvPr>
        </p:nvSpPr>
        <p:spPr>
          <a:xfrm>
            <a:off x="677334" y="283950"/>
            <a:ext cx="8596668" cy="771127"/>
          </a:xfrm>
        </p:spPr>
        <p:txBody>
          <a:bodyPr>
            <a:normAutofit/>
          </a:bodyPr>
          <a:lstStyle/>
          <a:p>
            <a:pPr algn="ctr"/>
            <a:r>
              <a:rPr lang="fr-FR" sz="4400" b="1" dirty="0"/>
              <a:t>Analyse exploratoire</a:t>
            </a:r>
          </a:p>
        </p:txBody>
      </p:sp>
      <p:sp>
        <p:nvSpPr>
          <p:cNvPr id="4" name="Espace réservé du numéro de diapositive 3">
            <a:extLst>
              <a:ext uri="{FF2B5EF4-FFF2-40B4-BE49-F238E27FC236}">
                <a16:creationId xmlns:a16="http://schemas.microsoft.com/office/drawing/2014/main" id="{C943825B-A4DA-C958-356F-7A60EBB9E69B}"/>
              </a:ext>
            </a:extLst>
          </p:cNvPr>
          <p:cNvSpPr>
            <a:spLocks noGrp="1"/>
          </p:cNvSpPr>
          <p:nvPr>
            <p:ph type="sldNum" sz="quarter" idx="12"/>
          </p:nvPr>
        </p:nvSpPr>
        <p:spPr/>
        <p:txBody>
          <a:bodyPr/>
          <a:lstStyle/>
          <a:p>
            <a:fld id="{FEB8DB5B-EED4-4E84-94B6-873B46059CF5}" type="slidenum">
              <a:rPr lang="fr-FR" smtClean="0"/>
              <a:t>14</a:t>
            </a:fld>
            <a:endParaRPr lang="fr-FR"/>
          </a:p>
        </p:txBody>
      </p:sp>
      <p:sp>
        <p:nvSpPr>
          <p:cNvPr id="5" name="Titre 1">
            <a:extLst>
              <a:ext uri="{FF2B5EF4-FFF2-40B4-BE49-F238E27FC236}">
                <a16:creationId xmlns:a16="http://schemas.microsoft.com/office/drawing/2014/main" id="{3E2FCF2F-E5E5-D45B-D14C-8D67F43F7660}"/>
              </a:ext>
            </a:extLst>
          </p:cNvPr>
          <p:cNvSpPr txBox="1">
            <a:spLocks/>
          </p:cNvSpPr>
          <p:nvPr/>
        </p:nvSpPr>
        <p:spPr>
          <a:xfrm>
            <a:off x="335664" y="1055077"/>
            <a:ext cx="8596668" cy="77112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3200" b="1" dirty="0"/>
              <a:t>IV- La matrice de corrélation</a:t>
            </a:r>
          </a:p>
        </p:txBody>
      </p:sp>
      <p:pic>
        <p:nvPicPr>
          <p:cNvPr id="7" name="Image 6">
            <a:extLst>
              <a:ext uri="{FF2B5EF4-FFF2-40B4-BE49-F238E27FC236}">
                <a16:creationId xmlns:a16="http://schemas.microsoft.com/office/drawing/2014/main" id="{E1788C6C-7D09-CFDE-4214-7800FA236BB6}"/>
              </a:ext>
            </a:extLst>
          </p:cNvPr>
          <p:cNvPicPr>
            <a:picLocks noChangeAspect="1"/>
          </p:cNvPicPr>
          <p:nvPr/>
        </p:nvPicPr>
        <p:blipFill>
          <a:blip r:embed="rId3"/>
          <a:stretch>
            <a:fillRect/>
          </a:stretch>
        </p:blipFill>
        <p:spPr>
          <a:xfrm>
            <a:off x="1126881" y="1617370"/>
            <a:ext cx="6550787" cy="5240630"/>
          </a:xfrm>
          <a:prstGeom prst="rect">
            <a:avLst/>
          </a:prstGeom>
        </p:spPr>
      </p:pic>
    </p:spTree>
    <p:extLst>
      <p:ext uri="{BB962C8B-B14F-4D97-AF65-F5344CB8AC3E}">
        <p14:creationId xmlns:p14="http://schemas.microsoft.com/office/powerpoint/2010/main" val="15369700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BB619-C9BF-3915-ADC4-E6AC1916E38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FD15F6F-2F41-0E2A-4209-AB7EA9F4E957}"/>
              </a:ext>
            </a:extLst>
          </p:cNvPr>
          <p:cNvSpPr>
            <a:spLocks noGrp="1"/>
          </p:cNvSpPr>
          <p:nvPr>
            <p:ph type="title"/>
          </p:nvPr>
        </p:nvSpPr>
        <p:spPr>
          <a:xfrm>
            <a:off x="677334" y="283950"/>
            <a:ext cx="8596668" cy="771127"/>
          </a:xfrm>
        </p:spPr>
        <p:txBody>
          <a:bodyPr>
            <a:normAutofit/>
          </a:bodyPr>
          <a:lstStyle/>
          <a:p>
            <a:pPr algn="ctr"/>
            <a:r>
              <a:rPr lang="fr-FR" sz="4400" b="1" dirty="0"/>
              <a:t>ACP</a:t>
            </a:r>
          </a:p>
        </p:txBody>
      </p:sp>
      <p:sp>
        <p:nvSpPr>
          <p:cNvPr id="4" name="Espace réservé du numéro de diapositive 3">
            <a:extLst>
              <a:ext uri="{FF2B5EF4-FFF2-40B4-BE49-F238E27FC236}">
                <a16:creationId xmlns:a16="http://schemas.microsoft.com/office/drawing/2014/main" id="{E119BEC4-54FA-02E0-C4D6-52C59B17B9A3}"/>
              </a:ext>
            </a:extLst>
          </p:cNvPr>
          <p:cNvSpPr>
            <a:spLocks noGrp="1"/>
          </p:cNvSpPr>
          <p:nvPr>
            <p:ph type="sldNum" sz="quarter" idx="12"/>
          </p:nvPr>
        </p:nvSpPr>
        <p:spPr/>
        <p:txBody>
          <a:bodyPr/>
          <a:lstStyle/>
          <a:p>
            <a:fld id="{FEB8DB5B-EED4-4E84-94B6-873B46059CF5}" type="slidenum">
              <a:rPr lang="fr-FR" smtClean="0"/>
              <a:t>15</a:t>
            </a:fld>
            <a:endParaRPr lang="fr-FR"/>
          </a:p>
        </p:txBody>
      </p:sp>
      <p:sp>
        <p:nvSpPr>
          <p:cNvPr id="5" name="Titre 1">
            <a:extLst>
              <a:ext uri="{FF2B5EF4-FFF2-40B4-BE49-F238E27FC236}">
                <a16:creationId xmlns:a16="http://schemas.microsoft.com/office/drawing/2014/main" id="{D2A5C7DD-B4EA-597E-28E8-262C6CC1BEE5}"/>
              </a:ext>
            </a:extLst>
          </p:cNvPr>
          <p:cNvSpPr txBox="1">
            <a:spLocks/>
          </p:cNvSpPr>
          <p:nvPr/>
        </p:nvSpPr>
        <p:spPr>
          <a:xfrm>
            <a:off x="335664" y="1055077"/>
            <a:ext cx="8596668" cy="77112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3200" b="1" dirty="0"/>
              <a:t>I- Eboulis des valeurs propres</a:t>
            </a:r>
          </a:p>
        </p:txBody>
      </p:sp>
      <p:pic>
        <p:nvPicPr>
          <p:cNvPr id="7" name="Image 6">
            <a:extLst>
              <a:ext uri="{FF2B5EF4-FFF2-40B4-BE49-F238E27FC236}">
                <a16:creationId xmlns:a16="http://schemas.microsoft.com/office/drawing/2014/main" id="{E7B62292-1293-F0F4-63F8-A80F3F09CD8E}"/>
              </a:ext>
            </a:extLst>
          </p:cNvPr>
          <p:cNvPicPr>
            <a:picLocks noChangeAspect="1"/>
          </p:cNvPicPr>
          <p:nvPr/>
        </p:nvPicPr>
        <p:blipFill>
          <a:blip r:embed="rId3"/>
          <a:stretch>
            <a:fillRect/>
          </a:stretch>
        </p:blipFill>
        <p:spPr>
          <a:xfrm>
            <a:off x="1306335" y="1688811"/>
            <a:ext cx="6191745" cy="5046028"/>
          </a:xfrm>
          <a:prstGeom prst="rect">
            <a:avLst/>
          </a:prstGeom>
        </p:spPr>
      </p:pic>
    </p:spTree>
    <p:extLst>
      <p:ext uri="{BB962C8B-B14F-4D97-AF65-F5344CB8AC3E}">
        <p14:creationId xmlns:p14="http://schemas.microsoft.com/office/powerpoint/2010/main" val="28692420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D4975-5F7D-9D1B-05F3-F4A062EA472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D41A8E5-D7A5-04DC-4F35-A74F0BF28C69}"/>
              </a:ext>
            </a:extLst>
          </p:cNvPr>
          <p:cNvSpPr>
            <a:spLocks noGrp="1"/>
          </p:cNvSpPr>
          <p:nvPr>
            <p:ph type="title"/>
          </p:nvPr>
        </p:nvSpPr>
        <p:spPr>
          <a:xfrm>
            <a:off x="677334" y="283950"/>
            <a:ext cx="8596668" cy="771127"/>
          </a:xfrm>
        </p:spPr>
        <p:txBody>
          <a:bodyPr>
            <a:normAutofit/>
          </a:bodyPr>
          <a:lstStyle/>
          <a:p>
            <a:pPr algn="ctr"/>
            <a:r>
              <a:rPr lang="fr-FR" sz="4400" b="1" dirty="0"/>
              <a:t>ACP</a:t>
            </a:r>
          </a:p>
        </p:txBody>
      </p:sp>
      <p:sp>
        <p:nvSpPr>
          <p:cNvPr id="4" name="Espace réservé du numéro de diapositive 3">
            <a:extLst>
              <a:ext uri="{FF2B5EF4-FFF2-40B4-BE49-F238E27FC236}">
                <a16:creationId xmlns:a16="http://schemas.microsoft.com/office/drawing/2014/main" id="{20D25116-554C-0FF5-F6E0-F790431463DB}"/>
              </a:ext>
            </a:extLst>
          </p:cNvPr>
          <p:cNvSpPr>
            <a:spLocks noGrp="1"/>
          </p:cNvSpPr>
          <p:nvPr>
            <p:ph type="sldNum" sz="quarter" idx="12"/>
          </p:nvPr>
        </p:nvSpPr>
        <p:spPr/>
        <p:txBody>
          <a:bodyPr/>
          <a:lstStyle/>
          <a:p>
            <a:fld id="{FEB8DB5B-EED4-4E84-94B6-873B46059CF5}" type="slidenum">
              <a:rPr lang="fr-FR" smtClean="0"/>
              <a:t>16</a:t>
            </a:fld>
            <a:endParaRPr lang="fr-FR"/>
          </a:p>
        </p:txBody>
      </p:sp>
      <p:sp>
        <p:nvSpPr>
          <p:cNvPr id="5" name="Titre 1">
            <a:extLst>
              <a:ext uri="{FF2B5EF4-FFF2-40B4-BE49-F238E27FC236}">
                <a16:creationId xmlns:a16="http://schemas.microsoft.com/office/drawing/2014/main" id="{5936BDE8-AE30-B8E5-4AF0-8D34F0BB4ACC}"/>
              </a:ext>
            </a:extLst>
          </p:cNvPr>
          <p:cNvSpPr txBox="1">
            <a:spLocks/>
          </p:cNvSpPr>
          <p:nvPr/>
        </p:nvSpPr>
        <p:spPr>
          <a:xfrm>
            <a:off x="335664" y="1055077"/>
            <a:ext cx="8596668" cy="77112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3200" b="1" dirty="0"/>
              <a:t>II- Représentation visuelle </a:t>
            </a:r>
          </a:p>
        </p:txBody>
      </p:sp>
      <p:pic>
        <p:nvPicPr>
          <p:cNvPr id="6" name="Image 5">
            <a:extLst>
              <a:ext uri="{FF2B5EF4-FFF2-40B4-BE49-F238E27FC236}">
                <a16:creationId xmlns:a16="http://schemas.microsoft.com/office/drawing/2014/main" id="{B3E0FCF8-6576-74D3-6133-EC1057987BA9}"/>
              </a:ext>
            </a:extLst>
          </p:cNvPr>
          <p:cNvPicPr>
            <a:picLocks noChangeAspect="1"/>
          </p:cNvPicPr>
          <p:nvPr/>
        </p:nvPicPr>
        <p:blipFill>
          <a:blip r:embed="rId3"/>
          <a:stretch>
            <a:fillRect/>
          </a:stretch>
        </p:blipFill>
        <p:spPr>
          <a:xfrm>
            <a:off x="0" y="1911215"/>
            <a:ext cx="12192000" cy="3359020"/>
          </a:xfrm>
          <a:prstGeom prst="rect">
            <a:avLst/>
          </a:prstGeom>
        </p:spPr>
      </p:pic>
    </p:spTree>
    <p:extLst>
      <p:ext uri="{BB962C8B-B14F-4D97-AF65-F5344CB8AC3E}">
        <p14:creationId xmlns:p14="http://schemas.microsoft.com/office/powerpoint/2010/main" val="24079887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0A7E6-ADDA-E150-C94D-CC985209894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31E425D-5FED-DC61-B3F0-6075EE5DCFA0}"/>
              </a:ext>
            </a:extLst>
          </p:cNvPr>
          <p:cNvSpPr>
            <a:spLocks noGrp="1"/>
          </p:cNvSpPr>
          <p:nvPr>
            <p:ph type="title"/>
          </p:nvPr>
        </p:nvSpPr>
        <p:spPr>
          <a:xfrm>
            <a:off x="677334" y="283950"/>
            <a:ext cx="8596668" cy="771127"/>
          </a:xfrm>
        </p:spPr>
        <p:txBody>
          <a:bodyPr>
            <a:normAutofit/>
          </a:bodyPr>
          <a:lstStyle/>
          <a:p>
            <a:pPr algn="ctr"/>
            <a:r>
              <a:rPr lang="fr-FR" sz="4400" b="1" dirty="0"/>
              <a:t>ACP</a:t>
            </a:r>
          </a:p>
        </p:txBody>
      </p:sp>
      <p:sp>
        <p:nvSpPr>
          <p:cNvPr id="4" name="Espace réservé du numéro de diapositive 3">
            <a:extLst>
              <a:ext uri="{FF2B5EF4-FFF2-40B4-BE49-F238E27FC236}">
                <a16:creationId xmlns:a16="http://schemas.microsoft.com/office/drawing/2014/main" id="{EEF278EA-D5EA-888C-78D9-3D290201C28F}"/>
              </a:ext>
            </a:extLst>
          </p:cNvPr>
          <p:cNvSpPr>
            <a:spLocks noGrp="1"/>
          </p:cNvSpPr>
          <p:nvPr>
            <p:ph type="sldNum" sz="quarter" idx="12"/>
          </p:nvPr>
        </p:nvSpPr>
        <p:spPr/>
        <p:txBody>
          <a:bodyPr/>
          <a:lstStyle/>
          <a:p>
            <a:fld id="{FEB8DB5B-EED4-4E84-94B6-873B46059CF5}" type="slidenum">
              <a:rPr lang="fr-FR" smtClean="0"/>
              <a:t>17</a:t>
            </a:fld>
            <a:endParaRPr lang="fr-FR"/>
          </a:p>
        </p:txBody>
      </p:sp>
      <p:sp>
        <p:nvSpPr>
          <p:cNvPr id="5" name="Titre 1">
            <a:extLst>
              <a:ext uri="{FF2B5EF4-FFF2-40B4-BE49-F238E27FC236}">
                <a16:creationId xmlns:a16="http://schemas.microsoft.com/office/drawing/2014/main" id="{081C20E7-2848-8AF1-B09C-42D8FA6396EB}"/>
              </a:ext>
            </a:extLst>
          </p:cNvPr>
          <p:cNvSpPr txBox="1">
            <a:spLocks/>
          </p:cNvSpPr>
          <p:nvPr/>
        </p:nvSpPr>
        <p:spPr>
          <a:xfrm>
            <a:off x="335664" y="1055077"/>
            <a:ext cx="8596668" cy="77112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3200" b="1" dirty="0"/>
              <a:t>III- Graphique de corrélation</a:t>
            </a:r>
          </a:p>
        </p:txBody>
      </p:sp>
      <p:pic>
        <p:nvPicPr>
          <p:cNvPr id="7" name="Image 6">
            <a:extLst>
              <a:ext uri="{FF2B5EF4-FFF2-40B4-BE49-F238E27FC236}">
                <a16:creationId xmlns:a16="http://schemas.microsoft.com/office/drawing/2014/main" id="{941D2C59-467C-60AE-D8BF-1EA1A75D4D4E}"/>
              </a:ext>
            </a:extLst>
          </p:cNvPr>
          <p:cNvPicPr>
            <a:picLocks noChangeAspect="1"/>
          </p:cNvPicPr>
          <p:nvPr/>
        </p:nvPicPr>
        <p:blipFill>
          <a:blip r:embed="rId3"/>
          <a:stretch>
            <a:fillRect/>
          </a:stretch>
        </p:blipFill>
        <p:spPr>
          <a:xfrm>
            <a:off x="1034143" y="1732772"/>
            <a:ext cx="7105993" cy="5125228"/>
          </a:xfrm>
          <a:prstGeom prst="rect">
            <a:avLst/>
          </a:prstGeom>
        </p:spPr>
      </p:pic>
    </p:spTree>
    <p:extLst>
      <p:ext uri="{BB962C8B-B14F-4D97-AF65-F5344CB8AC3E}">
        <p14:creationId xmlns:p14="http://schemas.microsoft.com/office/powerpoint/2010/main" val="27614186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DB234-BB04-814C-20D0-7EEC5DC660F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DB75F8F-1E87-FFC9-0F32-505F96F659F4}"/>
              </a:ext>
            </a:extLst>
          </p:cNvPr>
          <p:cNvSpPr>
            <a:spLocks noGrp="1"/>
          </p:cNvSpPr>
          <p:nvPr>
            <p:ph type="title"/>
          </p:nvPr>
        </p:nvSpPr>
        <p:spPr>
          <a:xfrm>
            <a:off x="677334" y="283950"/>
            <a:ext cx="8596668" cy="771127"/>
          </a:xfrm>
        </p:spPr>
        <p:txBody>
          <a:bodyPr>
            <a:normAutofit/>
          </a:bodyPr>
          <a:lstStyle/>
          <a:p>
            <a:pPr algn="ctr"/>
            <a:r>
              <a:rPr lang="fr-FR" sz="4400" b="1" dirty="0"/>
              <a:t>ACP</a:t>
            </a:r>
          </a:p>
        </p:txBody>
      </p:sp>
      <p:sp>
        <p:nvSpPr>
          <p:cNvPr id="4" name="Espace réservé du numéro de diapositive 3">
            <a:extLst>
              <a:ext uri="{FF2B5EF4-FFF2-40B4-BE49-F238E27FC236}">
                <a16:creationId xmlns:a16="http://schemas.microsoft.com/office/drawing/2014/main" id="{9ED6B664-38B9-CEE8-7589-BBBC967240CA}"/>
              </a:ext>
            </a:extLst>
          </p:cNvPr>
          <p:cNvSpPr>
            <a:spLocks noGrp="1"/>
          </p:cNvSpPr>
          <p:nvPr>
            <p:ph type="sldNum" sz="quarter" idx="12"/>
          </p:nvPr>
        </p:nvSpPr>
        <p:spPr/>
        <p:txBody>
          <a:bodyPr/>
          <a:lstStyle/>
          <a:p>
            <a:fld id="{FEB8DB5B-EED4-4E84-94B6-873B46059CF5}" type="slidenum">
              <a:rPr lang="fr-FR" smtClean="0"/>
              <a:t>18</a:t>
            </a:fld>
            <a:endParaRPr lang="fr-FR"/>
          </a:p>
        </p:txBody>
      </p:sp>
      <p:sp>
        <p:nvSpPr>
          <p:cNvPr id="5" name="Titre 1">
            <a:extLst>
              <a:ext uri="{FF2B5EF4-FFF2-40B4-BE49-F238E27FC236}">
                <a16:creationId xmlns:a16="http://schemas.microsoft.com/office/drawing/2014/main" id="{5265B2E9-5E2D-B792-77BA-36046B77BCD2}"/>
              </a:ext>
            </a:extLst>
          </p:cNvPr>
          <p:cNvSpPr txBox="1">
            <a:spLocks/>
          </p:cNvSpPr>
          <p:nvPr/>
        </p:nvSpPr>
        <p:spPr>
          <a:xfrm>
            <a:off x="335664" y="1055077"/>
            <a:ext cx="8596668" cy="77112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3200" b="1" dirty="0"/>
              <a:t>IV- Projection des individus</a:t>
            </a:r>
          </a:p>
        </p:txBody>
      </p:sp>
      <p:pic>
        <p:nvPicPr>
          <p:cNvPr id="7" name="Image 6">
            <a:extLst>
              <a:ext uri="{FF2B5EF4-FFF2-40B4-BE49-F238E27FC236}">
                <a16:creationId xmlns:a16="http://schemas.microsoft.com/office/drawing/2014/main" id="{E7FE7008-AD81-E133-25A3-70A604EC8699}"/>
              </a:ext>
            </a:extLst>
          </p:cNvPr>
          <p:cNvPicPr>
            <a:picLocks noChangeAspect="1"/>
          </p:cNvPicPr>
          <p:nvPr/>
        </p:nvPicPr>
        <p:blipFill>
          <a:blip r:embed="rId3"/>
          <a:stretch>
            <a:fillRect/>
          </a:stretch>
        </p:blipFill>
        <p:spPr>
          <a:xfrm>
            <a:off x="1121228" y="1755554"/>
            <a:ext cx="6182857" cy="5102446"/>
          </a:xfrm>
          <a:prstGeom prst="rect">
            <a:avLst/>
          </a:prstGeom>
        </p:spPr>
      </p:pic>
    </p:spTree>
    <p:extLst>
      <p:ext uri="{BB962C8B-B14F-4D97-AF65-F5344CB8AC3E}">
        <p14:creationId xmlns:p14="http://schemas.microsoft.com/office/powerpoint/2010/main" val="2716712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92929-B0DE-4EA7-DCB4-51D358597A9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09CF11B-2545-1D5E-6112-0ADBF687F3E0}"/>
              </a:ext>
            </a:extLst>
          </p:cNvPr>
          <p:cNvSpPr>
            <a:spLocks noGrp="1"/>
          </p:cNvSpPr>
          <p:nvPr>
            <p:ph type="title"/>
          </p:nvPr>
        </p:nvSpPr>
        <p:spPr>
          <a:xfrm>
            <a:off x="677334" y="283950"/>
            <a:ext cx="8596668" cy="771127"/>
          </a:xfrm>
        </p:spPr>
        <p:txBody>
          <a:bodyPr>
            <a:normAutofit/>
          </a:bodyPr>
          <a:lstStyle/>
          <a:p>
            <a:pPr algn="ctr"/>
            <a:r>
              <a:rPr lang="fr-FR" sz="4400" b="1" dirty="0"/>
              <a:t>ACP</a:t>
            </a:r>
          </a:p>
        </p:txBody>
      </p:sp>
      <p:sp>
        <p:nvSpPr>
          <p:cNvPr id="4" name="Espace réservé du numéro de diapositive 3">
            <a:extLst>
              <a:ext uri="{FF2B5EF4-FFF2-40B4-BE49-F238E27FC236}">
                <a16:creationId xmlns:a16="http://schemas.microsoft.com/office/drawing/2014/main" id="{2D241AE4-DD3B-83A6-F1C7-001417932F53}"/>
              </a:ext>
            </a:extLst>
          </p:cNvPr>
          <p:cNvSpPr>
            <a:spLocks noGrp="1"/>
          </p:cNvSpPr>
          <p:nvPr>
            <p:ph type="sldNum" sz="quarter" idx="12"/>
          </p:nvPr>
        </p:nvSpPr>
        <p:spPr/>
        <p:txBody>
          <a:bodyPr/>
          <a:lstStyle/>
          <a:p>
            <a:fld id="{FEB8DB5B-EED4-4E84-94B6-873B46059CF5}" type="slidenum">
              <a:rPr lang="fr-FR" smtClean="0"/>
              <a:t>19</a:t>
            </a:fld>
            <a:endParaRPr lang="fr-FR"/>
          </a:p>
        </p:txBody>
      </p:sp>
      <p:sp>
        <p:nvSpPr>
          <p:cNvPr id="5" name="Titre 1">
            <a:extLst>
              <a:ext uri="{FF2B5EF4-FFF2-40B4-BE49-F238E27FC236}">
                <a16:creationId xmlns:a16="http://schemas.microsoft.com/office/drawing/2014/main" id="{7B940B73-6508-980C-EF75-1A7AA9E60E95}"/>
              </a:ext>
            </a:extLst>
          </p:cNvPr>
          <p:cNvSpPr txBox="1">
            <a:spLocks/>
          </p:cNvSpPr>
          <p:nvPr/>
        </p:nvSpPr>
        <p:spPr>
          <a:xfrm>
            <a:off x="335664" y="1055077"/>
            <a:ext cx="8596668" cy="77112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3200" b="1" dirty="0"/>
              <a:t>V- Première sélection de pays plausibles</a:t>
            </a:r>
          </a:p>
        </p:txBody>
      </p:sp>
      <p:pic>
        <p:nvPicPr>
          <p:cNvPr id="11" name="Image 10">
            <a:extLst>
              <a:ext uri="{FF2B5EF4-FFF2-40B4-BE49-F238E27FC236}">
                <a16:creationId xmlns:a16="http://schemas.microsoft.com/office/drawing/2014/main" id="{900F0734-8448-8F6A-EA4B-01A2B2BFFB07}"/>
              </a:ext>
            </a:extLst>
          </p:cNvPr>
          <p:cNvPicPr>
            <a:picLocks noChangeAspect="1"/>
          </p:cNvPicPr>
          <p:nvPr/>
        </p:nvPicPr>
        <p:blipFill>
          <a:blip r:embed="rId3"/>
          <a:stretch>
            <a:fillRect/>
          </a:stretch>
        </p:blipFill>
        <p:spPr>
          <a:xfrm>
            <a:off x="335664" y="2487760"/>
            <a:ext cx="5096586" cy="3315163"/>
          </a:xfrm>
          <a:prstGeom prst="rect">
            <a:avLst/>
          </a:prstGeom>
        </p:spPr>
      </p:pic>
      <p:pic>
        <p:nvPicPr>
          <p:cNvPr id="6" name="Image 5">
            <a:extLst>
              <a:ext uri="{FF2B5EF4-FFF2-40B4-BE49-F238E27FC236}">
                <a16:creationId xmlns:a16="http://schemas.microsoft.com/office/drawing/2014/main" id="{4A238F77-464E-79C8-2F90-C8CE9B09064E}"/>
              </a:ext>
            </a:extLst>
          </p:cNvPr>
          <p:cNvPicPr>
            <a:picLocks noChangeAspect="1"/>
          </p:cNvPicPr>
          <p:nvPr/>
        </p:nvPicPr>
        <p:blipFill>
          <a:blip r:embed="rId4"/>
          <a:stretch>
            <a:fillRect/>
          </a:stretch>
        </p:blipFill>
        <p:spPr>
          <a:xfrm>
            <a:off x="5831859" y="2349628"/>
            <a:ext cx="4944165" cy="3591426"/>
          </a:xfrm>
          <a:prstGeom prst="rect">
            <a:avLst/>
          </a:prstGeom>
        </p:spPr>
      </p:pic>
    </p:spTree>
    <p:extLst>
      <p:ext uri="{BB962C8B-B14F-4D97-AF65-F5344CB8AC3E}">
        <p14:creationId xmlns:p14="http://schemas.microsoft.com/office/powerpoint/2010/main" val="4548855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CE045-B7D7-4351-5E98-0702C5693E8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0A89F20-B77E-23F3-7BC4-4395584427F7}"/>
              </a:ext>
            </a:extLst>
          </p:cNvPr>
          <p:cNvSpPr>
            <a:spLocks noGrp="1"/>
          </p:cNvSpPr>
          <p:nvPr>
            <p:ph type="title"/>
          </p:nvPr>
        </p:nvSpPr>
        <p:spPr>
          <a:xfrm>
            <a:off x="677334" y="283950"/>
            <a:ext cx="8596668" cy="771127"/>
          </a:xfrm>
        </p:spPr>
        <p:txBody>
          <a:bodyPr>
            <a:normAutofit/>
          </a:bodyPr>
          <a:lstStyle/>
          <a:p>
            <a:pPr algn="ctr"/>
            <a:r>
              <a:rPr lang="fr-FR" sz="4400" b="1" dirty="0"/>
              <a:t>Clustering</a:t>
            </a:r>
          </a:p>
        </p:txBody>
      </p:sp>
      <p:sp>
        <p:nvSpPr>
          <p:cNvPr id="4" name="Espace réservé du numéro de diapositive 3">
            <a:extLst>
              <a:ext uri="{FF2B5EF4-FFF2-40B4-BE49-F238E27FC236}">
                <a16:creationId xmlns:a16="http://schemas.microsoft.com/office/drawing/2014/main" id="{7B3F8365-242E-5922-33BF-DB95BB164D57}"/>
              </a:ext>
            </a:extLst>
          </p:cNvPr>
          <p:cNvSpPr>
            <a:spLocks noGrp="1"/>
          </p:cNvSpPr>
          <p:nvPr>
            <p:ph type="sldNum" sz="quarter" idx="12"/>
          </p:nvPr>
        </p:nvSpPr>
        <p:spPr/>
        <p:txBody>
          <a:bodyPr/>
          <a:lstStyle/>
          <a:p>
            <a:fld id="{FEB8DB5B-EED4-4E84-94B6-873B46059CF5}" type="slidenum">
              <a:rPr lang="fr-FR" smtClean="0"/>
              <a:t>20</a:t>
            </a:fld>
            <a:endParaRPr lang="fr-FR"/>
          </a:p>
        </p:txBody>
      </p:sp>
      <p:sp>
        <p:nvSpPr>
          <p:cNvPr id="5" name="Titre 1">
            <a:extLst>
              <a:ext uri="{FF2B5EF4-FFF2-40B4-BE49-F238E27FC236}">
                <a16:creationId xmlns:a16="http://schemas.microsoft.com/office/drawing/2014/main" id="{C1156C2D-73D1-0FEF-77B0-1476D3C4581F}"/>
              </a:ext>
            </a:extLst>
          </p:cNvPr>
          <p:cNvSpPr txBox="1">
            <a:spLocks/>
          </p:cNvSpPr>
          <p:nvPr/>
        </p:nvSpPr>
        <p:spPr>
          <a:xfrm>
            <a:off x="335664" y="1055077"/>
            <a:ext cx="8596668" cy="771127"/>
          </a:xfrm>
          <a:prstGeom prst="rect">
            <a:avLst/>
          </a:prstGeom>
        </p:spPr>
        <p:txBody>
          <a:bodyPr vert="horz" lIns="91440" tIns="45720" rIns="91440" bIns="45720" rtlCol="0" anchor="t">
            <a:normAutofit fontScale="92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3200" b="1" dirty="0"/>
              <a:t>I- CHA (Classification Hiérarchique Ascendante)</a:t>
            </a:r>
          </a:p>
        </p:txBody>
      </p:sp>
      <p:pic>
        <p:nvPicPr>
          <p:cNvPr id="6" name="Image 5">
            <a:extLst>
              <a:ext uri="{FF2B5EF4-FFF2-40B4-BE49-F238E27FC236}">
                <a16:creationId xmlns:a16="http://schemas.microsoft.com/office/drawing/2014/main" id="{93897324-5881-DA3D-BD85-7781F7890065}"/>
              </a:ext>
            </a:extLst>
          </p:cNvPr>
          <p:cNvPicPr>
            <a:picLocks noChangeAspect="1"/>
          </p:cNvPicPr>
          <p:nvPr/>
        </p:nvPicPr>
        <p:blipFill>
          <a:blip r:embed="rId3"/>
          <a:stretch>
            <a:fillRect/>
          </a:stretch>
        </p:blipFill>
        <p:spPr>
          <a:xfrm>
            <a:off x="1484030" y="1770065"/>
            <a:ext cx="6299935" cy="4636422"/>
          </a:xfrm>
          <a:prstGeom prst="rect">
            <a:avLst/>
          </a:prstGeom>
        </p:spPr>
      </p:pic>
    </p:spTree>
    <p:extLst>
      <p:ext uri="{BB962C8B-B14F-4D97-AF65-F5344CB8AC3E}">
        <p14:creationId xmlns:p14="http://schemas.microsoft.com/office/powerpoint/2010/main" val="41403574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219AD-74A4-724F-1765-79B0F246CDC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AA8C91E-AEDF-E923-7EE9-68B4EAA1DBE7}"/>
              </a:ext>
            </a:extLst>
          </p:cNvPr>
          <p:cNvSpPr>
            <a:spLocks noGrp="1"/>
          </p:cNvSpPr>
          <p:nvPr>
            <p:ph type="title"/>
          </p:nvPr>
        </p:nvSpPr>
        <p:spPr>
          <a:xfrm>
            <a:off x="677334" y="283950"/>
            <a:ext cx="8596668" cy="771127"/>
          </a:xfrm>
        </p:spPr>
        <p:txBody>
          <a:bodyPr>
            <a:normAutofit/>
          </a:bodyPr>
          <a:lstStyle/>
          <a:p>
            <a:pPr algn="ctr"/>
            <a:r>
              <a:rPr lang="fr-FR" sz="4400" b="1" dirty="0"/>
              <a:t>Clustering</a:t>
            </a:r>
          </a:p>
        </p:txBody>
      </p:sp>
      <p:sp>
        <p:nvSpPr>
          <p:cNvPr id="4" name="Espace réservé du numéro de diapositive 3">
            <a:extLst>
              <a:ext uri="{FF2B5EF4-FFF2-40B4-BE49-F238E27FC236}">
                <a16:creationId xmlns:a16="http://schemas.microsoft.com/office/drawing/2014/main" id="{7989AC77-5939-0457-B4F7-2F143BFAFB72}"/>
              </a:ext>
            </a:extLst>
          </p:cNvPr>
          <p:cNvSpPr>
            <a:spLocks noGrp="1"/>
          </p:cNvSpPr>
          <p:nvPr>
            <p:ph type="sldNum" sz="quarter" idx="12"/>
          </p:nvPr>
        </p:nvSpPr>
        <p:spPr/>
        <p:txBody>
          <a:bodyPr/>
          <a:lstStyle/>
          <a:p>
            <a:fld id="{FEB8DB5B-EED4-4E84-94B6-873B46059CF5}" type="slidenum">
              <a:rPr lang="fr-FR" smtClean="0"/>
              <a:t>21</a:t>
            </a:fld>
            <a:endParaRPr lang="fr-FR"/>
          </a:p>
        </p:txBody>
      </p:sp>
      <p:sp>
        <p:nvSpPr>
          <p:cNvPr id="5" name="Titre 1">
            <a:extLst>
              <a:ext uri="{FF2B5EF4-FFF2-40B4-BE49-F238E27FC236}">
                <a16:creationId xmlns:a16="http://schemas.microsoft.com/office/drawing/2014/main" id="{E107AEA6-8251-47CF-5B55-06A26F315F1F}"/>
              </a:ext>
            </a:extLst>
          </p:cNvPr>
          <p:cNvSpPr txBox="1">
            <a:spLocks/>
          </p:cNvSpPr>
          <p:nvPr/>
        </p:nvSpPr>
        <p:spPr>
          <a:xfrm>
            <a:off x="335664" y="1055077"/>
            <a:ext cx="8596668" cy="771127"/>
          </a:xfrm>
          <a:prstGeom prst="rect">
            <a:avLst/>
          </a:prstGeom>
        </p:spPr>
        <p:txBody>
          <a:bodyPr vert="horz" lIns="91440" tIns="45720" rIns="91440" bIns="45720" rtlCol="0" anchor="t">
            <a:normAutofit fontScale="92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3200" b="1" dirty="0"/>
              <a:t>I- CHA (Classification Hiérarchique Ascendante)</a:t>
            </a:r>
          </a:p>
        </p:txBody>
      </p:sp>
      <p:pic>
        <p:nvPicPr>
          <p:cNvPr id="7" name="Image 6">
            <a:extLst>
              <a:ext uri="{FF2B5EF4-FFF2-40B4-BE49-F238E27FC236}">
                <a16:creationId xmlns:a16="http://schemas.microsoft.com/office/drawing/2014/main" id="{946CC970-5385-46C1-4551-B59A78F0FF4A}"/>
              </a:ext>
            </a:extLst>
          </p:cNvPr>
          <p:cNvPicPr>
            <a:picLocks noChangeAspect="1"/>
          </p:cNvPicPr>
          <p:nvPr/>
        </p:nvPicPr>
        <p:blipFill>
          <a:blip r:embed="rId3"/>
          <a:stretch>
            <a:fillRect/>
          </a:stretch>
        </p:blipFill>
        <p:spPr>
          <a:xfrm>
            <a:off x="1761809" y="1675677"/>
            <a:ext cx="5744377" cy="5182323"/>
          </a:xfrm>
          <a:prstGeom prst="rect">
            <a:avLst/>
          </a:prstGeom>
        </p:spPr>
      </p:pic>
    </p:spTree>
    <p:extLst>
      <p:ext uri="{BB962C8B-B14F-4D97-AF65-F5344CB8AC3E}">
        <p14:creationId xmlns:p14="http://schemas.microsoft.com/office/powerpoint/2010/main" val="42197813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9805C-D850-4A66-8C4C-3C0501F8420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F5067E0-E59F-5A6A-DCC8-6534A8C69203}"/>
              </a:ext>
            </a:extLst>
          </p:cNvPr>
          <p:cNvSpPr>
            <a:spLocks noGrp="1"/>
          </p:cNvSpPr>
          <p:nvPr>
            <p:ph type="title"/>
          </p:nvPr>
        </p:nvSpPr>
        <p:spPr>
          <a:xfrm>
            <a:off x="677334" y="283950"/>
            <a:ext cx="8596668" cy="771127"/>
          </a:xfrm>
        </p:spPr>
        <p:txBody>
          <a:bodyPr>
            <a:normAutofit/>
          </a:bodyPr>
          <a:lstStyle/>
          <a:p>
            <a:pPr algn="ctr"/>
            <a:r>
              <a:rPr lang="fr-FR" sz="4400" b="1" dirty="0"/>
              <a:t>Clustering</a:t>
            </a:r>
          </a:p>
        </p:txBody>
      </p:sp>
      <p:sp>
        <p:nvSpPr>
          <p:cNvPr id="4" name="Espace réservé du numéro de diapositive 3">
            <a:extLst>
              <a:ext uri="{FF2B5EF4-FFF2-40B4-BE49-F238E27FC236}">
                <a16:creationId xmlns:a16="http://schemas.microsoft.com/office/drawing/2014/main" id="{690CF91D-C2AB-C76C-8EF5-307B0635A3CB}"/>
              </a:ext>
            </a:extLst>
          </p:cNvPr>
          <p:cNvSpPr>
            <a:spLocks noGrp="1"/>
          </p:cNvSpPr>
          <p:nvPr>
            <p:ph type="sldNum" sz="quarter" idx="12"/>
          </p:nvPr>
        </p:nvSpPr>
        <p:spPr/>
        <p:txBody>
          <a:bodyPr/>
          <a:lstStyle/>
          <a:p>
            <a:fld id="{FEB8DB5B-EED4-4E84-94B6-873B46059CF5}" type="slidenum">
              <a:rPr lang="fr-FR" smtClean="0"/>
              <a:t>22</a:t>
            </a:fld>
            <a:endParaRPr lang="fr-FR"/>
          </a:p>
        </p:txBody>
      </p:sp>
      <p:sp>
        <p:nvSpPr>
          <p:cNvPr id="5" name="Titre 1">
            <a:extLst>
              <a:ext uri="{FF2B5EF4-FFF2-40B4-BE49-F238E27FC236}">
                <a16:creationId xmlns:a16="http://schemas.microsoft.com/office/drawing/2014/main" id="{D1F2FBF2-3E84-0BC6-633B-AD2104B32BB0}"/>
              </a:ext>
            </a:extLst>
          </p:cNvPr>
          <p:cNvSpPr txBox="1">
            <a:spLocks/>
          </p:cNvSpPr>
          <p:nvPr/>
        </p:nvSpPr>
        <p:spPr>
          <a:xfrm>
            <a:off x="335664" y="1055077"/>
            <a:ext cx="8596668" cy="77112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3200" b="1" dirty="0"/>
              <a:t>II- K-</a:t>
            </a:r>
            <a:r>
              <a:rPr lang="fr-FR" sz="3200" b="1" dirty="0" err="1"/>
              <a:t>means</a:t>
            </a:r>
            <a:endParaRPr lang="fr-FR" sz="3200" b="1" dirty="0"/>
          </a:p>
        </p:txBody>
      </p:sp>
      <p:pic>
        <p:nvPicPr>
          <p:cNvPr id="6" name="Image 5">
            <a:extLst>
              <a:ext uri="{FF2B5EF4-FFF2-40B4-BE49-F238E27FC236}">
                <a16:creationId xmlns:a16="http://schemas.microsoft.com/office/drawing/2014/main" id="{B19B67D7-3D2B-6CED-AD6C-077AEED0BFC3}"/>
              </a:ext>
            </a:extLst>
          </p:cNvPr>
          <p:cNvPicPr>
            <a:picLocks noChangeAspect="1"/>
          </p:cNvPicPr>
          <p:nvPr/>
        </p:nvPicPr>
        <p:blipFill>
          <a:blip r:embed="rId3"/>
          <a:stretch>
            <a:fillRect/>
          </a:stretch>
        </p:blipFill>
        <p:spPr>
          <a:xfrm>
            <a:off x="2476037" y="1647098"/>
            <a:ext cx="5772956" cy="5210902"/>
          </a:xfrm>
          <a:prstGeom prst="rect">
            <a:avLst/>
          </a:prstGeom>
        </p:spPr>
      </p:pic>
    </p:spTree>
    <p:extLst>
      <p:ext uri="{BB962C8B-B14F-4D97-AF65-F5344CB8AC3E}">
        <p14:creationId xmlns:p14="http://schemas.microsoft.com/office/powerpoint/2010/main" val="15305185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026EC-5EA1-E2ED-0E9C-939C6E3BE25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A84FCCC-583C-31D6-E844-5DEEAA3C2C73}"/>
              </a:ext>
            </a:extLst>
          </p:cNvPr>
          <p:cNvSpPr>
            <a:spLocks noGrp="1"/>
          </p:cNvSpPr>
          <p:nvPr>
            <p:ph type="title"/>
          </p:nvPr>
        </p:nvSpPr>
        <p:spPr>
          <a:xfrm>
            <a:off x="677334" y="283950"/>
            <a:ext cx="8596668" cy="771127"/>
          </a:xfrm>
        </p:spPr>
        <p:txBody>
          <a:bodyPr>
            <a:normAutofit/>
          </a:bodyPr>
          <a:lstStyle/>
          <a:p>
            <a:pPr algn="ctr"/>
            <a:r>
              <a:rPr lang="fr-FR" sz="4400" b="1" dirty="0"/>
              <a:t>Clustering</a:t>
            </a:r>
          </a:p>
        </p:txBody>
      </p:sp>
      <p:sp>
        <p:nvSpPr>
          <p:cNvPr id="4" name="Espace réservé du numéro de diapositive 3">
            <a:extLst>
              <a:ext uri="{FF2B5EF4-FFF2-40B4-BE49-F238E27FC236}">
                <a16:creationId xmlns:a16="http://schemas.microsoft.com/office/drawing/2014/main" id="{6E42BEFA-2DDA-2B77-650B-97DBDF6A6AC6}"/>
              </a:ext>
            </a:extLst>
          </p:cNvPr>
          <p:cNvSpPr>
            <a:spLocks noGrp="1"/>
          </p:cNvSpPr>
          <p:nvPr>
            <p:ph type="sldNum" sz="quarter" idx="12"/>
          </p:nvPr>
        </p:nvSpPr>
        <p:spPr/>
        <p:txBody>
          <a:bodyPr/>
          <a:lstStyle/>
          <a:p>
            <a:fld id="{FEB8DB5B-EED4-4E84-94B6-873B46059CF5}" type="slidenum">
              <a:rPr lang="fr-FR" smtClean="0"/>
              <a:t>23</a:t>
            </a:fld>
            <a:endParaRPr lang="fr-FR"/>
          </a:p>
        </p:txBody>
      </p:sp>
      <p:sp>
        <p:nvSpPr>
          <p:cNvPr id="5" name="Titre 1">
            <a:extLst>
              <a:ext uri="{FF2B5EF4-FFF2-40B4-BE49-F238E27FC236}">
                <a16:creationId xmlns:a16="http://schemas.microsoft.com/office/drawing/2014/main" id="{12B4B18D-1E0A-5FCF-2D0C-59DA2658F7C7}"/>
              </a:ext>
            </a:extLst>
          </p:cNvPr>
          <p:cNvSpPr txBox="1">
            <a:spLocks/>
          </p:cNvSpPr>
          <p:nvPr/>
        </p:nvSpPr>
        <p:spPr>
          <a:xfrm>
            <a:off x="335664" y="1271911"/>
            <a:ext cx="8596668" cy="77112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3200" b="1" dirty="0"/>
              <a:t>III- K-</a:t>
            </a:r>
            <a:r>
              <a:rPr lang="fr-FR" sz="3200" b="1" dirty="0" err="1"/>
              <a:t>means</a:t>
            </a:r>
            <a:r>
              <a:rPr lang="fr-FR" sz="3200" b="1" dirty="0"/>
              <a:t> analyse pays cibles</a:t>
            </a:r>
          </a:p>
        </p:txBody>
      </p:sp>
      <p:sp>
        <p:nvSpPr>
          <p:cNvPr id="3" name="Titre 1">
            <a:extLst>
              <a:ext uri="{FF2B5EF4-FFF2-40B4-BE49-F238E27FC236}">
                <a16:creationId xmlns:a16="http://schemas.microsoft.com/office/drawing/2014/main" id="{952DA004-4212-FB96-F23A-BD2C64B8BB24}"/>
              </a:ext>
            </a:extLst>
          </p:cNvPr>
          <p:cNvSpPr txBox="1">
            <a:spLocks/>
          </p:cNvSpPr>
          <p:nvPr/>
        </p:nvSpPr>
        <p:spPr>
          <a:xfrm>
            <a:off x="677334" y="3031000"/>
            <a:ext cx="8596668" cy="3293599"/>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514350" indent="-514350">
              <a:buFont typeface="+mj-lt"/>
              <a:buAutoNum type="arabicPeriod"/>
            </a:pPr>
            <a:r>
              <a:rPr lang="fr-FR" sz="2000" b="1" dirty="0"/>
              <a:t>Pays stables, ayant un PIB par habitant et un index infrastructure supérieur à la moyenne mondiale</a:t>
            </a:r>
          </a:p>
          <a:p>
            <a:pPr marL="514350" indent="-514350">
              <a:buFont typeface="+mj-lt"/>
              <a:buAutoNum type="arabicPeriod"/>
            </a:pPr>
            <a:endParaRPr lang="fr-FR" sz="2000" b="1" dirty="0"/>
          </a:p>
          <a:p>
            <a:pPr marL="514350" indent="-514350">
              <a:buFont typeface="+mj-lt"/>
              <a:buAutoNum type="arabicPeriod"/>
            </a:pPr>
            <a:r>
              <a:rPr lang="fr-FR" sz="2000" b="1" dirty="0"/>
              <a:t>Consommation supérieure à la moyenne mondiale</a:t>
            </a:r>
          </a:p>
          <a:p>
            <a:pPr marL="514350" indent="-514350">
              <a:buFont typeface="+mj-lt"/>
              <a:buAutoNum type="arabicPeriod"/>
            </a:pPr>
            <a:endParaRPr lang="fr-FR" sz="2000" b="1" dirty="0"/>
          </a:p>
          <a:p>
            <a:pPr marL="514350" indent="-514350">
              <a:buFont typeface="+mj-lt"/>
              <a:buAutoNum type="arabicPeriod"/>
            </a:pPr>
            <a:r>
              <a:rPr lang="fr-FR" sz="2000" b="1" dirty="0"/>
              <a:t>Pays ayant plus de 3 millions d’habitants</a:t>
            </a:r>
          </a:p>
          <a:p>
            <a:pPr marL="514350" indent="-514350">
              <a:buFont typeface="+mj-lt"/>
              <a:buAutoNum type="arabicPeriod"/>
            </a:pPr>
            <a:endParaRPr lang="fr-FR" sz="2000" b="1" dirty="0"/>
          </a:p>
          <a:p>
            <a:pPr marL="514350" indent="-514350">
              <a:buFont typeface="+mj-lt"/>
              <a:buAutoNum type="arabicPeriod"/>
            </a:pPr>
            <a:r>
              <a:rPr lang="fr-FR" sz="2000" b="1" dirty="0"/>
              <a:t>Pays ayant plus de 0,2 de dépendance aux importations</a:t>
            </a:r>
          </a:p>
          <a:p>
            <a:pPr marL="514350" indent="-514350">
              <a:buFont typeface="+mj-lt"/>
              <a:buAutoNum type="arabicPeriod"/>
            </a:pPr>
            <a:endParaRPr lang="fr-FR" sz="2000" b="1" dirty="0"/>
          </a:p>
          <a:p>
            <a:pPr marL="514350" indent="-514350">
              <a:buFont typeface="+mj-lt"/>
              <a:buAutoNum type="arabicPeriod"/>
            </a:pPr>
            <a:r>
              <a:rPr lang="fr-FR" sz="2000" b="1" dirty="0"/>
              <a:t>Enlever la France de la liste</a:t>
            </a:r>
          </a:p>
        </p:txBody>
      </p:sp>
      <p:sp>
        <p:nvSpPr>
          <p:cNvPr id="6" name="Titre 1">
            <a:extLst>
              <a:ext uri="{FF2B5EF4-FFF2-40B4-BE49-F238E27FC236}">
                <a16:creationId xmlns:a16="http://schemas.microsoft.com/office/drawing/2014/main" id="{47451610-9691-BB74-FE9A-85DDE5D821E6}"/>
              </a:ext>
            </a:extLst>
          </p:cNvPr>
          <p:cNvSpPr txBox="1">
            <a:spLocks/>
          </p:cNvSpPr>
          <p:nvPr/>
        </p:nvSpPr>
        <p:spPr>
          <a:xfrm>
            <a:off x="426066" y="2259873"/>
            <a:ext cx="8596668" cy="77112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fr-FR" sz="3200" b="1" dirty="0"/>
              <a:t>Points importants</a:t>
            </a:r>
          </a:p>
        </p:txBody>
      </p:sp>
    </p:spTree>
    <p:extLst>
      <p:ext uri="{BB962C8B-B14F-4D97-AF65-F5344CB8AC3E}">
        <p14:creationId xmlns:p14="http://schemas.microsoft.com/office/powerpoint/2010/main" val="2206139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 calcmode="lin" valueType="num">
                                      <p:cBhvr>
                                        <p:cTn id="14"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p:cTn id="21"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 calcmode="lin" valueType="num">
                                      <p:cBhvr>
                                        <p:cTn id="28"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30" dur="500"/>
                                        <p:tgtEl>
                                          <p:spTgt spid="3">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 calcmode="lin" valueType="num">
                                      <p:cBhvr>
                                        <p:cTn id="35" dur="500" fill="hold"/>
                                        <p:tgtEl>
                                          <p:spTgt spid="3">
                                            <p:txEl>
                                              <p:pRg st="8" end="8"/>
                                            </p:txEl>
                                          </p:spTgt>
                                        </p:tgtEl>
                                        <p:attrNameLst>
                                          <p:attrName>ppt_w</p:attrName>
                                        </p:attrNameLst>
                                      </p:cBhvr>
                                      <p:tavLst>
                                        <p:tav tm="0">
                                          <p:val>
                                            <p:fltVal val="0"/>
                                          </p:val>
                                        </p:tav>
                                        <p:tav tm="100000">
                                          <p:val>
                                            <p:strVal val="#ppt_w"/>
                                          </p:val>
                                        </p:tav>
                                      </p:tavLst>
                                    </p:anim>
                                    <p:anim calcmode="lin" valueType="num">
                                      <p:cBhvr>
                                        <p:cTn id="36" dur="500" fill="hold"/>
                                        <p:tgtEl>
                                          <p:spTgt spid="3">
                                            <p:txEl>
                                              <p:pRg st="8" end="8"/>
                                            </p:txEl>
                                          </p:spTgt>
                                        </p:tgtEl>
                                        <p:attrNameLst>
                                          <p:attrName>ppt_h</p:attrName>
                                        </p:attrNameLst>
                                      </p:cBhvr>
                                      <p:tavLst>
                                        <p:tav tm="0">
                                          <p:val>
                                            <p:fltVal val="0"/>
                                          </p:val>
                                        </p:tav>
                                        <p:tav tm="100000">
                                          <p:val>
                                            <p:strVal val="#ppt_h"/>
                                          </p:val>
                                        </p:tav>
                                      </p:tavLst>
                                    </p:anim>
                                    <p:animEffect transition="in" filter="fade">
                                      <p:cBhvr>
                                        <p:cTn id="3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5EB0C-7D3D-AC29-5128-1E30E8C4D79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5940918-52E0-E4AC-1648-8943BA880E1B}"/>
              </a:ext>
            </a:extLst>
          </p:cNvPr>
          <p:cNvSpPr>
            <a:spLocks noGrp="1"/>
          </p:cNvSpPr>
          <p:nvPr>
            <p:ph type="title"/>
          </p:nvPr>
        </p:nvSpPr>
        <p:spPr>
          <a:xfrm>
            <a:off x="677334" y="283950"/>
            <a:ext cx="8596668" cy="771127"/>
          </a:xfrm>
        </p:spPr>
        <p:txBody>
          <a:bodyPr>
            <a:normAutofit/>
          </a:bodyPr>
          <a:lstStyle/>
          <a:p>
            <a:pPr algn="ctr"/>
            <a:r>
              <a:rPr lang="fr-FR" sz="4400" b="1" dirty="0"/>
              <a:t>Clustering</a:t>
            </a:r>
          </a:p>
        </p:txBody>
      </p:sp>
      <p:sp>
        <p:nvSpPr>
          <p:cNvPr id="4" name="Espace réservé du numéro de diapositive 3">
            <a:extLst>
              <a:ext uri="{FF2B5EF4-FFF2-40B4-BE49-F238E27FC236}">
                <a16:creationId xmlns:a16="http://schemas.microsoft.com/office/drawing/2014/main" id="{F6F84EF1-5B60-53A3-326B-6951F761146C}"/>
              </a:ext>
            </a:extLst>
          </p:cNvPr>
          <p:cNvSpPr>
            <a:spLocks noGrp="1"/>
          </p:cNvSpPr>
          <p:nvPr>
            <p:ph type="sldNum" sz="quarter" idx="12"/>
          </p:nvPr>
        </p:nvSpPr>
        <p:spPr/>
        <p:txBody>
          <a:bodyPr/>
          <a:lstStyle/>
          <a:p>
            <a:fld id="{FEB8DB5B-EED4-4E84-94B6-873B46059CF5}" type="slidenum">
              <a:rPr lang="fr-FR" smtClean="0"/>
              <a:t>24</a:t>
            </a:fld>
            <a:endParaRPr lang="fr-FR"/>
          </a:p>
        </p:txBody>
      </p:sp>
      <p:sp>
        <p:nvSpPr>
          <p:cNvPr id="5" name="Titre 1">
            <a:extLst>
              <a:ext uri="{FF2B5EF4-FFF2-40B4-BE49-F238E27FC236}">
                <a16:creationId xmlns:a16="http://schemas.microsoft.com/office/drawing/2014/main" id="{DCD1B931-39D7-CD62-9175-7B1D81A08F02}"/>
              </a:ext>
            </a:extLst>
          </p:cNvPr>
          <p:cNvSpPr txBox="1">
            <a:spLocks/>
          </p:cNvSpPr>
          <p:nvPr/>
        </p:nvSpPr>
        <p:spPr>
          <a:xfrm>
            <a:off x="232794" y="1514193"/>
            <a:ext cx="8596668" cy="77112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3200" b="1" dirty="0"/>
              <a:t>IV – Conclusion</a:t>
            </a:r>
          </a:p>
        </p:txBody>
      </p:sp>
      <p:sp>
        <p:nvSpPr>
          <p:cNvPr id="3" name="Titre 1">
            <a:extLst>
              <a:ext uri="{FF2B5EF4-FFF2-40B4-BE49-F238E27FC236}">
                <a16:creationId xmlns:a16="http://schemas.microsoft.com/office/drawing/2014/main" id="{92B480C3-BA8E-D9FD-1989-E37CFBA8762B}"/>
              </a:ext>
            </a:extLst>
          </p:cNvPr>
          <p:cNvSpPr txBox="1">
            <a:spLocks/>
          </p:cNvSpPr>
          <p:nvPr/>
        </p:nvSpPr>
        <p:spPr>
          <a:xfrm>
            <a:off x="791826" y="2082319"/>
            <a:ext cx="8596668" cy="77112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fr-FR" sz="3200" b="1" dirty="0"/>
              <a:t>Nos cibles CHA</a:t>
            </a:r>
          </a:p>
        </p:txBody>
      </p:sp>
      <p:sp>
        <p:nvSpPr>
          <p:cNvPr id="6" name="Flèche : bas 5">
            <a:extLst>
              <a:ext uri="{FF2B5EF4-FFF2-40B4-BE49-F238E27FC236}">
                <a16:creationId xmlns:a16="http://schemas.microsoft.com/office/drawing/2014/main" id="{608EF591-9DC5-8BE0-1787-DC3D010636FD}"/>
              </a:ext>
            </a:extLst>
          </p:cNvPr>
          <p:cNvSpPr/>
          <p:nvPr/>
        </p:nvSpPr>
        <p:spPr>
          <a:xfrm>
            <a:off x="4432935" y="2640330"/>
            <a:ext cx="1588770" cy="1224875"/>
          </a:xfrm>
          <a:prstGeom prst="down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fr-FR"/>
          </a:p>
        </p:txBody>
      </p:sp>
      <p:pic>
        <p:nvPicPr>
          <p:cNvPr id="9" name="Image 8">
            <a:extLst>
              <a:ext uri="{FF2B5EF4-FFF2-40B4-BE49-F238E27FC236}">
                <a16:creationId xmlns:a16="http://schemas.microsoft.com/office/drawing/2014/main" id="{E5584B64-F455-05A0-95E7-D172813688EE}"/>
              </a:ext>
            </a:extLst>
          </p:cNvPr>
          <p:cNvPicPr>
            <a:picLocks noChangeAspect="1"/>
          </p:cNvPicPr>
          <p:nvPr/>
        </p:nvPicPr>
        <p:blipFill>
          <a:blip r:embed="rId3"/>
          <a:stretch>
            <a:fillRect/>
          </a:stretch>
        </p:blipFill>
        <p:spPr>
          <a:xfrm>
            <a:off x="0" y="4050275"/>
            <a:ext cx="12192000" cy="1629582"/>
          </a:xfrm>
          <a:prstGeom prst="rect">
            <a:avLst/>
          </a:prstGeom>
          <a:ln w="57150">
            <a:solidFill>
              <a:schemeClr val="accent5"/>
            </a:solidFill>
          </a:ln>
        </p:spPr>
      </p:pic>
    </p:spTree>
    <p:extLst>
      <p:ext uri="{BB962C8B-B14F-4D97-AF65-F5344CB8AC3E}">
        <p14:creationId xmlns:p14="http://schemas.microsoft.com/office/powerpoint/2010/main" val="2653915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style.rotation</p:attrName>
                                        </p:attrNameLst>
                                      </p:cBhvr>
                                      <p:tavLst>
                                        <p:tav tm="0">
                                          <p:val>
                                            <p:fltVal val="90"/>
                                          </p:val>
                                        </p:tav>
                                        <p:tav tm="100000">
                                          <p:val>
                                            <p:fltVal val="0"/>
                                          </p:val>
                                        </p:tav>
                                      </p:tavLst>
                                    </p:anim>
                                    <p:animEffect transition="in" filter="fade">
                                      <p:cBhvr>
                                        <p:cTn id="10"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57692-CDE6-3C29-63B6-2BE369897E7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4ABD80E-C891-C121-6039-77CD52261F45}"/>
              </a:ext>
            </a:extLst>
          </p:cNvPr>
          <p:cNvSpPr>
            <a:spLocks noGrp="1"/>
          </p:cNvSpPr>
          <p:nvPr>
            <p:ph type="title"/>
          </p:nvPr>
        </p:nvSpPr>
        <p:spPr>
          <a:xfrm>
            <a:off x="677334" y="283950"/>
            <a:ext cx="8596668" cy="771127"/>
          </a:xfrm>
        </p:spPr>
        <p:txBody>
          <a:bodyPr>
            <a:normAutofit/>
          </a:bodyPr>
          <a:lstStyle/>
          <a:p>
            <a:pPr algn="ctr"/>
            <a:r>
              <a:rPr lang="fr-FR" sz="4400" b="1" dirty="0"/>
              <a:t>Clustering</a:t>
            </a:r>
          </a:p>
        </p:txBody>
      </p:sp>
      <p:sp>
        <p:nvSpPr>
          <p:cNvPr id="4" name="Espace réservé du numéro de diapositive 3">
            <a:extLst>
              <a:ext uri="{FF2B5EF4-FFF2-40B4-BE49-F238E27FC236}">
                <a16:creationId xmlns:a16="http://schemas.microsoft.com/office/drawing/2014/main" id="{4592BB48-F887-0310-D167-C71F197AC0A0}"/>
              </a:ext>
            </a:extLst>
          </p:cNvPr>
          <p:cNvSpPr>
            <a:spLocks noGrp="1"/>
          </p:cNvSpPr>
          <p:nvPr>
            <p:ph type="sldNum" sz="quarter" idx="12"/>
          </p:nvPr>
        </p:nvSpPr>
        <p:spPr/>
        <p:txBody>
          <a:bodyPr/>
          <a:lstStyle/>
          <a:p>
            <a:fld id="{FEB8DB5B-EED4-4E84-94B6-873B46059CF5}" type="slidenum">
              <a:rPr lang="fr-FR" smtClean="0"/>
              <a:t>25</a:t>
            </a:fld>
            <a:endParaRPr lang="fr-FR"/>
          </a:p>
        </p:txBody>
      </p:sp>
      <p:sp>
        <p:nvSpPr>
          <p:cNvPr id="5" name="Titre 1">
            <a:extLst>
              <a:ext uri="{FF2B5EF4-FFF2-40B4-BE49-F238E27FC236}">
                <a16:creationId xmlns:a16="http://schemas.microsoft.com/office/drawing/2014/main" id="{485FCD50-1305-B7F4-8D19-2AB07EB88837}"/>
              </a:ext>
            </a:extLst>
          </p:cNvPr>
          <p:cNvSpPr txBox="1">
            <a:spLocks/>
          </p:cNvSpPr>
          <p:nvPr/>
        </p:nvSpPr>
        <p:spPr>
          <a:xfrm>
            <a:off x="232794" y="1514193"/>
            <a:ext cx="8596668" cy="77112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3200" b="1" dirty="0"/>
              <a:t>IV – Conclusion</a:t>
            </a:r>
          </a:p>
        </p:txBody>
      </p:sp>
      <p:pic>
        <p:nvPicPr>
          <p:cNvPr id="7" name="Image 6">
            <a:extLst>
              <a:ext uri="{FF2B5EF4-FFF2-40B4-BE49-F238E27FC236}">
                <a16:creationId xmlns:a16="http://schemas.microsoft.com/office/drawing/2014/main" id="{D43B4433-3512-7100-1BA5-0397F6C45786}"/>
              </a:ext>
            </a:extLst>
          </p:cNvPr>
          <p:cNvPicPr>
            <a:picLocks noChangeAspect="1"/>
          </p:cNvPicPr>
          <p:nvPr/>
        </p:nvPicPr>
        <p:blipFill>
          <a:blip r:embed="rId3"/>
          <a:stretch>
            <a:fillRect/>
          </a:stretch>
        </p:blipFill>
        <p:spPr>
          <a:xfrm>
            <a:off x="0" y="3880689"/>
            <a:ext cx="12192000" cy="2525798"/>
          </a:xfrm>
          <a:prstGeom prst="rect">
            <a:avLst/>
          </a:prstGeom>
          <a:ln w="57150">
            <a:solidFill>
              <a:srgbClr val="C00000"/>
            </a:solidFill>
          </a:ln>
        </p:spPr>
      </p:pic>
      <p:sp>
        <p:nvSpPr>
          <p:cNvPr id="3" name="Titre 1">
            <a:extLst>
              <a:ext uri="{FF2B5EF4-FFF2-40B4-BE49-F238E27FC236}">
                <a16:creationId xmlns:a16="http://schemas.microsoft.com/office/drawing/2014/main" id="{94728614-202C-293F-DA5B-950837093D65}"/>
              </a:ext>
            </a:extLst>
          </p:cNvPr>
          <p:cNvSpPr txBox="1">
            <a:spLocks/>
          </p:cNvSpPr>
          <p:nvPr/>
        </p:nvSpPr>
        <p:spPr>
          <a:xfrm>
            <a:off x="791826" y="2082319"/>
            <a:ext cx="8596668" cy="77112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fr-FR" sz="3200" b="1" dirty="0"/>
              <a:t>Nos cibles K-</a:t>
            </a:r>
            <a:r>
              <a:rPr lang="fr-FR" sz="3200" b="1" dirty="0" err="1"/>
              <a:t>means</a:t>
            </a:r>
            <a:endParaRPr lang="fr-FR" sz="3200" b="1" dirty="0"/>
          </a:p>
        </p:txBody>
      </p:sp>
      <p:sp>
        <p:nvSpPr>
          <p:cNvPr id="6" name="Flèche : bas 5">
            <a:extLst>
              <a:ext uri="{FF2B5EF4-FFF2-40B4-BE49-F238E27FC236}">
                <a16:creationId xmlns:a16="http://schemas.microsoft.com/office/drawing/2014/main" id="{6493AC0F-3270-DA66-592E-333C0566D94A}"/>
              </a:ext>
            </a:extLst>
          </p:cNvPr>
          <p:cNvSpPr/>
          <p:nvPr/>
        </p:nvSpPr>
        <p:spPr>
          <a:xfrm>
            <a:off x="4423410" y="2744436"/>
            <a:ext cx="1588770" cy="1011759"/>
          </a:xfrm>
          <a:prstGeom prst="down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631902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acette">
  <a:themeElements>
    <a:clrScheme name="Facette">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te">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te">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5787</TotalTime>
  <Words>1510</Words>
  <Application>Microsoft Office PowerPoint</Application>
  <PresentationFormat>Grand écran</PresentationFormat>
  <Paragraphs>228</Paragraphs>
  <Slides>25</Slides>
  <Notes>23</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25</vt:i4>
      </vt:variant>
    </vt:vector>
  </HeadingPairs>
  <TitlesOfParts>
    <vt:vector size="30" baseType="lpstr">
      <vt:lpstr>Aptos</vt:lpstr>
      <vt:lpstr>Arial</vt:lpstr>
      <vt:lpstr>Trebuchet MS</vt:lpstr>
      <vt:lpstr>Wingdings 3</vt:lpstr>
      <vt:lpstr>Facette</vt:lpstr>
      <vt:lpstr>Réalisation d’une étude de marché pour La poule qui chante</vt:lpstr>
      <vt:lpstr>Les tables de départs</vt:lpstr>
      <vt:lpstr>Les tables de départs</vt:lpstr>
      <vt:lpstr>Table finale pour 2017</vt:lpstr>
      <vt:lpstr>PESTEL</vt:lpstr>
      <vt:lpstr>Analyse exploratoire</vt:lpstr>
      <vt:lpstr>Analyse exploratoire</vt:lpstr>
      <vt:lpstr>Analyse exploratoire</vt:lpstr>
      <vt:lpstr>Analyse exploratoire</vt:lpstr>
      <vt:lpstr>Analyse exploratoire</vt:lpstr>
      <vt:lpstr>Analyse exploratoire</vt:lpstr>
      <vt:lpstr>Analyse exploratoire</vt:lpstr>
      <vt:lpstr>Analyse exploratoire</vt:lpstr>
      <vt:lpstr>Analyse exploratoire</vt:lpstr>
      <vt:lpstr>ACP</vt:lpstr>
      <vt:lpstr>ACP</vt:lpstr>
      <vt:lpstr>ACP</vt:lpstr>
      <vt:lpstr>ACP</vt:lpstr>
      <vt:lpstr>ACP</vt:lpstr>
      <vt:lpstr>Clustering</vt:lpstr>
      <vt:lpstr>Clustering</vt:lpstr>
      <vt:lpstr>Clustering</vt:lpstr>
      <vt:lpstr>Clustering</vt:lpstr>
      <vt:lpstr>Clustering</vt:lpstr>
      <vt:lpstr>Clustering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evan fol</dc:creator>
  <cp:lastModifiedBy>evan fol</cp:lastModifiedBy>
  <cp:revision>13</cp:revision>
  <dcterms:created xsi:type="dcterms:W3CDTF">2026-03-26T08:04:54Z</dcterms:created>
  <dcterms:modified xsi:type="dcterms:W3CDTF">2026-04-22T14:46:35Z</dcterms:modified>
</cp:coreProperties>
</file>