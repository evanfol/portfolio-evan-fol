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41" autoAdjust="0"/>
  </p:normalViewPr>
  <p:slideViewPr>
    <p:cSldViewPr snapToGrid="0">
      <p:cViewPr varScale="1">
        <p:scale>
          <a:sx n="92" d="100"/>
          <a:sy n="92" d="100"/>
        </p:scale>
        <p:origin x="11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c28d163b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13c28d163b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c28d163b2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13c28d163b2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0970d57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g250970d57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Les livrables : </a:t>
            </a:r>
          </a:p>
          <a:p>
            <a:r>
              <a:rPr lang="fr-FR" b="1" dirty="0"/>
              <a:t>1. Livrables de gestion de projet </a:t>
            </a:r>
          </a:p>
          <a:p>
            <a:pPr lvl="1"/>
            <a:r>
              <a:rPr lang="fr-FR" b="1" dirty="0"/>
              <a:t>L'analyse des besoins métiers :</a:t>
            </a:r>
            <a:r>
              <a:rPr lang="fr-FR" dirty="0"/>
              <a:t> Note de synthèse sur les problématiques data et de recrutement d'</a:t>
            </a:r>
            <a:r>
              <a:rPr lang="fr-FR" dirty="0" err="1"/>
              <a:t>Aéroworld</a:t>
            </a:r>
            <a:r>
              <a:rPr lang="fr-FR" dirty="0"/>
              <a:t> (déjà complétée ensemble).</a:t>
            </a:r>
          </a:p>
          <a:p>
            <a:pPr lvl="1"/>
            <a:r>
              <a:rPr lang="fr-FR" b="1" dirty="0"/>
              <a:t>Le cahier des charges fonctionnel :</a:t>
            </a:r>
            <a:r>
              <a:rPr lang="fr-FR" dirty="0"/>
              <a:t> Document cadrant les objectifs, contraintes et spécifications du projet portfolio.</a:t>
            </a:r>
          </a:p>
          <a:p>
            <a:pPr lvl="1"/>
            <a:r>
              <a:rPr lang="fr-FR" b="1" dirty="0"/>
              <a:t>Le diagramme de Gantt :</a:t>
            </a:r>
            <a:r>
              <a:rPr lang="fr-FR" dirty="0"/>
              <a:t> Planning prévisionnel pour l'organisation et le respect des délais.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r>
              <a:rPr lang="fr-F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2. Livrables Design &amp; Business Intelligence</a:t>
            </a:r>
          </a:p>
          <a:p>
            <a:pPr lvl="1"/>
            <a:r>
              <a:rPr lang="fr-F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Les Mock-</a:t>
            </a:r>
            <a:r>
              <a:rPr lang="fr-F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ups</a:t>
            </a:r>
            <a:r>
              <a:rPr lang="fr-F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(Maquettes) :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Prototypes visuels des deux tableaux de bord, réalisés sur Miro, 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Figma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ou à main levée.</a:t>
            </a:r>
          </a:p>
          <a:p>
            <a:pPr lvl="1"/>
            <a:r>
              <a:rPr lang="fr-F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 Tableau de bord de Veille :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Dashboard (Power BI ou Tableau) analysant les nouveaux outils, techniques et méthodes data. </a:t>
            </a:r>
          </a:p>
          <a:p>
            <a:pPr lvl="1"/>
            <a:r>
              <a:rPr lang="fr-F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 Tableau de bord de Profil :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Dashboard présentant ton parcours, tes compétences et tes </a:t>
            </a:r>
            <a:r>
              <a:rPr lang="fr-FR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soft </a:t>
            </a:r>
            <a:r>
              <a:rPr lang="fr-FR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skills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manière interactive.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r>
              <a:rPr lang="fr-F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3. Livrables d'Accompagnement &amp; Documentation</a:t>
            </a:r>
          </a:p>
          <a:p>
            <a:pPr lvl="1"/>
            <a:r>
              <a:rPr lang="fr-F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 vidéo de formation (</a:t>
            </a:r>
            <a:r>
              <a:rPr lang="fr-F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Loom</a:t>
            </a:r>
            <a:r>
              <a:rPr lang="fr-F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: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Capsule pédagogique pour guider les utilisateurs dans la prise en main des outils. </a:t>
            </a:r>
          </a:p>
          <a:p>
            <a:pPr lvl="1"/>
            <a:r>
              <a:rPr lang="fr-F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Les procédures de documentation :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Guide technique écrit garantissant la fiabilité et la gouvernance des données.</a:t>
            </a:r>
          </a:p>
          <a:p>
            <a:pPr marL="615950" lvl="1" indent="0">
              <a:buNone/>
            </a:pPr>
            <a:endParaRPr lang="fr-F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fr-FR" b="1" dirty="0"/>
              <a:t>4. Le conteneur final</a:t>
            </a:r>
          </a:p>
          <a:p>
            <a:pPr lvl="1"/>
            <a:r>
              <a:rPr lang="fr-FR" b="1" dirty="0"/>
              <a:t>Le Portfolio (CMS ou GitHub Pages) :</a:t>
            </a:r>
            <a:r>
              <a:rPr lang="fr-FR" dirty="0"/>
              <a:t> L'interface visuelle et réflexive finale regroupant et connectant l'ensemble de ces livrables.</a:t>
            </a:r>
          </a:p>
          <a:p>
            <a:pPr lvl="1"/>
            <a:endParaRPr lang="fr-FR" dirty="0"/>
          </a:p>
          <a:p>
            <a:pPr marL="615950" lvl="1" indent="0"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b="1" dirty="0"/>
              <a:t>W3C</a:t>
            </a:r>
            <a:r>
              <a:rPr lang="fr-FR" dirty="0"/>
              <a:t> : Organisme international fixant les standards du web pour garantir l'accessibilité aux personnes en situation de handicap et le bon affichage du site sur tous les navigateurs.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b="1" dirty="0" err="1"/>
              <a:t>Opquast</a:t>
            </a:r>
            <a:r>
              <a:rPr lang="fr-FR" b="1" dirty="0"/>
              <a:t> :</a:t>
            </a:r>
            <a:r>
              <a:rPr lang="fr-FR" dirty="0"/>
              <a:t> Référentiel de bonnes pratiques axé sur l'expérience utilisateur (UX), visant à rendre les sites web plus fiables, clairs, sécurisés et performants pour les internautes.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Les modalités de recette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	Les critères d'acceptation : règles que le livrable doit  respecter (orthographe correcte, liens fonctionnels)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	L'environnement de test : contexte du test (navigateur testés)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	Les acteurs de la validation : Hayley  et Suzanne</a:t>
            </a:r>
            <a:endParaRPr dirty="0"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4903072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gf4903072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Cahier des charges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Élaboration d’un Portfolio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838200" y="3370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948275" y="15123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6059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Contraintes techniques et réglementaires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Qualité et performance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Devis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Courte présentation du projet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fr-FR" sz="2000" b="1" dirty="0">
                <a:latin typeface="Montserrat"/>
              </a:rPr>
              <a:t>Projet</a:t>
            </a:r>
            <a:r>
              <a:rPr lang="fr-FR" sz="2000" dirty="0">
                <a:latin typeface="Montserrat"/>
              </a:rPr>
              <a:t> : Conception et réalisation d'un Portfolio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fr-FR" sz="2000" dirty="0">
              <a:latin typeface="Montserra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fr-FR" sz="2000" b="1" dirty="0">
                <a:latin typeface="Montserrat"/>
              </a:rPr>
              <a:t>Finalité</a:t>
            </a:r>
            <a:r>
              <a:rPr lang="fr-FR" sz="2000" dirty="0">
                <a:latin typeface="Montserrat"/>
              </a:rPr>
              <a:t> : Démontrer mes compétences d'expert Data </a:t>
            </a:r>
            <a:r>
              <a:rPr lang="fr-FR" sz="2000" dirty="0" err="1">
                <a:latin typeface="Montserrat"/>
              </a:rPr>
              <a:t>Analyst</a:t>
            </a:r>
            <a:r>
              <a:rPr lang="fr-FR" sz="2000" dirty="0">
                <a:latin typeface="Montserrat"/>
              </a:rPr>
              <a:t> et de futur manager pour le recrutement chez </a:t>
            </a:r>
            <a:r>
              <a:rPr lang="fr-FR" sz="2000" dirty="0" err="1">
                <a:latin typeface="Montserrat"/>
              </a:rPr>
              <a:t>Aéroworld</a:t>
            </a:r>
            <a:r>
              <a:rPr lang="fr-FR" sz="2000" dirty="0">
                <a:latin typeface="Montserrat"/>
              </a:rPr>
              <a:t>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fr-FR" sz="2000" dirty="0">
              <a:latin typeface="Montserra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fr-FR" sz="2000" b="1" dirty="0">
                <a:latin typeface="Montserrat"/>
              </a:rPr>
              <a:t>Concept</a:t>
            </a:r>
            <a:r>
              <a:rPr lang="fr-FR" sz="2000" dirty="0">
                <a:latin typeface="Montserrat"/>
              </a:rPr>
              <a:t> : Un hub central regroupant mes réalisations techniques, mes méthodologies et ma posture de consultant.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Besoins de l’entreprise/ du client  : 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sym typeface="Montserrat"/>
              </a:rPr>
              <a:t>Évaluer mes capacités de gestion de projet</a:t>
            </a:r>
          </a:p>
          <a:p>
            <a:pPr marL="228600" lvl="0" indent="-228600">
              <a:spcBef>
                <a:spcPts val="0"/>
              </a:spcBef>
              <a:buSzPts val="2800"/>
              <a:buFont typeface="Montserrat"/>
              <a:buChar char="•"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Raisons du besoin : </a:t>
            </a:r>
          </a:p>
          <a:p>
            <a:pPr marL="685800" lvl="1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sym typeface="Montserrat"/>
              </a:rPr>
              <a:t>Exigence élevée d'</a:t>
            </a:r>
            <a:r>
              <a:rPr lang="fr-FR" sz="2000" dirty="0" err="1">
                <a:latin typeface="Montserrat"/>
                <a:sym typeface="Montserrat"/>
              </a:rPr>
              <a:t>Aéroworld</a:t>
            </a:r>
            <a:r>
              <a:rPr lang="fr-FR" sz="2000" dirty="0">
                <a:latin typeface="Montserrat"/>
                <a:sym typeface="Montserrat"/>
              </a:rPr>
              <a:t> sur la maîtrise de la data et la cybersécurité.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Objectifs SMART d’élaboration d’un portfolio :</a:t>
            </a:r>
          </a:p>
          <a:p>
            <a:pPr marL="685800" lvl="1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Livrables 100% conformes au cahier des charges </a:t>
            </a:r>
            <a:r>
              <a:rPr lang="fr-FR" sz="2000" dirty="0" err="1">
                <a:latin typeface="Montserrat"/>
                <a:ea typeface="Montserrat"/>
                <a:cs typeface="Montserrat"/>
                <a:sym typeface="Montserrat"/>
              </a:rPr>
              <a:t>Aéroworld</a:t>
            </a: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85800" lvl="1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Portfolio finalisé et testé sous 3 semaines.</a:t>
            </a:r>
          </a:p>
          <a:p>
            <a:pPr marL="685800" lvl="1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Navigation fluide</a:t>
            </a:r>
            <a:endParaRPr sz="20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Composition de l’équipe projet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Qui travaille sur le projet ?</a:t>
            </a:r>
          </a:p>
          <a:p>
            <a:pPr lvl="2" indent="-406400">
              <a:lnSpc>
                <a:spcPct val="150000"/>
              </a:lnSpc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sz="1800" dirty="0">
                <a:latin typeface="Montserrat"/>
                <a:ea typeface="Montserrat"/>
                <a:cs typeface="Montserrat"/>
                <a:sym typeface="Montserrat"/>
              </a:rPr>
              <a:t>Chef de projet / Expert Data : Evan Fol</a:t>
            </a:r>
          </a:p>
          <a:p>
            <a:pPr lvl="2" indent="-406400">
              <a:lnSpc>
                <a:spcPct val="150000"/>
              </a:lnSpc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sz="1800" dirty="0">
                <a:latin typeface="Montserrat"/>
                <a:ea typeface="Montserrat"/>
                <a:cs typeface="Montserrat"/>
                <a:sym typeface="Montserrat"/>
              </a:rPr>
              <a:t>Conseil stratégique : Hayley (Manager ESN)</a:t>
            </a:r>
          </a:p>
          <a:p>
            <a:pPr lvl="2" indent="-406400">
              <a:lnSpc>
                <a:spcPct val="150000"/>
              </a:lnSpc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sz="1800" dirty="0">
                <a:latin typeface="Montserrat"/>
                <a:ea typeface="Montserrat"/>
                <a:cs typeface="Montserrat"/>
                <a:sym typeface="Montserrat"/>
              </a:rPr>
              <a:t>Interlocuteur Client : Suzanne (Recruteuse / Contact </a:t>
            </a:r>
            <a:r>
              <a:rPr lang="fr-FR" sz="1800" dirty="0" err="1">
                <a:latin typeface="Montserrat"/>
                <a:ea typeface="Montserrat"/>
                <a:cs typeface="Montserrat"/>
                <a:sym typeface="Montserrat"/>
              </a:rPr>
              <a:t>Aéroworld</a:t>
            </a:r>
            <a:r>
              <a:rPr lang="fr-FR" sz="1800" dirty="0">
                <a:latin typeface="Montserrat"/>
                <a:ea typeface="Montserrat"/>
                <a:cs typeface="Montserrat"/>
                <a:sym typeface="Montserrat"/>
              </a:rPr>
              <a:t>)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Principes ergonomiques du portfolio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165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Principes de navigation et UX design</a:t>
            </a:r>
          </a:p>
          <a:p>
            <a:pPr marL="228600" lvl="0" indent="-165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165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Lisibilité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Liste des fonctionnalités qui vont être mises en place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Prise en compte du besoin client et de ses potentielles évolutions :</a:t>
            </a:r>
          </a:p>
          <a:p>
            <a:pPr marL="1143000" lvl="2" indent="-228600">
              <a:spcBef>
                <a:spcPts val="1000"/>
              </a:spcBef>
              <a:buFont typeface="Montserrat"/>
              <a:buChar char="•"/>
            </a:pPr>
            <a:r>
              <a:rPr lang="fr-FR" sz="1800" dirty="0">
                <a:latin typeface="Montserrat"/>
                <a:ea typeface="Montserrat"/>
                <a:cs typeface="Montserrat"/>
                <a:sym typeface="Montserrat"/>
              </a:rPr>
              <a:t>Galerie de projets : Accès aux </a:t>
            </a:r>
            <a:r>
              <a:rPr lang="fr-FR" sz="1800" dirty="0" err="1">
                <a:latin typeface="Montserrat"/>
                <a:ea typeface="Montserrat"/>
                <a:cs typeface="Montserrat"/>
                <a:sym typeface="Montserrat"/>
              </a:rPr>
              <a:t>dashboards</a:t>
            </a:r>
            <a:r>
              <a:rPr lang="fr-FR" sz="1800" dirty="0">
                <a:latin typeface="Montserrat"/>
                <a:ea typeface="Montserrat"/>
                <a:cs typeface="Montserrat"/>
                <a:sym typeface="Montserrat"/>
              </a:rPr>
              <a:t> Power BI/Tableau</a:t>
            </a:r>
          </a:p>
          <a:p>
            <a:pPr marL="1143000" lvl="2" indent="-228600">
              <a:spcBef>
                <a:spcPts val="1000"/>
              </a:spcBef>
              <a:buFont typeface="Montserrat"/>
              <a:buChar char="•"/>
            </a:pPr>
            <a:r>
              <a:rPr lang="fr-FR" sz="1800" dirty="0">
                <a:latin typeface="Montserrat"/>
                <a:ea typeface="Montserrat"/>
                <a:cs typeface="Montserrat"/>
                <a:sym typeface="Montserrat"/>
              </a:rPr>
              <a:t>Espace Vidéo : Lecteur pour la capsule de formation (</a:t>
            </a:r>
            <a:r>
              <a:rPr lang="fr-FR" sz="1800" dirty="0" err="1">
                <a:latin typeface="Montserrat"/>
                <a:ea typeface="Montserrat"/>
                <a:cs typeface="Montserrat"/>
                <a:sym typeface="Montserrat"/>
              </a:rPr>
              <a:t>Loom</a:t>
            </a:r>
            <a:r>
              <a:rPr lang="fr-FR" sz="1800" dirty="0"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marL="1143000" lvl="2" indent="-228600">
              <a:spcBef>
                <a:spcPts val="1000"/>
              </a:spcBef>
              <a:buFont typeface="Montserrat"/>
              <a:buChar char="•"/>
            </a:pPr>
            <a:r>
              <a:rPr lang="fr-FR" sz="1800" dirty="0">
                <a:latin typeface="Montserrat"/>
                <a:ea typeface="Montserrat"/>
                <a:cs typeface="Montserrat"/>
                <a:sym typeface="Montserrat"/>
              </a:rPr>
              <a:t>Centre de ressources : Téléchargement de la documentation</a:t>
            </a:r>
          </a:p>
          <a:p>
            <a:pPr marL="1143000" lvl="2" indent="-228600">
              <a:spcBef>
                <a:spcPts val="1000"/>
              </a:spcBef>
              <a:buFont typeface="Montserrat"/>
              <a:buChar char="•"/>
            </a:pPr>
            <a:endParaRPr lang="fr-FR" sz="18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Prise en compte de la législation française et européenne (RGPD)</a:t>
            </a: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Contraintes et spécificités techniques et réglementaires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Choix techniques pour le portfolio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685800" marR="0" lvl="1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GitHub Pages</a:t>
            </a:r>
          </a:p>
          <a:p>
            <a:pPr marL="685800" marR="0" lvl="1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Ordinateurs de bureau, compatible avec Chrome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685800" marR="0" lvl="1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Sécurisation des accès par protocole HTTPS</a:t>
            </a:r>
          </a:p>
          <a:p>
            <a:pPr marL="685800" marR="0" lvl="1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Respect du RGPD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Qualité et performance (1)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5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Contraintes à prendre en compte :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 sz="1900" dirty="0">
                <a:latin typeface="Montserrat"/>
                <a:ea typeface="Montserrat"/>
                <a:cs typeface="Montserrat"/>
                <a:sym typeface="Montserrat"/>
              </a:rPr>
              <a:t>Durée : 1 mois</a:t>
            </a:r>
            <a:endParaRPr sz="1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 sz="1900" dirty="0">
                <a:latin typeface="Montserrat"/>
                <a:ea typeface="Montserrat"/>
                <a:cs typeface="Montserrat"/>
                <a:sym typeface="Montserrat"/>
              </a:rPr>
              <a:t>Budget : 0€</a:t>
            </a:r>
            <a:endParaRPr sz="1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 sz="1900" dirty="0">
                <a:latin typeface="Montserrat"/>
                <a:ea typeface="Montserrat"/>
                <a:cs typeface="Montserrat"/>
                <a:sym typeface="Montserrat"/>
              </a:rPr>
              <a:t>Portfolio obligatoire , contenant des livrables créés exclusivement pour ce recrutement </a:t>
            </a:r>
          </a:p>
          <a:p>
            <a:pPr marL="914400" lvl="1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 sz="1900" dirty="0">
                <a:latin typeface="Montserrat"/>
                <a:ea typeface="Montserrat"/>
                <a:cs typeface="Montserrat"/>
                <a:sym typeface="Montserrat"/>
              </a:rPr>
              <a:t>Design pro</a:t>
            </a:r>
          </a:p>
          <a:p>
            <a:pPr lvl="1" indent="-334327">
              <a:lnSpc>
                <a:spcPct val="150000"/>
              </a:lnSpc>
              <a:spcBef>
                <a:spcPts val="0"/>
              </a:spcBef>
              <a:buSzPct val="75000"/>
              <a:buFont typeface="Montserrat"/>
              <a:buChar char="•"/>
            </a:pPr>
            <a:r>
              <a:rPr lang="fr-FR" sz="1900" dirty="0">
                <a:latin typeface="Montserrat"/>
              </a:rPr>
              <a:t>Preuve d'une posture de consultant </a:t>
            </a:r>
          </a:p>
          <a:p>
            <a:pPr indent="-334327">
              <a:lnSpc>
                <a:spcPct val="150000"/>
              </a:lnSpc>
              <a:spcBef>
                <a:spcPts val="0"/>
              </a:spcBef>
              <a:buSzPct val="750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Référentiels qualité (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Opquast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, W3C...) 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5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Modalités de recette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Qualité et performance (2)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KPI à suivre pour vérifier le bon déroulé du projet.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1 au minimum dans chaque catégorie :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17500">
              <a:lnSpc>
                <a:spcPct val="150000"/>
              </a:lnSpc>
              <a:spcBef>
                <a:spcPts val="0"/>
              </a:spcBef>
              <a:buSzPts val="1400"/>
              <a:buFont typeface="Montserrat"/>
              <a:buAutoNum type="arabicPeriod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Coûts (temps passé sur chaque tâche)</a:t>
            </a:r>
          </a:p>
          <a:p>
            <a:pPr marL="914400" lvl="0" indent="-317500">
              <a:lnSpc>
                <a:spcPct val="150000"/>
              </a:lnSpc>
              <a:spcBef>
                <a:spcPts val="0"/>
              </a:spcBef>
              <a:buSzPts val="1400"/>
              <a:buFont typeface="Montserrat"/>
              <a:buAutoNum type="arabicPeriod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Délais (dans les temps ou non)</a:t>
            </a:r>
          </a:p>
          <a:p>
            <a:pPr marL="914400" lvl="0" indent="-317500">
              <a:lnSpc>
                <a:spcPct val="150000"/>
              </a:lnSpc>
              <a:spcBef>
                <a:spcPts val="0"/>
              </a:spcBef>
              <a:buSzPts val="1400"/>
              <a:buFont typeface="Montserrat"/>
              <a:buAutoNum type="arabicPeriod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Qualité (nb retours / d’erreurs à corriger)</a:t>
            </a:r>
          </a:p>
          <a:p>
            <a:pPr marL="914400" lvl="0" indent="-317500">
              <a:lnSpc>
                <a:spcPct val="150000"/>
              </a:lnSpc>
              <a:spcBef>
                <a:spcPts val="0"/>
              </a:spcBef>
              <a:buSzPts val="1400"/>
              <a:buFont typeface="Montserrat"/>
              <a:buAutoNum type="arabicPeriod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Efficacité et avancement du projet (temps passé vs temps estimé)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Liste synthétique des dates clés du projet :</a:t>
            </a:r>
          </a:p>
          <a:p>
            <a:pPr marL="685800" lvl="1" indent="-228600">
              <a:lnSpc>
                <a:spcPct val="200000"/>
              </a:lnSpc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Semaine 1 : Création de la carte mentale</a:t>
            </a:r>
          </a:p>
          <a:p>
            <a:pPr marL="685800" lvl="1" indent="-228600">
              <a:lnSpc>
                <a:spcPct val="200000"/>
              </a:lnSpc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Semaine 2 : Validation des livrables organisationnels</a:t>
            </a:r>
          </a:p>
          <a:p>
            <a:pPr marL="685800" lvl="1" indent="-228600">
              <a:lnSpc>
                <a:spcPct val="200000"/>
              </a:lnSpc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Semaine 3 : Validation des 2 </a:t>
            </a:r>
            <a:r>
              <a:rPr lang="fr-FR" sz="2000" dirty="0" err="1">
                <a:latin typeface="Montserrat"/>
                <a:ea typeface="Montserrat"/>
                <a:cs typeface="Montserrat"/>
                <a:sym typeface="Montserrat"/>
              </a:rPr>
              <a:t>mock</a:t>
            </a: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-up de tableaux de bord et du </a:t>
            </a:r>
            <a:r>
              <a:rPr lang="fr-FR" sz="2000" dirty="0" err="1">
                <a:latin typeface="Montserrat"/>
                <a:ea typeface="Montserrat"/>
                <a:cs typeface="Montserrat"/>
                <a:sym typeface="Montserrat"/>
              </a:rPr>
              <a:t>mock</a:t>
            </a: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-up de portfolio</a:t>
            </a:r>
          </a:p>
          <a:p>
            <a:pPr marL="685800" lvl="1" indent="-228600">
              <a:lnSpc>
                <a:spcPct val="200000"/>
              </a:lnSpc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Semaine 4 : Validation des 2 derniers livrables demandés par le client</a:t>
            </a:r>
          </a:p>
          <a:p>
            <a:pPr marL="685800" lvl="1" indent="-228600">
              <a:lnSpc>
                <a:spcPct val="200000"/>
              </a:lnSpc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Semaine 5 : </a:t>
            </a:r>
            <a:r>
              <a:rPr lang="fr-FR" sz="2000" dirty="0">
                <a:latin typeface="Montserrat"/>
              </a:rPr>
              <a:t>Présentation test</a:t>
            </a:r>
            <a:endParaRPr lang="fr-FR" sz="2000" dirty="0">
              <a:latin typeface="Montserrat"/>
              <a:sym typeface="Montserrat"/>
            </a:endParaRP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endParaRPr sz="20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Devis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Liste synthétique et coût des différentes catégories du devis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lnSpc>
                <a:spcPct val="150000"/>
              </a:lnSpc>
            </a:pPr>
            <a:r>
              <a:rPr lang="fr-FR" sz="2000" dirty="0">
                <a:latin typeface="Montserrat"/>
              </a:rPr>
              <a:t>RH : 70 heures de travail (conception + réalisation)</a:t>
            </a:r>
          </a:p>
          <a:p>
            <a:pPr lvl="1">
              <a:lnSpc>
                <a:spcPct val="150000"/>
              </a:lnSpc>
            </a:pPr>
            <a:r>
              <a:rPr lang="fr-FR" sz="2000" dirty="0">
                <a:latin typeface="Montserrat"/>
              </a:rPr>
              <a:t>Matériel/Logiciels : 0€ </a:t>
            </a:r>
          </a:p>
          <a:p>
            <a:pPr lvl="1">
              <a:lnSpc>
                <a:spcPct val="150000"/>
              </a:lnSpc>
            </a:pPr>
            <a:r>
              <a:rPr lang="fr-FR" sz="2000" dirty="0">
                <a:latin typeface="Montserrat"/>
              </a:rPr>
              <a:t>Marge commerciale : 0€ (Projet de recrutement)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>
              <a:lnSpc>
                <a:spcPct val="150000"/>
              </a:lnSpc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Prix final : </a:t>
            </a:r>
            <a:r>
              <a:rPr lang="fr-FR" dirty="0">
                <a:latin typeface="Montserrat"/>
              </a:rPr>
              <a:t>Recrutement au poste de Chef de projet Data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823</Words>
  <Application>Microsoft Office PowerPoint</Application>
  <PresentationFormat>Grand écran</PresentationFormat>
  <Paragraphs>111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Calibri</vt:lpstr>
      <vt:lpstr>Montserrat</vt:lpstr>
      <vt:lpstr>Arial</vt:lpstr>
      <vt:lpstr>Thème Office</vt:lpstr>
      <vt:lpstr>Cahier des charges</vt:lpstr>
      <vt:lpstr>Sommaire</vt:lpstr>
      <vt:lpstr>Présentation du projet</vt:lpstr>
      <vt:lpstr>Enjeux et objectifs</vt:lpstr>
      <vt:lpstr>Équipe projet</vt:lpstr>
      <vt:lpstr>Spécifications ergonomiques</vt:lpstr>
      <vt:lpstr>Spécifications fonctionnelles</vt:lpstr>
      <vt:lpstr>Contraintes et spécificités techniques et réglementaires</vt:lpstr>
      <vt:lpstr>Qualité et performance (1)</vt:lpstr>
      <vt:lpstr>Qualité et performance (2)</vt:lpstr>
      <vt:lpstr>Rétroplanning</vt:lpstr>
      <vt:lpstr>Devis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evan</dc:creator>
  <cp:lastModifiedBy>evan fol</cp:lastModifiedBy>
  <cp:revision>3</cp:revision>
  <dcterms:modified xsi:type="dcterms:W3CDTF">2026-05-28T11:59:34Z</dcterms:modified>
</cp:coreProperties>
</file>