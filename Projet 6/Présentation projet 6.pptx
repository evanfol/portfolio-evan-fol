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6"/>
  </p:notesMasterIdLst>
  <p:sldIdLst>
    <p:sldId id="256" r:id="rId2"/>
    <p:sldId id="263" r:id="rId3"/>
    <p:sldId id="279" r:id="rId4"/>
    <p:sldId id="257" r:id="rId5"/>
    <p:sldId id="264" r:id="rId6"/>
    <p:sldId id="280" r:id="rId7"/>
    <p:sldId id="265" r:id="rId8"/>
    <p:sldId id="266" r:id="rId9"/>
    <p:sldId id="258" r:id="rId10"/>
    <p:sldId id="267" r:id="rId11"/>
    <p:sldId id="259" r:id="rId12"/>
    <p:sldId id="268" r:id="rId13"/>
    <p:sldId id="260" r:id="rId14"/>
    <p:sldId id="269" r:id="rId15"/>
    <p:sldId id="270" r:id="rId16"/>
    <p:sldId id="271" r:id="rId17"/>
    <p:sldId id="272" r:id="rId18"/>
    <p:sldId id="273" r:id="rId19"/>
    <p:sldId id="274" r:id="rId20"/>
    <p:sldId id="276" r:id="rId21"/>
    <p:sldId id="275" r:id="rId22"/>
    <p:sldId id="261" r:id="rId23"/>
    <p:sldId id="262" r:id="rId24"/>
    <p:sldId id="278" r:id="rId25"/>
  </p:sldIdLst>
  <p:sldSz cx="9144000" cy="5143500" type="screen16x9"/>
  <p:notesSz cx="6858000" cy="9144000"/>
  <p:embeddedFontLst>
    <p:embeddedFont>
      <p:font typeface="Montserrat" panose="00000500000000000000" pitchFamily="2" charset="0"/>
      <p:regular r:id="rId27"/>
      <p:bold r:id="rId28"/>
      <p:italic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077">
          <p15:clr>
            <a:srgbClr val="A4A3A4"/>
          </p15:clr>
        </p15:guide>
        <p15:guide id="2" pos="2721">
          <p15:clr>
            <a:srgbClr val="A4A3A4"/>
          </p15:clr>
        </p15:guide>
        <p15:guide id="3" pos="2438">
          <p15:clr>
            <a:srgbClr val="9AA0A6"/>
          </p15:clr>
        </p15:guide>
        <p15:guide id="4" pos="416">
          <p15:clr>
            <a:srgbClr val="9AA0A6"/>
          </p15:clr>
        </p15:guide>
        <p15:guide id="5" pos="1191">
          <p15:clr>
            <a:srgbClr val="9AA0A6"/>
          </p15:clr>
        </p15:guide>
        <p15:guide id="6" pos="638">
          <p15:clr>
            <a:srgbClr val="9AA0A6"/>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2" roundtripDataSignature="AMtx7miohyEog1akfKJRRdWquyApPmpAp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8015" autoAdjust="0"/>
  </p:normalViewPr>
  <p:slideViewPr>
    <p:cSldViewPr snapToGrid="0">
      <p:cViewPr varScale="1">
        <p:scale>
          <a:sx n="113" d="100"/>
          <a:sy n="113" d="100"/>
        </p:scale>
        <p:origin x="1476" y="324"/>
      </p:cViewPr>
      <p:guideLst>
        <p:guide orient="horz" pos="1077"/>
        <p:guide pos="2721"/>
        <p:guide pos="2438"/>
        <p:guide pos="416"/>
        <p:guide pos="1191"/>
        <p:guide pos="63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a:extLst>
            <a:ext uri="{FF2B5EF4-FFF2-40B4-BE49-F238E27FC236}">
              <a16:creationId xmlns:a16="http://schemas.microsoft.com/office/drawing/2014/main" id="{219E6A73-C3AF-6915-499C-709C87351A3F}"/>
            </a:ext>
          </a:extLst>
        </p:cNvPr>
        <p:cNvGrpSpPr/>
        <p:nvPr/>
      </p:nvGrpSpPr>
      <p:grpSpPr>
        <a:xfrm>
          <a:off x="0" y="0"/>
          <a:ext cx="0" cy="0"/>
          <a:chOff x="0" y="0"/>
          <a:chExt cx="0" cy="0"/>
        </a:xfrm>
      </p:grpSpPr>
      <p:sp>
        <p:nvSpPr>
          <p:cNvPr id="60" name="Google Shape;60;p4:notes">
            <a:extLst>
              <a:ext uri="{FF2B5EF4-FFF2-40B4-BE49-F238E27FC236}">
                <a16:creationId xmlns:a16="http://schemas.microsoft.com/office/drawing/2014/main" id="{579F7E83-1468-BD35-93C7-682789DF7C7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 name="Google Shape;61;p4:notes">
            <a:extLst>
              <a:ext uri="{FF2B5EF4-FFF2-40B4-BE49-F238E27FC236}">
                <a16:creationId xmlns:a16="http://schemas.microsoft.com/office/drawing/2014/main" id="{AD0E692A-27AA-E2F1-FF92-90AD1687097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fr-FR" dirty="0"/>
              <a:t>Données web info total de vente, type de produit et nom bouteilles</a:t>
            </a:r>
            <a:endParaRPr dirty="0"/>
          </a:p>
        </p:txBody>
      </p:sp>
    </p:spTree>
    <p:extLst>
      <p:ext uri="{BB962C8B-B14F-4D97-AF65-F5344CB8AC3E}">
        <p14:creationId xmlns:p14="http://schemas.microsoft.com/office/powerpoint/2010/main" val="37471388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a:extLst>
            <a:ext uri="{FF2B5EF4-FFF2-40B4-BE49-F238E27FC236}">
              <a16:creationId xmlns:a16="http://schemas.microsoft.com/office/drawing/2014/main" id="{D11B33A1-014B-E6A3-043F-15FD7FEC1407}"/>
            </a:ext>
          </a:extLst>
        </p:cNvPr>
        <p:cNvGrpSpPr/>
        <p:nvPr/>
      </p:nvGrpSpPr>
      <p:grpSpPr>
        <a:xfrm>
          <a:off x="0" y="0"/>
          <a:ext cx="0" cy="0"/>
          <a:chOff x="0" y="0"/>
          <a:chExt cx="0" cy="0"/>
        </a:xfrm>
      </p:grpSpPr>
      <p:sp>
        <p:nvSpPr>
          <p:cNvPr id="60" name="Google Shape;60;p4:notes">
            <a:extLst>
              <a:ext uri="{FF2B5EF4-FFF2-40B4-BE49-F238E27FC236}">
                <a16:creationId xmlns:a16="http://schemas.microsoft.com/office/drawing/2014/main" id="{3EB0AF47-458A-CF72-9AF1-BA20703E009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 name="Google Shape;61;p4:notes">
            <a:extLst>
              <a:ext uri="{FF2B5EF4-FFF2-40B4-BE49-F238E27FC236}">
                <a16:creationId xmlns:a16="http://schemas.microsoft.com/office/drawing/2014/main" id="{B4D8ED76-3ABA-5771-B054-2904952A3B1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fr-FR" dirty="0"/>
              <a:t>1) Certains stocks statuts ne correspondent pas au stock réel donc correction</a:t>
            </a:r>
          </a:p>
          <a:p>
            <a:pPr marL="0" lvl="0" indent="0" algn="l" rtl="0">
              <a:lnSpc>
                <a:spcPct val="100000"/>
              </a:lnSpc>
              <a:spcBef>
                <a:spcPts val="0"/>
              </a:spcBef>
              <a:spcAft>
                <a:spcPts val="0"/>
              </a:spcAft>
              <a:buSzPts val="1100"/>
              <a:buNone/>
            </a:pPr>
            <a:endParaRPr lang="fr-FR"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dirty="0"/>
              <a:t>2)</a:t>
            </a:r>
            <a:r>
              <a:rPr lang="fr-FR" sz="1100" b="0" i="0" u="none" strike="noStrike" cap="none" dirty="0">
                <a:solidFill>
                  <a:srgbClr val="000000"/>
                </a:solidFill>
                <a:effectLst/>
                <a:latin typeface="Arial"/>
                <a:ea typeface="Arial"/>
                <a:cs typeface="Arial"/>
                <a:sym typeface="Arial"/>
              </a:rPr>
              <a:t>  un stock ne peut être négatif donc on le met égale à 0 car comme vu plus haut ces stocks étaient notés outofstock</a:t>
            </a:r>
          </a:p>
          <a:p>
            <a:pPr marL="0" lvl="0" indent="0" algn="l" rtl="0">
              <a:lnSpc>
                <a:spcPct val="100000"/>
              </a:lnSpc>
              <a:spcBef>
                <a:spcPts val="0"/>
              </a:spcBef>
              <a:spcAft>
                <a:spcPts val="0"/>
              </a:spcAft>
              <a:buSzPts val="1100"/>
              <a:buNone/>
            </a:pPr>
            <a:endParaRPr lang="fr-FR"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i="0" dirty="0"/>
              <a:t>3) </a:t>
            </a:r>
            <a:r>
              <a:rPr lang="fr-FR" sz="1100" i="0" dirty="0">
                <a:solidFill>
                  <a:schemeClr val="tx1"/>
                </a:solidFill>
                <a:latin typeface="Montserrat"/>
                <a:sym typeface="Montserrat"/>
              </a:rPr>
              <a:t> </a:t>
            </a:r>
            <a:r>
              <a:rPr lang="fr-FR" sz="1100" i="0" dirty="0">
                <a:solidFill>
                  <a:schemeClr val="tx1"/>
                </a:solidFill>
                <a:latin typeface="Montserrat"/>
                <a:ea typeface="Montserrat"/>
                <a:cs typeface="Montserrat"/>
                <a:sym typeface="Montserrat"/>
              </a:rPr>
              <a:t>car un prix de vente ne peut être de 0 et ne peut être négatif donc erreur et données inexploitables</a:t>
            </a:r>
          </a:p>
        </p:txBody>
      </p:sp>
    </p:spTree>
    <p:extLst>
      <p:ext uri="{BB962C8B-B14F-4D97-AF65-F5344CB8AC3E}">
        <p14:creationId xmlns:p14="http://schemas.microsoft.com/office/powerpoint/2010/main" val="27244266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 name="Google Shape;61;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228600" lvl="0" indent="-228600" algn="l" rtl="0">
              <a:lnSpc>
                <a:spcPct val="100000"/>
              </a:lnSpc>
              <a:spcBef>
                <a:spcPts val="0"/>
              </a:spcBef>
              <a:spcAft>
                <a:spcPts val="0"/>
              </a:spcAft>
              <a:buSzPts val="1100"/>
              <a:buAutoNum type="arabicParenR"/>
            </a:pPr>
            <a:r>
              <a:rPr lang="fr-FR" dirty="0"/>
              <a:t>Colonne temporaire pour nettoyer les données de stock_status en fonction de la quantité réelle du stock</a:t>
            </a:r>
          </a:p>
          <a:p>
            <a:pPr marL="228600" lvl="0" indent="-228600" algn="l" rtl="0">
              <a:lnSpc>
                <a:spcPct val="100000"/>
              </a:lnSpc>
              <a:spcBef>
                <a:spcPts val="0"/>
              </a:spcBef>
              <a:spcAft>
                <a:spcPts val="0"/>
              </a:spcAft>
              <a:buSzPts val="1100"/>
              <a:buAutoNum type="arabicParenR"/>
            </a:pPr>
            <a:endParaRPr lang="fr-FR" dirty="0"/>
          </a:p>
          <a:p>
            <a:pPr marL="228600" lvl="0" indent="-228600" algn="l" rtl="0">
              <a:lnSpc>
                <a:spcPct val="100000"/>
              </a:lnSpc>
              <a:spcBef>
                <a:spcPts val="0"/>
              </a:spcBef>
              <a:spcAft>
                <a:spcPts val="0"/>
              </a:spcAft>
              <a:buSzPts val="1100"/>
              <a:buAutoNum type="arabicParenR"/>
            </a:pPr>
            <a:r>
              <a:rPr lang="fr-FR" dirty="0"/>
              <a:t>Suppression des colonnes inutilisées</a:t>
            </a: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a:extLst>
            <a:ext uri="{FF2B5EF4-FFF2-40B4-BE49-F238E27FC236}">
              <a16:creationId xmlns:a16="http://schemas.microsoft.com/office/drawing/2014/main" id="{E4277C61-942D-19B4-4670-541E7C571483}"/>
            </a:ext>
          </a:extLst>
        </p:cNvPr>
        <p:cNvGrpSpPr/>
        <p:nvPr/>
      </p:nvGrpSpPr>
      <p:grpSpPr>
        <a:xfrm>
          <a:off x="0" y="0"/>
          <a:ext cx="0" cy="0"/>
          <a:chOff x="0" y="0"/>
          <a:chExt cx="0" cy="0"/>
        </a:xfrm>
      </p:grpSpPr>
      <p:sp>
        <p:nvSpPr>
          <p:cNvPr id="60" name="Google Shape;60;p4:notes">
            <a:extLst>
              <a:ext uri="{FF2B5EF4-FFF2-40B4-BE49-F238E27FC236}">
                <a16:creationId xmlns:a16="http://schemas.microsoft.com/office/drawing/2014/main" id="{A6AA5276-FE67-D137-9CC1-EB1CB108BCD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 name="Google Shape;61;p4:notes">
            <a:extLst>
              <a:ext uri="{FF2B5EF4-FFF2-40B4-BE49-F238E27FC236}">
                <a16:creationId xmlns:a16="http://schemas.microsoft.com/office/drawing/2014/main" id="{82295EE7-D715-8A01-CB21-B7DDBCE2A35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228600" lvl="0" indent="-228600" algn="l" rtl="0">
              <a:lnSpc>
                <a:spcPct val="100000"/>
              </a:lnSpc>
              <a:spcBef>
                <a:spcPts val="0"/>
              </a:spcBef>
              <a:spcAft>
                <a:spcPts val="0"/>
              </a:spcAft>
              <a:buSzPts val="1100"/>
              <a:buAutoNum type="arabicParenR"/>
            </a:pPr>
            <a:r>
              <a:rPr lang="fr-FR" dirty="0"/>
              <a:t>Suppression / correction des valeurs textuelles, suppression des lignes avec sku vide car elles sont inexploitables, suppression des doublons en supprimant celle n’étant pas des produits mais juste des attachement (image)</a:t>
            </a:r>
          </a:p>
          <a:p>
            <a:pPr marL="685800" lvl="1" indent="-228600" algn="l" rtl="0">
              <a:lnSpc>
                <a:spcPct val="100000"/>
              </a:lnSpc>
              <a:spcBef>
                <a:spcPts val="0"/>
              </a:spcBef>
              <a:spcAft>
                <a:spcPts val="0"/>
              </a:spcAft>
              <a:buSzPts val="1100"/>
              <a:buAutoNum type="arabicParenR"/>
            </a:pPr>
            <a:r>
              <a:rPr lang="fr-FR" dirty="0"/>
              <a:t>On a vait aussi un doublon de 13127 avec des valeurs de nb de ventes différentes on fusionne donc pour faire la moyenne et supprimer ce doublon</a:t>
            </a:r>
          </a:p>
          <a:p>
            <a:pPr marL="228600" lvl="0" indent="-228600" algn="l" rtl="0">
              <a:lnSpc>
                <a:spcPct val="100000"/>
              </a:lnSpc>
              <a:spcBef>
                <a:spcPts val="0"/>
              </a:spcBef>
              <a:spcAft>
                <a:spcPts val="0"/>
              </a:spcAft>
              <a:buSzPts val="1100"/>
              <a:buAutoNum type="arabicParenR"/>
            </a:pPr>
            <a:r>
              <a:rPr lang="fr-FR" dirty="0"/>
              <a:t>On supprime les lignes liées au type de produit huile d’olive car on est un marchand de vin donc illogique</a:t>
            </a:r>
          </a:p>
        </p:txBody>
      </p:sp>
    </p:spTree>
    <p:extLst>
      <p:ext uri="{BB962C8B-B14F-4D97-AF65-F5344CB8AC3E}">
        <p14:creationId xmlns:p14="http://schemas.microsoft.com/office/powerpoint/2010/main" val="10362448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a:extLst>
            <a:ext uri="{FF2B5EF4-FFF2-40B4-BE49-F238E27FC236}">
              <a16:creationId xmlns:a16="http://schemas.microsoft.com/office/drawing/2014/main" id="{8BB2BE41-DC58-ABE6-C5C2-31F2AB63E43C}"/>
            </a:ext>
          </a:extLst>
        </p:cNvPr>
        <p:cNvGrpSpPr/>
        <p:nvPr/>
      </p:nvGrpSpPr>
      <p:grpSpPr>
        <a:xfrm>
          <a:off x="0" y="0"/>
          <a:ext cx="0" cy="0"/>
          <a:chOff x="0" y="0"/>
          <a:chExt cx="0" cy="0"/>
        </a:xfrm>
      </p:grpSpPr>
      <p:sp>
        <p:nvSpPr>
          <p:cNvPr id="60" name="Google Shape;60;p4:notes">
            <a:extLst>
              <a:ext uri="{FF2B5EF4-FFF2-40B4-BE49-F238E27FC236}">
                <a16:creationId xmlns:a16="http://schemas.microsoft.com/office/drawing/2014/main" id="{9C072433-D9CE-3042-B9E3-033B25F87A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 name="Google Shape;61;p4:notes">
            <a:extLst>
              <a:ext uri="{FF2B5EF4-FFF2-40B4-BE49-F238E27FC236}">
                <a16:creationId xmlns:a16="http://schemas.microsoft.com/office/drawing/2014/main" id="{207CF9BA-BFB8-E414-F6E8-DD511E9EF70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228600" lvl="0" indent="-228600" algn="l" rtl="0">
              <a:lnSpc>
                <a:spcPct val="100000"/>
              </a:lnSpc>
              <a:spcBef>
                <a:spcPts val="0"/>
              </a:spcBef>
              <a:spcAft>
                <a:spcPts val="0"/>
              </a:spcAft>
              <a:buSzPts val="1100"/>
              <a:buAutoNum type="arabicParenR"/>
            </a:pPr>
            <a:r>
              <a:rPr lang="fr-FR" dirty="0"/>
              <a:t>On conserve seulement les colonnes utiles (sku qui est l’id_web), le total des ventes, le type de produit, le titre du poste qui correspond à la cuvée des bouteilles et le type de post car on ne conserve que les postes liés à un produit.</a:t>
            </a:r>
          </a:p>
          <a:p>
            <a:pPr marL="228600" lvl="0" indent="-228600" algn="l" rtl="0">
              <a:lnSpc>
                <a:spcPct val="100000"/>
              </a:lnSpc>
              <a:spcBef>
                <a:spcPts val="0"/>
              </a:spcBef>
              <a:spcAft>
                <a:spcPts val="0"/>
              </a:spcAft>
              <a:buSzPts val="1100"/>
              <a:buAutoNum type="arabicParenR"/>
            </a:pPr>
            <a:endParaRPr lang="fr-FR" dirty="0"/>
          </a:p>
          <a:p>
            <a:pPr marL="228600" marR="0" lvl="0" indent="-228600" algn="l" defTabSz="914400" rtl="0" eaLnBrk="1" fontAlgn="auto" latinLnBrk="0" hangingPunct="1">
              <a:lnSpc>
                <a:spcPct val="100000"/>
              </a:lnSpc>
              <a:spcBef>
                <a:spcPts val="0"/>
              </a:spcBef>
              <a:spcAft>
                <a:spcPts val="0"/>
              </a:spcAft>
              <a:buClr>
                <a:srgbClr val="000000"/>
              </a:buClr>
              <a:buSzPts val="1100"/>
              <a:buFont typeface="Arial"/>
              <a:buAutoNum type="arabicParenR"/>
              <a:tabLst/>
              <a:defRPr/>
            </a:pPr>
            <a:r>
              <a:rPr lang="fr-FR" dirty="0"/>
              <a:t>Colonnes conservées </a:t>
            </a:r>
            <a:r>
              <a:rPr lang="fr-FR" sz="1100" b="0" i="0" u="none" strike="noStrike" cap="none" dirty="0" err="1">
                <a:solidFill>
                  <a:srgbClr val="000000"/>
                </a:solidFill>
                <a:effectLst/>
                <a:latin typeface="Arial"/>
                <a:ea typeface="Arial"/>
                <a:cs typeface="Arial"/>
                <a:sym typeface="Arial"/>
              </a:rPr>
              <a:t>sku</a:t>
            </a:r>
            <a:r>
              <a:rPr lang="fr-FR" sz="1100" b="0" i="0" u="none" strike="noStrike" cap="none" dirty="0">
                <a:solidFill>
                  <a:srgbClr val="000000"/>
                </a:solidFill>
                <a:effectLst/>
                <a:latin typeface="Arial"/>
                <a:ea typeface="Arial"/>
                <a:cs typeface="Arial"/>
                <a:sym typeface="Arial"/>
              </a:rPr>
              <a:t>, </a:t>
            </a:r>
            <a:r>
              <a:rPr lang="fr-FR" sz="1100" b="0" i="0" u="none" strike="noStrike" cap="none" dirty="0" err="1">
                <a:solidFill>
                  <a:srgbClr val="000000"/>
                </a:solidFill>
                <a:effectLst/>
                <a:latin typeface="Arial"/>
                <a:ea typeface="Arial"/>
                <a:cs typeface="Arial"/>
                <a:sym typeface="Arial"/>
              </a:rPr>
              <a:t>total_sales</a:t>
            </a:r>
            <a:r>
              <a:rPr lang="fr-FR" sz="1100" b="0" i="0" u="none" strike="noStrike" cap="none" dirty="0">
                <a:solidFill>
                  <a:srgbClr val="000000"/>
                </a:solidFill>
                <a:effectLst/>
                <a:latin typeface="Arial"/>
                <a:ea typeface="Arial"/>
                <a:cs typeface="Arial"/>
                <a:sym typeface="Arial"/>
              </a:rPr>
              <a:t>, </a:t>
            </a:r>
            <a:r>
              <a:rPr lang="fr-FR" sz="1100" b="0" i="0" u="none" strike="noStrike" cap="none" dirty="0" err="1">
                <a:solidFill>
                  <a:srgbClr val="000000"/>
                </a:solidFill>
                <a:effectLst/>
                <a:latin typeface="Arial"/>
                <a:ea typeface="Arial"/>
                <a:cs typeface="Arial"/>
                <a:sym typeface="Arial"/>
              </a:rPr>
              <a:t>product_type</a:t>
            </a:r>
            <a:r>
              <a:rPr lang="fr-FR" sz="1100" b="0" i="0" u="none" strike="noStrike" cap="none" dirty="0">
                <a:solidFill>
                  <a:srgbClr val="000000"/>
                </a:solidFill>
                <a:effectLst/>
                <a:latin typeface="Arial"/>
                <a:ea typeface="Arial"/>
                <a:cs typeface="Arial"/>
                <a:sym typeface="Arial"/>
              </a:rPr>
              <a:t>, </a:t>
            </a:r>
            <a:r>
              <a:rPr lang="fr-FR" sz="1100" b="0" i="0" u="none" strike="noStrike" cap="none" dirty="0" err="1">
                <a:solidFill>
                  <a:srgbClr val="000000"/>
                </a:solidFill>
                <a:effectLst/>
                <a:latin typeface="Arial"/>
                <a:ea typeface="Arial"/>
                <a:cs typeface="Arial"/>
                <a:sym typeface="Arial"/>
              </a:rPr>
              <a:t>post_title</a:t>
            </a:r>
            <a:r>
              <a:rPr lang="fr-FR" sz="1100" b="0" i="0" u="none" strike="noStrike" cap="none" dirty="0">
                <a:solidFill>
                  <a:srgbClr val="000000"/>
                </a:solidFill>
                <a:effectLst/>
                <a:latin typeface="Arial"/>
                <a:ea typeface="Arial"/>
                <a:cs typeface="Arial"/>
                <a:sym typeface="Arial"/>
              </a:rPr>
              <a:t>, </a:t>
            </a:r>
            <a:r>
              <a:rPr lang="fr-FR" sz="1100" b="0" i="0" u="none" strike="noStrike" cap="none" dirty="0" err="1">
                <a:solidFill>
                  <a:srgbClr val="000000"/>
                </a:solidFill>
                <a:effectLst/>
                <a:latin typeface="Arial"/>
                <a:ea typeface="Arial"/>
                <a:cs typeface="Arial"/>
                <a:sym typeface="Arial"/>
              </a:rPr>
              <a:t>post_type</a:t>
            </a:r>
            <a:endParaRPr lang="fr-FR" sz="1100" b="0" i="0" u="none" strike="noStrike" cap="none" dirty="0">
              <a:solidFill>
                <a:srgbClr val="000000"/>
              </a:solidFill>
              <a:effectLst/>
              <a:latin typeface="Arial"/>
              <a:ea typeface="Arial"/>
              <a:cs typeface="Arial"/>
              <a:sym typeface="Arial"/>
            </a:endParaRPr>
          </a:p>
          <a:p>
            <a:pPr marL="228600" lvl="0" indent="-228600" algn="l" rtl="0">
              <a:lnSpc>
                <a:spcPct val="100000"/>
              </a:lnSpc>
              <a:spcBef>
                <a:spcPts val="0"/>
              </a:spcBef>
              <a:spcAft>
                <a:spcPts val="0"/>
              </a:spcAft>
              <a:buSzPts val="1100"/>
              <a:buAutoNum type="arabicParenR"/>
            </a:pPr>
            <a:endParaRPr lang="fr-FR" dirty="0"/>
          </a:p>
          <a:p>
            <a:pPr marL="228600" lvl="0" indent="-228600" algn="l" rtl="0">
              <a:lnSpc>
                <a:spcPct val="100000"/>
              </a:lnSpc>
              <a:spcBef>
                <a:spcPts val="0"/>
              </a:spcBef>
              <a:spcAft>
                <a:spcPts val="0"/>
              </a:spcAft>
              <a:buSzPts val="1100"/>
              <a:buAutoNum type="arabicParenR"/>
            </a:pPr>
            <a:endParaRPr dirty="0"/>
          </a:p>
        </p:txBody>
      </p:sp>
    </p:spTree>
    <p:extLst>
      <p:ext uri="{BB962C8B-B14F-4D97-AF65-F5344CB8AC3E}">
        <p14:creationId xmlns:p14="http://schemas.microsoft.com/office/powerpoint/2010/main" val="21652311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a:extLst>
            <a:ext uri="{FF2B5EF4-FFF2-40B4-BE49-F238E27FC236}">
              <a16:creationId xmlns:a16="http://schemas.microsoft.com/office/drawing/2014/main" id="{A982EA75-CA7C-6A26-C3F8-56F9A4E8E530}"/>
            </a:ext>
          </a:extLst>
        </p:cNvPr>
        <p:cNvGrpSpPr/>
        <p:nvPr/>
      </p:nvGrpSpPr>
      <p:grpSpPr>
        <a:xfrm>
          <a:off x="0" y="0"/>
          <a:ext cx="0" cy="0"/>
          <a:chOff x="0" y="0"/>
          <a:chExt cx="0" cy="0"/>
        </a:xfrm>
      </p:grpSpPr>
      <p:sp>
        <p:nvSpPr>
          <p:cNvPr id="60" name="Google Shape;60;p4:notes">
            <a:extLst>
              <a:ext uri="{FF2B5EF4-FFF2-40B4-BE49-F238E27FC236}">
                <a16:creationId xmlns:a16="http://schemas.microsoft.com/office/drawing/2014/main" id="{027550CD-4811-ABD1-6750-87232F1D689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 name="Google Shape;61;p4:notes">
            <a:extLst>
              <a:ext uri="{FF2B5EF4-FFF2-40B4-BE49-F238E27FC236}">
                <a16:creationId xmlns:a16="http://schemas.microsoft.com/office/drawing/2014/main" id="{F967463F-1226-F918-3B67-5DD13D07539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fr-FR" dirty="0"/>
              <a:t>Certaines lignes contenaient un nombre avec -1 nous avons donc supprimé le -1</a:t>
            </a:r>
          </a:p>
          <a:p>
            <a:pPr marL="0" lvl="0" indent="0" algn="l" rtl="0">
              <a:lnSpc>
                <a:spcPct val="100000"/>
              </a:lnSpc>
              <a:spcBef>
                <a:spcPts val="0"/>
              </a:spcBef>
              <a:spcAft>
                <a:spcPts val="0"/>
              </a:spcAft>
              <a:buSzPts val="1100"/>
              <a:buNone/>
            </a:pPr>
            <a:r>
              <a:rPr lang="fr-FR" dirty="0"/>
              <a:t>Pour supprimer les doublons on a fait une agrégation sur la table de jonction finale afin d’avoir la moyenne des valeurs pour les deux.</a:t>
            </a:r>
            <a:endParaRPr dirty="0"/>
          </a:p>
        </p:txBody>
      </p:sp>
    </p:spTree>
    <p:extLst>
      <p:ext uri="{BB962C8B-B14F-4D97-AF65-F5344CB8AC3E}">
        <p14:creationId xmlns:p14="http://schemas.microsoft.com/office/powerpoint/2010/main" val="34938103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a:extLst>
            <a:ext uri="{FF2B5EF4-FFF2-40B4-BE49-F238E27FC236}">
              <a16:creationId xmlns:a16="http://schemas.microsoft.com/office/drawing/2014/main" id="{20436ECA-8A16-975A-168D-6DEBF00C8131}"/>
            </a:ext>
          </a:extLst>
        </p:cNvPr>
        <p:cNvGrpSpPr/>
        <p:nvPr/>
      </p:nvGrpSpPr>
      <p:grpSpPr>
        <a:xfrm>
          <a:off x="0" y="0"/>
          <a:ext cx="0" cy="0"/>
          <a:chOff x="0" y="0"/>
          <a:chExt cx="0" cy="0"/>
        </a:xfrm>
      </p:grpSpPr>
      <p:sp>
        <p:nvSpPr>
          <p:cNvPr id="60" name="Google Shape;60;p4:notes">
            <a:extLst>
              <a:ext uri="{FF2B5EF4-FFF2-40B4-BE49-F238E27FC236}">
                <a16:creationId xmlns:a16="http://schemas.microsoft.com/office/drawing/2014/main" id="{4A298ED4-F3A2-AC94-F75C-1E7F280EE9A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 name="Google Shape;61;p4:notes">
            <a:extLst>
              <a:ext uri="{FF2B5EF4-FFF2-40B4-BE49-F238E27FC236}">
                <a16:creationId xmlns:a16="http://schemas.microsoft.com/office/drawing/2014/main" id="{60A4F525-8DAC-83EE-F905-8D3B10000BE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fr-FR" dirty="0"/>
              <a:t>6) Les doublons proviennent du fait que la colonne </a:t>
            </a:r>
            <a:r>
              <a:rPr lang="fr-FR" dirty="0" err="1"/>
              <a:t>post_type</a:t>
            </a:r>
            <a:r>
              <a:rPr lang="fr-FR" dirty="0"/>
              <a:t> est parfois en attachement (probablement une image) et une fois en </a:t>
            </a:r>
            <a:r>
              <a:rPr lang="fr-FR" dirty="0" err="1"/>
              <a:t>product</a:t>
            </a:r>
            <a:r>
              <a:rPr lang="fr-FR" dirty="0"/>
              <a:t> qui correspond au produit on a donc seulement gardé les lignes qui contenaient un produit</a:t>
            </a:r>
            <a:endParaRPr dirty="0"/>
          </a:p>
        </p:txBody>
      </p:sp>
    </p:spTree>
    <p:extLst>
      <p:ext uri="{BB962C8B-B14F-4D97-AF65-F5344CB8AC3E}">
        <p14:creationId xmlns:p14="http://schemas.microsoft.com/office/powerpoint/2010/main" val="10355692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i="0" dirty="0"/>
              <a:t>1) S</a:t>
            </a:r>
            <a:r>
              <a:rPr lang="fr-FR" i="0" dirty="0">
                <a:solidFill>
                  <a:schemeClr val="tx1"/>
                </a:solidFill>
                <a:latin typeface="Montserrat"/>
                <a:ea typeface="Montserrat"/>
                <a:cs typeface="Montserrat"/>
                <a:sym typeface="Montserrat"/>
              </a:rPr>
              <a:t>auf le titre car il contient le nom des bouteilles qui nous sera utile et </a:t>
            </a:r>
            <a:r>
              <a:rPr lang="fr-FR" i="0" dirty="0" err="1">
                <a:solidFill>
                  <a:schemeClr val="tx1"/>
                </a:solidFill>
                <a:latin typeface="Montserrat"/>
                <a:ea typeface="Montserrat"/>
                <a:cs typeface="Montserrat"/>
                <a:sym typeface="Montserrat"/>
              </a:rPr>
              <a:t>post_title</a:t>
            </a:r>
            <a:r>
              <a:rPr lang="fr-FR" i="0" dirty="0">
                <a:solidFill>
                  <a:schemeClr val="tx1"/>
                </a:solidFill>
                <a:latin typeface="Montserrat"/>
                <a:ea typeface="Montserrat"/>
                <a:cs typeface="Montserrat"/>
                <a:sym typeface="Montserrat"/>
              </a:rPr>
              <a:t> car permet de supprimer les doublons, cela permet également de respecter les RGPD en supprimant tout ce qui peut être des données privées liées aux postes.</a:t>
            </a:r>
          </a:p>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a:extLst>
            <a:ext uri="{FF2B5EF4-FFF2-40B4-BE49-F238E27FC236}">
              <a16:creationId xmlns:a16="http://schemas.microsoft.com/office/drawing/2014/main" id="{B6C75012-9F3B-3C20-810D-63D938471295}"/>
            </a:ext>
          </a:extLst>
        </p:cNvPr>
        <p:cNvGrpSpPr/>
        <p:nvPr/>
      </p:nvGrpSpPr>
      <p:grpSpPr>
        <a:xfrm>
          <a:off x="0" y="0"/>
          <a:ext cx="0" cy="0"/>
          <a:chOff x="0" y="0"/>
          <a:chExt cx="0" cy="0"/>
        </a:xfrm>
      </p:grpSpPr>
      <p:sp>
        <p:nvSpPr>
          <p:cNvPr id="68" name="Google Shape;68;p5:notes">
            <a:extLst>
              <a:ext uri="{FF2B5EF4-FFF2-40B4-BE49-F238E27FC236}">
                <a16:creationId xmlns:a16="http://schemas.microsoft.com/office/drawing/2014/main" id="{724D6531-B5F9-924A-F333-F472FBC44A2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p5:notes">
            <a:extLst>
              <a:ext uri="{FF2B5EF4-FFF2-40B4-BE49-F238E27FC236}">
                <a16:creationId xmlns:a16="http://schemas.microsoft.com/office/drawing/2014/main" id="{293890F0-3D75-057E-4BF7-AAB6E35A922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228600" lvl="0" indent="-228600" algn="l" rtl="0">
              <a:lnSpc>
                <a:spcPct val="100000"/>
              </a:lnSpc>
              <a:spcBef>
                <a:spcPts val="0"/>
              </a:spcBef>
              <a:spcAft>
                <a:spcPts val="0"/>
              </a:spcAft>
              <a:buSzPts val="1100"/>
              <a:buAutoNum type="arabicParenR"/>
            </a:pPr>
            <a:r>
              <a:rPr lang="fr-FR" dirty="0"/>
              <a:t>Liaison gauche car erp contient plus de données</a:t>
            </a:r>
          </a:p>
          <a:p>
            <a:pPr marL="228600" lvl="0" indent="-228600" algn="l" rtl="0">
              <a:lnSpc>
                <a:spcPct val="100000"/>
              </a:lnSpc>
              <a:spcBef>
                <a:spcPts val="0"/>
              </a:spcBef>
              <a:spcAft>
                <a:spcPts val="0"/>
              </a:spcAft>
              <a:buSzPts val="1100"/>
              <a:buAutoNum type="arabicParenR"/>
            </a:pPr>
            <a:r>
              <a:rPr lang="fr-FR" dirty="0"/>
              <a:t>Liaison a gauche sur merge car merge contient plus de données.</a:t>
            </a:r>
          </a:p>
          <a:p>
            <a:pPr marL="228600" marR="0" lvl="0" indent="-228600" algn="l" defTabSz="914400" rtl="0" eaLnBrk="1" fontAlgn="auto" latinLnBrk="0" hangingPunct="1">
              <a:lnSpc>
                <a:spcPct val="100000"/>
              </a:lnSpc>
              <a:spcBef>
                <a:spcPts val="0"/>
              </a:spcBef>
              <a:spcAft>
                <a:spcPts val="0"/>
              </a:spcAft>
              <a:buClr>
                <a:srgbClr val="000000"/>
              </a:buClr>
              <a:buSzPts val="1100"/>
              <a:buFont typeface="Arial"/>
              <a:buAutoNum type="arabicParenR"/>
              <a:tabLst/>
              <a:defRPr/>
            </a:pPr>
            <a:r>
              <a:rPr lang="fr-FR" sz="1100" b="0" i="0" u="none" strike="noStrike" cap="none" dirty="0">
                <a:solidFill>
                  <a:srgbClr val="000000"/>
                </a:solidFill>
                <a:effectLst/>
                <a:latin typeface="Arial"/>
                <a:ea typeface="Arial"/>
                <a:cs typeface="Arial"/>
                <a:sym typeface="Arial"/>
              </a:rPr>
              <a:t>Pour chacune des lignes doublons agréger par id_web et faire la moyenne pour price, stock_quantity et purchase_price pour le reste garder la première valeur supprime aussi les ligne vides</a:t>
            </a:r>
          </a:p>
          <a:p>
            <a:pPr marL="228600" marR="0" lvl="0" indent="-228600" algn="l" defTabSz="914400" rtl="0" eaLnBrk="1" fontAlgn="auto" latinLnBrk="0" hangingPunct="1">
              <a:lnSpc>
                <a:spcPct val="100000"/>
              </a:lnSpc>
              <a:spcBef>
                <a:spcPts val="0"/>
              </a:spcBef>
              <a:spcAft>
                <a:spcPts val="0"/>
              </a:spcAft>
              <a:buClr>
                <a:srgbClr val="000000"/>
              </a:buClr>
              <a:buSzPts val="1100"/>
              <a:buFont typeface="Arial"/>
              <a:buAutoNum type="arabicParenR"/>
              <a:tabLst/>
              <a:defRPr/>
            </a:pPr>
            <a:endParaRPr lang="fr-FR" sz="1100" b="0" i="0" u="none" strike="noStrike" cap="none" dirty="0">
              <a:solidFill>
                <a:srgbClr val="000000"/>
              </a:solidFill>
              <a:effectLst/>
              <a:latin typeface="Arial"/>
              <a:ea typeface="Arial"/>
              <a:cs typeface="Arial"/>
              <a:sym typeface="Arial"/>
            </a:endParaRPr>
          </a:p>
          <a:p>
            <a:pPr marL="228600" marR="0" lvl="0" indent="-228600" algn="l" defTabSz="914400" rtl="0" eaLnBrk="1" fontAlgn="auto" latinLnBrk="0" hangingPunct="1">
              <a:lnSpc>
                <a:spcPct val="100000"/>
              </a:lnSpc>
              <a:spcBef>
                <a:spcPts val="0"/>
              </a:spcBef>
              <a:spcAft>
                <a:spcPts val="0"/>
              </a:spcAft>
              <a:buClr>
                <a:srgbClr val="000000"/>
              </a:buClr>
              <a:buSzPts val="1100"/>
              <a:buFont typeface="Arial"/>
              <a:buAutoNum type="arabicParenR"/>
              <a:tabLst/>
              <a:defRPr/>
            </a:pPr>
            <a:endParaRPr lang="fr-FR" sz="1100" b="0" i="0" u="none" strike="noStrike" cap="none" dirty="0">
              <a:solidFill>
                <a:srgbClr val="000000"/>
              </a:solidFill>
              <a:effectLst/>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sz="1100" b="0" i="0" u="none" strike="noStrike" cap="none" dirty="0">
                <a:solidFill>
                  <a:srgbClr val="000000"/>
                </a:solidFill>
                <a:effectLst/>
                <a:latin typeface="Arial"/>
                <a:ea typeface="Arial"/>
                <a:cs typeface="Arial"/>
                <a:sym typeface="Arial"/>
              </a:rPr>
              <a:t>2) On ne conservera donc pas les données seulement dispos dans erp car elles n’ont pas de nom de cuvée et ne sont de ce fait, pas identifiables. (a voir si l’on ne peut pas s’en servir pour le calcul des stocks et de la valeur du stock tout de même)</a:t>
            </a:r>
          </a:p>
          <a:p>
            <a:pPr marL="228600" lvl="0" indent="-228600" algn="l" rtl="0">
              <a:lnSpc>
                <a:spcPct val="100000"/>
              </a:lnSpc>
              <a:spcBef>
                <a:spcPts val="0"/>
              </a:spcBef>
              <a:spcAft>
                <a:spcPts val="0"/>
              </a:spcAft>
              <a:buSzPts val="1100"/>
              <a:buAutoNum type="arabicParenR"/>
            </a:pPr>
            <a:endParaRPr dirty="0"/>
          </a:p>
        </p:txBody>
      </p:sp>
    </p:spTree>
    <p:extLst>
      <p:ext uri="{BB962C8B-B14F-4D97-AF65-F5344CB8AC3E}">
        <p14:creationId xmlns:p14="http://schemas.microsoft.com/office/powerpoint/2010/main" val="6730506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7" name="Google Shape;77;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i="1" dirty="0">
                <a:solidFill>
                  <a:srgbClr val="999999"/>
                </a:solidFill>
                <a:latin typeface="Montserrat"/>
                <a:ea typeface="Montserrat"/>
                <a:cs typeface="Montserrat"/>
                <a:sym typeface="Montserrat"/>
              </a:rPr>
              <a:t>Ce qu’on voit :</a:t>
            </a:r>
          </a:p>
          <a:p>
            <a:r>
              <a:rPr lang="fr-FR" dirty="0"/>
              <a:t>Q1 = 14,04€	Q3 = 42,03€</a:t>
            </a:r>
          </a:p>
          <a:p>
            <a:r>
              <a:rPr lang="fr-FR" dirty="0"/>
              <a:t>Médiane = 23,4€	Moustache basse = 5,2€</a:t>
            </a:r>
          </a:p>
          <a:p>
            <a:r>
              <a:rPr lang="fr-FR" dirty="0"/>
              <a:t>Min = 5,2€	Moustache haute = 83,7€</a:t>
            </a:r>
          </a:p>
          <a:p>
            <a:r>
              <a:rPr lang="fr-FR" dirty="0"/>
              <a:t>Max = 225€</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fr-FR" i="1" dirty="0">
              <a:solidFill>
                <a:srgbClr val="999999"/>
              </a:solidFill>
              <a:latin typeface="Montserrat"/>
              <a:ea typeface="Montserrat"/>
              <a:cs typeface="Montserrat"/>
              <a:sym typeface="Montserrat"/>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fr-FR" i="1" dirty="0">
              <a:solidFill>
                <a:srgbClr val="999999"/>
              </a:solidFill>
              <a:latin typeface="Montserrat"/>
              <a:ea typeface="Montserrat"/>
              <a:cs typeface="Montserrat"/>
              <a:sym typeface="Montserrat"/>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i="1" dirty="0">
                <a:solidFill>
                  <a:srgbClr val="999999"/>
                </a:solidFill>
                <a:latin typeface="Montserrat"/>
                <a:ea typeface="Montserrat"/>
                <a:cs typeface="Montserrat"/>
                <a:sym typeface="Montserrat"/>
              </a:rPr>
              <a:t>Limites éventuelles de l’analyse  : On ne voit pas la moyenne des prix</a:t>
            </a:r>
          </a:p>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a:extLst>
            <a:ext uri="{FF2B5EF4-FFF2-40B4-BE49-F238E27FC236}">
              <a16:creationId xmlns:a16="http://schemas.microsoft.com/office/drawing/2014/main" id="{CB40BCD3-50E5-DBA5-307B-EB12A8536DD0}"/>
            </a:ext>
          </a:extLst>
        </p:cNvPr>
        <p:cNvGrpSpPr/>
        <p:nvPr/>
      </p:nvGrpSpPr>
      <p:grpSpPr>
        <a:xfrm>
          <a:off x="0" y="0"/>
          <a:ext cx="0" cy="0"/>
          <a:chOff x="0" y="0"/>
          <a:chExt cx="0" cy="0"/>
        </a:xfrm>
      </p:grpSpPr>
      <p:sp>
        <p:nvSpPr>
          <p:cNvPr id="76" name="Google Shape;76;p6:notes">
            <a:extLst>
              <a:ext uri="{FF2B5EF4-FFF2-40B4-BE49-F238E27FC236}">
                <a16:creationId xmlns:a16="http://schemas.microsoft.com/office/drawing/2014/main" id="{D8EEED79-350D-D5C3-4EE3-6F3F14B599A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7" name="Google Shape;77;p6:notes">
            <a:extLst>
              <a:ext uri="{FF2B5EF4-FFF2-40B4-BE49-F238E27FC236}">
                <a16:creationId xmlns:a16="http://schemas.microsoft.com/office/drawing/2014/main" id="{B9DB5815-62D1-00DF-A748-2569474EB25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fr-FR" dirty="0"/>
              <a:t>Moyenne de 32,35€, plus élevé que la médiane car très sensible aux outliers</a:t>
            </a:r>
          </a:p>
          <a:p>
            <a:pPr marL="0" lvl="0" indent="0" algn="l" rtl="0">
              <a:lnSpc>
                <a:spcPct val="100000"/>
              </a:lnSpc>
              <a:spcBef>
                <a:spcPts val="0"/>
              </a:spcBef>
              <a:spcAft>
                <a:spcPts val="0"/>
              </a:spcAft>
              <a:buSzPts val="1100"/>
              <a:buNone/>
            </a:pPr>
            <a:r>
              <a:rPr lang="fr-FR" dirty="0"/>
              <a:t>Ecart-type de 27,65€</a:t>
            </a:r>
          </a:p>
          <a:p>
            <a:pPr marL="0" lvl="0" indent="0" algn="l" rtl="0">
              <a:lnSpc>
                <a:spcPct val="100000"/>
              </a:lnSpc>
              <a:spcBef>
                <a:spcPts val="0"/>
              </a:spcBef>
              <a:spcAft>
                <a:spcPts val="0"/>
              </a:spcAft>
              <a:buSzPts val="1100"/>
              <a:buNone/>
            </a:pPr>
            <a:r>
              <a:rPr lang="fr-FR" dirty="0"/>
              <a:t>Affichage ici des 12 valeurs ayant un z-score supérieur à 3 soit les valeurs supérieures à 115,3€ (on considère généralement qu’un z-score supérieur à 3 correspond à un outlier)</a:t>
            </a:r>
          </a:p>
          <a:p>
            <a:pPr marL="0" lvl="0" indent="0" algn="l" rtl="0">
              <a:lnSpc>
                <a:spcPct val="100000"/>
              </a:lnSpc>
              <a:spcBef>
                <a:spcPts val="0"/>
              </a:spcBef>
              <a:spcAft>
                <a:spcPts val="0"/>
              </a:spcAft>
              <a:buSzPts val="1100"/>
              <a:buNone/>
            </a:pPr>
            <a:endParaRPr lang="fr-FR" dirty="0"/>
          </a:p>
          <a:p>
            <a:pPr marL="0" lvl="0" indent="0" algn="l" rtl="0">
              <a:lnSpc>
                <a:spcPct val="100000"/>
              </a:lnSpc>
              <a:spcBef>
                <a:spcPts val="0"/>
              </a:spcBef>
              <a:spcAft>
                <a:spcPts val="0"/>
              </a:spcAft>
              <a:buSzPts val="1100"/>
              <a:buNone/>
            </a:pPr>
            <a:r>
              <a:rPr lang="fr-FR" dirty="0"/>
              <a:t>Rappel :</a:t>
            </a:r>
          </a:p>
          <a:p>
            <a:pPr marL="0" lvl="0" indent="0" algn="l" rtl="0">
              <a:lnSpc>
                <a:spcPct val="100000"/>
              </a:lnSpc>
              <a:spcBef>
                <a:spcPts val="0"/>
              </a:spcBef>
              <a:spcAft>
                <a:spcPts val="0"/>
              </a:spcAft>
              <a:buSzPts val="1100"/>
              <a:buNone/>
            </a:pPr>
            <a:r>
              <a:rPr lang="fr-FR" dirty="0"/>
              <a:t>L’écart type mesure la dispersion moyenne des valeurs autours de la moyenne</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sz="1100" b="0" i="0" u="none" strike="noStrike" cap="none" dirty="0">
                <a:solidFill>
                  <a:srgbClr val="000000"/>
                </a:solidFill>
                <a:effectLst/>
                <a:latin typeface="Arial"/>
                <a:ea typeface="Arial"/>
                <a:cs typeface="Arial"/>
                <a:sym typeface="Arial"/>
              </a:rPr>
              <a:t>Le z-score mesure de combien d'écart-type une valeur s'éloigne de la moyenne (les moustaches jouent un rôle similaire pour trouver les </a:t>
            </a:r>
            <a:r>
              <a:rPr lang="fr-FR" sz="1100" b="0" i="0" u="none" strike="noStrike" cap="none" dirty="0" err="1">
                <a:solidFill>
                  <a:srgbClr val="000000"/>
                </a:solidFill>
                <a:effectLst/>
                <a:latin typeface="Arial"/>
                <a:ea typeface="Arial"/>
                <a:cs typeface="Arial"/>
                <a:sym typeface="Arial"/>
              </a:rPr>
              <a:t>outliers</a:t>
            </a:r>
            <a:r>
              <a:rPr lang="fr-FR" sz="1100" b="0" i="0" u="none" strike="noStrike" cap="none" dirty="0">
                <a:solidFill>
                  <a:srgbClr val="000000"/>
                </a:solidFill>
                <a:effectLst/>
                <a:latin typeface="Arial"/>
                <a:ea typeface="Arial"/>
                <a:cs typeface="Arial"/>
                <a:sym typeface="Arial"/>
              </a:rPr>
              <a:t>)</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fr-FR" sz="1100" b="0" i="0" u="none" strike="noStrike" cap="none" dirty="0">
              <a:solidFill>
                <a:srgbClr val="000000"/>
              </a:solidFill>
              <a:effectLst/>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sz="1100" b="0" i="0" u="none" strike="noStrike" cap="none" dirty="0">
                <a:solidFill>
                  <a:srgbClr val="000000"/>
                </a:solidFill>
                <a:effectLst/>
                <a:latin typeface="Arial"/>
                <a:ea typeface="Arial"/>
                <a:cs typeface="Arial"/>
                <a:sym typeface="Arial"/>
              </a:rPr>
              <a:t>Problèmes :</a:t>
            </a:r>
          </a:p>
          <a:p>
            <a:pPr marL="228600" marR="0" lvl="0" indent="-228600" algn="l" defTabSz="914400" rtl="0" eaLnBrk="1" fontAlgn="auto" latinLnBrk="0" hangingPunct="1">
              <a:lnSpc>
                <a:spcPct val="100000"/>
              </a:lnSpc>
              <a:spcBef>
                <a:spcPts val="0"/>
              </a:spcBef>
              <a:spcAft>
                <a:spcPts val="0"/>
              </a:spcAft>
              <a:buClr>
                <a:srgbClr val="000000"/>
              </a:buClr>
              <a:buSzPts val="1100"/>
              <a:buFont typeface="Arial"/>
              <a:buAutoNum type="arabicParenR"/>
              <a:tabLst/>
              <a:defRPr/>
            </a:pPr>
            <a:r>
              <a:rPr lang="fr-FR" sz="1100" b="0" i="0" u="none" strike="noStrike" cap="none" dirty="0">
                <a:solidFill>
                  <a:srgbClr val="000000"/>
                </a:solidFill>
                <a:effectLst/>
                <a:latin typeface="Arial"/>
                <a:ea typeface="Arial"/>
                <a:cs typeface="Arial"/>
                <a:sym typeface="Arial"/>
              </a:rPr>
              <a:t>Forte sensibilité aux outliers</a:t>
            </a:r>
          </a:p>
          <a:p>
            <a:pPr marL="228600" marR="0" lvl="0" indent="-228600" algn="l" defTabSz="914400" rtl="0" eaLnBrk="1" fontAlgn="auto" latinLnBrk="0" hangingPunct="1">
              <a:lnSpc>
                <a:spcPct val="100000"/>
              </a:lnSpc>
              <a:spcBef>
                <a:spcPts val="0"/>
              </a:spcBef>
              <a:spcAft>
                <a:spcPts val="0"/>
              </a:spcAft>
              <a:buClr>
                <a:srgbClr val="000000"/>
              </a:buClr>
              <a:buSzPts val="1100"/>
              <a:buFont typeface="Arial"/>
              <a:buAutoNum type="arabicParenR"/>
              <a:tabLst/>
              <a:defRPr/>
            </a:pPr>
            <a:r>
              <a:rPr lang="fr-FR" sz="1100" b="0" i="0" u="none" strike="noStrike" cap="none" dirty="0">
                <a:solidFill>
                  <a:srgbClr val="000000"/>
                </a:solidFill>
                <a:effectLst/>
                <a:latin typeface="Arial"/>
                <a:ea typeface="Arial"/>
                <a:cs typeface="Arial"/>
                <a:sym typeface="Arial"/>
              </a:rPr>
              <a:t>Le z-score se base sur une distribution normale ce qui n’est pas forcément le cas.</a:t>
            </a:r>
          </a:p>
          <a:p>
            <a:pPr marL="228600" marR="0" lvl="0" indent="-228600" algn="l" defTabSz="914400" rtl="0" eaLnBrk="1" fontAlgn="auto" latinLnBrk="0" hangingPunct="1">
              <a:lnSpc>
                <a:spcPct val="100000"/>
              </a:lnSpc>
              <a:spcBef>
                <a:spcPts val="0"/>
              </a:spcBef>
              <a:spcAft>
                <a:spcPts val="0"/>
              </a:spcAft>
              <a:buClr>
                <a:srgbClr val="000000"/>
              </a:buClr>
              <a:buSzPts val="1100"/>
              <a:buFont typeface="Arial"/>
              <a:buAutoNum type="arabicParenR"/>
              <a:tabLst/>
              <a:defRPr/>
            </a:pPr>
            <a:endParaRPr lang="fr-FR" sz="1100" b="0" i="0" u="none" strike="noStrike" cap="none" dirty="0">
              <a:solidFill>
                <a:srgbClr val="000000"/>
              </a:solidFill>
              <a:effectLst/>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sz="1100" b="0" i="0" u="none" strike="noStrike" cap="none" dirty="0">
                <a:solidFill>
                  <a:srgbClr val="000000"/>
                </a:solidFill>
                <a:effectLst/>
                <a:latin typeface="Arial"/>
                <a:ea typeface="Arial"/>
                <a:cs typeface="Arial"/>
                <a:sym typeface="Arial"/>
              </a:rPr>
              <a:t>Important de rappelé ici que nos outliers sont normaux ici car il s’agit de bouteilles qui coutent chères et non d’erreurs.</a:t>
            </a:r>
          </a:p>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5228508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5" name="Google Shape;85;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228600" lvl="0" indent="-228600" algn="l" rtl="0">
              <a:lnSpc>
                <a:spcPct val="100000"/>
              </a:lnSpc>
              <a:spcBef>
                <a:spcPts val="0"/>
              </a:spcBef>
              <a:spcAft>
                <a:spcPts val="0"/>
              </a:spcAft>
              <a:buSzPts val="1100"/>
              <a:buAutoNum type="arabicParenR"/>
            </a:pPr>
            <a:r>
              <a:rPr lang="fr-FR" dirty="0"/>
              <a:t>Création d’une colonne pour calculer le CA par articles ( prix multiplié par nombre de ventes)</a:t>
            </a:r>
          </a:p>
          <a:p>
            <a:pPr marL="228600" lvl="0" indent="-228600" algn="l" rtl="0">
              <a:lnSpc>
                <a:spcPct val="100000"/>
              </a:lnSpc>
              <a:spcBef>
                <a:spcPts val="0"/>
              </a:spcBef>
              <a:spcAft>
                <a:spcPts val="0"/>
              </a:spcAft>
              <a:buSzPts val="1100"/>
              <a:buAutoNum type="arabicParenR"/>
            </a:pPr>
            <a:endParaRPr lang="fr-FR" dirty="0"/>
          </a:p>
          <a:p>
            <a:pPr marL="228600" lvl="0" indent="-228600" algn="l" rtl="0">
              <a:lnSpc>
                <a:spcPct val="100000"/>
              </a:lnSpc>
              <a:spcBef>
                <a:spcPts val="0"/>
              </a:spcBef>
              <a:spcAft>
                <a:spcPts val="0"/>
              </a:spcAft>
              <a:buSzPts val="1100"/>
              <a:buAutoNum type="arabicParenR"/>
            </a:pPr>
            <a:r>
              <a:rPr lang="fr-FR" dirty="0"/>
              <a:t>Graphique obtenu après classement des meilleures ventes par bouteille, on voit que le champagne est premier</a:t>
            </a:r>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a:extLst>
            <a:ext uri="{FF2B5EF4-FFF2-40B4-BE49-F238E27FC236}">
              <a16:creationId xmlns:a16="http://schemas.microsoft.com/office/drawing/2014/main" id="{1DF67538-B6E3-B4B6-03AD-45E2434E39AC}"/>
            </a:ext>
          </a:extLst>
        </p:cNvPr>
        <p:cNvGrpSpPr/>
        <p:nvPr/>
      </p:nvGrpSpPr>
      <p:grpSpPr>
        <a:xfrm>
          <a:off x="0" y="0"/>
          <a:ext cx="0" cy="0"/>
          <a:chOff x="0" y="0"/>
          <a:chExt cx="0" cy="0"/>
        </a:xfrm>
      </p:grpSpPr>
      <p:sp>
        <p:nvSpPr>
          <p:cNvPr id="84" name="Google Shape;84;p7:notes">
            <a:extLst>
              <a:ext uri="{FF2B5EF4-FFF2-40B4-BE49-F238E27FC236}">
                <a16:creationId xmlns:a16="http://schemas.microsoft.com/office/drawing/2014/main" id="{9139D1C5-BB33-CEEB-B3D4-1578380FBC4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5" name="Google Shape;85;p7:notes">
            <a:extLst>
              <a:ext uri="{FF2B5EF4-FFF2-40B4-BE49-F238E27FC236}">
                <a16:creationId xmlns:a16="http://schemas.microsoft.com/office/drawing/2014/main" id="{8D984C15-B90D-214E-2DDF-65310C57648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228600" lvl="0" indent="-228600" algn="l" rtl="0">
              <a:lnSpc>
                <a:spcPct val="100000"/>
              </a:lnSpc>
              <a:spcBef>
                <a:spcPts val="0"/>
              </a:spcBef>
              <a:spcAft>
                <a:spcPts val="0"/>
              </a:spcAft>
              <a:buSzPts val="1100"/>
              <a:buAutoNum type="arabicParenR"/>
            </a:pPr>
            <a:r>
              <a:rPr lang="fr-FR" dirty="0"/>
              <a:t>On a ensuite utilisé cumsum (somme cumulative) pour faire la somme cumulée de la part du CA et on a ainsi put réaliser le 20/80</a:t>
            </a:r>
          </a:p>
          <a:p>
            <a:pPr marL="228600" lvl="0" indent="-228600" algn="l" rtl="0">
              <a:lnSpc>
                <a:spcPct val="100000"/>
              </a:lnSpc>
              <a:spcBef>
                <a:spcPts val="0"/>
              </a:spcBef>
              <a:spcAft>
                <a:spcPts val="0"/>
              </a:spcAft>
              <a:buSzPts val="1100"/>
              <a:buAutoNum type="arabicParenR"/>
            </a:pPr>
            <a:r>
              <a:rPr lang="fr-FR" dirty="0"/>
              <a:t>On voit que 60% des bouteilles (430)  représentent 80% du chiffre d'affaires</a:t>
            </a:r>
          </a:p>
          <a:p>
            <a:pPr marL="228600" lvl="0" indent="-228600" algn="l" rtl="0">
              <a:lnSpc>
                <a:spcPct val="100000"/>
              </a:lnSpc>
              <a:spcBef>
                <a:spcPts val="0"/>
              </a:spcBef>
              <a:spcAft>
                <a:spcPts val="0"/>
              </a:spcAft>
              <a:buSzPts val="1100"/>
              <a:buAutoNum type="arabicParenR"/>
            </a:pPr>
            <a:r>
              <a:rPr lang="fr-FR" dirty="0"/>
              <a:t>Il faut donc probablement mettre la priorité sur ces articles car c’est eux qui contribuent le plus au CA.</a:t>
            </a:r>
          </a:p>
          <a:p>
            <a:pPr marL="228600" lvl="0" indent="-228600" algn="l" rtl="0">
              <a:lnSpc>
                <a:spcPct val="100000"/>
              </a:lnSpc>
              <a:spcBef>
                <a:spcPts val="0"/>
              </a:spcBef>
              <a:spcAft>
                <a:spcPts val="0"/>
              </a:spcAft>
              <a:buSzPts val="1100"/>
              <a:buAutoNum type="arabicParenR"/>
            </a:pPr>
            <a:endParaRPr lang="fr-FR" dirty="0"/>
          </a:p>
          <a:p>
            <a:pPr marL="0" lvl="0" indent="0" algn="l" rtl="0">
              <a:lnSpc>
                <a:spcPct val="100000"/>
              </a:lnSpc>
              <a:spcBef>
                <a:spcPts val="0"/>
              </a:spcBef>
              <a:spcAft>
                <a:spcPts val="0"/>
              </a:spcAft>
              <a:buSzPts val="1100"/>
              <a:buNone/>
            </a:pPr>
            <a:r>
              <a:rPr lang="fr-FR" dirty="0"/>
              <a:t>Limites de cette analyse, les bouteilles au prix élevé qui peuvent moins de vendre quand elles se vendent peuvent artificiellement faire augmenter leur par du CA il faut donc aussi regarder le nombre de ventes</a:t>
            </a:r>
            <a:endParaRPr dirty="0"/>
          </a:p>
        </p:txBody>
      </p:sp>
    </p:spTree>
    <p:extLst>
      <p:ext uri="{BB962C8B-B14F-4D97-AF65-F5344CB8AC3E}">
        <p14:creationId xmlns:p14="http://schemas.microsoft.com/office/powerpoint/2010/main" val="28809612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a:extLst>
            <a:ext uri="{FF2B5EF4-FFF2-40B4-BE49-F238E27FC236}">
              <a16:creationId xmlns:a16="http://schemas.microsoft.com/office/drawing/2014/main" id="{6034E2A4-DE9F-087D-B86B-491CC4F0C3C3}"/>
            </a:ext>
          </a:extLst>
        </p:cNvPr>
        <p:cNvGrpSpPr/>
        <p:nvPr/>
      </p:nvGrpSpPr>
      <p:grpSpPr>
        <a:xfrm>
          <a:off x="0" y="0"/>
          <a:ext cx="0" cy="0"/>
          <a:chOff x="0" y="0"/>
          <a:chExt cx="0" cy="0"/>
        </a:xfrm>
      </p:grpSpPr>
      <p:sp>
        <p:nvSpPr>
          <p:cNvPr id="84" name="Google Shape;84;p7:notes">
            <a:extLst>
              <a:ext uri="{FF2B5EF4-FFF2-40B4-BE49-F238E27FC236}">
                <a16:creationId xmlns:a16="http://schemas.microsoft.com/office/drawing/2014/main" id="{8ACF7F55-D46C-D4ED-5DB1-FFBD7BEA556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5" name="Google Shape;85;p7:notes">
            <a:extLst>
              <a:ext uri="{FF2B5EF4-FFF2-40B4-BE49-F238E27FC236}">
                <a16:creationId xmlns:a16="http://schemas.microsoft.com/office/drawing/2014/main" id="{44467CAC-95E8-3DDD-6FB0-B8D731AF851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228600" lvl="0" indent="-228600" algn="l" rtl="0">
              <a:lnSpc>
                <a:spcPct val="100000"/>
              </a:lnSpc>
              <a:spcBef>
                <a:spcPts val="0"/>
              </a:spcBef>
              <a:spcAft>
                <a:spcPts val="0"/>
              </a:spcAft>
              <a:buSzPts val="1100"/>
              <a:buAutoNum type="arabicParenR"/>
            </a:pPr>
            <a:r>
              <a:rPr lang="fr-FR" dirty="0"/>
              <a:t>Graphique obtenu après classement des meilleures ventes par bouteille en termes de nombre de ventes, on voit que le classement est différent cette fois-ci.</a:t>
            </a:r>
          </a:p>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8530485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a:extLst>
            <a:ext uri="{FF2B5EF4-FFF2-40B4-BE49-F238E27FC236}">
              <a16:creationId xmlns:a16="http://schemas.microsoft.com/office/drawing/2014/main" id="{412C8FA4-EBC8-B889-1F4F-BBF16FB6A646}"/>
            </a:ext>
          </a:extLst>
        </p:cNvPr>
        <p:cNvGrpSpPr/>
        <p:nvPr/>
      </p:nvGrpSpPr>
      <p:grpSpPr>
        <a:xfrm>
          <a:off x="0" y="0"/>
          <a:ext cx="0" cy="0"/>
          <a:chOff x="0" y="0"/>
          <a:chExt cx="0" cy="0"/>
        </a:xfrm>
      </p:grpSpPr>
      <p:sp>
        <p:nvSpPr>
          <p:cNvPr id="84" name="Google Shape;84;p7:notes">
            <a:extLst>
              <a:ext uri="{FF2B5EF4-FFF2-40B4-BE49-F238E27FC236}">
                <a16:creationId xmlns:a16="http://schemas.microsoft.com/office/drawing/2014/main" id="{0743221A-09FB-EA99-ACDF-5FEACB1CD2A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5" name="Google Shape;85;p7:notes">
            <a:extLst>
              <a:ext uri="{FF2B5EF4-FFF2-40B4-BE49-F238E27FC236}">
                <a16:creationId xmlns:a16="http://schemas.microsoft.com/office/drawing/2014/main" id="{6B0897E7-1B23-2340-8723-6598213F004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228600" lvl="0" indent="-228600" algn="l" rtl="0">
              <a:lnSpc>
                <a:spcPct val="100000"/>
              </a:lnSpc>
              <a:spcBef>
                <a:spcPts val="0"/>
              </a:spcBef>
              <a:spcAft>
                <a:spcPts val="0"/>
              </a:spcAft>
              <a:buSzPts val="1100"/>
              <a:buAutoNum type="arabicParenR"/>
            </a:pPr>
            <a:r>
              <a:rPr lang="fr-FR" dirty="0"/>
              <a:t>On a ensuite utilisé cumsum (somme cumulative) pour faire la somme cumulée de la part du nb de ventes et on a ainsi put réaliser le 20/80</a:t>
            </a:r>
          </a:p>
          <a:p>
            <a:pPr marL="228600" lvl="0" indent="-228600" algn="l" rtl="0">
              <a:lnSpc>
                <a:spcPct val="100000"/>
              </a:lnSpc>
              <a:spcBef>
                <a:spcPts val="0"/>
              </a:spcBef>
              <a:spcAft>
                <a:spcPts val="0"/>
              </a:spcAft>
              <a:buSzPts val="1100"/>
              <a:buAutoNum type="arabicParenR"/>
            </a:pPr>
            <a:r>
              <a:rPr lang="fr-FR" dirty="0"/>
              <a:t>On voit que 61% des bouteilles (432)  représentent 80% du nombre de vente ce qui est similaire à ce qu’on avait vu avant</a:t>
            </a:r>
          </a:p>
          <a:p>
            <a:pPr marL="228600" lvl="0" indent="-228600" algn="l" rtl="0">
              <a:lnSpc>
                <a:spcPct val="100000"/>
              </a:lnSpc>
              <a:spcBef>
                <a:spcPts val="0"/>
              </a:spcBef>
              <a:spcAft>
                <a:spcPts val="0"/>
              </a:spcAft>
              <a:buSzPts val="1100"/>
              <a:buAutoNum type="arabicParenR"/>
            </a:pPr>
            <a:r>
              <a:rPr lang="fr-FR" dirty="0"/>
              <a:t>Malgré ce décalage d’ordre, le </a:t>
            </a:r>
            <a:r>
              <a:rPr lang="fr-FR" b="0" dirty="0"/>
              <a:t>nombre d’articles nécessaires pour atteindre 80% </a:t>
            </a:r>
            <a:r>
              <a:rPr lang="fr-FR" dirty="0"/>
              <a:t>est identique ; ceci signifie que la concentration globale de CA et de nombre </a:t>
            </a:r>
            <a:r>
              <a:rPr lang="fr-FR"/>
              <a:t>de vente a </a:t>
            </a:r>
            <a:r>
              <a:rPr lang="fr-FR" dirty="0"/>
              <a:t>une forme similaire</a:t>
            </a:r>
            <a:endParaRPr dirty="0"/>
          </a:p>
        </p:txBody>
      </p:sp>
    </p:spTree>
    <p:extLst>
      <p:ext uri="{BB962C8B-B14F-4D97-AF65-F5344CB8AC3E}">
        <p14:creationId xmlns:p14="http://schemas.microsoft.com/office/powerpoint/2010/main" val="17900940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a:extLst>
            <a:ext uri="{FF2B5EF4-FFF2-40B4-BE49-F238E27FC236}">
              <a16:creationId xmlns:a16="http://schemas.microsoft.com/office/drawing/2014/main" id="{3D543990-444C-85E4-BD09-58A82EC7BC96}"/>
            </a:ext>
          </a:extLst>
        </p:cNvPr>
        <p:cNvGrpSpPr/>
        <p:nvPr/>
      </p:nvGrpSpPr>
      <p:grpSpPr>
        <a:xfrm>
          <a:off x="0" y="0"/>
          <a:ext cx="0" cy="0"/>
          <a:chOff x="0" y="0"/>
          <a:chExt cx="0" cy="0"/>
        </a:xfrm>
      </p:grpSpPr>
      <p:sp>
        <p:nvSpPr>
          <p:cNvPr id="84" name="Google Shape;84;p7:notes">
            <a:extLst>
              <a:ext uri="{FF2B5EF4-FFF2-40B4-BE49-F238E27FC236}">
                <a16:creationId xmlns:a16="http://schemas.microsoft.com/office/drawing/2014/main" id="{9F265B92-D48C-3ACE-3A4B-D9E69661D2B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5" name="Google Shape;85;p7:notes">
            <a:extLst>
              <a:ext uri="{FF2B5EF4-FFF2-40B4-BE49-F238E27FC236}">
                <a16:creationId xmlns:a16="http://schemas.microsoft.com/office/drawing/2014/main" id="{03C9A133-28AA-A71A-2400-306A0569C72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228600" lvl="0" indent="-228600" algn="l" rtl="0">
              <a:lnSpc>
                <a:spcPct val="100000"/>
              </a:lnSpc>
              <a:spcBef>
                <a:spcPts val="0"/>
              </a:spcBef>
              <a:spcAft>
                <a:spcPts val="0"/>
              </a:spcAft>
              <a:buSzPts val="1100"/>
              <a:buAutoNum type="arabicParenR"/>
            </a:pPr>
            <a:r>
              <a:rPr lang="fr-FR" dirty="0"/>
              <a:t>Création d’une colonne rotation des stocks qui nous permet de prédire en fonction des ventes réalisées dans le mois le nombre de mois de stock approximatif par type de bouteille</a:t>
            </a:r>
          </a:p>
          <a:p>
            <a:pPr marL="228600" lvl="0" indent="-228600" algn="l" rtl="0">
              <a:lnSpc>
                <a:spcPct val="100000"/>
              </a:lnSpc>
              <a:spcBef>
                <a:spcPts val="0"/>
              </a:spcBef>
              <a:spcAft>
                <a:spcPts val="0"/>
              </a:spcAft>
              <a:buSzPts val="1100"/>
              <a:buAutoNum type="arabicParenR"/>
            </a:pPr>
            <a:endParaRPr lang="fr-FR" dirty="0"/>
          </a:p>
          <a:p>
            <a:pPr marL="228600" lvl="0" indent="-228600" algn="l" rtl="0">
              <a:lnSpc>
                <a:spcPct val="100000"/>
              </a:lnSpc>
              <a:spcBef>
                <a:spcPts val="0"/>
              </a:spcBef>
              <a:spcAft>
                <a:spcPts val="0"/>
              </a:spcAft>
              <a:buSzPts val="1100"/>
              <a:buAutoNum type="arabicParenR"/>
            </a:pPr>
            <a:r>
              <a:rPr lang="fr-FR" dirty="0"/>
              <a:t>On observe que la plupart des gros stocks correspondent à du champagne, probablement aussi lié au fait qu’il y a moins de vente pour ces derniers</a:t>
            </a:r>
            <a:endParaRPr dirty="0"/>
          </a:p>
        </p:txBody>
      </p:sp>
    </p:spTree>
    <p:extLst>
      <p:ext uri="{BB962C8B-B14F-4D97-AF65-F5344CB8AC3E}">
        <p14:creationId xmlns:p14="http://schemas.microsoft.com/office/powerpoint/2010/main" val="26016824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a:extLst>
            <a:ext uri="{FF2B5EF4-FFF2-40B4-BE49-F238E27FC236}">
              <a16:creationId xmlns:a16="http://schemas.microsoft.com/office/drawing/2014/main" id="{617E549A-DCD8-B4AE-70CE-A8B56BD66312}"/>
            </a:ext>
          </a:extLst>
        </p:cNvPr>
        <p:cNvGrpSpPr/>
        <p:nvPr/>
      </p:nvGrpSpPr>
      <p:grpSpPr>
        <a:xfrm>
          <a:off x="0" y="0"/>
          <a:ext cx="0" cy="0"/>
          <a:chOff x="0" y="0"/>
          <a:chExt cx="0" cy="0"/>
        </a:xfrm>
      </p:grpSpPr>
      <p:sp>
        <p:nvSpPr>
          <p:cNvPr id="84" name="Google Shape;84;p7:notes">
            <a:extLst>
              <a:ext uri="{FF2B5EF4-FFF2-40B4-BE49-F238E27FC236}">
                <a16:creationId xmlns:a16="http://schemas.microsoft.com/office/drawing/2014/main" id="{23488694-3A2A-6977-DE9E-ABD96B32E1D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5" name="Google Shape;85;p7:notes">
            <a:extLst>
              <a:ext uri="{FF2B5EF4-FFF2-40B4-BE49-F238E27FC236}">
                <a16:creationId xmlns:a16="http://schemas.microsoft.com/office/drawing/2014/main" id="{18281155-ECBA-0846-1AA9-707EC8DD97E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228600" lvl="0" indent="-228600" algn="l" rtl="0">
              <a:lnSpc>
                <a:spcPct val="100000"/>
              </a:lnSpc>
              <a:spcBef>
                <a:spcPts val="0"/>
              </a:spcBef>
              <a:spcAft>
                <a:spcPts val="0"/>
              </a:spcAft>
              <a:buSzPts val="1100"/>
              <a:buAutoNum type="arabicParenR"/>
            </a:pPr>
            <a:r>
              <a:rPr lang="fr-FR" dirty="0"/>
              <a:t>Pour avoir la valeur, on a créé et fait la somme d’une colonne valorisation qui est la multiplication du prix par la quantité en stock</a:t>
            </a:r>
          </a:p>
          <a:p>
            <a:pPr marL="228600" lvl="0" indent="-228600" algn="l" rtl="0">
              <a:lnSpc>
                <a:spcPct val="100000"/>
              </a:lnSpc>
              <a:spcBef>
                <a:spcPts val="0"/>
              </a:spcBef>
              <a:spcAft>
                <a:spcPts val="0"/>
              </a:spcAft>
              <a:buSzPts val="1100"/>
              <a:buAutoNum type="arabicParenR"/>
            </a:pPr>
            <a:endParaRPr lang="fr-FR" dirty="0"/>
          </a:p>
          <a:p>
            <a:pPr marL="228600" lvl="0" indent="-228600" algn="l" rtl="0">
              <a:lnSpc>
                <a:spcPct val="100000"/>
              </a:lnSpc>
              <a:spcBef>
                <a:spcPts val="0"/>
              </a:spcBef>
              <a:spcAft>
                <a:spcPts val="0"/>
              </a:spcAft>
              <a:buSzPts val="1100"/>
              <a:buAutoNum type="arabicParenR"/>
            </a:pPr>
            <a:r>
              <a:rPr lang="fr-FR" dirty="0"/>
              <a:t>Pour  avoir le stock total on a simplement fait la somme de </a:t>
            </a:r>
            <a:r>
              <a:rPr lang="fr-FR" dirty="0" err="1"/>
              <a:t>stock_quantity</a:t>
            </a:r>
            <a:endParaRPr lang="fr-FR" dirty="0"/>
          </a:p>
          <a:p>
            <a:pPr marL="228600" lvl="0" indent="-228600" algn="l" rtl="0">
              <a:lnSpc>
                <a:spcPct val="100000"/>
              </a:lnSpc>
              <a:spcBef>
                <a:spcPts val="0"/>
              </a:spcBef>
              <a:spcAft>
                <a:spcPts val="0"/>
              </a:spcAft>
              <a:buSzPts val="1100"/>
              <a:buAutoNum type="arabicParenR"/>
            </a:pPr>
            <a:endParaRPr lang="fr-FR" dirty="0"/>
          </a:p>
          <a:p>
            <a:pPr marL="228600" lvl="0" indent="-228600" algn="l" rtl="0">
              <a:lnSpc>
                <a:spcPct val="100000"/>
              </a:lnSpc>
              <a:spcBef>
                <a:spcPts val="0"/>
              </a:spcBef>
              <a:spcAft>
                <a:spcPts val="0"/>
              </a:spcAft>
              <a:buSzPts val="1100"/>
              <a:buAutoNum type="arabicParenR"/>
            </a:pPr>
            <a:r>
              <a:rPr lang="fr-FR" dirty="0"/>
              <a:t>On ne tient pas compte ici des bouteilles appartenant aux lignes que l’on </a:t>
            </a:r>
            <a:r>
              <a:rPr lang="fr-FR"/>
              <a:t>a supprimé.</a:t>
            </a:r>
            <a:endParaRPr lang="fr-FR" dirty="0"/>
          </a:p>
        </p:txBody>
      </p:sp>
    </p:spTree>
    <p:extLst>
      <p:ext uri="{BB962C8B-B14F-4D97-AF65-F5344CB8AC3E}">
        <p14:creationId xmlns:p14="http://schemas.microsoft.com/office/powerpoint/2010/main" val="36964477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a:extLst>
            <a:ext uri="{FF2B5EF4-FFF2-40B4-BE49-F238E27FC236}">
              <a16:creationId xmlns:a16="http://schemas.microsoft.com/office/drawing/2014/main" id="{094AE30A-DABD-0F29-3E0B-815C818B2121}"/>
            </a:ext>
          </a:extLst>
        </p:cNvPr>
        <p:cNvGrpSpPr/>
        <p:nvPr/>
      </p:nvGrpSpPr>
      <p:grpSpPr>
        <a:xfrm>
          <a:off x="0" y="0"/>
          <a:ext cx="0" cy="0"/>
          <a:chOff x="0" y="0"/>
          <a:chExt cx="0" cy="0"/>
        </a:xfrm>
      </p:grpSpPr>
      <p:sp>
        <p:nvSpPr>
          <p:cNvPr id="84" name="Google Shape;84;p7:notes">
            <a:extLst>
              <a:ext uri="{FF2B5EF4-FFF2-40B4-BE49-F238E27FC236}">
                <a16:creationId xmlns:a16="http://schemas.microsoft.com/office/drawing/2014/main" id="{65B79521-02E3-1341-5078-C33F00A565B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5" name="Google Shape;85;p7:notes">
            <a:extLst>
              <a:ext uri="{FF2B5EF4-FFF2-40B4-BE49-F238E27FC236}">
                <a16:creationId xmlns:a16="http://schemas.microsoft.com/office/drawing/2014/main" id="{E8A34B48-B35D-F1C9-6EC0-4ECE5D89673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228600" lvl="0" indent="-228600" algn="l" rtl="0">
              <a:lnSpc>
                <a:spcPct val="100000"/>
              </a:lnSpc>
              <a:spcBef>
                <a:spcPts val="0"/>
              </a:spcBef>
              <a:spcAft>
                <a:spcPts val="0"/>
              </a:spcAft>
              <a:buSzPts val="1100"/>
              <a:buAutoNum type="arabicParenR"/>
            </a:pPr>
            <a:r>
              <a:rPr lang="fr-FR" dirty="0"/>
              <a:t>Prix HT = Prix * 0,8</a:t>
            </a:r>
          </a:p>
          <a:p>
            <a:pPr marL="228600" lvl="0" indent="-228600" algn="l" rtl="0">
              <a:lnSpc>
                <a:spcPct val="100000"/>
              </a:lnSpc>
              <a:spcBef>
                <a:spcPts val="0"/>
              </a:spcBef>
              <a:spcAft>
                <a:spcPts val="0"/>
              </a:spcAft>
              <a:buSzPts val="1100"/>
              <a:buAutoNum type="arabicParenR"/>
            </a:pPr>
            <a:endParaRPr lang="fr-FR" dirty="0"/>
          </a:p>
          <a:p>
            <a:pPr marL="228600" lvl="0" indent="-228600" algn="l" rtl="0">
              <a:lnSpc>
                <a:spcPct val="100000"/>
              </a:lnSpc>
              <a:spcBef>
                <a:spcPts val="0"/>
              </a:spcBef>
              <a:spcAft>
                <a:spcPts val="0"/>
              </a:spcAft>
              <a:buSzPts val="1100"/>
              <a:buAutoNum type="arabicParenR"/>
            </a:pPr>
            <a:r>
              <a:rPr lang="fr-FR" dirty="0"/>
              <a:t>Le taux de marge permet de nous donner le taux réellement gagné</a:t>
            </a:r>
          </a:p>
          <a:p>
            <a:pPr marL="228600" lvl="0" indent="-228600" algn="l" rtl="0">
              <a:lnSpc>
                <a:spcPct val="100000"/>
              </a:lnSpc>
              <a:spcBef>
                <a:spcPts val="0"/>
              </a:spcBef>
              <a:spcAft>
                <a:spcPts val="0"/>
              </a:spcAft>
              <a:buSzPts val="1100"/>
              <a:buAutoNum type="arabicParenR"/>
            </a:pPr>
            <a:endParaRPr lang="fr-FR" dirty="0"/>
          </a:p>
          <a:p>
            <a:pPr marL="228600" lvl="0" indent="-228600" algn="l" rtl="0">
              <a:lnSpc>
                <a:spcPct val="100000"/>
              </a:lnSpc>
              <a:spcBef>
                <a:spcPts val="0"/>
              </a:spcBef>
              <a:spcAft>
                <a:spcPts val="0"/>
              </a:spcAft>
              <a:buSzPts val="1100"/>
              <a:buAutoNum type="arabicParenR"/>
            </a:pPr>
            <a:r>
              <a:rPr lang="fr-FR" dirty="0"/>
              <a:t>Il y avait une valeur négative du taux de marge qui semble être due à une erreur car on vend la bouteille moins chère que ce que l’on achète</a:t>
            </a:r>
          </a:p>
          <a:p>
            <a:pPr marL="228600" lvl="0" indent="-228600" algn="l" rtl="0">
              <a:lnSpc>
                <a:spcPct val="100000"/>
              </a:lnSpc>
              <a:spcBef>
                <a:spcPts val="0"/>
              </a:spcBef>
              <a:spcAft>
                <a:spcPts val="0"/>
              </a:spcAft>
              <a:buSzPts val="1100"/>
              <a:buAutoNum type="arabicParenR"/>
            </a:pPr>
            <a:endParaRPr lang="fr-FR" dirty="0"/>
          </a:p>
          <a:p>
            <a:pPr marL="228600" lvl="0" indent="-228600" algn="l" rtl="0">
              <a:lnSpc>
                <a:spcPct val="100000"/>
              </a:lnSpc>
              <a:spcBef>
                <a:spcPts val="0"/>
              </a:spcBef>
              <a:spcAft>
                <a:spcPts val="0"/>
              </a:spcAft>
              <a:buSzPts val="1100"/>
              <a:buAutoNum type="arabicParenR"/>
            </a:pPr>
            <a:r>
              <a:rPr lang="fr-FR" dirty="0"/>
              <a:t>On a pris seulement les valeur positive et on a trouvé ces valeurs max et min pour le taux de marge</a:t>
            </a:r>
            <a:endParaRPr dirty="0"/>
          </a:p>
        </p:txBody>
      </p:sp>
    </p:spTree>
    <p:extLst>
      <p:ext uri="{BB962C8B-B14F-4D97-AF65-F5344CB8AC3E}">
        <p14:creationId xmlns:p14="http://schemas.microsoft.com/office/powerpoint/2010/main" val="1782488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a:extLst>
            <a:ext uri="{FF2B5EF4-FFF2-40B4-BE49-F238E27FC236}">
              <a16:creationId xmlns:a16="http://schemas.microsoft.com/office/drawing/2014/main" id="{389F83F8-14AE-6F32-2B83-55DF17EE22AF}"/>
            </a:ext>
          </a:extLst>
        </p:cNvPr>
        <p:cNvGrpSpPr/>
        <p:nvPr/>
      </p:nvGrpSpPr>
      <p:grpSpPr>
        <a:xfrm>
          <a:off x="0" y="0"/>
          <a:ext cx="0" cy="0"/>
          <a:chOff x="0" y="0"/>
          <a:chExt cx="0" cy="0"/>
        </a:xfrm>
      </p:grpSpPr>
      <p:sp>
        <p:nvSpPr>
          <p:cNvPr id="84" name="Google Shape;84;p7:notes">
            <a:extLst>
              <a:ext uri="{FF2B5EF4-FFF2-40B4-BE49-F238E27FC236}">
                <a16:creationId xmlns:a16="http://schemas.microsoft.com/office/drawing/2014/main" id="{FF82C111-A896-A3F3-2E9C-2FAD006C501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5" name="Google Shape;85;p7:notes">
            <a:extLst>
              <a:ext uri="{FF2B5EF4-FFF2-40B4-BE49-F238E27FC236}">
                <a16:creationId xmlns:a16="http://schemas.microsoft.com/office/drawing/2014/main" id="{5D6FFFA3-E59C-DA8B-183F-42E5EA01D13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228600" lvl="0" indent="-228600" algn="l" rtl="0">
              <a:lnSpc>
                <a:spcPct val="100000"/>
              </a:lnSpc>
              <a:spcBef>
                <a:spcPts val="0"/>
              </a:spcBef>
              <a:spcAft>
                <a:spcPts val="0"/>
              </a:spcAft>
              <a:buSzPts val="1100"/>
              <a:buAutoNum type="arabicParenR"/>
            </a:pPr>
            <a:r>
              <a:rPr lang="fr-FR" dirty="0"/>
              <a:t>On observe ici clairement que le cognac et le whisky sont les deux types d’alcool que l’on vend ayant la plus grosse marge alors que le champagne a le plus faible.</a:t>
            </a:r>
            <a:endParaRPr dirty="0"/>
          </a:p>
        </p:txBody>
      </p:sp>
    </p:spTree>
    <p:extLst>
      <p:ext uri="{BB962C8B-B14F-4D97-AF65-F5344CB8AC3E}">
        <p14:creationId xmlns:p14="http://schemas.microsoft.com/office/powerpoint/2010/main" val="30165859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a:extLst>
            <a:ext uri="{FF2B5EF4-FFF2-40B4-BE49-F238E27FC236}">
              <a16:creationId xmlns:a16="http://schemas.microsoft.com/office/drawing/2014/main" id="{2CB177BA-2406-4A97-C85A-AE681E70B140}"/>
            </a:ext>
          </a:extLst>
        </p:cNvPr>
        <p:cNvGrpSpPr/>
        <p:nvPr/>
      </p:nvGrpSpPr>
      <p:grpSpPr>
        <a:xfrm>
          <a:off x="0" y="0"/>
          <a:ext cx="0" cy="0"/>
          <a:chOff x="0" y="0"/>
          <a:chExt cx="0" cy="0"/>
        </a:xfrm>
      </p:grpSpPr>
      <p:sp>
        <p:nvSpPr>
          <p:cNvPr id="84" name="Google Shape;84;p7:notes">
            <a:extLst>
              <a:ext uri="{FF2B5EF4-FFF2-40B4-BE49-F238E27FC236}">
                <a16:creationId xmlns:a16="http://schemas.microsoft.com/office/drawing/2014/main" id="{84B80771-1AF4-3D1B-0AFE-C8FC40EF3DE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5" name="Google Shape;85;p7:notes">
            <a:extLst>
              <a:ext uri="{FF2B5EF4-FFF2-40B4-BE49-F238E27FC236}">
                <a16:creationId xmlns:a16="http://schemas.microsoft.com/office/drawing/2014/main" id="{E6915C36-9865-C604-240F-077DC5704DC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fr-FR" dirty="0"/>
              <a:t>La méthode utilisée ici est la heat map</a:t>
            </a:r>
          </a:p>
          <a:p>
            <a:pPr marL="0" lvl="0" indent="0" algn="l" rtl="0">
              <a:lnSpc>
                <a:spcPct val="100000"/>
              </a:lnSpc>
              <a:spcBef>
                <a:spcPts val="0"/>
              </a:spcBef>
              <a:spcAft>
                <a:spcPts val="0"/>
              </a:spcAft>
              <a:buSzPts val="1100"/>
              <a:buNone/>
            </a:pPr>
            <a:endParaRPr lang="fr-FR" dirty="0"/>
          </a:p>
          <a:p>
            <a:pPr marL="0" lvl="0" indent="0" algn="l" rtl="0">
              <a:lnSpc>
                <a:spcPct val="100000"/>
              </a:lnSpc>
              <a:spcBef>
                <a:spcPts val="0"/>
              </a:spcBef>
              <a:spcAft>
                <a:spcPts val="0"/>
              </a:spcAft>
              <a:buSzPts val="1100"/>
              <a:buNone/>
            </a:pPr>
            <a:r>
              <a:rPr lang="fr-FR" dirty="0"/>
              <a:t>Pour rappel : </a:t>
            </a:r>
          </a:p>
          <a:p>
            <a:pPr marL="228600" lvl="0" indent="-228600" algn="l" rtl="0">
              <a:lnSpc>
                <a:spcPct val="100000"/>
              </a:lnSpc>
              <a:spcBef>
                <a:spcPts val="0"/>
              </a:spcBef>
              <a:spcAft>
                <a:spcPts val="0"/>
              </a:spcAft>
              <a:buSzPts val="1100"/>
              <a:buAutoNum type="arabicParenR"/>
            </a:pPr>
            <a:r>
              <a:rPr lang="fr-FR" dirty="0"/>
              <a:t>Si la valeur est positive corrélation positive entre les variables sinon corrélation négative</a:t>
            </a:r>
          </a:p>
          <a:p>
            <a:pPr marL="228600" lvl="0" indent="-228600" algn="l" rtl="0">
              <a:lnSpc>
                <a:spcPct val="100000"/>
              </a:lnSpc>
              <a:spcBef>
                <a:spcPts val="0"/>
              </a:spcBef>
              <a:spcAft>
                <a:spcPts val="0"/>
              </a:spcAft>
              <a:buSzPts val="1100"/>
              <a:buAutoNum type="arabicParenR"/>
            </a:pPr>
            <a:r>
              <a:rPr lang="fr-FR" dirty="0"/>
              <a:t>Si la valeur absolue est &lt; 0,1 corrélation négligeable</a:t>
            </a:r>
          </a:p>
          <a:p>
            <a:pPr marL="228600" lvl="0" indent="-228600" algn="l" rtl="0">
              <a:lnSpc>
                <a:spcPct val="100000"/>
              </a:lnSpc>
              <a:spcBef>
                <a:spcPts val="0"/>
              </a:spcBef>
              <a:spcAft>
                <a:spcPts val="0"/>
              </a:spcAft>
              <a:buSzPts val="1100"/>
              <a:buAutoNum type="arabicParenR"/>
            </a:pPr>
            <a:r>
              <a:rPr lang="fr-FR" dirty="0"/>
              <a:t>Si la valeur absolue est entre 0,3 et 0,5 corrélation modérée</a:t>
            </a:r>
          </a:p>
          <a:p>
            <a:pPr marL="228600" lvl="0" indent="-228600" algn="l" rtl="0">
              <a:lnSpc>
                <a:spcPct val="100000"/>
              </a:lnSpc>
              <a:spcBef>
                <a:spcPts val="0"/>
              </a:spcBef>
              <a:spcAft>
                <a:spcPts val="0"/>
              </a:spcAft>
              <a:buSzPts val="1100"/>
              <a:buAutoNum type="arabicParenR"/>
            </a:pPr>
            <a:r>
              <a:rPr lang="fr-FR" dirty="0"/>
              <a:t>Si la valeur absolue est supérieure à 0,5 corrélation forte</a:t>
            </a:r>
          </a:p>
          <a:p>
            <a:pPr marL="228600" lvl="0" indent="-228600" algn="l" rtl="0">
              <a:lnSpc>
                <a:spcPct val="100000"/>
              </a:lnSpc>
              <a:spcBef>
                <a:spcPts val="0"/>
              </a:spcBef>
              <a:spcAft>
                <a:spcPts val="0"/>
              </a:spcAft>
              <a:buSzPts val="1100"/>
              <a:buAutoNum type="arabicParenR"/>
            </a:pPr>
            <a:r>
              <a:rPr lang="fr-FR" dirty="0"/>
              <a:t>On a utilisé ici la méthode Spearman au lieu de Pearson qui est celle de base car en calculant le kurtosis de nos variables on voit que pour le prix et le stock il est très élevé et il y a donc beaucoup d’outliers or pearman est plus sensible aux outliers</a:t>
            </a:r>
          </a:p>
          <a:p>
            <a:pPr marL="228600" lvl="0" indent="-228600" algn="l" rtl="0">
              <a:lnSpc>
                <a:spcPct val="100000"/>
              </a:lnSpc>
              <a:spcBef>
                <a:spcPts val="0"/>
              </a:spcBef>
              <a:spcAft>
                <a:spcPts val="0"/>
              </a:spcAft>
              <a:buSzPts val="1100"/>
              <a:buAutoNum type="arabicParenR"/>
            </a:pPr>
            <a:endParaRPr lang="fr-FR" dirty="0"/>
          </a:p>
          <a:p>
            <a:pPr marL="228600" lvl="0" indent="-228600" algn="l" rtl="0">
              <a:lnSpc>
                <a:spcPct val="100000"/>
              </a:lnSpc>
              <a:spcBef>
                <a:spcPts val="0"/>
              </a:spcBef>
              <a:spcAft>
                <a:spcPts val="0"/>
              </a:spcAft>
              <a:buSzPts val="1100"/>
              <a:buAutoNum type="arabicParenR"/>
            </a:pPr>
            <a:endParaRPr lang="fr-FR" dirty="0"/>
          </a:p>
          <a:p>
            <a:pPr marL="0" lvl="0" indent="0" algn="l" rtl="0">
              <a:lnSpc>
                <a:spcPct val="100000"/>
              </a:lnSpc>
              <a:spcBef>
                <a:spcPts val="0"/>
              </a:spcBef>
              <a:spcAft>
                <a:spcPts val="0"/>
              </a:spcAft>
              <a:buSzPts val="1100"/>
              <a:buNone/>
            </a:pPr>
            <a:r>
              <a:rPr lang="fr-FR" dirty="0"/>
              <a:t>On voit ici que pour nos 3 variables les 3 semblent avoir une forte corrélation (2 négatives et une positive)</a:t>
            </a:r>
          </a:p>
          <a:p>
            <a:pPr marL="0" lvl="0" indent="0" algn="l" rtl="0">
              <a:lnSpc>
                <a:spcPct val="100000"/>
              </a:lnSpc>
              <a:spcBef>
                <a:spcPts val="0"/>
              </a:spcBef>
              <a:spcAft>
                <a:spcPts val="0"/>
              </a:spcAft>
              <a:buSzPts val="1100"/>
              <a:buNone/>
            </a:pPr>
            <a:endParaRPr lang="fr-FR" dirty="0"/>
          </a:p>
          <a:p>
            <a:pPr marL="0" lvl="0" indent="0" algn="l" rtl="0">
              <a:lnSpc>
                <a:spcPct val="100000"/>
              </a:lnSpc>
              <a:spcBef>
                <a:spcPts val="0"/>
              </a:spcBef>
              <a:spcAft>
                <a:spcPts val="0"/>
              </a:spcAft>
              <a:buSzPts val="1100"/>
              <a:buNone/>
            </a:pPr>
            <a:r>
              <a:rPr lang="fr-FR" dirty="0"/>
              <a:t>Explications : </a:t>
            </a:r>
          </a:p>
          <a:p>
            <a:r>
              <a:rPr lang="fr-FR" sz="1100" b="0" i="0" u="none" strike="noStrike" cap="none" dirty="0">
                <a:solidFill>
                  <a:srgbClr val="000000"/>
                </a:solidFill>
                <a:effectLst/>
                <a:latin typeface="Arial"/>
                <a:ea typeface="Arial"/>
                <a:cs typeface="Arial"/>
                <a:sym typeface="Arial"/>
              </a:rPr>
              <a:t>Stock / Ventes</a:t>
            </a:r>
          </a:p>
          <a:p>
            <a:r>
              <a:rPr lang="fr-FR" sz="1100" b="0" i="0" u="none" strike="noStrike" cap="none" dirty="0">
                <a:solidFill>
                  <a:srgbClr val="000000"/>
                </a:solidFill>
                <a:effectLst/>
                <a:latin typeface="Arial"/>
                <a:ea typeface="Arial"/>
                <a:cs typeface="Arial"/>
                <a:sym typeface="Arial"/>
              </a:rPr>
              <a:t>Corrélation positive forte : en général, plus il y a de stock, plus les ventes sont élevées. C’est logique : les produits avec plus d’offre ont aussi plus de ventes</a:t>
            </a:r>
            <a:br>
              <a:rPr lang="fr-FR" sz="1100" b="0" i="0" u="none" strike="noStrike" cap="none" dirty="0">
                <a:solidFill>
                  <a:srgbClr val="000000"/>
                </a:solidFill>
                <a:effectLst/>
                <a:latin typeface="Arial"/>
                <a:ea typeface="Arial"/>
                <a:cs typeface="Arial"/>
                <a:sym typeface="Arial"/>
              </a:rPr>
            </a:br>
            <a:endParaRPr lang="fr-FR" sz="1100" b="0" i="0" u="none" strike="noStrike" cap="none" dirty="0">
              <a:solidFill>
                <a:srgbClr val="000000"/>
              </a:solidFill>
              <a:effectLst/>
              <a:latin typeface="Arial"/>
              <a:ea typeface="Arial"/>
              <a:cs typeface="Arial"/>
              <a:sym typeface="Arial"/>
            </a:endParaRPr>
          </a:p>
          <a:p>
            <a:r>
              <a:rPr lang="fr-FR" sz="1100" b="0" i="0" u="none" strike="noStrike" cap="none" dirty="0">
                <a:solidFill>
                  <a:srgbClr val="000000"/>
                </a:solidFill>
                <a:effectLst/>
                <a:latin typeface="Arial"/>
                <a:ea typeface="Arial"/>
                <a:cs typeface="Arial"/>
                <a:sym typeface="Arial"/>
              </a:rPr>
              <a:t>Ventes / Prix</a:t>
            </a:r>
          </a:p>
          <a:p>
            <a:r>
              <a:rPr lang="fr-FR" sz="1100" b="0" i="0" u="none" strike="noStrike" cap="none" dirty="0">
                <a:solidFill>
                  <a:srgbClr val="000000"/>
                </a:solidFill>
                <a:effectLst/>
                <a:latin typeface="Arial"/>
                <a:ea typeface="Arial"/>
                <a:cs typeface="Arial"/>
                <a:sym typeface="Arial"/>
              </a:rPr>
              <a:t>Corrélation négative forte : les bouteilles les plus chères se vendent moins (ou inversement, les plus vendues sont souvent moins chères). Ça ressemble à de la sensibilité au prix</a:t>
            </a:r>
            <a:br>
              <a:rPr lang="fr-FR" sz="1100" b="0" i="0" u="none" strike="noStrike" cap="none" dirty="0">
                <a:solidFill>
                  <a:srgbClr val="000000"/>
                </a:solidFill>
                <a:effectLst/>
                <a:latin typeface="Arial"/>
                <a:ea typeface="Arial"/>
                <a:cs typeface="Arial"/>
                <a:sym typeface="Arial"/>
              </a:rPr>
            </a:br>
            <a:endParaRPr lang="fr-FR" sz="1100" b="0" i="0" u="none" strike="noStrike" cap="none" dirty="0">
              <a:solidFill>
                <a:srgbClr val="000000"/>
              </a:solidFill>
              <a:effectLst/>
              <a:latin typeface="Arial"/>
              <a:ea typeface="Arial"/>
              <a:cs typeface="Arial"/>
              <a:sym typeface="Arial"/>
            </a:endParaRPr>
          </a:p>
          <a:p>
            <a:r>
              <a:rPr lang="fr-FR" sz="1100" b="0" i="0" u="none" strike="noStrike" cap="none" dirty="0">
                <a:solidFill>
                  <a:srgbClr val="000000"/>
                </a:solidFill>
                <a:effectLst/>
                <a:latin typeface="Arial"/>
                <a:ea typeface="Arial"/>
                <a:cs typeface="Arial"/>
                <a:sym typeface="Arial"/>
              </a:rPr>
              <a:t>Stock / Prix</a:t>
            </a:r>
          </a:p>
          <a:p>
            <a:r>
              <a:rPr lang="fr-FR" sz="1100" b="0" i="0" u="none" strike="noStrike" cap="none" dirty="0">
                <a:solidFill>
                  <a:srgbClr val="000000"/>
                </a:solidFill>
                <a:effectLst/>
                <a:latin typeface="Arial"/>
                <a:ea typeface="Arial"/>
                <a:cs typeface="Arial"/>
                <a:sym typeface="Arial"/>
              </a:rPr>
              <a:t>Corrélation négative forte : Moins de stock pour les bouteilles les plus chères. Logique car moins de vente également.</a:t>
            </a:r>
          </a:p>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44346321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13f9e8f156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3" name="Google Shape;93;g13f9e8f1567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13f9e8f1567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1" name="Google Shape;101;g13f9e8f1567_0_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a:extLst>
            <a:ext uri="{FF2B5EF4-FFF2-40B4-BE49-F238E27FC236}">
              <a16:creationId xmlns:a16="http://schemas.microsoft.com/office/drawing/2014/main" id="{BFBBCEC0-5248-2E17-74DB-B8DEF8F13660}"/>
            </a:ext>
          </a:extLst>
        </p:cNvPr>
        <p:cNvGrpSpPr/>
        <p:nvPr/>
      </p:nvGrpSpPr>
      <p:grpSpPr>
        <a:xfrm>
          <a:off x="0" y="0"/>
          <a:ext cx="0" cy="0"/>
          <a:chOff x="0" y="0"/>
          <a:chExt cx="0" cy="0"/>
        </a:xfrm>
      </p:grpSpPr>
      <p:sp>
        <p:nvSpPr>
          <p:cNvPr id="100" name="Google Shape;100;g13f9e8f1567_0_7:notes">
            <a:extLst>
              <a:ext uri="{FF2B5EF4-FFF2-40B4-BE49-F238E27FC236}">
                <a16:creationId xmlns:a16="http://schemas.microsoft.com/office/drawing/2014/main" id="{7041C87E-A935-4B7E-492B-F36E9185BD9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1" name="Google Shape;101;g13f9e8f1567_0_7:notes">
            <a:extLst>
              <a:ext uri="{FF2B5EF4-FFF2-40B4-BE49-F238E27FC236}">
                <a16:creationId xmlns:a16="http://schemas.microsoft.com/office/drawing/2014/main" id="{418F0FB3-8C07-D2F1-B747-F4E787806F9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2039569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10"/>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10"/>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
        <p:cNvGrpSpPr/>
        <p:nvPr/>
      </p:nvGrpSpPr>
      <p:grpSpPr>
        <a:xfrm>
          <a:off x="0" y="0"/>
          <a:ext cx="0" cy="0"/>
          <a:chOff x="0" y="0"/>
          <a:chExt cx="0" cy="0"/>
        </a:xfrm>
      </p:grpSpPr>
      <p:sp>
        <p:nvSpPr>
          <p:cNvPr id="14" name="Google Shape;14;p1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5" name="Google Shape;15;p1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6" name="Google Shape;16;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12"/>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9" name="Google Shape;1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13"/>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13"/>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1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15"/>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15"/>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16"/>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17"/>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37" name="Google Shape;37;p17"/>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17"/>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17"/>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8"/>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9"/>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9"/>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9"/>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
              <a:t>‹N°›</a:t>
            </a:fld>
            <a:endParaRPr dirty="0"/>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
          <p:cNvSpPr/>
          <p:nvPr/>
        </p:nvSpPr>
        <p:spPr>
          <a:xfrm>
            <a:off x="0" y="0"/>
            <a:ext cx="9144000" cy="5143500"/>
          </a:xfrm>
          <a:prstGeom prst="rect">
            <a:avLst/>
          </a:prstGeom>
          <a:solidFill>
            <a:srgbClr val="004D4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55" name="Google Shape;55;p1"/>
          <p:cNvSpPr txBox="1"/>
          <p:nvPr/>
        </p:nvSpPr>
        <p:spPr>
          <a:xfrm>
            <a:off x="652150" y="1851250"/>
            <a:ext cx="7983300" cy="894000"/>
          </a:xfrm>
          <a:prstGeom prst="rect">
            <a:avLst/>
          </a:prstGeom>
          <a:noFill/>
          <a:ln>
            <a:noFill/>
          </a:ln>
        </p:spPr>
        <p:txBody>
          <a:bodyPr spcFirstLastPara="1" wrap="square" lIns="91425" tIns="91425" rIns="91425" bIns="91425" anchor="b" anchorCtr="0">
            <a:normAutofit fontScale="55000" lnSpcReduction="20000"/>
          </a:bodyPr>
          <a:lstStyle/>
          <a:p>
            <a:pPr marL="0" marR="0" lvl="0" indent="0" algn="ctr" rtl="0">
              <a:lnSpc>
                <a:spcPct val="100000"/>
              </a:lnSpc>
              <a:spcBef>
                <a:spcPts val="0"/>
              </a:spcBef>
              <a:spcAft>
                <a:spcPts val="0"/>
              </a:spcAft>
              <a:buClr>
                <a:srgbClr val="000000"/>
              </a:buClr>
              <a:buSzPct val="100000"/>
              <a:buFont typeface="Arial"/>
              <a:buNone/>
            </a:pPr>
            <a:r>
              <a:rPr lang="fr-FR" sz="5200" b="0" i="0" u="none" strike="noStrike" cap="none" dirty="0">
                <a:solidFill>
                  <a:srgbClr val="F3F3F3"/>
                </a:solidFill>
                <a:latin typeface="Montserrat"/>
                <a:ea typeface="Montserrat"/>
                <a:cs typeface="Montserrat"/>
                <a:sym typeface="Montserrat"/>
              </a:rPr>
              <a:t>Optimisez la gestion des données de Bottleneck</a:t>
            </a:r>
            <a:endParaRPr sz="5200" b="0" i="0" u="none" strike="noStrike" cap="none" dirty="0">
              <a:solidFill>
                <a:srgbClr val="F3F3F3"/>
              </a:solidFill>
              <a:latin typeface="Montserrat"/>
              <a:ea typeface="Montserrat"/>
              <a:cs typeface="Montserrat"/>
              <a:sym typeface="Montserrat"/>
            </a:endParaRPr>
          </a:p>
        </p:txBody>
      </p:sp>
      <p:sp>
        <p:nvSpPr>
          <p:cNvPr id="56" name="Google Shape;56;p1"/>
          <p:cNvSpPr txBox="1"/>
          <p:nvPr/>
        </p:nvSpPr>
        <p:spPr>
          <a:xfrm>
            <a:off x="4968964" y="3582148"/>
            <a:ext cx="3807680" cy="534150"/>
          </a:xfrm>
          <a:prstGeom prst="rect">
            <a:avLst/>
          </a:prstGeom>
          <a:noFill/>
          <a:ln>
            <a:noFill/>
          </a:ln>
        </p:spPr>
        <p:txBody>
          <a:bodyPr spcFirstLastPara="1" wrap="square" lIns="91425" tIns="91425" rIns="91425" bIns="91425" anchor="t" anchorCtr="0">
            <a:normAutofit fontScale="92500" lnSpcReduction="20000"/>
          </a:bodyPr>
          <a:lstStyle/>
          <a:p>
            <a:pPr marL="0" marR="0" lvl="0" indent="0" algn="ctr" rtl="0">
              <a:lnSpc>
                <a:spcPct val="100000"/>
              </a:lnSpc>
              <a:spcBef>
                <a:spcPts val="0"/>
              </a:spcBef>
              <a:spcAft>
                <a:spcPts val="0"/>
              </a:spcAft>
              <a:buClr>
                <a:srgbClr val="000000"/>
              </a:buClr>
              <a:buSzPct val="100000"/>
              <a:buFont typeface="Arial"/>
              <a:buNone/>
            </a:pPr>
            <a:r>
              <a:rPr lang="fr" sz="2800" b="0" i="0" u="none" strike="noStrike" cap="none" dirty="0">
                <a:solidFill>
                  <a:schemeClr val="lt1"/>
                </a:solidFill>
                <a:latin typeface="Montserrat"/>
                <a:ea typeface="Montserrat"/>
                <a:cs typeface="Montserrat"/>
                <a:sym typeface="Montserrat"/>
              </a:rPr>
              <a:t>Fol Evan</a:t>
            </a:r>
            <a:endParaRPr sz="2800" b="0" i="0" u="none" strike="noStrike" cap="none" dirty="0">
              <a:solidFill>
                <a:schemeClr val="lt1"/>
              </a:solidFill>
              <a:latin typeface="Montserrat"/>
              <a:ea typeface="Montserrat"/>
              <a:cs typeface="Montserrat"/>
              <a:sym typeface="Montserrat"/>
            </a:endParaRPr>
          </a:p>
        </p:txBody>
      </p:sp>
      <p:sp>
        <p:nvSpPr>
          <p:cNvPr id="57" name="Google Shape;57;p1"/>
          <p:cNvSpPr txBox="1"/>
          <p:nvPr/>
        </p:nvSpPr>
        <p:spPr>
          <a:xfrm>
            <a:off x="4968964" y="3975103"/>
            <a:ext cx="3807680" cy="534150"/>
          </a:xfrm>
          <a:prstGeom prst="rect">
            <a:avLst/>
          </a:prstGeom>
          <a:noFill/>
          <a:ln>
            <a:noFill/>
          </a:ln>
        </p:spPr>
        <p:txBody>
          <a:bodyPr spcFirstLastPara="1" wrap="square" lIns="91425" tIns="91425" rIns="91425" bIns="91425" anchor="t" anchorCtr="0">
            <a:normAutofit fontScale="92500" lnSpcReduction="20000"/>
          </a:bodyPr>
          <a:lstStyle/>
          <a:p>
            <a:pPr marL="0" marR="0" lvl="0" indent="0" algn="ctr" rtl="0">
              <a:lnSpc>
                <a:spcPct val="100000"/>
              </a:lnSpc>
              <a:spcBef>
                <a:spcPts val="0"/>
              </a:spcBef>
              <a:spcAft>
                <a:spcPts val="0"/>
              </a:spcAft>
              <a:buClr>
                <a:srgbClr val="000000"/>
              </a:buClr>
              <a:buSzPct val="100000"/>
              <a:buFont typeface="Arial"/>
              <a:buNone/>
            </a:pPr>
            <a:r>
              <a:rPr lang="fr" sz="2800" b="0" i="0" u="none" strike="noStrike" cap="none" dirty="0">
                <a:solidFill>
                  <a:schemeClr val="lt1"/>
                </a:solidFill>
                <a:latin typeface="Montserrat"/>
                <a:ea typeface="Montserrat"/>
                <a:cs typeface="Montserrat"/>
                <a:sym typeface="Montserrat"/>
              </a:rPr>
              <a:t>Data Analyse</a:t>
            </a:r>
            <a:endParaRPr sz="2800" b="0" i="0" u="none" strike="noStrike" cap="none" dirty="0">
              <a:solidFill>
                <a:schemeClr val="lt1"/>
              </a:solidFill>
              <a:latin typeface="Montserrat"/>
              <a:ea typeface="Montserrat"/>
              <a:cs typeface="Montserrat"/>
              <a:sym typeface="Montserrat"/>
            </a:endParaRPr>
          </a:p>
        </p:txBody>
      </p:sp>
      <p:sp>
        <p:nvSpPr>
          <p:cNvPr id="58" name="Google Shape;58;p1"/>
          <p:cNvSpPr txBox="1"/>
          <p:nvPr/>
        </p:nvSpPr>
        <p:spPr>
          <a:xfrm>
            <a:off x="4968964" y="4368058"/>
            <a:ext cx="3807680" cy="534150"/>
          </a:xfrm>
          <a:prstGeom prst="rect">
            <a:avLst/>
          </a:prstGeom>
          <a:noFill/>
          <a:ln>
            <a:noFill/>
          </a:ln>
        </p:spPr>
        <p:txBody>
          <a:bodyPr spcFirstLastPara="1" wrap="square" lIns="91425" tIns="91425" rIns="91425" bIns="91425" anchor="t" anchorCtr="0">
            <a:normAutofit fontScale="92500" lnSpcReduction="20000"/>
          </a:bodyPr>
          <a:lstStyle/>
          <a:p>
            <a:pPr marL="0" marR="0" lvl="0" indent="0" algn="ctr" rtl="0">
              <a:lnSpc>
                <a:spcPct val="100000"/>
              </a:lnSpc>
              <a:spcBef>
                <a:spcPts val="0"/>
              </a:spcBef>
              <a:spcAft>
                <a:spcPts val="0"/>
              </a:spcAft>
              <a:buClr>
                <a:srgbClr val="000000"/>
              </a:buClr>
              <a:buSzPct val="100000"/>
              <a:buFont typeface="Arial"/>
              <a:buNone/>
            </a:pPr>
            <a:r>
              <a:rPr lang="fr" sz="2800" dirty="0">
                <a:solidFill>
                  <a:schemeClr val="lt1"/>
                </a:solidFill>
                <a:latin typeface="Montserrat"/>
                <a:ea typeface="Montserrat"/>
                <a:cs typeface="Montserrat"/>
                <a:sym typeface="Montserrat"/>
              </a:rPr>
              <a:t>1</a:t>
            </a:r>
            <a:r>
              <a:rPr lang="fr" sz="2800">
                <a:solidFill>
                  <a:schemeClr val="lt1"/>
                </a:solidFill>
                <a:latin typeface="Montserrat"/>
                <a:ea typeface="Montserrat"/>
                <a:cs typeface="Montserrat"/>
                <a:sym typeface="Montserrat"/>
              </a:rPr>
              <a:t>7</a:t>
            </a:r>
            <a:r>
              <a:rPr lang="fr" sz="2800" b="0" i="0" u="none" strike="noStrike" cap="none">
                <a:solidFill>
                  <a:schemeClr val="lt1"/>
                </a:solidFill>
                <a:latin typeface="Montserrat"/>
                <a:ea typeface="Montserrat"/>
                <a:cs typeface="Montserrat"/>
                <a:sym typeface="Montserrat"/>
              </a:rPr>
              <a:t>/11/2025</a:t>
            </a:r>
            <a:endParaRPr sz="2800" b="0" i="0" u="none" strike="noStrike" cap="none" dirty="0">
              <a:solidFill>
                <a:schemeClr val="lt1"/>
              </a:solidFill>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2">
          <a:extLst>
            <a:ext uri="{FF2B5EF4-FFF2-40B4-BE49-F238E27FC236}">
              <a16:creationId xmlns:a16="http://schemas.microsoft.com/office/drawing/2014/main" id="{C33F7A3F-5CEC-EC3A-7A3B-77C488F195CA}"/>
            </a:ext>
          </a:extLst>
        </p:cNvPr>
        <p:cNvGrpSpPr/>
        <p:nvPr/>
      </p:nvGrpSpPr>
      <p:grpSpPr>
        <a:xfrm>
          <a:off x="0" y="0"/>
          <a:ext cx="0" cy="0"/>
          <a:chOff x="0" y="0"/>
          <a:chExt cx="0" cy="0"/>
        </a:xfrm>
      </p:grpSpPr>
      <p:sp>
        <p:nvSpPr>
          <p:cNvPr id="63" name="Google Shape;63;p4">
            <a:extLst>
              <a:ext uri="{FF2B5EF4-FFF2-40B4-BE49-F238E27FC236}">
                <a16:creationId xmlns:a16="http://schemas.microsoft.com/office/drawing/2014/main" id="{E3CBDBC1-8A41-25DF-9E71-5B3D848FDC21}"/>
              </a:ext>
            </a:extLst>
          </p:cNvPr>
          <p:cNvSpPr txBox="1">
            <a:spLocks noGrp="1"/>
          </p:cNvSpPr>
          <p:nvPr>
            <p:ph type="body" idx="1"/>
          </p:nvPr>
        </p:nvSpPr>
        <p:spPr>
          <a:xfrm>
            <a:off x="453823" y="1473600"/>
            <a:ext cx="8520600" cy="3416400"/>
          </a:xfrm>
          <a:prstGeom prst="rect">
            <a:avLst/>
          </a:prstGeom>
          <a:noFill/>
          <a:ln>
            <a:noFill/>
          </a:ln>
        </p:spPr>
        <p:txBody>
          <a:bodyPr spcFirstLastPara="1" wrap="square" lIns="91425" tIns="91425" rIns="91425" bIns="91425" anchor="t" anchorCtr="0">
            <a:normAutofit lnSpcReduction="10000"/>
          </a:bodyPr>
          <a:lstStyle/>
          <a:p>
            <a:pPr marL="457200" marR="0" lvl="0" indent="-342900" algn="l" rtl="0">
              <a:lnSpc>
                <a:spcPct val="115000"/>
              </a:lnSpc>
              <a:spcBef>
                <a:spcPts val="0"/>
              </a:spcBef>
              <a:spcAft>
                <a:spcPts val="0"/>
              </a:spcAft>
              <a:buClrTx/>
              <a:buSzPts val="1800"/>
              <a:buFont typeface="Montserrat"/>
              <a:buChar char="●"/>
            </a:pPr>
            <a:r>
              <a:rPr lang="fr" i="1" dirty="0">
                <a:solidFill>
                  <a:schemeClr val="tx1"/>
                </a:solidFill>
                <a:latin typeface="Montserrat"/>
                <a:ea typeface="Montserrat"/>
                <a:cs typeface="Montserrat"/>
                <a:sym typeface="Montserrat"/>
              </a:rPr>
              <a:t>3 Datasets (Données ERP, Données Web, table de liaison)</a:t>
            </a:r>
          </a:p>
          <a:p>
            <a:pPr marL="457200" marR="0" lvl="0" indent="-342900" algn="l" rtl="0">
              <a:lnSpc>
                <a:spcPct val="115000"/>
              </a:lnSpc>
              <a:spcBef>
                <a:spcPts val="0"/>
              </a:spcBef>
              <a:spcAft>
                <a:spcPts val="0"/>
              </a:spcAft>
              <a:buClrTx/>
              <a:buSzPts val="1800"/>
              <a:buFont typeface="Montserrat"/>
              <a:buChar char="●"/>
            </a:pPr>
            <a:endParaRPr i="1" dirty="0">
              <a:solidFill>
                <a:schemeClr val="tx1"/>
              </a:solidFill>
              <a:latin typeface="Montserrat"/>
              <a:ea typeface="Montserrat"/>
              <a:cs typeface="Montserrat"/>
              <a:sym typeface="Montserrat"/>
            </a:endParaRPr>
          </a:p>
          <a:p>
            <a:pPr marL="457200" marR="0" lvl="0" indent="-342900" algn="l" rtl="0">
              <a:lnSpc>
                <a:spcPct val="115000"/>
              </a:lnSpc>
              <a:spcBef>
                <a:spcPts val="0"/>
              </a:spcBef>
              <a:spcAft>
                <a:spcPts val="0"/>
              </a:spcAft>
              <a:buClrTx/>
              <a:buSzPts val="1800"/>
              <a:buFont typeface="Montserrat"/>
              <a:buChar char="●"/>
            </a:pPr>
            <a:r>
              <a:rPr lang="fr" i="1" dirty="0">
                <a:solidFill>
                  <a:schemeClr val="tx1"/>
                </a:solidFill>
                <a:latin typeface="Montserrat"/>
                <a:ea typeface="Montserrat"/>
                <a:cs typeface="Montserrat"/>
                <a:sym typeface="Montserrat"/>
              </a:rPr>
              <a:t>Caractéristiques :</a:t>
            </a:r>
          </a:p>
          <a:p>
            <a:pPr marL="457200" marR="0" lvl="0" indent="-342900" algn="l" rtl="0">
              <a:lnSpc>
                <a:spcPct val="115000"/>
              </a:lnSpc>
              <a:spcBef>
                <a:spcPts val="0"/>
              </a:spcBef>
              <a:spcAft>
                <a:spcPts val="0"/>
              </a:spcAft>
              <a:buClrTx/>
              <a:buSzPts val="1800"/>
              <a:buFont typeface="Montserrat"/>
              <a:buChar char="●"/>
            </a:pPr>
            <a:endParaRPr lang="fr" sz="1000" i="1" dirty="0">
              <a:solidFill>
                <a:schemeClr val="tx1"/>
              </a:solidFill>
              <a:latin typeface="Montserrat"/>
              <a:ea typeface="Montserrat"/>
              <a:cs typeface="Montserrat"/>
              <a:sym typeface="Montserrat"/>
            </a:endParaRPr>
          </a:p>
          <a:p>
            <a:pPr lvl="1" indent="-342900">
              <a:buClrTx/>
              <a:buSzPts val="1800"/>
              <a:buFont typeface="+mj-lt"/>
              <a:buAutoNum type="arabicPeriod"/>
            </a:pPr>
            <a:r>
              <a:rPr lang="fr" i="1" dirty="0">
                <a:solidFill>
                  <a:schemeClr val="tx1"/>
                </a:solidFill>
                <a:latin typeface="Montserrat"/>
                <a:ea typeface="Montserrat"/>
                <a:cs typeface="Montserrat"/>
                <a:sym typeface="Montserrat"/>
              </a:rPr>
              <a:t>Données ERP : </a:t>
            </a:r>
          </a:p>
          <a:p>
            <a:pPr lvl="2" indent="-342900">
              <a:buClrTx/>
              <a:buSzPct val="100000"/>
              <a:buFont typeface="Montserrat"/>
              <a:buChar char="●"/>
            </a:pPr>
            <a:r>
              <a:rPr lang="fr" i="1" dirty="0">
                <a:solidFill>
                  <a:schemeClr val="tx1"/>
                </a:solidFill>
                <a:latin typeface="Montserrat"/>
                <a:ea typeface="Montserrat"/>
                <a:cs typeface="Montserrat"/>
                <a:sym typeface="Montserrat"/>
              </a:rPr>
              <a:t>Clé primaire = product_id</a:t>
            </a:r>
          </a:p>
          <a:p>
            <a:pPr lvl="2" indent="-342900">
              <a:buClrTx/>
              <a:buSzPct val="100000"/>
              <a:buFont typeface="Montserrat"/>
              <a:buChar char="●"/>
            </a:pPr>
            <a:r>
              <a:rPr lang="fr" i="1" dirty="0">
                <a:solidFill>
                  <a:schemeClr val="tx1"/>
                </a:solidFill>
                <a:latin typeface="Montserrat"/>
                <a:ea typeface="Montserrat"/>
                <a:cs typeface="Montserrat"/>
                <a:sym typeface="Montserrat"/>
              </a:rPr>
              <a:t>Contient des infos sur le prix de vente, les stock et le prix d’achat.</a:t>
            </a:r>
          </a:p>
          <a:p>
            <a:pPr lvl="1" indent="-342900">
              <a:buClrTx/>
              <a:buSzPts val="1800"/>
              <a:buFont typeface="+mj-lt"/>
              <a:buAutoNum type="arabicPeriod"/>
            </a:pPr>
            <a:r>
              <a:rPr lang="fr" i="1" dirty="0">
                <a:solidFill>
                  <a:schemeClr val="tx1"/>
                </a:solidFill>
                <a:latin typeface="Montserrat"/>
                <a:ea typeface="Montserrat"/>
                <a:cs typeface="Montserrat"/>
                <a:sym typeface="Montserrat"/>
              </a:rPr>
              <a:t>Données Web :</a:t>
            </a:r>
          </a:p>
          <a:p>
            <a:pPr lvl="2" indent="-342900">
              <a:buClrTx/>
              <a:buSzPct val="100000"/>
              <a:buFont typeface="Montserrat"/>
              <a:buChar char="●"/>
            </a:pPr>
            <a:r>
              <a:rPr lang="fr" i="1" dirty="0">
                <a:solidFill>
                  <a:schemeClr val="tx1"/>
                </a:solidFill>
                <a:latin typeface="Montserrat"/>
                <a:ea typeface="Montserrat"/>
                <a:cs typeface="Montserrat"/>
                <a:sym typeface="Montserrat"/>
              </a:rPr>
              <a:t>Clé primaire = sku (ou id_web)</a:t>
            </a:r>
          </a:p>
          <a:p>
            <a:pPr lvl="2" indent="-342900">
              <a:buClrTx/>
              <a:buSzPct val="100000"/>
              <a:buFont typeface="Montserrat"/>
              <a:buChar char="●"/>
            </a:pPr>
            <a:r>
              <a:rPr lang="fr" i="1" dirty="0">
                <a:solidFill>
                  <a:schemeClr val="tx1"/>
                </a:solidFill>
                <a:latin typeface="Montserrat"/>
                <a:ea typeface="Montserrat"/>
                <a:cs typeface="Montserrat"/>
                <a:sym typeface="Montserrat"/>
              </a:rPr>
              <a:t>Contient beaucoup d’infos sur tout ce qui est posté sur le site web</a:t>
            </a:r>
          </a:p>
          <a:p>
            <a:pPr lvl="1" indent="-342900">
              <a:buClrTx/>
              <a:buSzPts val="1800"/>
              <a:buFont typeface="+mj-lt"/>
              <a:buAutoNum type="arabicPeriod"/>
            </a:pPr>
            <a:r>
              <a:rPr lang="fr" i="1" dirty="0">
                <a:solidFill>
                  <a:schemeClr val="tx1"/>
                </a:solidFill>
                <a:latin typeface="Montserrat"/>
                <a:ea typeface="Montserrat"/>
                <a:cs typeface="Montserrat"/>
                <a:sym typeface="Montserrat"/>
              </a:rPr>
              <a:t>Table de liaison :</a:t>
            </a:r>
          </a:p>
          <a:p>
            <a:pPr lvl="2" indent="-342900">
              <a:buClrTx/>
              <a:buSzPct val="100000"/>
              <a:buFont typeface="Montserrat"/>
              <a:buChar char="●"/>
            </a:pPr>
            <a:r>
              <a:rPr lang="fr" i="1" dirty="0">
                <a:solidFill>
                  <a:schemeClr val="tx1"/>
                </a:solidFill>
                <a:latin typeface="Montserrat"/>
                <a:ea typeface="Montserrat"/>
                <a:cs typeface="Montserrat"/>
                <a:sym typeface="Montserrat"/>
              </a:rPr>
              <a:t>Contient product_id et id_web qui permet de faire le lien entre les deux tables précédentes</a:t>
            </a:r>
          </a:p>
        </p:txBody>
      </p:sp>
      <p:sp>
        <p:nvSpPr>
          <p:cNvPr id="64" name="Google Shape;64;p4">
            <a:extLst>
              <a:ext uri="{FF2B5EF4-FFF2-40B4-BE49-F238E27FC236}">
                <a16:creationId xmlns:a16="http://schemas.microsoft.com/office/drawing/2014/main" id="{1A5EEF00-CACE-EB1D-D689-CBB835C26EB7}"/>
              </a:ext>
            </a:extLst>
          </p:cNvPr>
          <p:cNvSpPr/>
          <p:nvPr/>
        </p:nvSpPr>
        <p:spPr>
          <a:xfrm>
            <a:off x="0" y="0"/>
            <a:ext cx="9144000" cy="1390200"/>
          </a:xfrm>
          <a:prstGeom prst="rect">
            <a:avLst/>
          </a:prstGeom>
          <a:solidFill>
            <a:srgbClr val="004D40"/>
          </a:solidFill>
          <a:ln w="9525" cap="flat" cmpd="sng">
            <a:solidFill>
              <a:srgbClr val="FFFFFF"/>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highlight>
                <a:srgbClr val="B6D7A8"/>
              </a:highlight>
              <a:latin typeface="Arial"/>
              <a:ea typeface="Arial"/>
              <a:cs typeface="Arial"/>
              <a:sym typeface="Arial"/>
            </a:endParaRPr>
          </a:p>
        </p:txBody>
      </p:sp>
      <p:sp>
        <p:nvSpPr>
          <p:cNvPr id="65" name="Google Shape;65;p4">
            <a:extLst>
              <a:ext uri="{FF2B5EF4-FFF2-40B4-BE49-F238E27FC236}">
                <a16:creationId xmlns:a16="http://schemas.microsoft.com/office/drawing/2014/main" id="{747814EC-8AF1-38F2-496A-8EEA08458885}"/>
              </a:ext>
            </a:extLst>
          </p:cNvPr>
          <p:cNvSpPr txBox="1"/>
          <p:nvPr/>
        </p:nvSpPr>
        <p:spPr>
          <a:xfrm>
            <a:off x="895525" y="337250"/>
            <a:ext cx="8520600" cy="572700"/>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Clr>
                <a:srgbClr val="000000"/>
              </a:buClr>
              <a:buSzPts val="2500"/>
              <a:buFont typeface="Arial"/>
              <a:buNone/>
            </a:pPr>
            <a:r>
              <a:rPr lang="fr" sz="2500" b="0" i="0" u="none" strike="noStrike" cap="none">
                <a:solidFill>
                  <a:srgbClr val="F3F3F3"/>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0"/>
                  </a:ext>
                </a:extLst>
              </a:rPr>
              <a:t>Analyses </a:t>
            </a:r>
            <a:r>
              <a:rPr lang="fr" sz="2500">
                <a:solidFill>
                  <a:srgbClr val="F3F3F3"/>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1"/>
                  </a:ext>
                </a:extLst>
              </a:rPr>
              <a:t>Exploratoires</a:t>
            </a:r>
            <a:r>
              <a:rPr lang="fr" sz="2500" b="0" i="0" u="none" strike="noStrike" cap="none">
                <a:solidFill>
                  <a:srgbClr val="F3F3F3"/>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2"/>
                  </a:ext>
                </a:extLst>
              </a:rPr>
              <a:t> des Données </a:t>
            </a:r>
            <a:endParaRPr sz="2500" b="0" i="0" u="none" strike="noStrike" cap="none" dirty="0">
              <a:solidFill>
                <a:srgbClr val="F3F3F3"/>
              </a:solidFill>
              <a:latin typeface="Montserrat"/>
              <a:ea typeface="Montserrat"/>
              <a:cs typeface="Montserrat"/>
              <a:sym typeface="Montserrat"/>
            </a:endParaRPr>
          </a:p>
        </p:txBody>
      </p:sp>
      <p:sp>
        <p:nvSpPr>
          <p:cNvPr id="66" name="Google Shape;66;p4">
            <a:extLst>
              <a:ext uri="{FF2B5EF4-FFF2-40B4-BE49-F238E27FC236}">
                <a16:creationId xmlns:a16="http://schemas.microsoft.com/office/drawing/2014/main" id="{793AC30D-E273-128A-BD4C-A860F049315A}"/>
              </a:ext>
            </a:extLst>
          </p:cNvPr>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8600536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2">
          <a:extLst>
            <a:ext uri="{FF2B5EF4-FFF2-40B4-BE49-F238E27FC236}">
              <a16:creationId xmlns:a16="http://schemas.microsoft.com/office/drawing/2014/main" id="{5A596241-7169-58C5-D728-E21814CA30C5}"/>
            </a:ext>
          </a:extLst>
        </p:cNvPr>
        <p:cNvGrpSpPr/>
        <p:nvPr/>
      </p:nvGrpSpPr>
      <p:grpSpPr>
        <a:xfrm>
          <a:off x="0" y="0"/>
          <a:ext cx="0" cy="0"/>
          <a:chOff x="0" y="0"/>
          <a:chExt cx="0" cy="0"/>
        </a:xfrm>
      </p:grpSpPr>
      <p:sp>
        <p:nvSpPr>
          <p:cNvPr id="63" name="Google Shape;63;p4">
            <a:extLst>
              <a:ext uri="{FF2B5EF4-FFF2-40B4-BE49-F238E27FC236}">
                <a16:creationId xmlns:a16="http://schemas.microsoft.com/office/drawing/2014/main" id="{1D44FF12-B3F8-7C40-469C-6032ABE5A6BA}"/>
              </a:ext>
            </a:extLst>
          </p:cNvPr>
          <p:cNvSpPr txBox="1">
            <a:spLocks noGrp="1"/>
          </p:cNvSpPr>
          <p:nvPr>
            <p:ph type="body" idx="1"/>
          </p:nvPr>
        </p:nvSpPr>
        <p:spPr>
          <a:xfrm>
            <a:off x="453823" y="1473600"/>
            <a:ext cx="8520600" cy="3416400"/>
          </a:xfrm>
          <a:prstGeom prst="rect">
            <a:avLst/>
          </a:prstGeom>
          <a:noFill/>
          <a:ln>
            <a:noFill/>
          </a:ln>
        </p:spPr>
        <p:txBody>
          <a:bodyPr spcFirstLastPara="1" wrap="square" lIns="91425" tIns="91425" rIns="91425" bIns="91425" anchor="t" anchorCtr="0">
            <a:normAutofit/>
          </a:bodyPr>
          <a:lstStyle/>
          <a:p>
            <a:pPr>
              <a:buClrTx/>
              <a:buFont typeface="Montserrat"/>
              <a:buChar char="●"/>
            </a:pPr>
            <a:r>
              <a:rPr lang="fr" i="1" dirty="0">
                <a:solidFill>
                  <a:schemeClr val="tx1"/>
                </a:solidFill>
                <a:latin typeface="Montserrat"/>
                <a:ea typeface="Montserrat"/>
                <a:cs typeface="Montserrat"/>
                <a:sym typeface="Montserrat"/>
              </a:rPr>
              <a:t>Traitement réalisés sur données ERP (6 colonnes et 825 lignes)</a:t>
            </a:r>
            <a:endParaRPr i="1" dirty="0">
              <a:solidFill>
                <a:schemeClr val="tx1"/>
              </a:solidFill>
              <a:latin typeface="Montserrat"/>
              <a:ea typeface="Montserrat"/>
              <a:cs typeface="Montserrat"/>
              <a:sym typeface="Montserrat"/>
            </a:endParaRPr>
          </a:p>
          <a:p>
            <a:pPr marL="914400" marR="0" lvl="1" indent="-317500" algn="l" rtl="0">
              <a:lnSpc>
                <a:spcPct val="115000"/>
              </a:lnSpc>
              <a:spcBef>
                <a:spcPts val="0"/>
              </a:spcBef>
              <a:spcAft>
                <a:spcPts val="0"/>
              </a:spcAft>
              <a:buClrTx/>
              <a:buSzPts val="1400"/>
              <a:buFont typeface="Montserrat"/>
              <a:buChar char="○"/>
            </a:pPr>
            <a:r>
              <a:rPr lang="fr" sz="1800" i="1" dirty="0">
                <a:solidFill>
                  <a:schemeClr val="tx1"/>
                </a:solidFill>
                <a:latin typeface="Montserrat"/>
                <a:ea typeface="Montserrat"/>
                <a:cs typeface="Montserrat"/>
                <a:sym typeface="Montserrat"/>
              </a:rPr>
              <a:t>Nettoyages des données</a:t>
            </a:r>
          </a:p>
          <a:p>
            <a:pPr marL="1397000" lvl="2" indent="-342900">
              <a:buClrTx/>
              <a:buFont typeface="+mj-lt"/>
              <a:buAutoNum type="arabicPeriod"/>
            </a:pPr>
            <a:r>
              <a:rPr lang="fr-FR" sz="1800" i="1" dirty="0">
                <a:solidFill>
                  <a:schemeClr val="tx1"/>
                </a:solidFill>
                <a:latin typeface="Montserrat"/>
                <a:ea typeface="Montserrat"/>
                <a:cs typeface="Montserrat"/>
                <a:sym typeface="Montserrat"/>
              </a:rPr>
              <a:t>Correction du stock_status en fonction de stock_quantity</a:t>
            </a:r>
          </a:p>
          <a:p>
            <a:pPr lvl="3">
              <a:buClrTx/>
            </a:pPr>
            <a:r>
              <a:rPr lang="fr-FR" sz="1800" i="1" dirty="0">
                <a:solidFill>
                  <a:schemeClr val="tx1"/>
                </a:solidFill>
                <a:latin typeface="Montserrat"/>
                <a:ea typeface="Montserrat"/>
                <a:cs typeface="Montserrat"/>
                <a:sym typeface="Montserrat"/>
              </a:rPr>
              <a:t>Corresponds à 2 valeurs</a:t>
            </a:r>
          </a:p>
          <a:p>
            <a:pPr marL="1397000" lvl="2" indent="-342900">
              <a:buClr>
                <a:srgbClr val="999999"/>
              </a:buClr>
              <a:buFont typeface="+mj-lt"/>
              <a:buAutoNum type="arabicPeriod"/>
            </a:pPr>
            <a:endParaRPr lang="fr-FR" sz="1800" i="1" dirty="0">
              <a:solidFill>
                <a:schemeClr val="tx1"/>
              </a:solidFill>
              <a:latin typeface="Montserrat"/>
              <a:ea typeface="Montserrat"/>
              <a:cs typeface="Montserrat"/>
              <a:sym typeface="Montserrat"/>
            </a:endParaRPr>
          </a:p>
          <a:p>
            <a:pPr marL="1397000" lvl="2" indent="-342900">
              <a:buClrTx/>
              <a:buFont typeface="+mj-lt"/>
              <a:buAutoNum type="arabicPeriod"/>
            </a:pPr>
            <a:r>
              <a:rPr lang="fr-FR" sz="1800" i="1" dirty="0">
                <a:solidFill>
                  <a:schemeClr val="tx1"/>
                </a:solidFill>
                <a:latin typeface="Montserrat"/>
                <a:ea typeface="Montserrat"/>
                <a:cs typeface="Montserrat"/>
                <a:sym typeface="Montserrat"/>
              </a:rPr>
              <a:t>Remplacement valeur négatives stock par 0</a:t>
            </a:r>
          </a:p>
          <a:p>
            <a:pPr lvl="3">
              <a:buClrTx/>
            </a:pPr>
            <a:r>
              <a:rPr lang="fr-FR" sz="1800" i="1" dirty="0">
                <a:solidFill>
                  <a:schemeClr val="tx1"/>
                </a:solidFill>
                <a:latin typeface="Montserrat"/>
                <a:ea typeface="Montserrat"/>
                <a:cs typeface="Montserrat"/>
                <a:sym typeface="Montserrat"/>
              </a:rPr>
              <a:t>Corresponds à 2 valeurs</a:t>
            </a:r>
          </a:p>
          <a:p>
            <a:pPr lvl="3">
              <a:buClrTx/>
            </a:pPr>
            <a:endParaRPr lang="fr-FR" sz="1800" i="1" dirty="0">
              <a:solidFill>
                <a:schemeClr val="tx1"/>
              </a:solidFill>
              <a:latin typeface="Montserrat"/>
              <a:ea typeface="Montserrat"/>
              <a:cs typeface="Montserrat"/>
              <a:sym typeface="Montserrat"/>
            </a:endParaRPr>
          </a:p>
          <a:p>
            <a:pPr marL="1397000" lvl="2" indent="-342900">
              <a:buClrTx/>
              <a:buFont typeface="+mj-lt"/>
              <a:buAutoNum type="arabicPeriod"/>
            </a:pPr>
            <a:r>
              <a:rPr lang="fr-FR" sz="1800" i="1" dirty="0">
                <a:solidFill>
                  <a:schemeClr val="tx1"/>
                </a:solidFill>
                <a:latin typeface="Montserrat"/>
                <a:ea typeface="Montserrat"/>
                <a:cs typeface="Montserrat"/>
                <a:sym typeface="Montserrat"/>
              </a:rPr>
              <a:t>Suppression valeur négatives prix</a:t>
            </a:r>
          </a:p>
          <a:p>
            <a:pPr lvl="3">
              <a:buClrTx/>
            </a:pPr>
            <a:r>
              <a:rPr lang="fr-FR" sz="1800" i="1" dirty="0">
                <a:solidFill>
                  <a:schemeClr val="tx1"/>
                </a:solidFill>
                <a:latin typeface="Montserrat"/>
                <a:ea typeface="Montserrat"/>
                <a:cs typeface="Montserrat"/>
                <a:sym typeface="Montserrat"/>
              </a:rPr>
              <a:t>Corresponds à 3 valeurs</a:t>
            </a:r>
          </a:p>
          <a:p>
            <a:pPr marL="1397000" lvl="2" indent="-342900">
              <a:buClr>
                <a:srgbClr val="999999"/>
              </a:buClr>
              <a:buFont typeface="+mj-lt"/>
              <a:buAutoNum type="arabicPeriod"/>
            </a:pPr>
            <a:endParaRPr lang="fr-FR" sz="1800" i="1" dirty="0">
              <a:solidFill>
                <a:schemeClr val="tx1"/>
              </a:solidFill>
              <a:latin typeface="Montserrat"/>
              <a:ea typeface="Montserrat"/>
              <a:cs typeface="Montserrat"/>
              <a:sym typeface="Montserrat"/>
            </a:endParaRPr>
          </a:p>
          <a:p>
            <a:pPr marL="1397000" lvl="2" indent="-342900">
              <a:buClr>
                <a:srgbClr val="999999"/>
              </a:buClr>
              <a:buFont typeface="+mj-lt"/>
              <a:buAutoNum type="arabicPeriod"/>
            </a:pPr>
            <a:endParaRPr lang="fr" sz="1800" i="1" dirty="0">
              <a:solidFill>
                <a:schemeClr val="tx1"/>
              </a:solidFill>
              <a:latin typeface="Montserrat"/>
              <a:ea typeface="Montserrat"/>
              <a:cs typeface="Montserrat"/>
              <a:sym typeface="Montserrat"/>
            </a:endParaRPr>
          </a:p>
          <a:p>
            <a:pPr lvl="1">
              <a:buClr>
                <a:srgbClr val="999999"/>
              </a:buClr>
              <a:buFont typeface="Courier New" panose="02070309020205020404" pitchFamily="49" charset="0"/>
              <a:buChar char="o"/>
            </a:pPr>
            <a:endParaRPr sz="1800" i="1" dirty="0">
              <a:solidFill>
                <a:schemeClr val="tx1"/>
              </a:solidFill>
              <a:latin typeface="Montserrat"/>
              <a:ea typeface="Montserrat"/>
              <a:cs typeface="Montserrat"/>
              <a:sym typeface="Montserrat"/>
            </a:endParaRPr>
          </a:p>
          <a:p>
            <a:pPr marL="914400" marR="0" lvl="1" indent="-317500" algn="l" rtl="0">
              <a:lnSpc>
                <a:spcPct val="115000"/>
              </a:lnSpc>
              <a:spcBef>
                <a:spcPts val="0"/>
              </a:spcBef>
              <a:spcAft>
                <a:spcPts val="0"/>
              </a:spcAft>
              <a:buClr>
                <a:srgbClr val="999999"/>
              </a:buClr>
              <a:buSzPts val="1400"/>
              <a:buFont typeface="Montserrat"/>
              <a:buChar char="○"/>
            </a:pPr>
            <a:endParaRPr sz="1800" i="1" dirty="0">
              <a:solidFill>
                <a:schemeClr val="tx1"/>
              </a:solidFill>
              <a:latin typeface="Montserrat"/>
              <a:ea typeface="Montserrat"/>
              <a:cs typeface="Montserrat"/>
              <a:sym typeface="Montserrat"/>
            </a:endParaRPr>
          </a:p>
        </p:txBody>
      </p:sp>
      <p:sp>
        <p:nvSpPr>
          <p:cNvPr id="64" name="Google Shape;64;p4">
            <a:extLst>
              <a:ext uri="{FF2B5EF4-FFF2-40B4-BE49-F238E27FC236}">
                <a16:creationId xmlns:a16="http://schemas.microsoft.com/office/drawing/2014/main" id="{4A4161EF-C0DE-FE40-3A68-DC7D62EB3B05}"/>
              </a:ext>
            </a:extLst>
          </p:cNvPr>
          <p:cNvSpPr/>
          <p:nvPr/>
        </p:nvSpPr>
        <p:spPr>
          <a:xfrm>
            <a:off x="0" y="0"/>
            <a:ext cx="9144000" cy="1390200"/>
          </a:xfrm>
          <a:prstGeom prst="rect">
            <a:avLst/>
          </a:prstGeom>
          <a:solidFill>
            <a:srgbClr val="004D40"/>
          </a:solidFill>
          <a:ln w="9525" cap="flat" cmpd="sng">
            <a:solidFill>
              <a:srgbClr val="FFFFFF"/>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highlight>
                <a:srgbClr val="B6D7A8"/>
              </a:highlight>
              <a:latin typeface="Arial"/>
              <a:ea typeface="Arial"/>
              <a:cs typeface="Arial"/>
              <a:sym typeface="Arial"/>
            </a:endParaRPr>
          </a:p>
        </p:txBody>
      </p:sp>
      <p:sp>
        <p:nvSpPr>
          <p:cNvPr id="65" name="Google Shape;65;p4">
            <a:extLst>
              <a:ext uri="{FF2B5EF4-FFF2-40B4-BE49-F238E27FC236}">
                <a16:creationId xmlns:a16="http://schemas.microsoft.com/office/drawing/2014/main" id="{BFC174B0-1913-6590-7CBB-608E782CD3FB}"/>
              </a:ext>
            </a:extLst>
          </p:cNvPr>
          <p:cNvSpPr txBox="1"/>
          <p:nvPr/>
        </p:nvSpPr>
        <p:spPr>
          <a:xfrm>
            <a:off x="895525" y="337250"/>
            <a:ext cx="8520600" cy="572700"/>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Clr>
                <a:srgbClr val="000000"/>
              </a:buClr>
              <a:buSzPts val="2500"/>
              <a:buFont typeface="Arial"/>
              <a:buNone/>
            </a:pPr>
            <a:r>
              <a:rPr lang="fr" sz="2500" b="0" i="0" u="none" strike="noStrike" cap="none">
                <a:solidFill>
                  <a:srgbClr val="F3F3F3"/>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0"/>
                  </a:ext>
                </a:extLst>
              </a:rPr>
              <a:t>Analyses </a:t>
            </a:r>
            <a:r>
              <a:rPr lang="fr" sz="2500">
                <a:solidFill>
                  <a:srgbClr val="F3F3F3"/>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1"/>
                  </a:ext>
                </a:extLst>
              </a:rPr>
              <a:t>Exploratoires</a:t>
            </a:r>
            <a:r>
              <a:rPr lang="fr" sz="2500" b="0" i="0" u="none" strike="noStrike" cap="none">
                <a:solidFill>
                  <a:srgbClr val="F3F3F3"/>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2"/>
                  </a:ext>
                </a:extLst>
              </a:rPr>
              <a:t> des Données </a:t>
            </a:r>
            <a:endParaRPr sz="2500" b="0" i="0" u="none" strike="noStrike" cap="none" dirty="0">
              <a:solidFill>
                <a:srgbClr val="F3F3F3"/>
              </a:solidFill>
              <a:latin typeface="Montserrat"/>
              <a:ea typeface="Montserrat"/>
              <a:cs typeface="Montserrat"/>
              <a:sym typeface="Montserrat"/>
            </a:endParaRPr>
          </a:p>
        </p:txBody>
      </p:sp>
      <p:sp>
        <p:nvSpPr>
          <p:cNvPr id="66" name="Google Shape;66;p4">
            <a:extLst>
              <a:ext uri="{FF2B5EF4-FFF2-40B4-BE49-F238E27FC236}">
                <a16:creationId xmlns:a16="http://schemas.microsoft.com/office/drawing/2014/main" id="{C4648439-C55B-A723-649F-F5125D026D39}"/>
              </a:ext>
            </a:extLst>
          </p:cNvPr>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8140397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4"/>
          <p:cNvSpPr txBox="1">
            <a:spLocks noGrp="1"/>
          </p:cNvSpPr>
          <p:nvPr>
            <p:ph type="body" idx="1"/>
          </p:nvPr>
        </p:nvSpPr>
        <p:spPr>
          <a:xfrm>
            <a:off x="453823" y="1473600"/>
            <a:ext cx="8520600" cy="3416400"/>
          </a:xfrm>
          <a:prstGeom prst="rect">
            <a:avLst/>
          </a:prstGeom>
          <a:noFill/>
          <a:ln>
            <a:noFill/>
          </a:ln>
        </p:spPr>
        <p:txBody>
          <a:bodyPr spcFirstLastPara="1" wrap="square" lIns="91425" tIns="91425" rIns="91425" bIns="91425" anchor="t" anchorCtr="0">
            <a:normAutofit/>
          </a:bodyPr>
          <a:lstStyle/>
          <a:p>
            <a:pPr>
              <a:buClrTx/>
              <a:buFont typeface="Montserrat"/>
              <a:buChar char="●"/>
            </a:pPr>
            <a:r>
              <a:rPr lang="fr" i="1" dirty="0">
                <a:solidFill>
                  <a:schemeClr val="tx1"/>
                </a:solidFill>
                <a:latin typeface="Montserrat"/>
                <a:ea typeface="Montserrat"/>
                <a:cs typeface="Montserrat"/>
                <a:sym typeface="Montserrat"/>
              </a:rPr>
              <a:t>Traitement réalisés sur données ERP</a:t>
            </a:r>
          </a:p>
          <a:p>
            <a:pPr>
              <a:buClr>
                <a:srgbClr val="999999"/>
              </a:buClr>
              <a:buFont typeface="Montserrat"/>
              <a:buChar char="●"/>
            </a:pPr>
            <a:endParaRPr i="1" dirty="0">
              <a:solidFill>
                <a:schemeClr val="tx1"/>
              </a:solidFill>
              <a:latin typeface="Montserrat"/>
              <a:ea typeface="Montserrat"/>
              <a:cs typeface="Montserrat"/>
              <a:sym typeface="Montserrat"/>
            </a:endParaRPr>
          </a:p>
          <a:p>
            <a:pPr lvl="1">
              <a:buClrTx/>
              <a:buFont typeface="Courier New" panose="02070309020205020404" pitchFamily="49" charset="0"/>
              <a:buChar char="o"/>
            </a:pPr>
            <a:r>
              <a:rPr lang="fr" sz="1800" i="1" dirty="0">
                <a:solidFill>
                  <a:schemeClr val="tx1"/>
                </a:solidFill>
                <a:latin typeface="Montserrat"/>
                <a:ea typeface="Montserrat"/>
                <a:cs typeface="Montserrat"/>
                <a:sym typeface="Montserrat"/>
              </a:rPr>
              <a:t>Features engineering</a:t>
            </a:r>
          </a:p>
          <a:p>
            <a:pPr lvl="1">
              <a:buClr>
                <a:srgbClr val="999999"/>
              </a:buClr>
              <a:buFont typeface="Courier New" panose="02070309020205020404" pitchFamily="49" charset="0"/>
              <a:buChar char="o"/>
            </a:pPr>
            <a:endParaRPr lang="fr" sz="1800" i="1" dirty="0">
              <a:solidFill>
                <a:schemeClr val="tx1"/>
              </a:solidFill>
              <a:latin typeface="Montserrat"/>
              <a:ea typeface="Montserrat"/>
              <a:cs typeface="Montserrat"/>
              <a:sym typeface="Montserrat"/>
            </a:endParaRPr>
          </a:p>
          <a:p>
            <a:pPr marL="1397000" lvl="2" indent="-342900">
              <a:buClrTx/>
              <a:buFont typeface="+mj-lt"/>
              <a:buAutoNum type="arabicPeriod"/>
            </a:pPr>
            <a:r>
              <a:rPr lang="fr" sz="1800" i="1" dirty="0">
                <a:solidFill>
                  <a:schemeClr val="tx1"/>
                </a:solidFill>
                <a:latin typeface="Montserrat"/>
                <a:ea typeface="Montserrat"/>
                <a:cs typeface="Montserrat"/>
                <a:sym typeface="Montserrat"/>
              </a:rPr>
              <a:t>Création d’une colonne </a:t>
            </a:r>
            <a:r>
              <a:rPr lang="fr-FR" sz="1800" i="1" dirty="0">
                <a:solidFill>
                  <a:schemeClr val="tx1"/>
                </a:solidFill>
                <a:latin typeface="Montserrat"/>
                <a:ea typeface="Montserrat"/>
                <a:cs typeface="Montserrat"/>
                <a:sym typeface="Montserrat"/>
              </a:rPr>
              <a:t>stock_status_2</a:t>
            </a:r>
            <a:endParaRPr lang="fr" sz="1800" i="1" dirty="0">
              <a:solidFill>
                <a:schemeClr val="tx1"/>
              </a:solidFill>
              <a:latin typeface="Montserrat"/>
              <a:ea typeface="Montserrat"/>
              <a:cs typeface="Montserrat"/>
              <a:sym typeface="Montserrat"/>
            </a:endParaRPr>
          </a:p>
          <a:p>
            <a:pPr marL="1397000" lvl="2" indent="-342900">
              <a:buClrTx/>
              <a:buFont typeface="+mj-lt"/>
              <a:buAutoNum type="arabicPeriod"/>
            </a:pPr>
            <a:r>
              <a:rPr lang="fr" sz="1800" i="1" dirty="0">
                <a:solidFill>
                  <a:schemeClr val="tx1"/>
                </a:solidFill>
                <a:latin typeface="Montserrat"/>
                <a:ea typeface="Montserrat"/>
                <a:cs typeface="Montserrat"/>
                <a:sym typeface="Montserrat"/>
              </a:rPr>
              <a:t>Suppression colonne onsale_web et </a:t>
            </a:r>
            <a:r>
              <a:rPr lang="fr-FR" sz="1800" i="1" dirty="0">
                <a:solidFill>
                  <a:schemeClr val="tx1"/>
                </a:solidFill>
                <a:latin typeface="Montserrat"/>
                <a:ea typeface="Montserrat"/>
                <a:cs typeface="Montserrat"/>
                <a:sym typeface="Montserrat"/>
              </a:rPr>
              <a:t>stock_status_2</a:t>
            </a:r>
            <a:endParaRPr lang="fr" sz="1800" i="1" dirty="0">
              <a:solidFill>
                <a:schemeClr val="tx1"/>
              </a:solidFill>
              <a:latin typeface="Montserrat"/>
              <a:ea typeface="Montserrat"/>
              <a:cs typeface="Montserrat"/>
              <a:sym typeface="Montserrat"/>
            </a:endParaRPr>
          </a:p>
          <a:p>
            <a:pPr marL="1397000" lvl="2" indent="-342900">
              <a:buClr>
                <a:srgbClr val="999999"/>
              </a:buClr>
              <a:buFont typeface="+mj-lt"/>
              <a:buAutoNum type="arabicPeriod"/>
            </a:pPr>
            <a:endParaRPr lang="fr" sz="1800" i="1" dirty="0">
              <a:solidFill>
                <a:schemeClr val="tx1"/>
              </a:solidFill>
              <a:latin typeface="Montserrat"/>
              <a:ea typeface="Montserrat"/>
              <a:cs typeface="Montserrat"/>
              <a:sym typeface="Montserrat"/>
            </a:endParaRPr>
          </a:p>
          <a:p>
            <a:pPr lvl="1">
              <a:buClr>
                <a:srgbClr val="999999"/>
              </a:buClr>
              <a:buFont typeface="Courier New" panose="02070309020205020404" pitchFamily="49" charset="0"/>
              <a:buChar char="o"/>
            </a:pPr>
            <a:endParaRPr sz="1800" i="1" dirty="0">
              <a:solidFill>
                <a:schemeClr val="tx1"/>
              </a:solidFill>
              <a:latin typeface="Montserrat"/>
              <a:ea typeface="Montserrat"/>
              <a:cs typeface="Montserrat"/>
              <a:sym typeface="Montserrat"/>
            </a:endParaRPr>
          </a:p>
          <a:p>
            <a:pPr marL="914400" marR="0" lvl="1" indent="-317500" algn="l" rtl="0">
              <a:lnSpc>
                <a:spcPct val="115000"/>
              </a:lnSpc>
              <a:spcBef>
                <a:spcPts val="0"/>
              </a:spcBef>
              <a:spcAft>
                <a:spcPts val="0"/>
              </a:spcAft>
              <a:buClr>
                <a:srgbClr val="999999"/>
              </a:buClr>
              <a:buSzPts val="1400"/>
              <a:buFont typeface="Montserrat"/>
              <a:buChar char="○"/>
            </a:pPr>
            <a:endParaRPr sz="1800" i="1" dirty="0">
              <a:solidFill>
                <a:schemeClr val="tx1"/>
              </a:solidFill>
              <a:latin typeface="Montserrat"/>
              <a:ea typeface="Montserrat"/>
              <a:cs typeface="Montserrat"/>
              <a:sym typeface="Montserrat"/>
            </a:endParaRPr>
          </a:p>
        </p:txBody>
      </p:sp>
      <p:sp>
        <p:nvSpPr>
          <p:cNvPr id="64" name="Google Shape;64;p4"/>
          <p:cNvSpPr/>
          <p:nvPr/>
        </p:nvSpPr>
        <p:spPr>
          <a:xfrm>
            <a:off x="0" y="0"/>
            <a:ext cx="9144000" cy="1390200"/>
          </a:xfrm>
          <a:prstGeom prst="rect">
            <a:avLst/>
          </a:prstGeom>
          <a:solidFill>
            <a:srgbClr val="004D40"/>
          </a:solidFill>
          <a:ln w="9525" cap="flat" cmpd="sng">
            <a:solidFill>
              <a:srgbClr val="FFFFFF"/>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highlight>
                <a:srgbClr val="B6D7A8"/>
              </a:highlight>
              <a:latin typeface="Arial"/>
              <a:ea typeface="Arial"/>
              <a:cs typeface="Arial"/>
              <a:sym typeface="Arial"/>
            </a:endParaRPr>
          </a:p>
        </p:txBody>
      </p:sp>
      <p:sp>
        <p:nvSpPr>
          <p:cNvPr id="65" name="Google Shape;65;p4"/>
          <p:cNvSpPr txBox="1"/>
          <p:nvPr/>
        </p:nvSpPr>
        <p:spPr>
          <a:xfrm>
            <a:off x="895525" y="337250"/>
            <a:ext cx="8520600" cy="572700"/>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Clr>
                <a:srgbClr val="000000"/>
              </a:buClr>
              <a:buSzPts val="2500"/>
              <a:buFont typeface="Arial"/>
              <a:buNone/>
            </a:pPr>
            <a:r>
              <a:rPr lang="fr" sz="2500" b="0" i="0" u="none" strike="noStrike" cap="none">
                <a:solidFill>
                  <a:srgbClr val="F3F3F3"/>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0"/>
                  </a:ext>
                </a:extLst>
              </a:rPr>
              <a:t>Analyses </a:t>
            </a:r>
            <a:r>
              <a:rPr lang="fr" sz="2500">
                <a:solidFill>
                  <a:srgbClr val="F3F3F3"/>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1"/>
                  </a:ext>
                </a:extLst>
              </a:rPr>
              <a:t>Exploratoires</a:t>
            </a:r>
            <a:r>
              <a:rPr lang="fr" sz="2500" b="0" i="0" u="none" strike="noStrike" cap="none">
                <a:solidFill>
                  <a:srgbClr val="F3F3F3"/>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2"/>
                  </a:ext>
                </a:extLst>
              </a:rPr>
              <a:t> des Données </a:t>
            </a:r>
            <a:endParaRPr sz="2500" b="0" i="0" u="none" strike="noStrike" cap="none" dirty="0">
              <a:solidFill>
                <a:srgbClr val="F3F3F3"/>
              </a:solidFill>
              <a:latin typeface="Montserrat"/>
              <a:ea typeface="Montserrat"/>
              <a:cs typeface="Montserrat"/>
              <a:sym typeface="Montserrat"/>
            </a:endParaRPr>
          </a:p>
        </p:txBody>
      </p:sp>
      <p:sp>
        <p:nvSpPr>
          <p:cNvPr id="66" name="Google Shape;66;p4"/>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2">
          <a:extLst>
            <a:ext uri="{FF2B5EF4-FFF2-40B4-BE49-F238E27FC236}">
              <a16:creationId xmlns:a16="http://schemas.microsoft.com/office/drawing/2014/main" id="{BDED736D-CE44-2386-FABF-9EE6BD7BE3F3}"/>
            </a:ext>
          </a:extLst>
        </p:cNvPr>
        <p:cNvGrpSpPr/>
        <p:nvPr/>
      </p:nvGrpSpPr>
      <p:grpSpPr>
        <a:xfrm>
          <a:off x="0" y="0"/>
          <a:ext cx="0" cy="0"/>
          <a:chOff x="0" y="0"/>
          <a:chExt cx="0" cy="0"/>
        </a:xfrm>
      </p:grpSpPr>
      <p:sp>
        <p:nvSpPr>
          <p:cNvPr id="63" name="Google Shape;63;p4">
            <a:extLst>
              <a:ext uri="{FF2B5EF4-FFF2-40B4-BE49-F238E27FC236}">
                <a16:creationId xmlns:a16="http://schemas.microsoft.com/office/drawing/2014/main" id="{010A6774-6495-A46B-7DD6-CD6693ED0EF3}"/>
              </a:ext>
            </a:extLst>
          </p:cNvPr>
          <p:cNvSpPr txBox="1">
            <a:spLocks noGrp="1"/>
          </p:cNvSpPr>
          <p:nvPr>
            <p:ph type="body" idx="1"/>
          </p:nvPr>
        </p:nvSpPr>
        <p:spPr>
          <a:xfrm>
            <a:off x="453823" y="1473600"/>
            <a:ext cx="8520600" cy="3416400"/>
          </a:xfrm>
          <a:prstGeom prst="rect">
            <a:avLst/>
          </a:prstGeom>
          <a:noFill/>
          <a:ln>
            <a:noFill/>
          </a:ln>
        </p:spPr>
        <p:txBody>
          <a:bodyPr spcFirstLastPara="1" wrap="square" lIns="91425" tIns="91425" rIns="91425" bIns="91425" anchor="t" anchorCtr="0">
            <a:normAutofit fontScale="92500" lnSpcReduction="20000"/>
          </a:bodyPr>
          <a:lstStyle/>
          <a:p>
            <a:pPr marL="457200" marR="0" lvl="0" indent="-342900" algn="l" rtl="0">
              <a:lnSpc>
                <a:spcPct val="115000"/>
              </a:lnSpc>
              <a:spcBef>
                <a:spcPts val="0"/>
              </a:spcBef>
              <a:spcAft>
                <a:spcPts val="0"/>
              </a:spcAft>
              <a:buClrTx/>
              <a:buSzPts val="1800"/>
              <a:buFont typeface="Montserrat"/>
              <a:buChar char="●"/>
            </a:pPr>
            <a:r>
              <a:rPr lang="fr" i="1" dirty="0">
                <a:solidFill>
                  <a:schemeClr val="tx1"/>
                </a:solidFill>
                <a:latin typeface="Montserrat"/>
                <a:ea typeface="Montserrat"/>
                <a:cs typeface="Montserrat"/>
                <a:sym typeface="Montserrat"/>
              </a:rPr>
              <a:t>Traitement réalisés sur données web (29 colonnes et 1513 lignes)</a:t>
            </a:r>
          </a:p>
          <a:p>
            <a:pPr marL="457200" marR="0" lvl="0" indent="-342900" algn="l" rtl="0">
              <a:lnSpc>
                <a:spcPct val="115000"/>
              </a:lnSpc>
              <a:spcBef>
                <a:spcPts val="0"/>
              </a:spcBef>
              <a:spcAft>
                <a:spcPts val="0"/>
              </a:spcAft>
              <a:buClrTx/>
              <a:buSzPts val="1800"/>
              <a:buFont typeface="Montserrat"/>
              <a:buChar char="●"/>
            </a:pPr>
            <a:endParaRPr i="1" dirty="0">
              <a:solidFill>
                <a:schemeClr val="tx1"/>
              </a:solidFill>
              <a:latin typeface="Montserrat"/>
              <a:ea typeface="Montserrat"/>
              <a:cs typeface="Montserrat"/>
              <a:sym typeface="Montserrat"/>
            </a:endParaRPr>
          </a:p>
          <a:p>
            <a:pPr marL="914400" marR="0" lvl="1" indent="-317500" algn="l" rtl="0">
              <a:lnSpc>
                <a:spcPct val="115000"/>
              </a:lnSpc>
              <a:spcBef>
                <a:spcPts val="0"/>
              </a:spcBef>
              <a:spcAft>
                <a:spcPts val="0"/>
              </a:spcAft>
              <a:buClrTx/>
              <a:buSzPts val="1400"/>
              <a:buFont typeface="Montserrat"/>
              <a:buChar char="○"/>
            </a:pPr>
            <a:r>
              <a:rPr lang="fr" sz="1800" i="1" dirty="0">
                <a:solidFill>
                  <a:schemeClr val="tx1"/>
                </a:solidFill>
                <a:latin typeface="Montserrat"/>
                <a:ea typeface="Montserrat"/>
                <a:cs typeface="Montserrat"/>
                <a:sym typeface="Montserrat"/>
              </a:rPr>
              <a:t>Nettoyages des données</a:t>
            </a:r>
          </a:p>
          <a:p>
            <a:pPr marL="914400" marR="0" lvl="1" indent="-317500" algn="l" rtl="0">
              <a:lnSpc>
                <a:spcPct val="115000"/>
              </a:lnSpc>
              <a:spcBef>
                <a:spcPts val="0"/>
              </a:spcBef>
              <a:spcAft>
                <a:spcPts val="0"/>
              </a:spcAft>
              <a:buClrTx/>
              <a:buSzPts val="1400"/>
              <a:buFont typeface="Montserrat"/>
              <a:buChar char="○"/>
            </a:pPr>
            <a:endParaRPr lang="fr" sz="1800" i="1" dirty="0">
              <a:solidFill>
                <a:schemeClr val="tx1"/>
              </a:solidFill>
              <a:latin typeface="Montserrat"/>
              <a:ea typeface="Montserrat"/>
              <a:cs typeface="Montserrat"/>
              <a:sym typeface="Montserrat"/>
            </a:endParaRPr>
          </a:p>
          <a:p>
            <a:pPr marL="1397000" lvl="2" indent="-342900">
              <a:buClrTx/>
              <a:buFont typeface="+mj-lt"/>
              <a:buAutoNum type="arabicPeriod"/>
            </a:pPr>
            <a:r>
              <a:rPr lang="fr" sz="1800" i="1" dirty="0">
                <a:solidFill>
                  <a:schemeClr val="tx1"/>
                </a:solidFill>
                <a:latin typeface="Montserrat"/>
                <a:ea typeface="Montserrat"/>
                <a:cs typeface="Montserrat"/>
                <a:sym typeface="Montserrat"/>
              </a:rPr>
              <a:t>On nettoie la colonne sku</a:t>
            </a:r>
          </a:p>
          <a:p>
            <a:pPr lvl="3">
              <a:buClrTx/>
            </a:pPr>
            <a:r>
              <a:rPr lang="fr" sz="1800" i="1" dirty="0">
                <a:solidFill>
                  <a:schemeClr val="tx1"/>
                </a:solidFill>
                <a:latin typeface="Montserrat"/>
                <a:ea typeface="Montserrat"/>
                <a:cs typeface="Montserrat"/>
                <a:sym typeface="Montserrat"/>
              </a:rPr>
              <a:t>4 valeurs non-numériques (2 bons et 2 avec -1)</a:t>
            </a:r>
          </a:p>
          <a:p>
            <a:pPr lvl="3">
              <a:buClrTx/>
            </a:pPr>
            <a:r>
              <a:rPr lang="fr" sz="1800" i="1" dirty="0">
                <a:solidFill>
                  <a:schemeClr val="tx1"/>
                </a:solidFill>
                <a:latin typeface="Montserrat"/>
                <a:ea typeface="Montserrat"/>
                <a:cs typeface="Montserrat"/>
                <a:sym typeface="Montserrat"/>
              </a:rPr>
              <a:t>87 lignes vides (dont 2 bons cadeau)</a:t>
            </a:r>
          </a:p>
          <a:p>
            <a:pPr lvl="3">
              <a:buClrTx/>
            </a:pPr>
            <a:r>
              <a:rPr lang="fr" sz="1800" i="1" dirty="0">
                <a:solidFill>
                  <a:schemeClr val="tx1"/>
                </a:solidFill>
                <a:latin typeface="Montserrat"/>
                <a:ea typeface="Montserrat"/>
                <a:cs typeface="Montserrat"/>
                <a:sym typeface="Montserrat"/>
              </a:rPr>
              <a:t>2 lignes avec sku identiques (13127)</a:t>
            </a:r>
          </a:p>
          <a:p>
            <a:pPr lvl="3">
              <a:buClrTx/>
            </a:pPr>
            <a:r>
              <a:rPr lang="fr" sz="1800" i="1" dirty="0">
                <a:solidFill>
                  <a:schemeClr val="tx1"/>
                </a:solidFill>
                <a:latin typeface="Montserrat"/>
                <a:ea typeface="Montserrat"/>
                <a:cs typeface="Montserrat"/>
                <a:sym typeface="Montserrat"/>
              </a:rPr>
              <a:t>Moitié de doublons du a post_type</a:t>
            </a:r>
          </a:p>
          <a:p>
            <a:pPr marL="1397000" lvl="2" indent="-342900">
              <a:buClrTx/>
              <a:buFont typeface="+mj-lt"/>
              <a:buAutoNum type="arabicPeriod"/>
            </a:pPr>
            <a:endParaRPr lang="fr" sz="1800" i="1" dirty="0">
              <a:solidFill>
                <a:schemeClr val="tx1"/>
              </a:solidFill>
              <a:latin typeface="Montserrat"/>
              <a:ea typeface="Montserrat"/>
              <a:cs typeface="Montserrat"/>
              <a:sym typeface="Montserrat"/>
            </a:endParaRPr>
          </a:p>
          <a:p>
            <a:pPr marL="1397000" lvl="2" indent="-342900">
              <a:buClrTx/>
              <a:buFont typeface="+mj-lt"/>
              <a:buAutoNum type="arabicPeriod"/>
            </a:pPr>
            <a:r>
              <a:rPr lang="fr" sz="1800" i="1" dirty="0">
                <a:solidFill>
                  <a:schemeClr val="tx1"/>
                </a:solidFill>
                <a:latin typeface="Montserrat"/>
                <a:ea typeface="Montserrat"/>
                <a:cs typeface="Montserrat"/>
                <a:sym typeface="Montserrat"/>
              </a:rPr>
              <a:t>Nettoyage de la colonne product_type</a:t>
            </a:r>
          </a:p>
          <a:p>
            <a:pPr lvl="3">
              <a:buClrTx/>
            </a:pPr>
            <a:r>
              <a:rPr lang="fr" sz="1800" i="1" dirty="0">
                <a:solidFill>
                  <a:schemeClr val="tx1"/>
                </a:solidFill>
                <a:latin typeface="Montserrat"/>
                <a:ea typeface="Montserrat"/>
                <a:cs typeface="Montserrat"/>
                <a:sym typeface="Montserrat"/>
              </a:rPr>
              <a:t>3 lignes huile d’olive</a:t>
            </a:r>
          </a:p>
          <a:p>
            <a:pPr marL="1054100" lvl="2" indent="0">
              <a:buClr>
                <a:srgbClr val="999999"/>
              </a:buClr>
              <a:buNone/>
            </a:pPr>
            <a:r>
              <a:rPr lang="fr-FR" sz="1800" i="1" dirty="0">
                <a:solidFill>
                  <a:schemeClr val="tx1"/>
                </a:solidFill>
                <a:latin typeface="Montserrat"/>
                <a:ea typeface="Montserrat"/>
                <a:cs typeface="Montserrat"/>
                <a:sym typeface="Montserrat"/>
              </a:rPr>
              <a:t>	</a:t>
            </a:r>
            <a:endParaRPr sz="1800" i="1" dirty="0">
              <a:solidFill>
                <a:schemeClr val="tx1"/>
              </a:solidFill>
              <a:latin typeface="Montserrat"/>
              <a:ea typeface="Montserrat"/>
              <a:cs typeface="Montserrat"/>
              <a:sym typeface="Montserrat"/>
            </a:endParaRPr>
          </a:p>
        </p:txBody>
      </p:sp>
      <p:sp>
        <p:nvSpPr>
          <p:cNvPr id="64" name="Google Shape;64;p4">
            <a:extLst>
              <a:ext uri="{FF2B5EF4-FFF2-40B4-BE49-F238E27FC236}">
                <a16:creationId xmlns:a16="http://schemas.microsoft.com/office/drawing/2014/main" id="{1956E86E-AD5E-AE4F-6C6B-5DF3C9E51BD7}"/>
              </a:ext>
            </a:extLst>
          </p:cNvPr>
          <p:cNvSpPr/>
          <p:nvPr/>
        </p:nvSpPr>
        <p:spPr>
          <a:xfrm>
            <a:off x="0" y="0"/>
            <a:ext cx="9144000" cy="1390200"/>
          </a:xfrm>
          <a:prstGeom prst="rect">
            <a:avLst/>
          </a:prstGeom>
          <a:solidFill>
            <a:srgbClr val="004D40"/>
          </a:solidFill>
          <a:ln w="9525" cap="flat" cmpd="sng">
            <a:solidFill>
              <a:srgbClr val="FFFFFF"/>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highlight>
                <a:srgbClr val="B6D7A8"/>
              </a:highlight>
              <a:latin typeface="Arial"/>
              <a:ea typeface="Arial"/>
              <a:cs typeface="Arial"/>
              <a:sym typeface="Arial"/>
            </a:endParaRPr>
          </a:p>
        </p:txBody>
      </p:sp>
      <p:sp>
        <p:nvSpPr>
          <p:cNvPr id="65" name="Google Shape;65;p4">
            <a:extLst>
              <a:ext uri="{FF2B5EF4-FFF2-40B4-BE49-F238E27FC236}">
                <a16:creationId xmlns:a16="http://schemas.microsoft.com/office/drawing/2014/main" id="{C67C959D-5A2A-BD1C-5C31-B0BFFA36635A}"/>
              </a:ext>
            </a:extLst>
          </p:cNvPr>
          <p:cNvSpPr txBox="1"/>
          <p:nvPr/>
        </p:nvSpPr>
        <p:spPr>
          <a:xfrm>
            <a:off x="895525" y="337250"/>
            <a:ext cx="8520600" cy="572700"/>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Clr>
                <a:srgbClr val="000000"/>
              </a:buClr>
              <a:buSzPts val="2500"/>
              <a:buFont typeface="Arial"/>
              <a:buNone/>
            </a:pPr>
            <a:r>
              <a:rPr lang="fr" sz="2500" b="0" i="0" u="none" strike="noStrike" cap="none">
                <a:solidFill>
                  <a:srgbClr val="F3F3F3"/>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0"/>
                  </a:ext>
                </a:extLst>
              </a:rPr>
              <a:t>Analyses </a:t>
            </a:r>
            <a:r>
              <a:rPr lang="fr" sz="2500">
                <a:solidFill>
                  <a:srgbClr val="F3F3F3"/>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1"/>
                  </a:ext>
                </a:extLst>
              </a:rPr>
              <a:t>Exploratoires</a:t>
            </a:r>
            <a:r>
              <a:rPr lang="fr" sz="2500" b="0" i="0" u="none" strike="noStrike" cap="none">
                <a:solidFill>
                  <a:srgbClr val="F3F3F3"/>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2"/>
                  </a:ext>
                </a:extLst>
              </a:rPr>
              <a:t> des Données </a:t>
            </a:r>
            <a:endParaRPr sz="2500" b="0" i="0" u="none" strike="noStrike" cap="none" dirty="0">
              <a:solidFill>
                <a:srgbClr val="F3F3F3"/>
              </a:solidFill>
              <a:latin typeface="Montserrat"/>
              <a:ea typeface="Montserrat"/>
              <a:cs typeface="Montserrat"/>
              <a:sym typeface="Montserrat"/>
            </a:endParaRPr>
          </a:p>
        </p:txBody>
      </p:sp>
      <p:sp>
        <p:nvSpPr>
          <p:cNvPr id="66" name="Google Shape;66;p4">
            <a:extLst>
              <a:ext uri="{FF2B5EF4-FFF2-40B4-BE49-F238E27FC236}">
                <a16:creationId xmlns:a16="http://schemas.microsoft.com/office/drawing/2014/main" id="{92F50A2C-43BC-C720-32C3-04376A9E1504}"/>
              </a:ext>
            </a:extLst>
          </p:cNvPr>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31796065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2">
          <a:extLst>
            <a:ext uri="{FF2B5EF4-FFF2-40B4-BE49-F238E27FC236}">
              <a16:creationId xmlns:a16="http://schemas.microsoft.com/office/drawing/2014/main" id="{A0310D09-5B3C-6B05-585F-DF324C9B1555}"/>
            </a:ext>
          </a:extLst>
        </p:cNvPr>
        <p:cNvGrpSpPr/>
        <p:nvPr/>
      </p:nvGrpSpPr>
      <p:grpSpPr>
        <a:xfrm>
          <a:off x="0" y="0"/>
          <a:ext cx="0" cy="0"/>
          <a:chOff x="0" y="0"/>
          <a:chExt cx="0" cy="0"/>
        </a:xfrm>
      </p:grpSpPr>
      <p:sp>
        <p:nvSpPr>
          <p:cNvPr id="63" name="Google Shape;63;p4">
            <a:extLst>
              <a:ext uri="{FF2B5EF4-FFF2-40B4-BE49-F238E27FC236}">
                <a16:creationId xmlns:a16="http://schemas.microsoft.com/office/drawing/2014/main" id="{79D6FFF8-FAD7-1F25-9D7C-06A2ADB90F73}"/>
              </a:ext>
            </a:extLst>
          </p:cNvPr>
          <p:cNvSpPr txBox="1">
            <a:spLocks noGrp="1"/>
          </p:cNvSpPr>
          <p:nvPr>
            <p:ph type="body" idx="1"/>
          </p:nvPr>
        </p:nvSpPr>
        <p:spPr>
          <a:xfrm>
            <a:off x="453823" y="1473600"/>
            <a:ext cx="8520600" cy="3416400"/>
          </a:xfrm>
          <a:prstGeom prst="rect">
            <a:avLst/>
          </a:prstGeom>
          <a:noFill/>
          <a:ln>
            <a:noFill/>
          </a:ln>
        </p:spPr>
        <p:txBody>
          <a:bodyPr spcFirstLastPara="1" wrap="square" lIns="91425" tIns="91425" rIns="91425" bIns="91425" anchor="t" anchorCtr="0">
            <a:normAutofit/>
          </a:bodyPr>
          <a:lstStyle/>
          <a:p>
            <a:pPr marL="457200" marR="0" lvl="0" indent="-342900" algn="l" rtl="0">
              <a:lnSpc>
                <a:spcPct val="115000"/>
              </a:lnSpc>
              <a:spcBef>
                <a:spcPts val="0"/>
              </a:spcBef>
              <a:spcAft>
                <a:spcPts val="0"/>
              </a:spcAft>
              <a:buClrTx/>
              <a:buSzPts val="1800"/>
              <a:buFont typeface="Montserrat"/>
              <a:buChar char="●"/>
            </a:pPr>
            <a:r>
              <a:rPr lang="fr" i="1" dirty="0">
                <a:solidFill>
                  <a:schemeClr val="tx1"/>
                </a:solidFill>
                <a:latin typeface="Montserrat"/>
                <a:ea typeface="Montserrat"/>
                <a:cs typeface="Montserrat"/>
                <a:sym typeface="Montserrat"/>
              </a:rPr>
              <a:t>Traitement réalisés sur données web</a:t>
            </a:r>
            <a:endParaRPr i="1" dirty="0">
              <a:solidFill>
                <a:schemeClr val="tx1"/>
              </a:solidFill>
              <a:latin typeface="Montserrat"/>
              <a:ea typeface="Montserrat"/>
              <a:cs typeface="Montserrat"/>
              <a:sym typeface="Montserrat"/>
            </a:endParaRPr>
          </a:p>
          <a:p>
            <a:pPr marL="1397000" lvl="2" indent="-342900">
              <a:buClr>
                <a:srgbClr val="999999"/>
              </a:buClr>
              <a:buFont typeface="+mj-lt"/>
              <a:buAutoNum type="arabicPeriod"/>
            </a:pPr>
            <a:endParaRPr sz="1800" i="1" dirty="0">
              <a:solidFill>
                <a:schemeClr val="tx1"/>
              </a:solidFill>
              <a:latin typeface="Montserrat"/>
              <a:ea typeface="Montserrat"/>
              <a:cs typeface="Montserrat"/>
              <a:sym typeface="Montserrat"/>
            </a:endParaRPr>
          </a:p>
          <a:p>
            <a:pPr marL="914400" marR="0" lvl="1" indent="-317500" algn="l" rtl="0">
              <a:lnSpc>
                <a:spcPct val="115000"/>
              </a:lnSpc>
              <a:spcBef>
                <a:spcPts val="0"/>
              </a:spcBef>
              <a:spcAft>
                <a:spcPts val="0"/>
              </a:spcAft>
              <a:buClrTx/>
              <a:buSzPts val="1400"/>
              <a:buFont typeface="Montserrat"/>
              <a:buChar char="○"/>
            </a:pPr>
            <a:r>
              <a:rPr lang="fr" sz="1800" i="1" dirty="0">
                <a:solidFill>
                  <a:schemeClr val="tx1"/>
                </a:solidFill>
                <a:latin typeface="Montserrat"/>
                <a:ea typeface="Montserrat"/>
                <a:cs typeface="Montserrat"/>
                <a:sym typeface="Montserrat"/>
              </a:rPr>
              <a:t>Features engineering</a:t>
            </a:r>
          </a:p>
          <a:p>
            <a:pPr marL="914400" marR="0" lvl="1" indent="-317500" algn="l" rtl="0">
              <a:lnSpc>
                <a:spcPct val="115000"/>
              </a:lnSpc>
              <a:spcBef>
                <a:spcPts val="0"/>
              </a:spcBef>
              <a:spcAft>
                <a:spcPts val="0"/>
              </a:spcAft>
              <a:buClrTx/>
              <a:buSzPts val="1400"/>
              <a:buFont typeface="Montserrat"/>
              <a:buChar char="○"/>
            </a:pPr>
            <a:endParaRPr lang="fr" sz="1200" i="1" dirty="0">
              <a:solidFill>
                <a:schemeClr val="tx1"/>
              </a:solidFill>
              <a:latin typeface="Montserrat"/>
              <a:ea typeface="Montserrat"/>
              <a:cs typeface="Montserrat"/>
              <a:sym typeface="Montserrat"/>
            </a:endParaRPr>
          </a:p>
          <a:p>
            <a:pPr marL="1397000" lvl="2" indent="-342900">
              <a:buClrTx/>
              <a:buFont typeface="+mj-lt"/>
              <a:buAutoNum type="arabicPeriod"/>
            </a:pPr>
            <a:r>
              <a:rPr lang="fr-FR" sz="1800" i="1" dirty="0">
                <a:solidFill>
                  <a:schemeClr val="tx1"/>
                </a:solidFill>
                <a:latin typeface="Montserrat"/>
                <a:ea typeface="Montserrat"/>
                <a:cs typeface="Montserrat"/>
                <a:sym typeface="Montserrat"/>
              </a:rPr>
              <a:t>Suppression de toutes les colonnes inutiles</a:t>
            </a:r>
          </a:p>
          <a:p>
            <a:pPr lvl="3">
              <a:buClrTx/>
            </a:pPr>
            <a:r>
              <a:rPr lang="fr-FR" sz="1800" i="1" dirty="0">
                <a:solidFill>
                  <a:schemeClr val="tx1"/>
                </a:solidFill>
                <a:latin typeface="Montserrat"/>
                <a:ea typeface="Montserrat"/>
                <a:cs typeface="Montserrat"/>
                <a:sym typeface="Montserrat"/>
              </a:rPr>
              <a:t>24 colonnes au total</a:t>
            </a:r>
          </a:p>
          <a:p>
            <a:pPr lvl="3">
              <a:buClrTx/>
            </a:pPr>
            <a:endParaRPr lang="fr-FR" sz="1100" i="1" dirty="0">
              <a:solidFill>
                <a:schemeClr val="tx1"/>
              </a:solidFill>
              <a:latin typeface="Montserrat"/>
              <a:ea typeface="Montserrat"/>
              <a:cs typeface="Montserrat"/>
              <a:sym typeface="Montserrat"/>
            </a:endParaRPr>
          </a:p>
          <a:p>
            <a:pPr marL="1397000" lvl="2" indent="-342900">
              <a:buClrTx/>
              <a:buFont typeface="+mj-lt"/>
              <a:buAutoNum type="arabicPeriod"/>
            </a:pPr>
            <a:r>
              <a:rPr lang="fr-FR" sz="1800" i="1" dirty="0">
                <a:solidFill>
                  <a:schemeClr val="tx1"/>
                </a:solidFill>
                <a:latin typeface="Montserrat"/>
                <a:ea typeface="Montserrat"/>
                <a:cs typeface="Montserrat"/>
                <a:sym typeface="Montserrat"/>
              </a:rPr>
              <a:t>On renomme sku en id_web et post_title en nom_cuvee </a:t>
            </a:r>
            <a:endParaRPr sz="1800" i="1" dirty="0">
              <a:solidFill>
                <a:schemeClr val="tx1"/>
              </a:solidFill>
              <a:latin typeface="Montserrat"/>
              <a:ea typeface="Montserrat"/>
              <a:cs typeface="Montserrat"/>
              <a:sym typeface="Montserrat"/>
            </a:endParaRPr>
          </a:p>
        </p:txBody>
      </p:sp>
      <p:sp>
        <p:nvSpPr>
          <p:cNvPr id="64" name="Google Shape;64;p4">
            <a:extLst>
              <a:ext uri="{FF2B5EF4-FFF2-40B4-BE49-F238E27FC236}">
                <a16:creationId xmlns:a16="http://schemas.microsoft.com/office/drawing/2014/main" id="{61A479EA-DA1C-F58B-F10E-F93041D67462}"/>
              </a:ext>
            </a:extLst>
          </p:cNvPr>
          <p:cNvSpPr/>
          <p:nvPr/>
        </p:nvSpPr>
        <p:spPr>
          <a:xfrm>
            <a:off x="0" y="0"/>
            <a:ext cx="9144000" cy="1390200"/>
          </a:xfrm>
          <a:prstGeom prst="rect">
            <a:avLst/>
          </a:prstGeom>
          <a:solidFill>
            <a:srgbClr val="004D40"/>
          </a:solidFill>
          <a:ln w="9525" cap="flat" cmpd="sng">
            <a:solidFill>
              <a:srgbClr val="FFFFFF"/>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highlight>
                <a:srgbClr val="B6D7A8"/>
              </a:highlight>
              <a:latin typeface="Arial"/>
              <a:ea typeface="Arial"/>
              <a:cs typeface="Arial"/>
              <a:sym typeface="Arial"/>
            </a:endParaRPr>
          </a:p>
        </p:txBody>
      </p:sp>
      <p:sp>
        <p:nvSpPr>
          <p:cNvPr id="65" name="Google Shape;65;p4">
            <a:extLst>
              <a:ext uri="{FF2B5EF4-FFF2-40B4-BE49-F238E27FC236}">
                <a16:creationId xmlns:a16="http://schemas.microsoft.com/office/drawing/2014/main" id="{3FC12613-1AB0-FE28-3092-F85C0E7B868D}"/>
              </a:ext>
            </a:extLst>
          </p:cNvPr>
          <p:cNvSpPr txBox="1"/>
          <p:nvPr/>
        </p:nvSpPr>
        <p:spPr>
          <a:xfrm>
            <a:off x="895525" y="337250"/>
            <a:ext cx="8520600" cy="572700"/>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Clr>
                <a:srgbClr val="000000"/>
              </a:buClr>
              <a:buSzPts val="2500"/>
              <a:buFont typeface="Arial"/>
              <a:buNone/>
            </a:pPr>
            <a:r>
              <a:rPr lang="fr" sz="2500" b="0" i="0" u="none" strike="noStrike" cap="none">
                <a:solidFill>
                  <a:srgbClr val="F3F3F3"/>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0"/>
                  </a:ext>
                </a:extLst>
              </a:rPr>
              <a:t>Analyses </a:t>
            </a:r>
            <a:r>
              <a:rPr lang="fr" sz="2500">
                <a:solidFill>
                  <a:srgbClr val="F3F3F3"/>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1"/>
                  </a:ext>
                </a:extLst>
              </a:rPr>
              <a:t>Exploratoires</a:t>
            </a:r>
            <a:r>
              <a:rPr lang="fr" sz="2500" b="0" i="0" u="none" strike="noStrike" cap="none">
                <a:solidFill>
                  <a:srgbClr val="F3F3F3"/>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2"/>
                  </a:ext>
                </a:extLst>
              </a:rPr>
              <a:t> des Données </a:t>
            </a:r>
            <a:endParaRPr sz="2500" b="0" i="0" u="none" strike="noStrike" cap="none" dirty="0">
              <a:solidFill>
                <a:srgbClr val="F3F3F3"/>
              </a:solidFill>
              <a:latin typeface="Montserrat"/>
              <a:ea typeface="Montserrat"/>
              <a:cs typeface="Montserrat"/>
              <a:sym typeface="Montserrat"/>
            </a:endParaRPr>
          </a:p>
        </p:txBody>
      </p:sp>
      <p:sp>
        <p:nvSpPr>
          <p:cNvPr id="66" name="Google Shape;66;p4">
            <a:extLst>
              <a:ext uri="{FF2B5EF4-FFF2-40B4-BE49-F238E27FC236}">
                <a16:creationId xmlns:a16="http://schemas.microsoft.com/office/drawing/2014/main" id="{3B313C85-AC54-8DCC-5CCD-734A43E4B761}"/>
              </a:ext>
            </a:extLst>
          </p:cNvPr>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34660188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2">
          <a:extLst>
            <a:ext uri="{FF2B5EF4-FFF2-40B4-BE49-F238E27FC236}">
              <a16:creationId xmlns:a16="http://schemas.microsoft.com/office/drawing/2014/main" id="{ACD3ABA1-8200-5359-9303-7586E062C97A}"/>
            </a:ext>
          </a:extLst>
        </p:cNvPr>
        <p:cNvGrpSpPr/>
        <p:nvPr/>
      </p:nvGrpSpPr>
      <p:grpSpPr>
        <a:xfrm>
          <a:off x="0" y="0"/>
          <a:ext cx="0" cy="0"/>
          <a:chOff x="0" y="0"/>
          <a:chExt cx="0" cy="0"/>
        </a:xfrm>
      </p:grpSpPr>
      <p:sp>
        <p:nvSpPr>
          <p:cNvPr id="63" name="Google Shape;63;p4">
            <a:extLst>
              <a:ext uri="{FF2B5EF4-FFF2-40B4-BE49-F238E27FC236}">
                <a16:creationId xmlns:a16="http://schemas.microsoft.com/office/drawing/2014/main" id="{D209B0F9-15D2-8E7C-20DA-29BAF007F716}"/>
              </a:ext>
            </a:extLst>
          </p:cNvPr>
          <p:cNvSpPr txBox="1">
            <a:spLocks noGrp="1"/>
          </p:cNvSpPr>
          <p:nvPr>
            <p:ph type="body" idx="1"/>
          </p:nvPr>
        </p:nvSpPr>
        <p:spPr>
          <a:xfrm>
            <a:off x="453823" y="1473600"/>
            <a:ext cx="8520600" cy="3416400"/>
          </a:xfrm>
          <a:prstGeom prst="rect">
            <a:avLst/>
          </a:prstGeom>
          <a:noFill/>
          <a:ln>
            <a:noFill/>
          </a:ln>
        </p:spPr>
        <p:txBody>
          <a:bodyPr spcFirstLastPara="1" wrap="square" lIns="91425" tIns="91425" rIns="91425" bIns="91425" anchor="t" anchorCtr="0">
            <a:normAutofit/>
          </a:bodyPr>
          <a:lstStyle/>
          <a:p>
            <a:pPr marL="457200" marR="0" lvl="0" indent="-342900" algn="l" rtl="0">
              <a:lnSpc>
                <a:spcPct val="115000"/>
              </a:lnSpc>
              <a:spcBef>
                <a:spcPts val="0"/>
              </a:spcBef>
              <a:spcAft>
                <a:spcPts val="0"/>
              </a:spcAft>
              <a:buClrTx/>
              <a:buSzPts val="1800"/>
              <a:buFont typeface="Montserrat"/>
              <a:buChar char="●"/>
            </a:pPr>
            <a:r>
              <a:rPr lang="fr" i="1" dirty="0">
                <a:solidFill>
                  <a:schemeClr val="tx1"/>
                </a:solidFill>
                <a:latin typeface="Montserrat"/>
                <a:ea typeface="Montserrat"/>
                <a:cs typeface="Montserrat"/>
                <a:sym typeface="Montserrat"/>
              </a:rPr>
              <a:t>Traitement réalisés table de liaison (2 colonnes et 825 lignes)</a:t>
            </a:r>
            <a:endParaRPr i="1" dirty="0">
              <a:solidFill>
                <a:schemeClr val="tx1"/>
              </a:solidFill>
              <a:latin typeface="Montserrat"/>
              <a:ea typeface="Montserrat"/>
              <a:cs typeface="Montserrat"/>
              <a:sym typeface="Montserrat"/>
            </a:endParaRPr>
          </a:p>
          <a:p>
            <a:pPr marL="914400" marR="0" lvl="1" indent="-317500" algn="l" rtl="0">
              <a:lnSpc>
                <a:spcPct val="115000"/>
              </a:lnSpc>
              <a:spcBef>
                <a:spcPts val="0"/>
              </a:spcBef>
              <a:spcAft>
                <a:spcPts val="0"/>
              </a:spcAft>
              <a:buClrTx/>
              <a:buSzPts val="1400"/>
              <a:buFont typeface="Montserrat"/>
              <a:buChar char="○"/>
            </a:pPr>
            <a:r>
              <a:rPr lang="fr" sz="1800" i="1" dirty="0">
                <a:solidFill>
                  <a:schemeClr val="tx1"/>
                </a:solidFill>
                <a:latin typeface="Montserrat"/>
                <a:ea typeface="Montserrat"/>
                <a:cs typeface="Montserrat"/>
                <a:sym typeface="Montserrat"/>
              </a:rPr>
              <a:t>Nettoyages des données</a:t>
            </a:r>
          </a:p>
          <a:p>
            <a:pPr marL="1397000" lvl="2" indent="-342900">
              <a:buClr>
                <a:schemeClr val="tx1"/>
              </a:buClr>
              <a:buFont typeface="+mj-lt"/>
              <a:buAutoNum type="arabicPeriod"/>
            </a:pPr>
            <a:r>
              <a:rPr lang="fr-FR" sz="1800" i="1" dirty="0">
                <a:solidFill>
                  <a:schemeClr val="tx1"/>
                </a:solidFill>
                <a:latin typeface="Montserrat"/>
                <a:ea typeface="Montserrat"/>
                <a:cs typeface="Montserrat"/>
                <a:sym typeface="Montserrat"/>
              </a:rPr>
              <a:t>Nettoyage colonne id_web(suppression lignes vides, correction lignes textuelles et suppression bons)</a:t>
            </a:r>
          </a:p>
          <a:p>
            <a:pPr lvl="3">
              <a:buClr>
                <a:schemeClr val="tx1"/>
              </a:buClr>
            </a:pPr>
            <a:r>
              <a:rPr lang="fr-FR" sz="1800" i="1" dirty="0">
                <a:solidFill>
                  <a:schemeClr val="tx1"/>
                </a:solidFill>
                <a:latin typeface="Montserrat"/>
                <a:ea typeface="Montserrat"/>
                <a:cs typeface="Montserrat"/>
                <a:sym typeface="Montserrat"/>
              </a:rPr>
              <a:t>2 doublons d’id_web</a:t>
            </a:r>
          </a:p>
          <a:p>
            <a:pPr lvl="3">
              <a:buClr>
                <a:schemeClr val="tx1"/>
              </a:buClr>
            </a:pPr>
            <a:r>
              <a:rPr lang="fr-FR" sz="1800" i="1" dirty="0">
                <a:solidFill>
                  <a:schemeClr val="tx1"/>
                </a:solidFill>
                <a:latin typeface="Montserrat"/>
                <a:ea typeface="Montserrat"/>
                <a:cs typeface="Montserrat"/>
                <a:sym typeface="Montserrat"/>
              </a:rPr>
              <a:t>91 lignes sans id_web</a:t>
            </a:r>
            <a:endParaRPr sz="1800" i="1" dirty="0">
              <a:solidFill>
                <a:schemeClr val="tx1"/>
              </a:solidFill>
              <a:latin typeface="Montserrat"/>
              <a:ea typeface="Montserrat"/>
              <a:cs typeface="Montserrat"/>
              <a:sym typeface="Montserrat"/>
            </a:endParaRPr>
          </a:p>
          <a:p>
            <a:pPr marL="914400" marR="0" lvl="1" indent="-317500" algn="l" rtl="0">
              <a:lnSpc>
                <a:spcPct val="115000"/>
              </a:lnSpc>
              <a:spcBef>
                <a:spcPts val="0"/>
              </a:spcBef>
              <a:spcAft>
                <a:spcPts val="0"/>
              </a:spcAft>
              <a:buClr>
                <a:srgbClr val="999999"/>
              </a:buClr>
              <a:buSzPts val="1400"/>
              <a:buFont typeface="Montserrat"/>
              <a:buChar char="○"/>
            </a:pPr>
            <a:endParaRPr lang="fr-FR" sz="1800" i="1" dirty="0">
              <a:solidFill>
                <a:schemeClr val="tx1"/>
              </a:solidFill>
              <a:latin typeface="Montserrat"/>
              <a:ea typeface="Montserrat"/>
              <a:cs typeface="Montserrat"/>
              <a:sym typeface="Montserrat"/>
            </a:endParaRPr>
          </a:p>
        </p:txBody>
      </p:sp>
      <p:sp>
        <p:nvSpPr>
          <p:cNvPr id="64" name="Google Shape;64;p4">
            <a:extLst>
              <a:ext uri="{FF2B5EF4-FFF2-40B4-BE49-F238E27FC236}">
                <a16:creationId xmlns:a16="http://schemas.microsoft.com/office/drawing/2014/main" id="{B69355E8-8F06-BDE9-38A1-9BBABFC05496}"/>
              </a:ext>
            </a:extLst>
          </p:cNvPr>
          <p:cNvSpPr/>
          <p:nvPr/>
        </p:nvSpPr>
        <p:spPr>
          <a:xfrm>
            <a:off x="0" y="0"/>
            <a:ext cx="9144000" cy="1390200"/>
          </a:xfrm>
          <a:prstGeom prst="rect">
            <a:avLst/>
          </a:prstGeom>
          <a:solidFill>
            <a:srgbClr val="004D40"/>
          </a:solidFill>
          <a:ln w="9525" cap="flat" cmpd="sng">
            <a:solidFill>
              <a:srgbClr val="FFFFFF"/>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highlight>
                <a:srgbClr val="B6D7A8"/>
              </a:highlight>
              <a:latin typeface="Arial"/>
              <a:ea typeface="Arial"/>
              <a:cs typeface="Arial"/>
              <a:sym typeface="Arial"/>
            </a:endParaRPr>
          </a:p>
        </p:txBody>
      </p:sp>
      <p:sp>
        <p:nvSpPr>
          <p:cNvPr id="65" name="Google Shape;65;p4">
            <a:extLst>
              <a:ext uri="{FF2B5EF4-FFF2-40B4-BE49-F238E27FC236}">
                <a16:creationId xmlns:a16="http://schemas.microsoft.com/office/drawing/2014/main" id="{966876C2-BF10-DE32-4F62-308F64D2A921}"/>
              </a:ext>
            </a:extLst>
          </p:cNvPr>
          <p:cNvSpPr txBox="1"/>
          <p:nvPr/>
        </p:nvSpPr>
        <p:spPr>
          <a:xfrm>
            <a:off x="895525" y="337250"/>
            <a:ext cx="8520600" cy="572700"/>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Clr>
                <a:srgbClr val="000000"/>
              </a:buClr>
              <a:buSzPts val="2500"/>
              <a:buFont typeface="Arial"/>
              <a:buNone/>
            </a:pPr>
            <a:r>
              <a:rPr lang="fr" sz="2500" b="0" i="0" u="none" strike="noStrike" cap="none">
                <a:solidFill>
                  <a:srgbClr val="F3F3F3"/>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0"/>
                  </a:ext>
                </a:extLst>
              </a:rPr>
              <a:t>Analyses </a:t>
            </a:r>
            <a:r>
              <a:rPr lang="fr" sz="2500">
                <a:solidFill>
                  <a:srgbClr val="F3F3F3"/>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1"/>
                  </a:ext>
                </a:extLst>
              </a:rPr>
              <a:t>Exploratoires</a:t>
            </a:r>
            <a:r>
              <a:rPr lang="fr" sz="2500" b="0" i="0" u="none" strike="noStrike" cap="none">
                <a:solidFill>
                  <a:srgbClr val="F3F3F3"/>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2"/>
                  </a:ext>
                </a:extLst>
              </a:rPr>
              <a:t> des Données </a:t>
            </a:r>
            <a:endParaRPr sz="2500" b="0" i="0" u="none" strike="noStrike" cap="none" dirty="0">
              <a:solidFill>
                <a:srgbClr val="F3F3F3"/>
              </a:solidFill>
              <a:latin typeface="Montserrat"/>
              <a:ea typeface="Montserrat"/>
              <a:cs typeface="Montserrat"/>
              <a:sym typeface="Montserrat"/>
            </a:endParaRPr>
          </a:p>
        </p:txBody>
      </p:sp>
      <p:sp>
        <p:nvSpPr>
          <p:cNvPr id="66" name="Google Shape;66;p4">
            <a:extLst>
              <a:ext uri="{FF2B5EF4-FFF2-40B4-BE49-F238E27FC236}">
                <a16:creationId xmlns:a16="http://schemas.microsoft.com/office/drawing/2014/main" id="{98EB8008-AA51-EC79-739A-953037D07542}"/>
              </a:ext>
            </a:extLst>
          </p:cNvPr>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34384522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2">
          <a:extLst>
            <a:ext uri="{FF2B5EF4-FFF2-40B4-BE49-F238E27FC236}">
              <a16:creationId xmlns:a16="http://schemas.microsoft.com/office/drawing/2014/main" id="{F5143F51-3AB6-230B-0C34-BD261AA9F092}"/>
            </a:ext>
          </a:extLst>
        </p:cNvPr>
        <p:cNvGrpSpPr/>
        <p:nvPr/>
      </p:nvGrpSpPr>
      <p:grpSpPr>
        <a:xfrm>
          <a:off x="0" y="0"/>
          <a:ext cx="0" cy="0"/>
          <a:chOff x="0" y="0"/>
          <a:chExt cx="0" cy="0"/>
        </a:xfrm>
      </p:grpSpPr>
      <p:sp>
        <p:nvSpPr>
          <p:cNvPr id="63" name="Google Shape;63;p4">
            <a:extLst>
              <a:ext uri="{FF2B5EF4-FFF2-40B4-BE49-F238E27FC236}">
                <a16:creationId xmlns:a16="http://schemas.microsoft.com/office/drawing/2014/main" id="{8F5376A5-B536-4B28-5B3E-631F54B0049D}"/>
              </a:ext>
            </a:extLst>
          </p:cNvPr>
          <p:cNvSpPr txBox="1">
            <a:spLocks noGrp="1"/>
          </p:cNvSpPr>
          <p:nvPr>
            <p:ph type="body" idx="1"/>
          </p:nvPr>
        </p:nvSpPr>
        <p:spPr>
          <a:xfrm>
            <a:off x="453823" y="1473600"/>
            <a:ext cx="8520600" cy="3416400"/>
          </a:xfrm>
          <a:prstGeom prst="rect">
            <a:avLst/>
          </a:prstGeom>
          <a:noFill/>
          <a:ln>
            <a:noFill/>
          </a:ln>
        </p:spPr>
        <p:txBody>
          <a:bodyPr spcFirstLastPara="1" wrap="square" lIns="91425" tIns="91425" rIns="91425" bIns="91425" anchor="t" anchorCtr="0">
            <a:normAutofit/>
          </a:bodyPr>
          <a:lstStyle/>
          <a:p>
            <a:pPr marL="457200" marR="0" lvl="0" indent="-342900" algn="l" rtl="0">
              <a:lnSpc>
                <a:spcPct val="115000"/>
              </a:lnSpc>
              <a:spcBef>
                <a:spcPts val="0"/>
              </a:spcBef>
              <a:spcAft>
                <a:spcPts val="0"/>
              </a:spcAft>
              <a:buClrTx/>
              <a:buSzPts val="1800"/>
              <a:buFont typeface="Montserrat"/>
              <a:buChar char="●"/>
            </a:pPr>
            <a:r>
              <a:rPr lang="fr-FR" i="1" dirty="0">
                <a:solidFill>
                  <a:schemeClr val="tx1"/>
                </a:solidFill>
                <a:latin typeface="Montserrat"/>
                <a:ea typeface="Montserrat"/>
                <a:cs typeface="Montserrat"/>
                <a:sym typeface="Montserrat"/>
              </a:rPr>
              <a:t>Remarques éventuelles, pièges ou difficultés rencontrées </a:t>
            </a:r>
          </a:p>
          <a:p>
            <a:pPr lvl="1" indent="-342900">
              <a:buClrTx/>
              <a:buSzPct val="100000"/>
              <a:buFont typeface="+mj-lt"/>
              <a:buAutoNum type="arabicPeriod"/>
            </a:pPr>
            <a:r>
              <a:rPr lang="fr-FR" sz="1200" dirty="0">
                <a:solidFill>
                  <a:schemeClr val="tx1"/>
                </a:solidFill>
                <a:latin typeface="Montserrat"/>
                <a:ea typeface="Montserrat"/>
                <a:cs typeface="Montserrat"/>
                <a:sym typeface="Montserrat"/>
              </a:rPr>
              <a:t>Stock_status parfois outofstock alors qu'il y a du stock</a:t>
            </a:r>
          </a:p>
          <a:p>
            <a:pPr lvl="1" indent="-342900">
              <a:buClrTx/>
              <a:buSzPct val="100000"/>
              <a:buFont typeface="+mj-lt"/>
              <a:buAutoNum type="arabicPeriod"/>
            </a:pPr>
            <a:r>
              <a:rPr lang="fr-FR" sz="1200" dirty="0">
                <a:solidFill>
                  <a:schemeClr val="tx1"/>
                </a:solidFill>
                <a:latin typeface="Montserrat"/>
                <a:ea typeface="Montserrat"/>
                <a:cs typeface="Montserrat"/>
                <a:sym typeface="Montserrat"/>
              </a:rPr>
              <a:t>Stock_quantity est parfois négatif</a:t>
            </a:r>
          </a:p>
          <a:p>
            <a:pPr lvl="1" indent="-342900">
              <a:buClrTx/>
              <a:buSzPct val="100000"/>
              <a:buFont typeface="+mj-lt"/>
              <a:buAutoNum type="arabicPeriod"/>
            </a:pPr>
            <a:r>
              <a:rPr lang="fr-FR" sz="1200" dirty="0">
                <a:solidFill>
                  <a:schemeClr val="tx1"/>
                </a:solidFill>
                <a:latin typeface="Montserrat"/>
                <a:ea typeface="Montserrat"/>
                <a:cs typeface="Montserrat"/>
                <a:sym typeface="Montserrat"/>
              </a:rPr>
              <a:t>Le prix de vente est parfois négatif</a:t>
            </a:r>
          </a:p>
          <a:p>
            <a:pPr lvl="1" indent="-342900">
              <a:buClrTx/>
              <a:buSzPct val="100000"/>
              <a:buFont typeface="+mj-lt"/>
              <a:buAutoNum type="arabicPeriod"/>
            </a:pPr>
            <a:r>
              <a:rPr lang="fr-FR" sz="1200" dirty="0">
                <a:solidFill>
                  <a:schemeClr val="tx1"/>
                </a:solidFill>
                <a:latin typeface="Montserrat"/>
                <a:ea typeface="Montserrat"/>
                <a:cs typeface="Montserrat"/>
                <a:sym typeface="Montserrat"/>
              </a:rPr>
              <a:t>Il y a des colonnes complètement vides dans web</a:t>
            </a:r>
          </a:p>
          <a:p>
            <a:pPr lvl="1" indent="-342900">
              <a:buClrTx/>
              <a:buSzPct val="100000"/>
              <a:buFont typeface="+mj-lt"/>
              <a:buAutoNum type="arabicPeriod"/>
            </a:pPr>
            <a:r>
              <a:rPr lang="fr-FR" sz="1200" dirty="0">
                <a:solidFill>
                  <a:schemeClr val="tx1"/>
                </a:solidFill>
                <a:latin typeface="Montserrat"/>
                <a:ea typeface="Montserrat"/>
                <a:cs typeface="Montserrat"/>
                <a:sym typeface="Montserrat"/>
              </a:rPr>
              <a:t>Lignes vides dans web</a:t>
            </a:r>
          </a:p>
          <a:p>
            <a:pPr lvl="1" indent="-342900">
              <a:buClrTx/>
              <a:buSzPct val="100000"/>
              <a:buFont typeface="+mj-lt"/>
              <a:buAutoNum type="arabicPeriod"/>
            </a:pPr>
            <a:r>
              <a:rPr lang="fr-FR" sz="1200" dirty="0">
                <a:solidFill>
                  <a:schemeClr val="tx1"/>
                </a:solidFill>
                <a:latin typeface="Montserrat"/>
                <a:ea typeface="Montserrat"/>
                <a:cs typeface="Montserrat"/>
                <a:sym typeface="Montserrat"/>
              </a:rPr>
              <a:t>Web contient des doublons pour chaque ligne</a:t>
            </a:r>
          </a:p>
          <a:p>
            <a:pPr lvl="1" indent="-342900">
              <a:buClrTx/>
              <a:buSzPct val="100000"/>
              <a:buFont typeface="+mj-lt"/>
              <a:buAutoNum type="arabicPeriod"/>
            </a:pPr>
            <a:r>
              <a:rPr lang="fr-FR" sz="1200" dirty="0">
                <a:solidFill>
                  <a:schemeClr val="tx1"/>
                </a:solidFill>
                <a:latin typeface="Montserrat"/>
                <a:ea typeface="Montserrat"/>
                <a:cs typeface="Montserrat"/>
                <a:sym typeface="Montserrat"/>
              </a:rPr>
              <a:t>sku contient des lignes avec du texte ou vides</a:t>
            </a:r>
          </a:p>
          <a:p>
            <a:pPr lvl="1" indent="-342900">
              <a:buClrTx/>
              <a:buSzPct val="100000"/>
              <a:buFont typeface="+mj-lt"/>
              <a:buAutoNum type="arabicPeriod"/>
            </a:pPr>
            <a:r>
              <a:rPr lang="fr-FR" sz="1200" dirty="0">
                <a:solidFill>
                  <a:schemeClr val="tx1"/>
                </a:solidFill>
                <a:latin typeface="Montserrat"/>
                <a:ea typeface="Montserrat"/>
                <a:cs typeface="Montserrat"/>
                <a:sym typeface="Montserrat"/>
              </a:rPr>
              <a:t>Certaines valeurs de total_sales sont négatives </a:t>
            </a:r>
          </a:p>
          <a:p>
            <a:pPr lvl="1" indent="-342900">
              <a:buClrTx/>
              <a:buSzPct val="100000"/>
              <a:buFont typeface="+mj-lt"/>
              <a:buAutoNum type="arabicPeriod"/>
            </a:pPr>
            <a:r>
              <a:rPr lang="fr-FR" sz="1200" dirty="0">
                <a:solidFill>
                  <a:schemeClr val="tx1"/>
                </a:solidFill>
                <a:latin typeface="Montserrat"/>
                <a:ea typeface="Montserrat"/>
                <a:cs typeface="Montserrat"/>
                <a:sym typeface="Montserrat"/>
              </a:rPr>
              <a:t>Liaison contient des id_web vide pour certains product_id</a:t>
            </a:r>
          </a:p>
          <a:p>
            <a:pPr lvl="1" indent="-342900">
              <a:buClrTx/>
              <a:buSzPct val="100000"/>
              <a:buFont typeface="+mj-lt"/>
              <a:buAutoNum type="arabicPeriod"/>
            </a:pPr>
            <a:r>
              <a:rPr lang="fr-FR" sz="1200" dirty="0">
                <a:solidFill>
                  <a:schemeClr val="tx1"/>
                </a:solidFill>
                <a:latin typeface="Montserrat"/>
                <a:ea typeface="Montserrat"/>
                <a:cs typeface="Montserrat"/>
                <a:sym typeface="Montserrat"/>
              </a:rPr>
              <a:t>Liaison contient des doublons pour id_web et certaines id ne sont pas des chiffres</a:t>
            </a:r>
          </a:p>
          <a:p>
            <a:pPr lvl="1" indent="-342900">
              <a:buClrTx/>
              <a:buSzPct val="100000"/>
              <a:buFont typeface="+mj-lt"/>
              <a:buAutoNum type="arabicPeriod"/>
            </a:pPr>
            <a:r>
              <a:rPr lang="fr-FR" sz="1200" dirty="0">
                <a:solidFill>
                  <a:schemeClr val="tx1"/>
                </a:solidFill>
                <a:latin typeface="Montserrat"/>
                <a:ea typeface="Montserrat"/>
                <a:cs typeface="Montserrat"/>
                <a:sym typeface="Montserrat"/>
              </a:rPr>
              <a:t>Il y a de l'huile d'olive alors que c'est un marchand de vin</a:t>
            </a:r>
          </a:p>
          <a:p>
            <a:pPr lvl="1" indent="-342900">
              <a:buClrTx/>
              <a:buSzPct val="100000"/>
              <a:buFont typeface="+mj-lt"/>
              <a:buAutoNum type="arabicPeriod"/>
            </a:pPr>
            <a:r>
              <a:rPr lang="fr-FR" sz="1200" dirty="0">
                <a:solidFill>
                  <a:schemeClr val="tx1"/>
                </a:solidFill>
                <a:latin typeface="Montserrat"/>
                <a:ea typeface="Montserrat"/>
                <a:cs typeface="Montserrat"/>
                <a:sym typeface="Montserrat"/>
              </a:rPr>
              <a:t>Un certain nombre de lignes n'avaient pas de match avec web alors qu’elles existaient dans la table liaison</a:t>
            </a:r>
          </a:p>
        </p:txBody>
      </p:sp>
      <p:sp>
        <p:nvSpPr>
          <p:cNvPr id="64" name="Google Shape;64;p4">
            <a:extLst>
              <a:ext uri="{FF2B5EF4-FFF2-40B4-BE49-F238E27FC236}">
                <a16:creationId xmlns:a16="http://schemas.microsoft.com/office/drawing/2014/main" id="{09A656F0-B814-AC05-2B80-22FDC84C652D}"/>
              </a:ext>
            </a:extLst>
          </p:cNvPr>
          <p:cNvSpPr/>
          <p:nvPr/>
        </p:nvSpPr>
        <p:spPr>
          <a:xfrm>
            <a:off x="0" y="0"/>
            <a:ext cx="9144000" cy="1390200"/>
          </a:xfrm>
          <a:prstGeom prst="rect">
            <a:avLst/>
          </a:prstGeom>
          <a:solidFill>
            <a:srgbClr val="004D40"/>
          </a:solidFill>
          <a:ln w="9525" cap="flat" cmpd="sng">
            <a:solidFill>
              <a:srgbClr val="FFFFFF"/>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highlight>
                <a:srgbClr val="B6D7A8"/>
              </a:highlight>
              <a:latin typeface="Arial"/>
              <a:ea typeface="Arial"/>
              <a:cs typeface="Arial"/>
              <a:sym typeface="Arial"/>
            </a:endParaRPr>
          </a:p>
        </p:txBody>
      </p:sp>
      <p:sp>
        <p:nvSpPr>
          <p:cNvPr id="65" name="Google Shape;65;p4">
            <a:extLst>
              <a:ext uri="{FF2B5EF4-FFF2-40B4-BE49-F238E27FC236}">
                <a16:creationId xmlns:a16="http://schemas.microsoft.com/office/drawing/2014/main" id="{1AACB432-8131-802F-5020-E92C107AC402}"/>
              </a:ext>
            </a:extLst>
          </p:cNvPr>
          <p:cNvSpPr txBox="1"/>
          <p:nvPr/>
        </p:nvSpPr>
        <p:spPr>
          <a:xfrm>
            <a:off x="895525" y="337250"/>
            <a:ext cx="8520600" cy="572700"/>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Clr>
                <a:srgbClr val="000000"/>
              </a:buClr>
              <a:buSzPts val="2500"/>
              <a:buFont typeface="Arial"/>
              <a:buNone/>
            </a:pPr>
            <a:r>
              <a:rPr lang="fr" sz="2500" b="0" i="0" u="none" strike="noStrike" cap="none">
                <a:solidFill>
                  <a:srgbClr val="F3F3F3"/>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0"/>
                  </a:ext>
                </a:extLst>
              </a:rPr>
              <a:t>Analyses </a:t>
            </a:r>
            <a:r>
              <a:rPr lang="fr" sz="2500">
                <a:solidFill>
                  <a:srgbClr val="F3F3F3"/>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1"/>
                  </a:ext>
                </a:extLst>
              </a:rPr>
              <a:t>Exploratoires</a:t>
            </a:r>
            <a:r>
              <a:rPr lang="fr" sz="2500" b="0" i="0" u="none" strike="noStrike" cap="none">
                <a:solidFill>
                  <a:srgbClr val="F3F3F3"/>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2"/>
                  </a:ext>
                </a:extLst>
              </a:rPr>
              <a:t> des Données </a:t>
            </a:r>
            <a:endParaRPr sz="2500" b="0" i="0" u="none" strike="noStrike" cap="none" dirty="0">
              <a:solidFill>
                <a:srgbClr val="F3F3F3"/>
              </a:solidFill>
              <a:latin typeface="Montserrat"/>
              <a:ea typeface="Montserrat"/>
              <a:cs typeface="Montserrat"/>
              <a:sym typeface="Montserrat"/>
            </a:endParaRPr>
          </a:p>
        </p:txBody>
      </p:sp>
      <p:sp>
        <p:nvSpPr>
          <p:cNvPr id="66" name="Google Shape;66;p4">
            <a:extLst>
              <a:ext uri="{FF2B5EF4-FFF2-40B4-BE49-F238E27FC236}">
                <a16:creationId xmlns:a16="http://schemas.microsoft.com/office/drawing/2014/main" id="{E013B6D0-A014-E785-CCE2-5B65232FBC33}"/>
              </a:ext>
            </a:extLst>
          </p:cNvPr>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37935822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5"/>
          <p:cNvSpPr txBox="1">
            <a:spLocks noGrp="1"/>
          </p:cNvSpPr>
          <p:nvPr>
            <p:ph type="body" idx="1"/>
          </p:nvPr>
        </p:nvSpPr>
        <p:spPr>
          <a:xfrm>
            <a:off x="623400" y="1462750"/>
            <a:ext cx="8520600" cy="3416400"/>
          </a:xfrm>
          <a:prstGeom prst="rect">
            <a:avLst/>
          </a:prstGeom>
          <a:noFill/>
          <a:ln>
            <a:noFill/>
          </a:ln>
        </p:spPr>
        <p:txBody>
          <a:bodyPr spcFirstLastPara="1" wrap="square" lIns="91425" tIns="91425" rIns="91425" bIns="91425" anchor="t" anchorCtr="0">
            <a:normAutofit/>
          </a:bodyPr>
          <a:lstStyle/>
          <a:p>
            <a:pPr marL="457200" marR="0" lvl="0" indent="-342900" algn="l" rtl="0">
              <a:lnSpc>
                <a:spcPct val="115000"/>
              </a:lnSpc>
              <a:spcBef>
                <a:spcPts val="0"/>
              </a:spcBef>
              <a:spcAft>
                <a:spcPts val="0"/>
              </a:spcAft>
              <a:buClrTx/>
              <a:buSzPts val="1800"/>
              <a:buFont typeface="Montserrat"/>
              <a:buChar char="●"/>
            </a:pPr>
            <a:r>
              <a:rPr lang="fr" i="1" dirty="0">
                <a:solidFill>
                  <a:schemeClr val="tx1"/>
                </a:solidFill>
                <a:latin typeface="Montserrat"/>
                <a:ea typeface="Montserrat"/>
                <a:cs typeface="Montserrat"/>
                <a:sym typeface="Montserrat"/>
              </a:rPr>
              <a:t>Choix des attributs</a:t>
            </a:r>
          </a:p>
          <a:p>
            <a:pPr marL="457200" marR="0" lvl="0" indent="-342900" algn="l" rtl="0">
              <a:lnSpc>
                <a:spcPct val="115000"/>
              </a:lnSpc>
              <a:spcBef>
                <a:spcPts val="0"/>
              </a:spcBef>
              <a:spcAft>
                <a:spcPts val="0"/>
              </a:spcAft>
              <a:buClrTx/>
              <a:buSzPts val="1800"/>
              <a:buFont typeface="Montserrat"/>
              <a:buChar char="●"/>
            </a:pPr>
            <a:endParaRPr lang="fr" sz="1100" i="1" dirty="0">
              <a:solidFill>
                <a:schemeClr val="tx1"/>
              </a:solidFill>
              <a:latin typeface="Montserrat"/>
              <a:ea typeface="Montserrat"/>
              <a:cs typeface="Montserrat"/>
              <a:sym typeface="Montserrat"/>
            </a:endParaRPr>
          </a:p>
          <a:p>
            <a:pPr lvl="1" indent="-342900">
              <a:buClrTx/>
              <a:buSzPct val="100000"/>
              <a:buFont typeface="+mj-lt"/>
              <a:buAutoNum type="arabicPeriod"/>
            </a:pPr>
            <a:r>
              <a:rPr lang="fr-FR" i="1" dirty="0">
                <a:solidFill>
                  <a:schemeClr val="tx1"/>
                </a:solidFill>
                <a:latin typeface="Montserrat"/>
                <a:ea typeface="Montserrat"/>
                <a:cs typeface="Montserrat"/>
                <a:sym typeface="Montserrat"/>
              </a:rPr>
              <a:t>Dans les données web, suppression de tous les attributs vides ou  en lien avec les postes (sauf </a:t>
            </a:r>
            <a:r>
              <a:rPr lang="fr-FR" i="1" dirty="0" err="1">
                <a:solidFill>
                  <a:schemeClr val="tx1"/>
                </a:solidFill>
                <a:latin typeface="Montserrat"/>
                <a:ea typeface="Montserrat"/>
                <a:cs typeface="Montserrat"/>
                <a:sym typeface="Montserrat"/>
              </a:rPr>
              <a:t>post_title</a:t>
            </a:r>
            <a:r>
              <a:rPr lang="fr-FR" i="1" dirty="0">
                <a:solidFill>
                  <a:schemeClr val="tx1"/>
                </a:solidFill>
                <a:latin typeface="Montserrat"/>
                <a:ea typeface="Montserrat"/>
                <a:cs typeface="Montserrat"/>
                <a:sym typeface="Montserrat"/>
              </a:rPr>
              <a:t> = </a:t>
            </a:r>
            <a:r>
              <a:rPr lang="fr-FR" i="1" dirty="0" err="1">
                <a:solidFill>
                  <a:schemeClr val="tx1"/>
                </a:solidFill>
                <a:latin typeface="Montserrat"/>
                <a:ea typeface="Montserrat"/>
                <a:cs typeface="Montserrat"/>
                <a:sym typeface="Montserrat"/>
              </a:rPr>
              <a:t>nom_cuvée</a:t>
            </a:r>
            <a:r>
              <a:rPr lang="fr-FR" i="1" dirty="0">
                <a:solidFill>
                  <a:schemeClr val="tx1"/>
                </a:solidFill>
                <a:latin typeface="Montserrat"/>
                <a:ea typeface="Montserrat"/>
                <a:cs typeface="Montserrat"/>
                <a:sym typeface="Montserrat"/>
              </a:rPr>
              <a:t> et </a:t>
            </a:r>
            <a:r>
              <a:rPr lang="fr-FR" i="1" dirty="0" err="1">
                <a:solidFill>
                  <a:schemeClr val="tx1"/>
                </a:solidFill>
                <a:latin typeface="Montserrat"/>
                <a:ea typeface="Montserrat"/>
                <a:cs typeface="Montserrat"/>
                <a:sym typeface="Montserrat"/>
              </a:rPr>
              <a:t>post_type</a:t>
            </a:r>
            <a:r>
              <a:rPr lang="fr-FR" i="1" dirty="0">
                <a:solidFill>
                  <a:schemeClr val="tx1"/>
                </a:solidFill>
                <a:latin typeface="Montserrat"/>
                <a:ea typeface="Montserrat"/>
                <a:cs typeface="Montserrat"/>
                <a:sym typeface="Montserrat"/>
              </a:rPr>
              <a:t>)</a:t>
            </a:r>
          </a:p>
          <a:p>
            <a:pPr lvl="1" indent="-342900">
              <a:buClrTx/>
              <a:buSzPct val="100000"/>
              <a:buFont typeface="+mj-lt"/>
              <a:buAutoNum type="arabicPeriod"/>
            </a:pPr>
            <a:r>
              <a:rPr lang="fr-FR" i="1" dirty="0">
                <a:solidFill>
                  <a:schemeClr val="tx1"/>
                </a:solidFill>
                <a:latin typeface="Montserrat"/>
                <a:ea typeface="Montserrat"/>
                <a:cs typeface="Montserrat"/>
                <a:sym typeface="Montserrat"/>
              </a:rPr>
              <a:t>Dans les données erp on élimine seulement onsale_web car non utile</a:t>
            </a:r>
          </a:p>
          <a:p>
            <a:pPr marL="571500" lvl="1" indent="0">
              <a:buClrTx/>
              <a:buSzPct val="100000"/>
              <a:buNone/>
            </a:pPr>
            <a:endParaRPr sz="2800" i="1" dirty="0">
              <a:solidFill>
                <a:schemeClr val="tx1"/>
              </a:solidFill>
              <a:latin typeface="Montserrat"/>
              <a:ea typeface="Montserrat"/>
              <a:cs typeface="Montserrat"/>
              <a:sym typeface="Montserrat"/>
            </a:endParaRPr>
          </a:p>
          <a:p>
            <a:pPr marL="457200" marR="0" lvl="0" indent="-342900" algn="l" rtl="0">
              <a:lnSpc>
                <a:spcPct val="115000"/>
              </a:lnSpc>
              <a:spcBef>
                <a:spcPts val="0"/>
              </a:spcBef>
              <a:spcAft>
                <a:spcPts val="0"/>
              </a:spcAft>
              <a:buClrTx/>
              <a:buSzPts val="1800"/>
              <a:buFont typeface="Montserrat"/>
              <a:buChar char="●"/>
            </a:pPr>
            <a:r>
              <a:rPr lang="fr" i="1" dirty="0">
                <a:solidFill>
                  <a:schemeClr val="tx1"/>
                </a:solidFill>
                <a:latin typeface="Montserrat"/>
                <a:ea typeface="Montserrat"/>
                <a:cs typeface="Montserrat"/>
                <a:sym typeface="Montserrat"/>
              </a:rPr>
              <a:t>Clés utilisés</a:t>
            </a:r>
          </a:p>
          <a:p>
            <a:pPr marL="457200" marR="0" lvl="0" indent="-342900" algn="l" rtl="0">
              <a:lnSpc>
                <a:spcPct val="115000"/>
              </a:lnSpc>
              <a:spcBef>
                <a:spcPts val="0"/>
              </a:spcBef>
              <a:spcAft>
                <a:spcPts val="0"/>
              </a:spcAft>
              <a:buClrTx/>
              <a:buSzPts val="1800"/>
              <a:buFont typeface="Montserrat"/>
              <a:buChar char="●"/>
            </a:pPr>
            <a:endParaRPr lang="fr" sz="1100" i="1" dirty="0">
              <a:solidFill>
                <a:schemeClr val="tx1"/>
              </a:solidFill>
              <a:latin typeface="Montserrat"/>
              <a:ea typeface="Montserrat"/>
              <a:cs typeface="Montserrat"/>
              <a:sym typeface="Montserrat"/>
            </a:endParaRPr>
          </a:p>
          <a:p>
            <a:pPr lvl="1" indent="-342900">
              <a:buClrTx/>
              <a:buSzPct val="100000"/>
              <a:buFont typeface="+mj-lt"/>
              <a:buAutoNum type="arabicPeriod"/>
            </a:pPr>
            <a:r>
              <a:rPr lang="fr-FR" i="1" dirty="0">
                <a:solidFill>
                  <a:schemeClr val="tx1"/>
                </a:solidFill>
                <a:latin typeface="Montserrat"/>
                <a:ea typeface="Montserrat"/>
                <a:cs typeface="Montserrat"/>
                <a:sym typeface="Montserrat"/>
              </a:rPr>
              <a:t>Pour les données ERP la clé est product_id</a:t>
            </a:r>
          </a:p>
          <a:p>
            <a:pPr lvl="1" indent="-342900">
              <a:buClrTx/>
              <a:buSzPct val="100000"/>
              <a:buFont typeface="+mj-lt"/>
              <a:buAutoNum type="arabicPeriod"/>
            </a:pPr>
            <a:r>
              <a:rPr lang="fr-FR" i="1" dirty="0">
                <a:solidFill>
                  <a:schemeClr val="tx1"/>
                </a:solidFill>
                <a:latin typeface="Montserrat"/>
                <a:ea typeface="Montserrat"/>
                <a:cs typeface="Montserrat"/>
                <a:sym typeface="Montserrat"/>
              </a:rPr>
              <a:t>Pour les données web la clé est id_web</a:t>
            </a:r>
          </a:p>
          <a:p>
            <a:pPr lvl="1" indent="-342900">
              <a:buClrTx/>
              <a:buSzPct val="100000"/>
              <a:buFont typeface="+mj-lt"/>
              <a:buAutoNum type="arabicPeriod"/>
            </a:pPr>
            <a:r>
              <a:rPr lang="fr-FR" i="1" dirty="0">
                <a:solidFill>
                  <a:schemeClr val="tx1"/>
                </a:solidFill>
                <a:latin typeface="Montserrat"/>
                <a:ea typeface="Montserrat"/>
                <a:cs typeface="Montserrat"/>
                <a:sym typeface="Montserrat"/>
              </a:rPr>
              <a:t>La table de liaison contient les deux clés et permet donc la liaison des tables</a:t>
            </a:r>
          </a:p>
          <a:p>
            <a:pPr lvl="1" indent="-342900">
              <a:buClrTx/>
              <a:buSzPct val="100000"/>
              <a:buFont typeface="+mj-lt"/>
              <a:buAutoNum type="arabicPeriod"/>
            </a:pPr>
            <a:endParaRPr i="1" dirty="0">
              <a:solidFill>
                <a:schemeClr val="tx1"/>
              </a:solidFill>
              <a:latin typeface="Montserrat"/>
              <a:ea typeface="Montserrat"/>
              <a:cs typeface="Montserrat"/>
              <a:sym typeface="Montserrat"/>
            </a:endParaRPr>
          </a:p>
        </p:txBody>
      </p:sp>
      <p:sp>
        <p:nvSpPr>
          <p:cNvPr id="72" name="Google Shape;72;p5"/>
          <p:cNvSpPr/>
          <p:nvPr/>
        </p:nvSpPr>
        <p:spPr>
          <a:xfrm>
            <a:off x="0" y="0"/>
            <a:ext cx="9144000" cy="1390200"/>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73" name="Google Shape;73;p5"/>
          <p:cNvSpPr txBox="1"/>
          <p:nvPr/>
        </p:nvSpPr>
        <p:spPr>
          <a:xfrm>
            <a:off x="895525" y="337250"/>
            <a:ext cx="8520600" cy="572700"/>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Clr>
                <a:srgbClr val="000000"/>
              </a:buClr>
              <a:buSzPts val="2500"/>
              <a:buFont typeface="Arial"/>
              <a:buNone/>
            </a:pPr>
            <a:r>
              <a:rPr lang="fr" sz="2500" b="0" i="0" u="none" strike="noStrike" cap="none">
                <a:solidFill>
                  <a:srgbClr val="F3F3F3"/>
                </a:solidFill>
                <a:latin typeface="Montserrat"/>
                <a:ea typeface="Montserrat"/>
                <a:cs typeface="Montserrat"/>
                <a:sym typeface="Montserrat"/>
              </a:rPr>
              <a:t>Fusion ou consolidations des données</a:t>
            </a:r>
            <a:endParaRPr sz="2500" b="0" i="0" u="none" strike="noStrike" cap="none" dirty="0">
              <a:solidFill>
                <a:srgbClr val="F3F3F3"/>
              </a:solidFill>
              <a:latin typeface="Montserrat"/>
              <a:ea typeface="Montserrat"/>
              <a:cs typeface="Montserrat"/>
              <a:sym typeface="Montserrat"/>
            </a:endParaRPr>
          </a:p>
        </p:txBody>
      </p:sp>
      <p:sp>
        <p:nvSpPr>
          <p:cNvPr id="74" name="Google Shape;74;p5"/>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0">
          <a:extLst>
            <a:ext uri="{FF2B5EF4-FFF2-40B4-BE49-F238E27FC236}">
              <a16:creationId xmlns:a16="http://schemas.microsoft.com/office/drawing/2014/main" id="{20361013-04AB-4978-8EBF-9EE97D781FC2}"/>
            </a:ext>
          </a:extLst>
        </p:cNvPr>
        <p:cNvGrpSpPr/>
        <p:nvPr/>
      </p:nvGrpSpPr>
      <p:grpSpPr>
        <a:xfrm>
          <a:off x="0" y="0"/>
          <a:ext cx="0" cy="0"/>
          <a:chOff x="0" y="0"/>
          <a:chExt cx="0" cy="0"/>
        </a:xfrm>
      </p:grpSpPr>
      <p:sp>
        <p:nvSpPr>
          <p:cNvPr id="71" name="Google Shape;71;p5">
            <a:extLst>
              <a:ext uri="{FF2B5EF4-FFF2-40B4-BE49-F238E27FC236}">
                <a16:creationId xmlns:a16="http://schemas.microsoft.com/office/drawing/2014/main" id="{255DA2BA-2C65-49D8-5635-E6E4F5DA7A57}"/>
              </a:ext>
            </a:extLst>
          </p:cNvPr>
          <p:cNvSpPr txBox="1">
            <a:spLocks noGrp="1"/>
          </p:cNvSpPr>
          <p:nvPr>
            <p:ph type="body" idx="1"/>
          </p:nvPr>
        </p:nvSpPr>
        <p:spPr>
          <a:xfrm>
            <a:off x="623400" y="1462750"/>
            <a:ext cx="8520600" cy="3416400"/>
          </a:xfrm>
          <a:prstGeom prst="rect">
            <a:avLst/>
          </a:prstGeom>
          <a:noFill/>
          <a:ln>
            <a:noFill/>
          </a:ln>
        </p:spPr>
        <p:txBody>
          <a:bodyPr spcFirstLastPara="1" wrap="square" lIns="91425" tIns="91425" rIns="91425" bIns="91425" anchor="t" anchorCtr="0">
            <a:normAutofit/>
          </a:bodyPr>
          <a:lstStyle/>
          <a:p>
            <a:pPr marL="457200" marR="0" lvl="0" indent="-342900" algn="l" rtl="0">
              <a:lnSpc>
                <a:spcPct val="115000"/>
              </a:lnSpc>
              <a:spcBef>
                <a:spcPts val="0"/>
              </a:spcBef>
              <a:spcAft>
                <a:spcPts val="0"/>
              </a:spcAft>
              <a:buClrTx/>
              <a:buSzPts val="1800"/>
              <a:buFont typeface="Montserrat"/>
              <a:buChar char="●"/>
            </a:pPr>
            <a:r>
              <a:rPr lang="fr" i="1" dirty="0">
                <a:solidFill>
                  <a:schemeClr val="tx1"/>
                </a:solidFill>
                <a:latin typeface="Montserrat"/>
                <a:ea typeface="Montserrat"/>
                <a:cs typeface="Montserrat"/>
                <a:sym typeface="Montserrat"/>
              </a:rPr>
              <a:t>Vigilances particulières au cours du traitements</a:t>
            </a:r>
          </a:p>
          <a:p>
            <a:pPr lvl="1" indent="-342900">
              <a:buClrTx/>
              <a:buSzPct val="100000"/>
              <a:buFont typeface="+mj-lt"/>
              <a:buAutoNum type="arabicPeriod"/>
            </a:pPr>
            <a:r>
              <a:rPr lang="fr-FR" i="1" dirty="0">
                <a:solidFill>
                  <a:schemeClr val="tx1"/>
                </a:solidFill>
                <a:latin typeface="Montserrat"/>
                <a:ea typeface="Montserrat"/>
                <a:cs typeface="Montserrat"/>
                <a:sym typeface="Montserrat"/>
              </a:rPr>
              <a:t>On fait la liaison gauche entre erp et liaison</a:t>
            </a:r>
          </a:p>
          <a:p>
            <a:pPr lvl="1" indent="-342900">
              <a:buClrTx/>
              <a:buSzPct val="100000"/>
              <a:buFont typeface="+mj-lt"/>
              <a:buAutoNum type="arabicPeriod"/>
            </a:pPr>
            <a:r>
              <a:rPr lang="fr-FR" i="1" dirty="0">
                <a:solidFill>
                  <a:schemeClr val="tx1"/>
                </a:solidFill>
                <a:latin typeface="Montserrat"/>
                <a:ea typeface="Montserrat"/>
                <a:cs typeface="Montserrat"/>
                <a:sym typeface="Montserrat"/>
              </a:rPr>
              <a:t>On lie désormais ce nouveau dataframe (merge) avec les données web</a:t>
            </a:r>
          </a:p>
          <a:p>
            <a:pPr lvl="1" indent="-342900">
              <a:buClrTx/>
              <a:buSzPct val="100000"/>
              <a:buFont typeface="+mj-lt"/>
              <a:buAutoNum type="arabicPeriod"/>
            </a:pPr>
            <a:r>
              <a:rPr lang="fr-FR" i="1" dirty="0">
                <a:solidFill>
                  <a:schemeClr val="tx1"/>
                </a:solidFill>
                <a:latin typeface="Montserrat"/>
                <a:ea typeface="Montserrat"/>
                <a:cs typeface="Montserrat"/>
                <a:sym typeface="Montserrat"/>
              </a:rPr>
              <a:t>Dernier nettoyage</a:t>
            </a:r>
          </a:p>
          <a:p>
            <a:pPr lvl="1" indent="-342900">
              <a:buClrTx/>
              <a:buSzPct val="100000"/>
              <a:buFont typeface="+mj-lt"/>
              <a:buAutoNum type="arabicPeriod"/>
            </a:pPr>
            <a:endParaRPr i="1" dirty="0">
              <a:solidFill>
                <a:schemeClr val="tx1"/>
              </a:solidFill>
              <a:latin typeface="Montserrat"/>
              <a:ea typeface="Montserrat"/>
              <a:cs typeface="Montserrat"/>
              <a:sym typeface="Montserrat"/>
            </a:endParaRPr>
          </a:p>
          <a:p>
            <a:pPr marL="457200" marR="0" lvl="0" indent="-342900" algn="l" rtl="0">
              <a:lnSpc>
                <a:spcPct val="115000"/>
              </a:lnSpc>
              <a:spcBef>
                <a:spcPts val="0"/>
              </a:spcBef>
              <a:spcAft>
                <a:spcPts val="0"/>
              </a:spcAft>
              <a:buClrTx/>
              <a:buSzPts val="1800"/>
              <a:buFont typeface="Montserrat"/>
              <a:buChar char="●"/>
            </a:pPr>
            <a:r>
              <a:rPr lang="fr" i="1" dirty="0">
                <a:solidFill>
                  <a:schemeClr val="tx1"/>
                </a:solidFill>
                <a:latin typeface="Montserrat"/>
                <a:ea typeface="Montserrat"/>
                <a:cs typeface="Montserrat"/>
                <a:sym typeface="Montserrat"/>
              </a:rPr>
              <a:t>Difficultés ou pièges rencontrés</a:t>
            </a:r>
            <a:endParaRPr dirty="0">
              <a:solidFill>
                <a:schemeClr val="tx1"/>
              </a:solidFill>
            </a:endParaRPr>
          </a:p>
          <a:p>
            <a:pPr lvl="1" indent="-342900">
              <a:buClrTx/>
              <a:buSzPct val="100000"/>
              <a:buFont typeface="+mj-lt"/>
              <a:buAutoNum type="arabicPeriod"/>
            </a:pPr>
            <a:r>
              <a:rPr lang="fr-FR" i="1" dirty="0">
                <a:solidFill>
                  <a:schemeClr val="tx1"/>
                </a:solidFill>
                <a:latin typeface="Montserrat"/>
                <a:ea typeface="Montserrat"/>
                <a:cs typeface="Montserrat"/>
                <a:sym typeface="Montserrat"/>
              </a:rPr>
              <a:t>Faire attention aux données que l’on souhaite conserver</a:t>
            </a:r>
          </a:p>
          <a:p>
            <a:pPr lvl="1" indent="-342900">
              <a:buClrTx/>
              <a:buSzPct val="100000"/>
              <a:buFont typeface="+mj-lt"/>
              <a:buAutoNum type="arabicPeriod"/>
            </a:pPr>
            <a:r>
              <a:rPr lang="fr-FR" i="1" dirty="0">
                <a:solidFill>
                  <a:schemeClr val="tx1"/>
                </a:solidFill>
                <a:latin typeface="Montserrat"/>
                <a:ea typeface="Montserrat"/>
                <a:cs typeface="Montserrat"/>
                <a:sym typeface="Montserrat"/>
              </a:rPr>
              <a:t>Les données doivent être exploitables pour notre analyse</a:t>
            </a:r>
            <a:endParaRPr dirty="0">
              <a:solidFill>
                <a:srgbClr val="434343"/>
              </a:solidFill>
              <a:latin typeface="Montserrat"/>
              <a:ea typeface="Montserrat"/>
              <a:cs typeface="Montserrat"/>
              <a:sym typeface="Montserrat"/>
            </a:endParaRPr>
          </a:p>
        </p:txBody>
      </p:sp>
      <p:sp>
        <p:nvSpPr>
          <p:cNvPr id="72" name="Google Shape;72;p5">
            <a:extLst>
              <a:ext uri="{FF2B5EF4-FFF2-40B4-BE49-F238E27FC236}">
                <a16:creationId xmlns:a16="http://schemas.microsoft.com/office/drawing/2014/main" id="{6ED37B7C-F5EF-B5C3-58F8-B00A39BE9422}"/>
              </a:ext>
            </a:extLst>
          </p:cNvPr>
          <p:cNvSpPr/>
          <p:nvPr/>
        </p:nvSpPr>
        <p:spPr>
          <a:xfrm>
            <a:off x="0" y="0"/>
            <a:ext cx="9144000" cy="1390200"/>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73" name="Google Shape;73;p5">
            <a:extLst>
              <a:ext uri="{FF2B5EF4-FFF2-40B4-BE49-F238E27FC236}">
                <a16:creationId xmlns:a16="http://schemas.microsoft.com/office/drawing/2014/main" id="{AC394625-6391-7EA2-3D1C-44707DB22048}"/>
              </a:ext>
            </a:extLst>
          </p:cNvPr>
          <p:cNvSpPr txBox="1"/>
          <p:nvPr/>
        </p:nvSpPr>
        <p:spPr>
          <a:xfrm>
            <a:off x="895525" y="337250"/>
            <a:ext cx="8520600" cy="572700"/>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Clr>
                <a:srgbClr val="000000"/>
              </a:buClr>
              <a:buSzPts val="2500"/>
              <a:buFont typeface="Arial"/>
              <a:buNone/>
            </a:pPr>
            <a:r>
              <a:rPr lang="fr" sz="2500" b="0" i="0" u="none" strike="noStrike" cap="none">
                <a:solidFill>
                  <a:srgbClr val="F3F3F3"/>
                </a:solidFill>
                <a:latin typeface="Montserrat"/>
                <a:ea typeface="Montserrat"/>
                <a:cs typeface="Montserrat"/>
                <a:sym typeface="Montserrat"/>
              </a:rPr>
              <a:t>Fusion ou consolidations des données</a:t>
            </a:r>
            <a:endParaRPr sz="2500" b="0" i="0" u="none" strike="noStrike" cap="none" dirty="0">
              <a:solidFill>
                <a:srgbClr val="F3F3F3"/>
              </a:solidFill>
              <a:latin typeface="Montserrat"/>
              <a:ea typeface="Montserrat"/>
              <a:cs typeface="Montserrat"/>
              <a:sym typeface="Montserrat"/>
            </a:endParaRPr>
          </a:p>
        </p:txBody>
      </p:sp>
      <p:sp>
        <p:nvSpPr>
          <p:cNvPr id="74" name="Google Shape;74;p5">
            <a:extLst>
              <a:ext uri="{FF2B5EF4-FFF2-40B4-BE49-F238E27FC236}">
                <a16:creationId xmlns:a16="http://schemas.microsoft.com/office/drawing/2014/main" id="{21CA4A78-0B42-4611-368E-06207B040014}"/>
              </a:ext>
            </a:extLst>
          </p:cNvPr>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41107456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6"/>
          <p:cNvSpPr txBox="1">
            <a:spLocks noGrp="1"/>
          </p:cNvSpPr>
          <p:nvPr>
            <p:ph type="body" idx="1"/>
          </p:nvPr>
        </p:nvSpPr>
        <p:spPr>
          <a:xfrm>
            <a:off x="557279" y="1528607"/>
            <a:ext cx="6709500" cy="3416400"/>
          </a:xfrm>
          <a:prstGeom prst="rect">
            <a:avLst/>
          </a:prstGeom>
          <a:noFill/>
          <a:ln>
            <a:noFill/>
          </a:ln>
        </p:spPr>
        <p:txBody>
          <a:bodyPr spcFirstLastPara="1" wrap="square" lIns="91425" tIns="91425" rIns="91425" bIns="91425" anchor="t" anchorCtr="0">
            <a:normAutofit/>
          </a:bodyPr>
          <a:lstStyle/>
          <a:p>
            <a:pPr marL="457200" marR="0" lvl="0" indent="-342900" algn="l" rtl="0">
              <a:lnSpc>
                <a:spcPct val="115000"/>
              </a:lnSpc>
              <a:spcBef>
                <a:spcPts val="0"/>
              </a:spcBef>
              <a:spcAft>
                <a:spcPts val="0"/>
              </a:spcAft>
              <a:buClrTx/>
              <a:buSzPts val="1800"/>
              <a:buFont typeface="Montserrat"/>
              <a:buChar char="●"/>
            </a:pPr>
            <a:r>
              <a:rPr lang="fr" i="1" dirty="0">
                <a:solidFill>
                  <a:schemeClr val="tx1"/>
                </a:solidFill>
                <a:latin typeface="Montserrat"/>
                <a:ea typeface="Montserrat"/>
                <a:cs typeface="Montserrat"/>
                <a:sym typeface="Montserrat"/>
              </a:rPr>
              <a:t>La boîte à moustache</a:t>
            </a:r>
            <a:endParaRPr i="1" dirty="0">
              <a:solidFill>
                <a:schemeClr val="tx1"/>
              </a:solidFill>
              <a:latin typeface="Montserrat"/>
              <a:ea typeface="Montserrat"/>
              <a:cs typeface="Montserrat"/>
              <a:sym typeface="Montserrat"/>
            </a:endParaRPr>
          </a:p>
        </p:txBody>
      </p:sp>
      <p:sp>
        <p:nvSpPr>
          <p:cNvPr id="80" name="Google Shape;80;p6"/>
          <p:cNvSpPr/>
          <p:nvPr/>
        </p:nvSpPr>
        <p:spPr>
          <a:xfrm>
            <a:off x="0" y="0"/>
            <a:ext cx="9144000" cy="1390200"/>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81" name="Google Shape;81;p6"/>
          <p:cNvSpPr txBox="1"/>
          <p:nvPr/>
        </p:nvSpPr>
        <p:spPr>
          <a:xfrm>
            <a:off x="895525" y="337250"/>
            <a:ext cx="8520600" cy="572700"/>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Clr>
                <a:srgbClr val="000000"/>
              </a:buClr>
              <a:buSzPts val="2500"/>
              <a:buFont typeface="Arial"/>
              <a:buNone/>
            </a:pPr>
            <a:r>
              <a:rPr lang="fr" sz="2500" b="0" i="0" u="none" strike="noStrike" cap="none">
                <a:solidFill>
                  <a:srgbClr val="F3F3F3"/>
                </a:solidFill>
                <a:latin typeface="Montserrat"/>
                <a:ea typeface="Montserrat"/>
                <a:cs typeface="Montserrat"/>
                <a:sym typeface="Montserrat"/>
              </a:rPr>
              <a:t>Analyses univariées du prix</a:t>
            </a:r>
            <a:endParaRPr sz="2500" b="0" i="0" u="none" strike="noStrike" cap="none" dirty="0">
              <a:solidFill>
                <a:srgbClr val="F3F3F3"/>
              </a:solidFill>
              <a:latin typeface="Montserrat"/>
              <a:ea typeface="Montserrat"/>
              <a:cs typeface="Montserrat"/>
              <a:sym typeface="Montserrat"/>
            </a:endParaRPr>
          </a:p>
        </p:txBody>
      </p:sp>
      <p:sp>
        <p:nvSpPr>
          <p:cNvPr id="82" name="Google Shape;82;p6"/>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pic>
        <p:nvPicPr>
          <p:cNvPr id="3" name="Image 2">
            <a:extLst>
              <a:ext uri="{FF2B5EF4-FFF2-40B4-BE49-F238E27FC236}">
                <a16:creationId xmlns:a16="http://schemas.microsoft.com/office/drawing/2014/main" id="{3543B4DC-E763-4ED0-9C3D-8B598D226FA5}"/>
              </a:ext>
            </a:extLst>
          </p:cNvPr>
          <p:cNvPicPr>
            <a:picLocks noChangeAspect="1"/>
          </p:cNvPicPr>
          <p:nvPr/>
        </p:nvPicPr>
        <p:blipFill>
          <a:blip r:embed="rId3"/>
          <a:stretch>
            <a:fillRect/>
          </a:stretch>
        </p:blipFill>
        <p:spPr>
          <a:xfrm>
            <a:off x="0" y="2032901"/>
            <a:ext cx="9144000" cy="2703297"/>
          </a:xfrm>
          <a:prstGeom prst="rect">
            <a:avLst/>
          </a:prstGeom>
        </p:spPr>
      </p:pic>
      <p:sp>
        <p:nvSpPr>
          <p:cNvPr id="4" name="ZoneTexte 3">
            <a:extLst>
              <a:ext uri="{FF2B5EF4-FFF2-40B4-BE49-F238E27FC236}">
                <a16:creationId xmlns:a16="http://schemas.microsoft.com/office/drawing/2014/main" id="{0224AD02-20C7-F8A6-37CD-4D8D5D164D37}"/>
              </a:ext>
            </a:extLst>
          </p:cNvPr>
          <p:cNvSpPr txBox="1"/>
          <p:nvPr/>
        </p:nvSpPr>
        <p:spPr>
          <a:xfrm>
            <a:off x="4571999" y="1390200"/>
            <a:ext cx="4334934" cy="954107"/>
          </a:xfrm>
          <a:prstGeom prst="rect">
            <a:avLst/>
          </a:prstGeom>
          <a:noFill/>
        </p:spPr>
        <p:txBody>
          <a:bodyPr wrap="square" rtlCol="0">
            <a:spAutoFit/>
          </a:bodyPr>
          <a:lstStyle/>
          <a:p>
            <a:r>
              <a:rPr lang="fr-FR" dirty="0"/>
              <a:t>Q1 = 14,04€	Q3 = 42,03€</a:t>
            </a:r>
          </a:p>
          <a:p>
            <a:r>
              <a:rPr lang="fr-FR" dirty="0"/>
              <a:t>Médiane = 23,4€	Moustache basse = 5,2€</a:t>
            </a:r>
          </a:p>
          <a:p>
            <a:r>
              <a:rPr lang="fr-FR" dirty="0"/>
              <a:t>Min = 5,2€		Moustache haute = 83,7€</a:t>
            </a:r>
          </a:p>
          <a:p>
            <a:r>
              <a:rPr lang="fr-FR" dirty="0"/>
              <a:t>Max = 225€</a:t>
            </a:r>
          </a:p>
        </p:txBody>
      </p:sp>
      <p:sp>
        <p:nvSpPr>
          <p:cNvPr id="5" name="Accolade ouvrante 4">
            <a:extLst>
              <a:ext uri="{FF2B5EF4-FFF2-40B4-BE49-F238E27FC236}">
                <a16:creationId xmlns:a16="http://schemas.microsoft.com/office/drawing/2014/main" id="{744FAF17-6F17-46A3-EAC2-9E46913D463F}"/>
              </a:ext>
            </a:extLst>
          </p:cNvPr>
          <p:cNvSpPr/>
          <p:nvPr/>
        </p:nvSpPr>
        <p:spPr>
          <a:xfrm rot="5400000">
            <a:off x="5856108" y="734961"/>
            <a:ext cx="372532" cy="5238051"/>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dirty="0"/>
          </a:p>
        </p:txBody>
      </p:sp>
      <p:sp>
        <p:nvSpPr>
          <p:cNvPr id="6" name="ZoneTexte 5">
            <a:extLst>
              <a:ext uri="{FF2B5EF4-FFF2-40B4-BE49-F238E27FC236}">
                <a16:creationId xmlns:a16="http://schemas.microsoft.com/office/drawing/2014/main" id="{AFA2A780-690E-758E-D755-44ACFA432520}"/>
              </a:ext>
            </a:extLst>
          </p:cNvPr>
          <p:cNvSpPr txBox="1"/>
          <p:nvPr/>
        </p:nvSpPr>
        <p:spPr>
          <a:xfrm>
            <a:off x="5106807" y="2651134"/>
            <a:ext cx="1871133" cy="307777"/>
          </a:xfrm>
          <a:prstGeom prst="rect">
            <a:avLst/>
          </a:prstGeom>
          <a:noFill/>
        </p:spPr>
        <p:txBody>
          <a:bodyPr wrap="square" rtlCol="0">
            <a:spAutoFit/>
          </a:bodyPr>
          <a:lstStyle/>
          <a:p>
            <a:r>
              <a:rPr lang="fr-FR" dirty="0"/>
              <a:t>Beaucoup d’Outliers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8">
          <a:extLst>
            <a:ext uri="{FF2B5EF4-FFF2-40B4-BE49-F238E27FC236}">
              <a16:creationId xmlns:a16="http://schemas.microsoft.com/office/drawing/2014/main" id="{C2FED1B8-0168-11C9-B2C6-956486E885F0}"/>
            </a:ext>
          </a:extLst>
        </p:cNvPr>
        <p:cNvGrpSpPr/>
        <p:nvPr/>
      </p:nvGrpSpPr>
      <p:grpSpPr>
        <a:xfrm>
          <a:off x="0" y="0"/>
          <a:ext cx="0" cy="0"/>
          <a:chOff x="0" y="0"/>
          <a:chExt cx="0" cy="0"/>
        </a:xfrm>
      </p:grpSpPr>
      <p:sp>
        <p:nvSpPr>
          <p:cNvPr id="79" name="Google Shape;79;p6">
            <a:extLst>
              <a:ext uri="{FF2B5EF4-FFF2-40B4-BE49-F238E27FC236}">
                <a16:creationId xmlns:a16="http://schemas.microsoft.com/office/drawing/2014/main" id="{D7B9BF11-9567-819A-9AA6-A0D74BFA93E4}"/>
              </a:ext>
            </a:extLst>
          </p:cNvPr>
          <p:cNvSpPr txBox="1">
            <a:spLocks noGrp="1"/>
          </p:cNvSpPr>
          <p:nvPr>
            <p:ph type="body" idx="1"/>
          </p:nvPr>
        </p:nvSpPr>
        <p:spPr>
          <a:xfrm>
            <a:off x="557279" y="1528607"/>
            <a:ext cx="6709500" cy="3416400"/>
          </a:xfrm>
          <a:prstGeom prst="rect">
            <a:avLst/>
          </a:prstGeom>
          <a:noFill/>
          <a:ln>
            <a:noFill/>
          </a:ln>
        </p:spPr>
        <p:txBody>
          <a:bodyPr spcFirstLastPara="1" wrap="square" lIns="91425" tIns="91425" rIns="91425" bIns="91425" anchor="t" anchorCtr="0">
            <a:normAutofit/>
          </a:bodyPr>
          <a:lstStyle/>
          <a:p>
            <a:pPr marL="457200" marR="0" lvl="0" indent="-342900" algn="l" rtl="0">
              <a:lnSpc>
                <a:spcPct val="115000"/>
              </a:lnSpc>
              <a:spcBef>
                <a:spcPts val="0"/>
              </a:spcBef>
              <a:spcAft>
                <a:spcPts val="0"/>
              </a:spcAft>
              <a:buClrTx/>
              <a:buSzPts val="1800"/>
              <a:buFont typeface="Montserrat"/>
              <a:buChar char="●"/>
            </a:pPr>
            <a:r>
              <a:rPr lang="fr-FR" i="1" dirty="0">
                <a:solidFill>
                  <a:schemeClr val="tx1"/>
                </a:solidFill>
                <a:latin typeface="Montserrat"/>
                <a:ea typeface="Montserrat"/>
                <a:cs typeface="Montserrat"/>
                <a:sym typeface="Montserrat"/>
              </a:rPr>
              <a:t>Moyenne, écart-type et Z-score</a:t>
            </a:r>
            <a:endParaRPr i="1" dirty="0">
              <a:solidFill>
                <a:schemeClr val="tx1"/>
              </a:solidFill>
              <a:latin typeface="Montserrat"/>
              <a:ea typeface="Montserrat"/>
              <a:cs typeface="Montserrat"/>
              <a:sym typeface="Montserrat"/>
            </a:endParaRPr>
          </a:p>
        </p:txBody>
      </p:sp>
      <p:sp>
        <p:nvSpPr>
          <p:cNvPr id="80" name="Google Shape;80;p6">
            <a:extLst>
              <a:ext uri="{FF2B5EF4-FFF2-40B4-BE49-F238E27FC236}">
                <a16:creationId xmlns:a16="http://schemas.microsoft.com/office/drawing/2014/main" id="{010D08C8-B59A-0450-193A-C53B130EF06C}"/>
              </a:ext>
            </a:extLst>
          </p:cNvPr>
          <p:cNvSpPr/>
          <p:nvPr/>
        </p:nvSpPr>
        <p:spPr>
          <a:xfrm>
            <a:off x="0" y="0"/>
            <a:ext cx="9144000" cy="1390200"/>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81" name="Google Shape;81;p6">
            <a:extLst>
              <a:ext uri="{FF2B5EF4-FFF2-40B4-BE49-F238E27FC236}">
                <a16:creationId xmlns:a16="http://schemas.microsoft.com/office/drawing/2014/main" id="{32C2CEF3-87EB-2056-2636-55CC0DCB904C}"/>
              </a:ext>
            </a:extLst>
          </p:cNvPr>
          <p:cNvSpPr txBox="1"/>
          <p:nvPr/>
        </p:nvSpPr>
        <p:spPr>
          <a:xfrm>
            <a:off x="895525" y="337250"/>
            <a:ext cx="8520600" cy="572700"/>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Clr>
                <a:srgbClr val="000000"/>
              </a:buClr>
              <a:buSzPts val="2500"/>
              <a:buFont typeface="Arial"/>
              <a:buNone/>
            </a:pPr>
            <a:r>
              <a:rPr lang="fr" sz="2500" b="0" i="0" u="none" strike="noStrike" cap="none">
                <a:solidFill>
                  <a:srgbClr val="F3F3F3"/>
                </a:solidFill>
                <a:latin typeface="Montserrat"/>
                <a:ea typeface="Montserrat"/>
                <a:cs typeface="Montserrat"/>
                <a:sym typeface="Montserrat"/>
              </a:rPr>
              <a:t>Analyses univariées du prix</a:t>
            </a:r>
            <a:endParaRPr sz="2500" b="0" i="0" u="none" strike="noStrike" cap="none" dirty="0">
              <a:solidFill>
                <a:srgbClr val="F3F3F3"/>
              </a:solidFill>
              <a:latin typeface="Montserrat"/>
              <a:ea typeface="Montserrat"/>
              <a:cs typeface="Montserrat"/>
              <a:sym typeface="Montserrat"/>
            </a:endParaRPr>
          </a:p>
        </p:txBody>
      </p:sp>
      <p:sp>
        <p:nvSpPr>
          <p:cNvPr id="82" name="Google Shape;82;p6">
            <a:extLst>
              <a:ext uri="{FF2B5EF4-FFF2-40B4-BE49-F238E27FC236}">
                <a16:creationId xmlns:a16="http://schemas.microsoft.com/office/drawing/2014/main" id="{91BF8D12-745B-EAFF-3C27-016F19263F59}"/>
              </a:ext>
            </a:extLst>
          </p:cNvPr>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pic>
        <p:nvPicPr>
          <p:cNvPr id="4" name="Image 3">
            <a:extLst>
              <a:ext uri="{FF2B5EF4-FFF2-40B4-BE49-F238E27FC236}">
                <a16:creationId xmlns:a16="http://schemas.microsoft.com/office/drawing/2014/main" id="{26BE07DC-684C-C0CC-D3FF-96CB438BCDEC}"/>
              </a:ext>
            </a:extLst>
          </p:cNvPr>
          <p:cNvPicPr>
            <a:picLocks noChangeAspect="1"/>
          </p:cNvPicPr>
          <p:nvPr/>
        </p:nvPicPr>
        <p:blipFill>
          <a:blip r:embed="rId3"/>
          <a:stretch>
            <a:fillRect/>
          </a:stretch>
        </p:blipFill>
        <p:spPr>
          <a:xfrm>
            <a:off x="0" y="2088398"/>
            <a:ext cx="9144000" cy="2995016"/>
          </a:xfrm>
          <a:prstGeom prst="rect">
            <a:avLst/>
          </a:prstGeom>
        </p:spPr>
      </p:pic>
    </p:spTree>
    <p:extLst>
      <p:ext uri="{BB962C8B-B14F-4D97-AF65-F5344CB8AC3E}">
        <p14:creationId xmlns:p14="http://schemas.microsoft.com/office/powerpoint/2010/main" val="23560309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7"/>
          <p:cNvSpPr/>
          <p:nvPr/>
        </p:nvSpPr>
        <p:spPr>
          <a:xfrm>
            <a:off x="0" y="0"/>
            <a:ext cx="9144000" cy="1390200"/>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88" name="Google Shape;88;p7"/>
          <p:cNvSpPr txBox="1"/>
          <p:nvPr/>
        </p:nvSpPr>
        <p:spPr>
          <a:xfrm>
            <a:off x="895525" y="337250"/>
            <a:ext cx="8520600" cy="572700"/>
          </a:xfrm>
          <a:prstGeom prst="rect">
            <a:avLst/>
          </a:prstGeom>
          <a:noFill/>
          <a:ln>
            <a:noFill/>
          </a:ln>
        </p:spPr>
        <p:txBody>
          <a:bodyPr spcFirstLastPara="1" wrap="square" lIns="91425" tIns="91425" rIns="91425" bIns="91425" anchor="t" anchorCtr="0">
            <a:normAutofit fontScale="55000" lnSpcReduction="20000"/>
          </a:bodyPr>
          <a:lstStyle/>
          <a:p>
            <a:pPr marL="0" marR="0" lvl="0" indent="0" algn="l" rtl="0">
              <a:lnSpc>
                <a:spcPct val="100000"/>
              </a:lnSpc>
              <a:spcBef>
                <a:spcPts val="0"/>
              </a:spcBef>
              <a:spcAft>
                <a:spcPts val="0"/>
              </a:spcAft>
              <a:buClr>
                <a:srgbClr val="000000"/>
              </a:buClr>
              <a:buSzPts val="2500"/>
              <a:buFont typeface="Arial"/>
              <a:buNone/>
            </a:pPr>
            <a:r>
              <a:rPr lang="fr" sz="2500" b="0" i="0" u="none" strike="noStrike" cap="none" dirty="0">
                <a:solidFill>
                  <a:srgbClr val="F3F3F3"/>
                </a:solidFill>
                <a:latin typeface="Montserrat"/>
                <a:ea typeface="Montserrat"/>
                <a:cs typeface="Montserrat"/>
                <a:sym typeface="Montserrat"/>
              </a:rPr>
              <a:t>Analyses complémentaires</a:t>
            </a:r>
          </a:p>
          <a:p>
            <a:pPr marL="0" marR="0" lvl="0" indent="0" algn="l" rtl="0">
              <a:lnSpc>
                <a:spcPct val="100000"/>
              </a:lnSpc>
              <a:spcBef>
                <a:spcPts val="0"/>
              </a:spcBef>
              <a:spcAft>
                <a:spcPts val="0"/>
              </a:spcAft>
              <a:buClr>
                <a:srgbClr val="000000"/>
              </a:buClr>
              <a:buSzPts val="2500"/>
              <a:buFont typeface="Arial"/>
              <a:buNone/>
            </a:pPr>
            <a:r>
              <a:rPr lang="fr" sz="2500" dirty="0">
                <a:solidFill>
                  <a:srgbClr val="F3F3F3"/>
                </a:solidFill>
                <a:latin typeface="Montserrat"/>
                <a:sym typeface="Montserrat"/>
              </a:rPr>
              <a:t>Analyse des ventes en CA</a:t>
            </a:r>
            <a:endParaRPr dirty="0"/>
          </a:p>
        </p:txBody>
      </p:sp>
      <p:sp>
        <p:nvSpPr>
          <p:cNvPr id="89" name="Google Shape;89;p7"/>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pic>
        <p:nvPicPr>
          <p:cNvPr id="3" name="Image 2">
            <a:extLst>
              <a:ext uri="{FF2B5EF4-FFF2-40B4-BE49-F238E27FC236}">
                <a16:creationId xmlns:a16="http://schemas.microsoft.com/office/drawing/2014/main" id="{F777E3B4-86D3-FAD5-AD99-D4D930849F94}"/>
              </a:ext>
            </a:extLst>
          </p:cNvPr>
          <p:cNvPicPr>
            <a:picLocks noChangeAspect="1"/>
          </p:cNvPicPr>
          <p:nvPr/>
        </p:nvPicPr>
        <p:blipFill>
          <a:blip r:embed="rId3"/>
          <a:stretch>
            <a:fillRect/>
          </a:stretch>
        </p:blipFill>
        <p:spPr>
          <a:xfrm>
            <a:off x="895524" y="1390200"/>
            <a:ext cx="7359475" cy="375612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6">
          <a:extLst>
            <a:ext uri="{FF2B5EF4-FFF2-40B4-BE49-F238E27FC236}">
              <a16:creationId xmlns:a16="http://schemas.microsoft.com/office/drawing/2014/main" id="{0776C8F4-FCAE-F25C-E53A-10000B1427C7}"/>
            </a:ext>
          </a:extLst>
        </p:cNvPr>
        <p:cNvGrpSpPr/>
        <p:nvPr/>
      </p:nvGrpSpPr>
      <p:grpSpPr>
        <a:xfrm>
          <a:off x="0" y="0"/>
          <a:ext cx="0" cy="0"/>
          <a:chOff x="0" y="0"/>
          <a:chExt cx="0" cy="0"/>
        </a:xfrm>
      </p:grpSpPr>
      <p:sp>
        <p:nvSpPr>
          <p:cNvPr id="87" name="Google Shape;87;p7">
            <a:extLst>
              <a:ext uri="{FF2B5EF4-FFF2-40B4-BE49-F238E27FC236}">
                <a16:creationId xmlns:a16="http://schemas.microsoft.com/office/drawing/2014/main" id="{5877E519-4DC1-A69B-281F-8CE292953BFB}"/>
              </a:ext>
            </a:extLst>
          </p:cNvPr>
          <p:cNvSpPr/>
          <p:nvPr/>
        </p:nvSpPr>
        <p:spPr>
          <a:xfrm>
            <a:off x="0" y="0"/>
            <a:ext cx="9144000" cy="1390200"/>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88" name="Google Shape;88;p7">
            <a:extLst>
              <a:ext uri="{FF2B5EF4-FFF2-40B4-BE49-F238E27FC236}">
                <a16:creationId xmlns:a16="http://schemas.microsoft.com/office/drawing/2014/main" id="{68B3687D-0A5B-2252-2285-2B1130E3BE1A}"/>
              </a:ext>
            </a:extLst>
          </p:cNvPr>
          <p:cNvSpPr txBox="1"/>
          <p:nvPr/>
        </p:nvSpPr>
        <p:spPr>
          <a:xfrm>
            <a:off x="895525" y="337250"/>
            <a:ext cx="8520600" cy="572700"/>
          </a:xfrm>
          <a:prstGeom prst="rect">
            <a:avLst/>
          </a:prstGeom>
          <a:noFill/>
          <a:ln>
            <a:noFill/>
          </a:ln>
        </p:spPr>
        <p:txBody>
          <a:bodyPr spcFirstLastPara="1" wrap="square" lIns="91425" tIns="91425" rIns="91425" bIns="91425" anchor="t" anchorCtr="0">
            <a:normAutofit fontScale="55000" lnSpcReduction="20000"/>
          </a:bodyPr>
          <a:lstStyle/>
          <a:p>
            <a:pPr lvl="0">
              <a:buSzPts val="2500"/>
            </a:pPr>
            <a:r>
              <a:rPr lang="fr-FR" sz="2500" dirty="0">
                <a:solidFill>
                  <a:srgbClr val="F3F3F3"/>
                </a:solidFill>
                <a:latin typeface="Montserrat"/>
                <a:ea typeface="Montserrat"/>
                <a:cs typeface="Montserrat"/>
                <a:sym typeface="Montserrat"/>
              </a:rPr>
              <a:t>Analyses complémentaires</a:t>
            </a:r>
          </a:p>
          <a:p>
            <a:pPr lvl="0">
              <a:buSzPts val="2500"/>
            </a:pPr>
            <a:r>
              <a:rPr lang="fr-FR" sz="2500" dirty="0">
                <a:solidFill>
                  <a:srgbClr val="F3F3F3"/>
                </a:solidFill>
                <a:latin typeface="Montserrat"/>
                <a:sym typeface="Montserrat"/>
              </a:rPr>
              <a:t>Analyse des ventes en CA</a:t>
            </a:r>
            <a:endParaRPr lang="fr-FR" sz="2800" dirty="0"/>
          </a:p>
        </p:txBody>
      </p:sp>
      <p:sp>
        <p:nvSpPr>
          <p:cNvPr id="89" name="Google Shape;89;p7">
            <a:extLst>
              <a:ext uri="{FF2B5EF4-FFF2-40B4-BE49-F238E27FC236}">
                <a16:creationId xmlns:a16="http://schemas.microsoft.com/office/drawing/2014/main" id="{1E58F779-D139-3760-1414-7B0D17FE8D40}"/>
              </a:ext>
            </a:extLst>
          </p:cNvPr>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pic>
        <p:nvPicPr>
          <p:cNvPr id="3" name="Image 2">
            <a:extLst>
              <a:ext uri="{FF2B5EF4-FFF2-40B4-BE49-F238E27FC236}">
                <a16:creationId xmlns:a16="http://schemas.microsoft.com/office/drawing/2014/main" id="{3F30687C-3D6F-8065-C6FD-74C8F13E26EC}"/>
              </a:ext>
            </a:extLst>
          </p:cNvPr>
          <p:cNvPicPr>
            <a:picLocks noChangeAspect="1"/>
          </p:cNvPicPr>
          <p:nvPr/>
        </p:nvPicPr>
        <p:blipFill>
          <a:blip r:embed="rId3"/>
          <a:stretch>
            <a:fillRect/>
          </a:stretch>
        </p:blipFill>
        <p:spPr>
          <a:xfrm>
            <a:off x="232833" y="1455374"/>
            <a:ext cx="8678333" cy="3688126"/>
          </a:xfrm>
          <a:prstGeom prst="rect">
            <a:avLst/>
          </a:prstGeom>
        </p:spPr>
      </p:pic>
    </p:spTree>
    <p:extLst>
      <p:ext uri="{BB962C8B-B14F-4D97-AF65-F5344CB8AC3E}">
        <p14:creationId xmlns:p14="http://schemas.microsoft.com/office/powerpoint/2010/main" val="17677072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6">
          <a:extLst>
            <a:ext uri="{FF2B5EF4-FFF2-40B4-BE49-F238E27FC236}">
              <a16:creationId xmlns:a16="http://schemas.microsoft.com/office/drawing/2014/main" id="{D8A77F3D-7434-433B-3E02-14C90E32CA82}"/>
            </a:ext>
          </a:extLst>
        </p:cNvPr>
        <p:cNvGrpSpPr/>
        <p:nvPr/>
      </p:nvGrpSpPr>
      <p:grpSpPr>
        <a:xfrm>
          <a:off x="0" y="0"/>
          <a:ext cx="0" cy="0"/>
          <a:chOff x="0" y="0"/>
          <a:chExt cx="0" cy="0"/>
        </a:xfrm>
      </p:grpSpPr>
      <p:sp>
        <p:nvSpPr>
          <p:cNvPr id="87" name="Google Shape;87;p7">
            <a:extLst>
              <a:ext uri="{FF2B5EF4-FFF2-40B4-BE49-F238E27FC236}">
                <a16:creationId xmlns:a16="http://schemas.microsoft.com/office/drawing/2014/main" id="{BB98FBFF-0354-BF94-3B83-96DA5B2AF8C9}"/>
              </a:ext>
            </a:extLst>
          </p:cNvPr>
          <p:cNvSpPr/>
          <p:nvPr/>
        </p:nvSpPr>
        <p:spPr>
          <a:xfrm>
            <a:off x="0" y="0"/>
            <a:ext cx="9144000" cy="1390200"/>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88" name="Google Shape;88;p7">
            <a:extLst>
              <a:ext uri="{FF2B5EF4-FFF2-40B4-BE49-F238E27FC236}">
                <a16:creationId xmlns:a16="http://schemas.microsoft.com/office/drawing/2014/main" id="{5FA75F86-9C7B-F124-1859-69E5F88288A5}"/>
              </a:ext>
            </a:extLst>
          </p:cNvPr>
          <p:cNvSpPr txBox="1"/>
          <p:nvPr/>
        </p:nvSpPr>
        <p:spPr>
          <a:xfrm>
            <a:off x="895525" y="337250"/>
            <a:ext cx="8520600" cy="572700"/>
          </a:xfrm>
          <a:prstGeom prst="rect">
            <a:avLst/>
          </a:prstGeom>
          <a:noFill/>
          <a:ln>
            <a:noFill/>
          </a:ln>
        </p:spPr>
        <p:txBody>
          <a:bodyPr spcFirstLastPara="1" wrap="square" lIns="91425" tIns="91425" rIns="91425" bIns="91425" anchor="t" anchorCtr="0">
            <a:normAutofit fontScale="55000" lnSpcReduction="20000"/>
          </a:bodyPr>
          <a:lstStyle/>
          <a:p>
            <a:pPr lvl="0">
              <a:buSzPts val="2500"/>
            </a:pPr>
            <a:r>
              <a:rPr lang="fr-FR" sz="2500" dirty="0">
                <a:solidFill>
                  <a:srgbClr val="F3F3F3"/>
                </a:solidFill>
                <a:latin typeface="Montserrat"/>
                <a:ea typeface="Montserrat"/>
                <a:cs typeface="Montserrat"/>
                <a:sym typeface="Montserrat"/>
              </a:rPr>
              <a:t>Analyses complémentaires</a:t>
            </a:r>
          </a:p>
          <a:p>
            <a:pPr lvl="0">
              <a:buSzPts val="2500"/>
            </a:pPr>
            <a:r>
              <a:rPr lang="fr-FR" sz="2500" dirty="0">
                <a:solidFill>
                  <a:srgbClr val="F3F3F3"/>
                </a:solidFill>
                <a:latin typeface="Montserrat"/>
                <a:sym typeface="Montserrat"/>
              </a:rPr>
              <a:t>Analyse des ventes en quantité</a:t>
            </a:r>
            <a:endParaRPr lang="fr-FR" sz="2800" dirty="0"/>
          </a:p>
        </p:txBody>
      </p:sp>
      <p:sp>
        <p:nvSpPr>
          <p:cNvPr id="89" name="Google Shape;89;p7">
            <a:extLst>
              <a:ext uri="{FF2B5EF4-FFF2-40B4-BE49-F238E27FC236}">
                <a16:creationId xmlns:a16="http://schemas.microsoft.com/office/drawing/2014/main" id="{54071F0F-5F02-4044-D047-86B17B6D6A0B}"/>
              </a:ext>
            </a:extLst>
          </p:cNvPr>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pic>
        <p:nvPicPr>
          <p:cNvPr id="3" name="Image 2">
            <a:extLst>
              <a:ext uri="{FF2B5EF4-FFF2-40B4-BE49-F238E27FC236}">
                <a16:creationId xmlns:a16="http://schemas.microsoft.com/office/drawing/2014/main" id="{58C6E8DC-F9C1-C685-5C0B-C0B829A385FE}"/>
              </a:ext>
            </a:extLst>
          </p:cNvPr>
          <p:cNvPicPr>
            <a:picLocks noChangeAspect="1"/>
          </p:cNvPicPr>
          <p:nvPr/>
        </p:nvPicPr>
        <p:blipFill>
          <a:blip r:embed="rId3"/>
          <a:stretch>
            <a:fillRect/>
          </a:stretch>
        </p:blipFill>
        <p:spPr>
          <a:xfrm>
            <a:off x="593661" y="1390200"/>
            <a:ext cx="7525872" cy="3740540"/>
          </a:xfrm>
          <a:prstGeom prst="rect">
            <a:avLst/>
          </a:prstGeom>
        </p:spPr>
      </p:pic>
    </p:spTree>
    <p:extLst>
      <p:ext uri="{BB962C8B-B14F-4D97-AF65-F5344CB8AC3E}">
        <p14:creationId xmlns:p14="http://schemas.microsoft.com/office/powerpoint/2010/main" val="23018615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6">
          <a:extLst>
            <a:ext uri="{FF2B5EF4-FFF2-40B4-BE49-F238E27FC236}">
              <a16:creationId xmlns:a16="http://schemas.microsoft.com/office/drawing/2014/main" id="{4918D0C3-8A58-BD1F-0F6E-01F95FFBBEA1}"/>
            </a:ext>
          </a:extLst>
        </p:cNvPr>
        <p:cNvGrpSpPr/>
        <p:nvPr/>
      </p:nvGrpSpPr>
      <p:grpSpPr>
        <a:xfrm>
          <a:off x="0" y="0"/>
          <a:ext cx="0" cy="0"/>
          <a:chOff x="0" y="0"/>
          <a:chExt cx="0" cy="0"/>
        </a:xfrm>
      </p:grpSpPr>
      <p:sp>
        <p:nvSpPr>
          <p:cNvPr id="87" name="Google Shape;87;p7">
            <a:extLst>
              <a:ext uri="{FF2B5EF4-FFF2-40B4-BE49-F238E27FC236}">
                <a16:creationId xmlns:a16="http://schemas.microsoft.com/office/drawing/2014/main" id="{05BDD7B0-D627-31CD-CD59-D699D8F465A9}"/>
              </a:ext>
            </a:extLst>
          </p:cNvPr>
          <p:cNvSpPr/>
          <p:nvPr/>
        </p:nvSpPr>
        <p:spPr>
          <a:xfrm>
            <a:off x="0" y="0"/>
            <a:ext cx="9144000" cy="1390200"/>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88" name="Google Shape;88;p7">
            <a:extLst>
              <a:ext uri="{FF2B5EF4-FFF2-40B4-BE49-F238E27FC236}">
                <a16:creationId xmlns:a16="http://schemas.microsoft.com/office/drawing/2014/main" id="{EDA54DD7-C008-7097-716C-49FDDC8566E0}"/>
              </a:ext>
            </a:extLst>
          </p:cNvPr>
          <p:cNvSpPr txBox="1"/>
          <p:nvPr/>
        </p:nvSpPr>
        <p:spPr>
          <a:xfrm>
            <a:off x="895525" y="337250"/>
            <a:ext cx="8520600" cy="572700"/>
          </a:xfrm>
          <a:prstGeom prst="rect">
            <a:avLst/>
          </a:prstGeom>
          <a:noFill/>
          <a:ln>
            <a:noFill/>
          </a:ln>
        </p:spPr>
        <p:txBody>
          <a:bodyPr spcFirstLastPara="1" wrap="square" lIns="91425" tIns="91425" rIns="91425" bIns="91425" anchor="t" anchorCtr="0">
            <a:normAutofit fontScale="55000" lnSpcReduction="20000"/>
          </a:bodyPr>
          <a:lstStyle/>
          <a:p>
            <a:pPr lvl="0">
              <a:buSzPts val="2500"/>
            </a:pPr>
            <a:r>
              <a:rPr lang="fr-FR" sz="2500" dirty="0">
                <a:solidFill>
                  <a:srgbClr val="F3F3F3"/>
                </a:solidFill>
                <a:latin typeface="Montserrat"/>
                <a:ea typeface="Montserrat"/>
                <a:cs typeface="Montserrat"/>
                <a:sym typeface="Montserrat"/>
              </a:rPr>
              <a:t>Analyses complémentaires</a:t>
            </a:r>
          </a:p>
          <a:p>
            <a:pPr lvl="0">
              <a:buSzPts val="2500"/>
            </a:pPr>
            <a:r>
              <a:rPr lang="fr-FR" sz="2500" dirty="0">
                <a:solidFill>
                  <a:srgbClr val="F3F3F3"/>
                </a:solidFill>
                <a:latin typeface="Montserrat"/>
                <a:sym typeface="Montserrat"/>
              </a:rPr>
              <a:t>Analyse des ventes en quantité</a:t>
            </a:r>
            <a:endParaRPr lang="fr-FR" sz="2800" dirty="0"/>
          </a:p>
        </p:txBody>
      </p:sp>
      <p:sp>
        <p:nvSpPr>
          <p:cNvPr id="89" name="Google Shape;89;p7">
            <a:extLst>
              <a:ext uri="{FF2B5EF4-FFF2-40B4-BE49-F238E27FC236}">
                <a16:creationId xmlns:a16="http://schemas.microsoft.com/office/drawing/2014/main" id="{05547A5A-6A6C-E7D9-9CC3-4CC29FB7AA1C}"/>
              </a:ext>
            </a:extLst>
          </p:cNvPr>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pic>
        <p:nvPicPr>
          <p:cNvPr id="3" name="Image 2">
            <a:extLst>
              <a:ext uri="{FF2B5EF4-FFF2-40B4-BE49-F238E27FC236}">
                <a16:creationId xmlns:a16="http://schemas.microsoft.com/office/drawing/2014/main" id="{D0A6265A-81D0-580C-07A7-6036DECD34B5}"/>
              </a:ext>
            </a:extLst>
          </p:cNvPr>
          <p:cNvPicPr>
            <a:picLocks noChangeAspect="1"/>
          </p:cNvPicPr>
          <p:nvPr/>
        </p:nvPicPr>
        <p:blipFill>
          <a:blip r:embed="rId3"/>
          <a:stretch>
            <a:fillRect/>
          </a:stretch>
        </p:blipFill>
        <p:spPr>
          <a:xfrm>
            <a:off x="0" y="1559596"/>
            <a:ext cx="9144000" cy="3429774"/>
          </a:xfrm>
          <a:prstGeom prst="rect">
            <a:avLst/>
          </a:prstGeom>
        </p:spPr>
      </p:pic>
    </p:spTree>
    <p:extLst>
      <p:ext uri="{BB962C8B-B14F-4D97-AF65-F5344CB8AC3E}">
        <p14:creationId xmlns:p14="http://schemas.microsoft.com/office/powerpoint/2010/main" val="38288193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6">
          <a:extLst>
            <a:ext uri="{FF2B5EF4-FFF2-40B4-BE49-F238E27FC236}">
              <a16:creationId xmlns:a16="http://schemas.microsoft.com/office/drawing/2014/main" id="{A162B6A2-FE8A-1821-E52A-64842F4508EA}"/>
            </a:ext>
          </a:extLst>
        </p:cNvPr>
        <p:cNvGrpSpPr/>
        <p:nvPr/>
      </p:nvGrpSpPr>
      <p:grpSpPr>
        <a:xfrm>
          <a:off x="0" y="0"/>
          <a:ext cx="0" cy="0"/>
          <a:chOff x="0" y="0"/>
          <a:chExt cx="0" cy="0"/>
        </a:xfrm>
      </p:grpSpPr>
      <p:sp>
        <p:nvSpPr>
          <p:cNvPr id="87" name="Google Shape;87;p7">
            <a:extLst>
              <a:ext uri="{FF2B5EF4-FFF2-40B4-BE49-F238E27FC236}">
                <a16:creationId xmlns:a16="http://schemas.microsoft.com/office/drawing/2014/main" id="{67060B4D-63B1-A3D0-9161-2D3B5F090BA1}"/>
              </a:ext>
            </a:extLst>
          </p:cNvPr>
          <p:cNvSpPr/>
          <p:nvPr/>
        </p:nvSpPr>
        <p:spPr>
          <a:xfrm>
            <a:off x="0" y="0"/>
            <a:ext cx="9144000" cy="1390200"/>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88" name="Google Shape;88;p7">
            <a:extLst>
              <a:ext uri="{FF2B5EF4-FFF2-40B4-BE49-F238E27FC236}">
                <a16:creationId xmlns:a16="http://schemas.microsoft.com/office/drawing/2014/main" id="{7531BACE-D06A-7374-FBD2-837272184EA7}"/>
              </a:ext>
            </a:extLst>
          </p:cNvPr>
          <p:cNvSpPr txBox="1"/>
          <p:nvPr/>
        </p:nvSpPr>
        <p:spPr>
          <a:xfrm>
            <a:off x="895525" y="337250"/>
            <a:ext cx="8520600" cy="572700"/>
          </a:xfrm>
          <a:prstGeom prst="rect">
            <a:avLst/>
          </a:prstGeom>
          <a:noFill/>
          <a:ln>
            <a:noFill/>
          </a:ln>
        </p:spPr>
        <p:txBody>
          <a:bodyPr spcFirstLastPara="1" wrap="square" lIns="91425" tIns="91425" rIns="91425" bIns="91425" anchor="t" anchorCtr="0">
            <a:normAutofit fontScale="55000" lnSpcReduction="20000"/>
          </a:bodyPr>
          <a:lstStyle/>
          <a:p>
            <a:pPr lvl="0">
              <a:buSzPts val="2500"/>
            </a:pPr>
            <a:r>
              <a:rPr lang="fr-FR" sz="2500" dirty="0">
                <a:solidFill>
                  <a:srgbClr val="F3F3F3"/>
                </a:solidFill>
                <a:latin typeface="Montserrat"/>
                <a:ea typeface="Montserrat"/>
                <a:cs typeface="Montserrat"/>
                <a:sym typeface="Montserrat"/>
              </a:rPr>
              <a:t>Analyses complémentaires</a:t>
            </a:r>
          </a:p>
          <a:p>
            <a:pPr lvl="0">
              <a:buSzPts val="2500"/>
            </a:pPr>
            <a:r>
              <a:rPr lang="fr-FR" sz="2500" dirty="0">
                <a:solidFill>
                  <a:srgbClr val="F3F3F3"/>
                </a:solidFill>
                <a:latin typeface="Montserrat"/>
                <a:sym typeface="Montserrat"/>
              </a:rPr>
              <a:t>Analyse des ventes en stock</a:t>
            </a:r>
            <a:endParaRPr lang="fr-FR" sz="2800" dirty="0"/>
          </a:p>
        </p:txBody>
      </p:sp>
      <p:sp>
        <p:nvSpPr>
          <p:cNvPr id="89" name="Google Shape;89;p7">
            <a:extLst>
              <a:ext uri="{FF2B5EF4-FFF2-40B4-BE49-F238E27FC236}">
                <a16:creationId xmlns:a16="http://schemas.microsoft.com/office/drawing/2014/main" id="{5CDE0E19-0185-5493-8552-024BC6C151D2}"/>
              </a:ext>
            </a:extLst>
          </p:cNvPr>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pic>
        <p:nvPicPr>
          <p:cNvPr id="5" name="Image 4">
            <a:extLst>
              <a:ext uri="{FF2B5EF4-FFF2-40B4-BE49-F238E27FC236}">
                <a16:creationId xmlns:a16="http://schemas.microsoft.com/office/drawing/2014/main" id="{B4D3F4F2-8F43-8353-2FEB-122888A29623}"/>
              </a:ext>
            </a:extLst>
          </p:cNvPr>
          <p:cNvPicPr>
            <a:picLocks noChangeAspect="1"/>
          </p:cNvPicPr>
          <p:nvPr/>
        </p:nvPicPr>
        <p:blipFill>
          <a:blip r:embed="rId3"/>
          <a:stretch>
            <a:fillRect/>
          </a:stretch>
        </p:blipFill>
        <p:spPr>
          <a:xfrm>
            <a:off x="566855" y="1449015"/>
            <a:ext cx="8010289" cy="3694485"/>
          </a:xfrm>
          <a:prstGeom prst="rect">
            <a:avLst/>
          </a:prstGeom>
        </p:spPr>
      </p:pic>
    </p:spTree>
    <p:extLst>
      <p:ext uri="{BB962C8B-B14F-4D97-AF65-F5344CB8AC3E}">
        <p14:creationId xmlns:p14="http://schemas.microsoft.com/office/powerpoint/2010/main" val="11692094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86">
          <a:extLst>
            <a:ext uri="{FF2B5EF4-FFF2-40B4-BE49-F238E27FC236}">
              <a16:creationId xmlns:a16="http://schemas.microsoft.com/office/drawing/2014/main" id="{08003521-3157-DA6B-8A60-29D4C72742B4}"/>
            </a:ext>
          </a:extLst>
        </p:cNvPr>
        <p:cNvGrpSpPr/>
        <p:nvPr/>
      </p:nvGrpSpPr>
      <p:grpSpPr>
        <a:xfrm>
          <a:off x="0" y="0"/>
          <a:ext cx="0" cy="0"/>
          <a:chOff x="0" y="0"/>
          <a:chExt cx="0" cy="0"/>
        </a:xfrm>
      </p:grpSpPr>
      <p:sp>
        <p:nvSpPr>
          <p:cNvPr id="87" name="Google Shape;87;p7">
            <a:extLst>
              <a:ext uri="{FF2B5EF4-FFF2-40B4-BE49-F238E27FC236}">
                <a16:creationId xmlns:a16="http://schemas.microsoft.com/office/drawing/2014/main" id="{7648DD7A-6B39-4FB3-8F2B-F8E7BC1768F2}"/>
              </a:ext>
            </a:extLst>
          </p:cNvPr>
          <p:cNvSpPr/>
          <p:nvPr/>
        </p:nvSpPr>
        <p:spPr>
          <a:xfrm>
            <a:off x="0" y="0"/>
            <a:ext cx="9144000" cy="1390200"/>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88" name="Google Shape;88;p7">
            <a:extLst>
              <a:ext uri="{FF2B5EF4-FFF2-40B4-BE49-F238E27FC236}">
                <a16:creationId xmlns:a16="http://schemas.microsoft.com/office/drawing/2014/main" id="{DCE68C8A-42E3-A47E-1968-DD536AFD7693}"/>
              </a:ext>
            </a:extLst>
          </p:cNvPr>
          <p:cNvSpPr txBox="1"/>
          <p:nvPr/>
        </p:nvSpPr>
        <p:spPr>
          <a:xfrm>
            <a:off x="895525" y="337250"/>
            <a:ext cx="8520600" cy="572700"/>
          </a:xfrm>
          <a:prstGeom prst="rect">
            <a:avLst/>
          </a:prstGeom>
          <a:noFill/>
          <a:ln>
            <a:noFill/>
          </a:ln>
        </p:spPr>
        <p:txBody>
          <a:bodyPr spcFirstLastPara="1" wrap="square" lIns="91425" tIns="91425" rIns="91425" bIns="91425" anchor="t" anchorCtr="0">
            <a:normAutofit fontScale="55000" lnSpcReduction="20000"/>
          </a:bodyPr>
          <a:lstStyle/>
          <a:p>
            <a:pPr lvl="0">
              <a:buSzPts val="2500"/>
            </a:pPr>
            <a:r>
              <a:rPr lang="fr-FR" sz="2500" dirty="0">
                <a:solidFill>
                  <a:srgbClr val="F3F3F3"/>
                </a:solidFill>
                <a:latin typeface="Montserrat"/>
                <a:ea typeface="Montserrat"/>
                <a:cs typeface="Montserrat"/>
                <a:sym typeface="Montserrat"/>
              </a:rPr>
              <a:t>Analyses complémentaires</a:t>
            </a:r>
          </a:p>
          <a:p>
            <a:pPr lvl="0">
              <a:buSzPts val="2500"/>
            </a:pPr>
            <a:r>
              <a:rPr lang="fr-FR" sz="2500" dirty="0">
                <a:solidFill>
                  <a:srgbClr val="F3F3F3"/>
                </a:solidFill>
                <a:latin typeface="Montserrat"/>
                <a:sym typeface="Montserrat"/>
              </a:rPr>
              <a:t>Analyse des ventes en stock</a:t>
            </a:r>
            <a:endParaRPr lang="fr-FR" sz="2800" dirty="0"/>
          </a:p>
        </p:txBody>
      </p:sp>
      <p:sp>
        <p:nvSpPr>
          <p:cNvPr id="89" name="Google Shape;89;p7">
            <a:extLst>
              <a:ext uri="{FF2B5EF4-FFF2-40B4-BE49-F238E27FC236}">
                <a16:creationId xmlns:a16="http://schemas.microsoft.com/office/drawing/2014/main" id="{FD786244-4743-AFE2-8083-D299D9FFEC46}"/>
              </a:ext>
            </a:extLst>
          </p:cNvPr>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90" name="Google Shape;90;p7">
            <a:extLst>
              <a:ext uri="{FF2B5EF4-FFF2-40B4-BE49-F238E27FC236}">
                <a16:creationId xmlns:a16="http://schemas.microsoft.com/office/drawing/2014/main" id="{09146C46-C23E-F754-BAA6-3D0DB8059353}"/>
              </a:ext>
            </a:extLst>
          </p:cNvPr>
          <p:cNvSpPr txBox="1">
            <a:spLocks noGrp="1"/>
          </p:cNvSpPr>
          <p:nvPr>
            <p:ph type="body" idx="1"/>
          </p:nvPr>
        </p:nvSpPr>
        <p:spPr>
          <a:xfrm>
            <a:off x="1217250" y="1473600"/>
            <a:ext cx="6709500" cy="3416400"/>
          </a:xfrm>
          <a:prstGeom prst="rect">
            <a:avLst/>
          </a:prstGeom>
          <a:noFill/>
          <a:ln>
            <a:noFill/>
          </a:ln>
        </p:spPr>
        <p:txBody>
          <a:bodyPr spcFirstLastPara="1" wrap="square" lIns="91425" tIns="91425" rIns="91425" bIns="91425" anchor="t" anchorCtr="0">
            <a:normAutofit/>
          </a:bodyPr>
          <a:lstStyle/>
          <a:p>
            <a:pPr marL="457200" marR="0" lvl="0" indent="-342900" algn="l" rtl="0">
              <a:lnSpc>
                <a:spcPct val="115000"/>
              </a:lnSpc>
              <a:spcBef>
                <a:spcPts val="0"/>
              </a:spcBef>
              <a:spcAft>
                <a:spcPts val="0"/>
              </a:spcAft>
              <a:buClr>
                <a:srgbClr val="999999"/>
              </a:buClr>
              <a:buSzPts val="1800"/>
              <a:buFont typeface="Montserrat"/>
              <a:buChar char="●"/>
            </a:pPr>
            <a:endParaRPr lang="fr-FR" i="1" dirty="0">
              <a:solidFill>
                <a:srgbClr val="999999"/>
              </a:solidFill>
              <a:latin typeface="Montserrat"/>
              <a:ea typeface="Montserrat"/>
              <a:cs typeface="Montserrat"/>
              <a:sym typeface="Montserrat"/>
            </a:endParaRPr>
          </a:p>
          <a:p>
            <a:pPr marL="457200" marR="0" lvl="0" indent="-342900" algn="l" rtl="0">
              <a:lnSpc>
                <a:spcPct val="115000"/>
              </a:lnSpc>
              <a:spcBef>
                <a:spcPts val="0"/>
              </a:spcBef>
              <a:spcAft>
                <a:spcPts val="0"/>
              </a:spcAft>
              <a:buClr>
                <a:srgbClr val="999999"/>
              </a:buClr>
              <a:buSzPts val="1800"/>
              <a:buFont typeface="Montserrat"/>
              <a:buChar char="●"/>
            </a:pPr>
            <a:endParaRPr lang="fr-FR" i="1" dirty="0">
              <a:solidFill>
                <a:srgbClr val="999999"/>
              </a:solidFill>
              <a:latin typeface="Montserrat"/>
              <a:ea typeface="Montserrat"/>
              <a:cs typeface="Montserrat"/>
              <a:sym typeface="Montserrat"/>
            </a:endParaRPr>
          </a:p>
          <a:p>
            <a:pPr marL="457200" marR="0" lvl="0" indent="-342900" algn="l" rtl="0">
              <a:lnSpc>
                <a:spcPct val="115000"/>
              </a:lnSpc>
              <a:spcBef>
                <a:spcPts val="0"/>
              </a:spcBef>
              <a:spcAft>
                <a:spcPts val="0"/>
              </a:spcAft>
              <a:buClr>
                <a:srgbClr val="999999"/>
              </a:buClr>
              <a:buSzPts val="1800"/>
              <a:buFont typeface="Montserrat"/>
              <a:buChar char="●"/>
            </a:pPr>
            <a:endParaRPr lang="fr-FR" i="1" dirty="0">
              <a:solidFill>
                <a:srgbClr val="999999"/>
              </a:solidFill>
              <a:latin typeface="Montserrat"/>
              <a:ea typeface="Montserrat"/>
              <a:cs typeface="Montserrat"/>
              <a:sym typeface="Montserrat"/>
            </a:endParaRPr>
          </a:p>
          <a:p>
            <a:pPr marL="457200" marR="0" lvl="0" indent="-342900" algn="l" rtl="0">
              <a:lnSpc>
                <a:spcPct val="115000"/>
              </a:lnSpc>
              <a:spcBef>
                <a:spcPts val="0"/>
              </a:spcBef>
              <a:spcAft>
                <a:spcPts val="0"/>
              </a:spcAft>
              <a:buClrTx/>
              <a:buSzPts val="1800"/>
              <a:buFont typeface="Montserrat"/>
              <a:buChar char="●"/>
            </a:pPr>
            <a:r>
              <a:rPr lang="fr-FR" i="1" dirty="0">
                <a:solidFill>
                  <a:schemeClr val="tx1"/>
                </a:solidFill>
                <a:latin typeface="Montserrat"/>
                <a:ea typeface="Montserrat"/>
                <a:cs typeface="Montserrat"/>
                <a:sym typeface="Montserrat"/>
              </a:rPr>
              <a:t>La valeur de notre stock total est de 274 878,5€</a:t>
            </a:r>
          </a:p>
          <a:p>
            <a:pPr marL="457200" marR="0" lvl="0" indent="-342900" algn="l" rtl="0">
              <a:lnSpc>
                <a:spcPct val="115000"/>
              </a:lnSpc>
              <a:spcBef>
                <a:spcPts val="0"/>
              </a:spcBef>
              <a:spcAft>
                <a:spcPts val="0"/>
              </a:spcAft>
              <a:buClrTx/>
              <a:buSzPts val="1800"/>
              <a:buFont typeface="Montserrat"/>
              <a:buChar char="●"/>
            </a:pPr>
            <a:endParaRPr lang="fr-FR" i="1" dirty="0">
              <a:solidFill>
                <a:schemeClr val="tx1"/>
              </a:solidFill>
              <a:latin typeface="Montserrat"/>
              <a:ea typeface="Montserrat"/>
              <a:cs typeface="Montserrat"/>
              <a:sym typeface="Montserrat"/>
            </a:endParaRPr>
          </a:p>
          <a:p>
            <a:pPr marL="457200" marR="0" lvl="0" indent="-342900" algn="l" rtl="0">
              <a:lnSpc>
                <a:spcPct val="115000"/>
              </a:lnSpc>
              <a:spcBef>
                <a:spcPts val="0"/>
              </a:spcBef>
              <a:spcAft>
                <a:spcPts val="0"/>
              </a:spcAft>
              <a:buClrTx/>
              <a:buSzPts val="1800"/>
              <a:buFont typeface="Montserrat"/>
              <a:buChar char="●"/>
            </a:pPr>
            <a:r>
              <a:rPr lang="fr-FR" i="1" dirty="0">
                <a:solidFill>
                  <a:schemeClr val="tx1"/>
                </a:solidFill>
                <a:latin typeface="Montserrat"/>
                <a:ea typeface="Montserrat"/>
                <a:cs typeface="Montserrat"/>
                <a:sym typeface="Montserrat"/>
              </a:rPr>
              <a:t>La taille de notre stock est de 16 549 bouteilles tout types confondus</a:t>
            </a:r>
            <a:endParaRPr dirty="0">
              <a:solidFill>
                <a:schemeClr val="tx1"/>
              </a:solidFill>
              <a:latin typeface="Montserrat"/>
              <a:ea typeface="Montserrat"/>
              <a:cs typeface="Montserrat"/>
              <a:sym typeface="Montserrat"/>
            </a:endParaRPr>
          </a:p>
        </p:txBody>
      </p:sp>
    </p:spTree>
    <p:extLst>
      <p:ext uri="{BB962C8B-B14F-4D97-AF65-F5344CB8AC3E}">
        <p14:creationId xmlns:p14="http://schemas.microsoft.com/office/powerpoint/2010/main" val="27415351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86">
          <a:extLst>
            <a:ext uri="{FF2B5EF4-FFF2-40B4-BE49-F238E27FC236}">
              <a16:creationId xmlns:a16="http://schemas.microsoft.com/office/drawing/2014/main" id="{CC015C23-918F-F537-D7FD-29BB729D0F99}"/>
            </a:ext>
          </a:extLst>
        </p:cNvPr>
        <p:cNvGrpSpPr/>
        <p:nvPr/>
      </p:nvGrpSpPr>
      <p:grpSpPr>
        <a:xfrm>
          <a:off x="0" y="0"/>
          <a:ext cx="0" cy="0"/>
          <a:chOff x="0" y="0"/>
          <a:chExt cx="0" cy="0"/>
        </a:xfrm>
      </p:grpSpPr>
      <p:sp>
        <p:nvSpPr>
          <p:cNvPr id="87" name="Google Shape;87;p7">
            <a:extLst>
              <a:ext uri="{FF2B5EF4-FFF2-40B4-BE49-F238E27FC236}">
                <a16:creationId xmlns:a16="http://schemas.microsoft.com/office/drawing/2014/main" id="{A4BCF227-0E08-C60B-9EFE-FD9CFCD2FEC3}"/>
              </a:ext>
            </a:extLst>
          </p:cNvPr>
          <p:cNvSpPr/>
          <p:nvPr/>
        </p:nvSpPr>
        <p:spPr>
          <a:xfrm>
            <a:off x="0" y="0"/>
            <a:ext cx="9144000" cy="1390200"/>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88" name="Google Shape;88;p7">
            <a:extLst>
              <a:ext uri="{FF2B5EF4-FFF2-40B4-BE49-F238E27FC236}">
                <a16:creationId xmlns:a16="http://schemas.microsoft.com/office/drawing/2014/main" id="{D5C0463D-A798-AD93-273E-1C160D11D7B4}"/>
              </a:ext>
            </a:extLst>
          </p:cNvPr>
          <p:cNvSpPr txBox="1"/>
          <p:nvPr/>
        </p:nvSpPr>
        <p:spPr>
          <a:xfrm>
            <a:off x="895525" y="337250"/>
            <a:ext cx="8520600" cy="572700"/>
          </a:xfrm>
          <a:prstGeom prst="rect">
            <a:avLst/>
          </a:prstGeom>
          <a:noFill/>
          <a:ln>
            <a:noFill/>
          </a:ln>
        </p:spPr>
        <p:txBody>
          <a:bodyPr spcFirstLastPara="1" wrap="square" lIns="91425" tIns="91425" rIns="91425" bIns="91425" anchor="t" anchorCtr="0">
            <a:normAutofit fontScale="55000" lnSpcReduction="20000"/>
          </a:bodyPr>
          <a:lstStyle/>
          <a:p>
            <a:pPr marL="0" marR="0" lvl="0" indent="0" algn="l" rtl="0">
              <a:lnSpc>
                <a:spcPct val="100000"/>
              </a:lnSpc>
              <a:spcBef>
                <a:spcPts val="0"/>
              </a:spcBef>
              <a:spcAft>
                <a:spcPts val="0"/>
              </a:spcAft>
              <a:buClr>
                <a:srgbClr val="000000"/>
              </a:buClr>
              <a:buSzPts val="2500"/>
              <a:buFont typeface="Arial"/>
              <a:buNone/>
            </a:pPr>
            <a:r>
              <a:rPr lang="fr" sz="2500" b="0" i="0" u="none" strike="noStrike" cap="none" dirty="0">
                <a:solidFill>
                  <a:srgbClr val="F3F3F3"/>
                </a:solidFill>
                <a:latin typeface="Montserrat"/>
                <a:ea typeface="Montserrat"/>
                <a:cs typeface="Montserrat"/>
                <a:sym typeface="Montserrat"/>
              </a:rPr>
              <a:t>Analyses complémentaires</a:t>
            </a:r>
          </a:p>
          <a:p>
            <a:pPr marL="0" marR="0" lvl="0" indent="0" algn="l" rtl="0">
              <a:lnSpc>
                <a:spcPct val="100000"/>
              </a:lnSpc>
              <a:spcBef>
                <a:spcPts val="0"/>
              </a:spcBef>
              <a:spcAft>
                <a:spcPts val="0"/>
              </a:spcAft>
              <a:buClr>
                <a:srgbClr val="000000"/>
              </a:buClr>
              <a:buSzPts val="2500"/>
              <a:buFont typeface="Arial"/>
              <a:buNone/>
            </a:pPr>
            <a:r>
              <a:rPr lang="fr" sz="2500" dirty="0">
                <a:solidFill>
                  <a:srgbClr val="F3F3F3"/>
                </a:solidFill>
                <a:latin typeface="Montserrat"/>
                <a:sym typeface="Montserrat"/>
              </a:rPr>
              <a:t>Analyse du taux de marge</a:t>
            </a:r>
            <a:endParaRPr dirty="0"/>
          </a:p>
        </p:txBody>
      </p:sp>
      <p:sp>
        <p:nvSpPr>
          <p:cNvPr id="89" name="Google Shape;89;p7">
            <a:extLst>
              <a:ext uri="{FF2B5EF4-FFF2-40B4-BE49-F238E27FC236}">
                <a16:creationId xmlns:a16="http://schemas.microsoft.com/office/drawing/2014/main" id="{379DE533-9C74-2642-3093-98D828F0C3E5}"/>
              </a:ext>
            </a:extLst>
          </p:cNvPr>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90" name="Google Shape;90;p7">
            <a:extLst>
              <a:ext uri="{FF2B5EF4-FFF2-40B4-BE49-F238E27FC236}">
                <a16:creationId xmlns:a16="http://schemas.microsoft.com/office/drawing/2014/main" id="{9D6545A0-15D5-D8AB-939B-2C4666EEE422}"/>
              </a:ext>
            </a:extLst>
          </p:cNvPr>
          <p:cNvSpPr txBox="1">
            <a:spLocks noGrp="1"/>
          </p:cNvSpPr>
          <p:nvPr>
            <p:ph type="body" idx="1"/>
          </p:nvPr>
        </p:nvSpPr>
        <p:spPr>
          <a:xfrm>
            <a:off x="557279" y="1528607"/>
            <a:ext cx="6709500" cy="3416400"/>
          </a:xfrm>
          <a:prstGeom prst="rect">
            <a:avLst/>
          </a:prstGeom>
          <a:noFill/>
          <a:ln>
            <a:noFill/>
          </a:ln>
        </p:spPr>
        <p:txBody>
          <a:bodyPr spcFirstLastPara="1" wrap="square" lIns="91425" tIns="91425" rIns="91425" bIns="91425" anchor="t" anchorCtr="0">
            <a:normAutofit/>
          </a:bodyPr>
          <a:lstStyle/>
          <a:p>
            <a:pPr marL="457200" marR="0" lvl="0" indent="-342900" algn="l" rtl="0">
              <a:lnSpc>
                <a:spcPct val="115000"/>
              </a:lnSpc>
              <a:spcBef>
                <a:spcPts val="0"/>
              </a:spcBef>
              <a:spcAft>
                <a:spcPts val="0"/>
              </a:spcAft>
              <a:buClrTx/>
              <a:buSzPts val="1800"/>
              <a:buFont typeface="+mj-lt"/>
              <a:buAutoNum type="arabicPeriod"/>
            </a:pPr>
            <a:endParaRPr lang="fr-FR" dirty="0">
              <a:solidFill>
                <a:srgbClr val="434343"/>
              </a:solidFill>
              <a:latin typeface="Montserrat"/>
              <a:ea typeface="Montserrat"/>
              <a:cs typeface="Montserrat"/>
              <a:sym typeface="Montserrat"/>
            </a:endParaRPr>
          </a:p>
          <a:p>
            <a:pPr marL="457200" marR="0" lvl="0" indent="-342900" algn="l" rtl="0">
              <a:lnSpc>
                <a:spcPct val="115000"/>
              </a:lnSpc>
              <a:spcBef>
                <a:spcPts val="0"/>
              </a:spcBef>
              <a:spcAft>
                <a:spcPts val="0"/>
              </a:spcAft>
              <a:buClrTx/>
              <a:buSzPts val="1800"/>
              <a:buFont typeface="+mj-lt"/>
              <a:buAutoNum type="arabicPeriod"/>
            </a:pPr>
            <a:r>
              <a:rPr lang="fr-FR" dirty="0">
                <a:solidFill>
                  <a:srgbClr val="434343"/>
                </a:solidFill>
                <a:latin typeface="Montserrat"/>
                <a:ea typeface="Montserrat"/>
                <a:cs typeface="Montserrat"/>
                <a:sym typeface="Montserrat"/>
              </a:rPr>
              <a:t>On a d’abord calculé le prix HT</a:t>
            </a:r>
          </a:p>
          <a:p>
            <a:pPr marL="457200" marR="0" lvl="0" indent="-342900" algn="l" rtl="0">
              <a:lnSpc>
                <a:spcPct val="115000"/>
              </a:lnSpc>
              <a:spcBef>
                <a:spcPts val="0"/>
              </a:spcBef>
              <a:spcAft>
                <a:spcPts val="0"/>
              </a:spcAft>
              <a:buClrTx/>
              <a:buSzPts val="1800"/>
              <a:buFont typeface="+mj-lt"/>
              <a:buAutoNum type="arabicPeriod"/>
            </a:pPr>
            <a:endParaRPr lang="fr-FR" dirty="0">
              <a:solidFill>
                <a:srgbClr val="434343"/>
              </a:solidFill>
              <a:latin typeface="Montserrat"/>
              <a:ea typeface="Montserrat"/>
              <a:cs typeface="Montserrat"/>
              <a:sym typeface="Montserrat"/>
            </a:endParaRPr>
          </a:p>
          <a:p>
            <a:pPr marL="457200" marR="0" lvl="0" indent="-342900" algn="l" rtl="0">
              <a:lnSpc>
                <a:spcPct val="115000"/>
              </a:lnSpc>
              <a:spcBef>
                <a:spcPts val="0"/>
              </a:spcBef>
              <a:spcAft>
                <a:spcPts val="0"/>
              </a:spcAft>
              <a:buClrTx/>
              <a:buSzPts val="1800"/>
              <a:buFont typeface="+mj-lt"/>
              <a:buAutoNum type="arabicPeriod"/>
            </a:pPr>
            <a:endParaRPr lang="fr-FR" dirty="0">
              <a:solidFill>
                <a:srgbClr val="434343"/>
              </a:solidFill>
              <a:latin typeface="Montserrat"/>
              <a:ea typeface="Montserrat"/>
              <a:cs typeface="Montserrat"/>
              <a:sym typeface="Montserrat"/>
            </a:endParaRPr>
          </a:p>
          <a:p>
            <a:pPr marL="457200" marR="0" lvl="0" indent="-342900" algn="l" rtl="0">
              <a:lnSpc>
                <a:spcPct val="115000"/>
              </a:lnSpc>
              <a:spcBef>
                <a:spcPts val="0"/>
              </a:spcBef>
              <a:spcAft>
                <a:spcPts val="0"/>
              </a:spcAft>
              <a:buClrTx/>
              <a:buSzPts val="1800"/>
              <a:buFont typeface="+mj-lt"/>
              <a:buAutoNum type="arabicPeriod"/>
            </a:pPr>
            <a:r>
              <a:rPr lang="fr-FR" dirty="0">
                <a:solidFill>
                  <a:srgbClr val="434343"/>
                </a:solidFill>
                <a:latin typeface="Montserrat"/>
                <a:ea typeface="Montserrat"/>
                <a:cs typeface="Montserrat"/>
                <a:sym typeface="Montserrat"/>
              </a:rPr>
              <a:t>Pour ensuite avoir la marge on doit enlever au prix de vente HT le prix d’achat</a:t>
            </a:r>
          </a:p>
          <a:p>
            <a:pPr marL="457200" marR="0" lvl="0" indent="-342900" algn="l" rtl="0">
              <a:lnSpc>
                <a:spcPct val="115000"/>
              </a:lnSpc>
              <a:spcBef>
                <a:spcPts val="0"/>
              </a:spcBef>
              <a:spcAft>
                <a:spcPts val="0"/>
              </a:spcAft>
              <a:buClrTx/>
              <a:buSzPts val="1800"/>
              <a:buFont typeface="+mj-lt"/>
              <a:buAutoNum type="arabicPeriod"/>
            </a:pPr>
            <a:endParaRPr lang="fr-FR" dirty="0">
              <a:solidFill>
                <a:srgbClr val="434343"/>
              </a:solidFill>
              <a:latin typeface="Montserrat"/>
              <a:ea typeface="Montserrat"/>
              <a:cs typeface="Montserrat"/>
              <a:sym typeface="Montserrat"/>
            </a:endParaRPr>
          </a:p>
          <a:p>
            <a:pPr marL="457200" marR="0" lvl="0" indent="-342900" algn="l" rtl="0">
              <a:lnSpc>
                <a:spcPct val="115000"/>
              </a:lnSpc>
              <a:spcBef>
                <a:spcPts val="0"/>
              </a:spcBef>
              <a:spcAft>
                <a:spcPts val="0"/>
              </a:spcAft>
              <a:buClrTx/>
              <a:buSzPts val="1800"/>
              <a:buFont typeface="+mj-lt"/>
              <a:buAutoNum type="arabicPeriod"/>
            </a:pPr>
            <a:r>
              <a:rPr lang="fr-FR" dirty="0">
                <a:solidFill>
                  <a:srgbClr val="434343"/>
                </a:solidFill>
                <a:latin typeface="Montserrat"/>
                <a:ea typeface="Montserrat"/>
                <a:cs typeface="Montserrat"/>
                <a:sym typeface="Montserrat"/>
              </a:rPr>
              <a:t>Le Taux de marge minimum est de 25,5%</a:t>
            </a:r>
          </a:p>
          <a:p>
            <a:pPr marL="457200" marR="0" lvl="0" indent="-342900" algn="l" rtl="0">
              <a:lnSpc>
                <a:spcPct val="115000"/>
              </a:lnSpc>
              <a:spcBef>
                <a:spcPts val="0"/>
              </a:spcBef>
              <a:spcAft>
                <a:spcPts val="0"/>
              </a:spcAft>
              <a:buClrTx/>
              <a:buSzPts val="1800"/>
              <a:buFont typeface="+mj-lt"/>
              <a:buAutoNum type="arabicPeriod"/>
            </a:pPr>
            <a:endParaRPr lang="fr-FR" dirty="0">
              <a:solidFill>
                <a:srgbClr val="434343"/>
              </a:solidFill>
              <a:latin typeface="Montserrat"/>
              <a:ea typeface="Montserrat"/>
              <a:cs typeface="Montserrat"/>
              <a:sym typeface="Montserrat"/>
            </a:endParaRPr>
          </a:p>
          <a:p>
            <a:pPr>
              <a:buClrTx/>
              <a:buFont typeface="+mj-lt"/>
              <a:buAutoNum type="arabicPeriod"/>
            </a:pPr>
            <a:r>
              <a:rPr lang="fr-FR" dirty="0">
                <a:solidFill>
                  <a:srgbClr val="434343"/>
                </a:solidFill>
                <a:latin typeface="Montserrat"/>
                <a:ea typeface="Montserrat"/>
                <a:cs typeface="Montserrat"/>
                <a:sym typeface="Montserrat"/>
              </a:rPr>
              <a:t>Le Taux de marge maximum est de 83,76%</a:t>
            </a:r>
          </a:p>
          <a:p>
            <a:pPr marL="457200" marR="0" lvl="0" indent="-342900" algn="l" rtl="0">
              <a:lnSpc>
                <a:spcPct val="115000"/>
              </a:lnSpc>
              <a:spcBef>
                <a:spcPts val="0"/>
              </a:spcBef>
              <a:spcAft>
                <a:spcPts val="0"/>
              </a:spcAft>
              <a:buClrTx/>
              <a:buSzPts val="1800"/>
              <a:buFont typeface="+mj-lt"/>
              <a:buAutoNum type="arabicPeriod"/>
            </a:pPr>
            <a:endParaRPr lang="fr-FR" dirty="0">
              <a:solidFill>
                <a:srgbClr val="434343"/>
              </a:solidFill>
              <a:latin typeface="Montserrat"/>
              <a:ea typeface="Montserrat"/>
              <a:cs typeface="Montserrat"/>
              <a:sym typeface="Montserrat"/>
            </a:endParaRPr>
          </a:p>
        </p:txBody>
      </p:sp>
      <p:sp>
        <p:nvSpPr>
          <p:cNvPr id="2" name="Flèche : droite 1">
            <a:extLst>
              <a:ext uri="{FF2B5EF4-FFF2-40B4-BE49-F238E27FC236}">
                <a16:creationId xmlns:a16="http://schemas.microsoft.com/office/drawing/2014/main" id="{5667BEE8-9B37-9EAE-882D-5DBFCD30392C}"/>
              </a:ext>
            </a:extLst>
          </p:cNvPr>
          <p:cNvSpPr/>
          <p:nvPr/>
        </p:nvSpPr>
        <p:spPr>
          <a:xfrm>
            <a:off x="4762125" y="1973818"/>
            <a:ext cx="787400" cy="203200"/>
          </a:xfrm>
          <a:prstGeom prst="rightArrow">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3" name="ZoneTexte 2">
            <a:extLst>
              <a:ext uri="{FF2B5EF4-FFF2-40B4-BE49-F238E27FC236}">
                <a16:creationId xmlns:a16="http://schemas.microsoft.com/office/drawing/2014/main" id="{E238C784-E1E8-8702-61C2-2F20D562C126}"/>
              </a:ext>
            </a:extLst>
          </p:cNvPr>
          <p:cNvSpPr txBox="1"/>
          <p:nvPr/>
        </p:nvSpPr>
        <p:spPr>
          <a:xfrm>
            <a:off x="5850466" y="1727450"/>
            <a:ext cx="2446867" cy="738664"/>
          </a:xfrm>
          <a:prstGeom prst="rect">
            <a:avLst/>
          </a:prstGeom>
          <a:noFill/>
        </p:spPr>
        <p:txBody>
          <a:bodyPr wrap="square" rtlCol="0">
            <a:spAutoFit/>
          </a:bodyPr>
          <a:lstStyle/>
          <a:p>
            <a:r>
              <a:rPr lang="fr-FR" dirty="0"/>
              <a:t>Pour rappel la taxe sur les boissons alcoolisées est de 20%</a:t>
            </a:r>
          </a:p>
        </p:txBody>
      </p:sp>
    </p:spTree>
    <p:extLst>
      <p:ext uri="{BB962C8B-B14F-4D97-AF65-F5344CB8AC3E}">
        <p14:creationId xmlns:p14="http://schemas.microsoft.com/office/powerpoint/2010/main" val="36283239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86">
          <a:extLst>
            <a:ext uri="{FF2B5EF4-FFF2-40B4-BE49-F238E27FC236}">
              <a16:creationId xmlns:a16="http://schemas.microsoft.com/office/drawing/2014/main" id="{D07C6BE2-0ED4-6461-C986-C01257212C51}"/>
            </a:ext>
          </a:extLst>
        </p:cNvPr>
        <p:cNvGrpSpPr/>
        <p:nvPr/>
      </p:nvGrpSpPr>
      <p:grpSpPr>
        <a:xfrm>
          <a:off x="0" y="0"/>
          <a:ext cx="0" cy="0"/>
          <a:chOff x="0" y="0"/>
          <a:chExt cx="0" cy="0"/>
        </a:xfrm>
      </p:grpSpPr>
      <p:sp>
        <p:nvSpPr>
          <p:cNvPr id="87" name="Google Shape;87;p7">
            <a:extLst>
              <a:ext uri="{FF2B5EF4-FFF2-40B4-BE49-F238E27FC236}">
                <a16:creationId xmlns:a16="http://schemas.microsoft.com/office/drawing/2014/main" id="{CBF74662-29CB-314E-11D5-E5D85A499879}"/>
              </a:ext>
            </a:extLst>
          </p:cNvPr>
          <p:cNvSpPr/>
          <p:nvPr/>
        </p:nvSpPr>
        <p:spPr>
          <a:xfrm>
            <a:off x="0" y="0"/>
            <a:ext cx="9144000" cy="1390200"/>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88" name="Google Shape;88;p7">
            <a:extLst>
              <a:ext uri="{FF2B5EF4-FFF2-40B4-BE49-F238E27FC236}">
                <a16:creationId xmlns:a16="http://schemas.microsoft.com/office/drawing/2014/main" id="{7E4282C2-5C8B-C2A3-5D6A-98759A1D9654}"/>
              </a:ext>
            </a:extLst>
          </p:cNvPr>
          <p:cNvSpPr txBox="1"/>
          <p:nvPr/>
        </p:nvSpPr>
        <p:spPr>
          <a:xfrm>
            <a:off x="895525" y="337250"/>
            <a:ext cx="8520600" cy="572700"/>
          </a:xfrm>
          <a:prstGeom prst="rect">
            <a:avLst/>
          </a:prstGeom>
          <a:noFill/>
          <a:ln>
            <a:noFill/>
          </a:ln>
        </p:spPr>
        <p:txBody>
          <a:bodyPr spcFirstLastPara="1" wrap="square" lIns="91425" tIns="91425" rIns="91425" bIns="91425" anchor="t" anchorCtr="0">
            <a:normAutofit fontScale="55000" lnSpcReduction="20000"/>
          </a:bodyPr>
          <a:lstStyle/>
          <a:p>
            <a:pPr marL="0" marR="0" lvl="0" indent="0" algn="l" rtl="0">
              <a:lnSpc>
                <a:spcPct val="100000"/>
              </a:lnSpc>
              <a:spcBef>
                <a:spcPts val="0"/>
              </a:spcBef>
              <a:spcAft>
                <a:spcPts val="0"/>
              </a:spcAft>
              <a:buClr>
                <a:srgbClr val="000000"/>
              </a:buClr>
              <a:buSzPts val="2500"/>
              <a:buFont typeface="Arial"/>
              <a:buNone/>
            </a:pPr>
            <a:r>
              <a:rPr lang="fr" sz="2500" b="0" i="0" u="none" strike="noStrike" cap="none" dirty="0">
                <a:solidFill>
                  <a:srgbClr val="F3F3F3"/>
                </a:solidFill>
                <a:latin typeface="Montserrat"/>
                <a:ea typeface="Montserrat"/>
                <a:cs typeface="Montserrat"/>
                <a:sym typeface="Montserrat"/>
              </a:rPr>
              <a:t>Analyses complémentaires</a:t>
            </a:r>
          </a:p>
          <a:p>
            <a:pPr marL="0" marR="0" lvl="0" indent="0" algn="l" rtl="0">
              <a:lnSpc>
                <a:spcPct val="100000"/>
              </a:lnSpc>
              <a:spcBef>
                <a:spcPts val="0"/>
              </a:spcBef>
              <a:spcAft>
                <a:spcPts val="0"/>
              </a:spcAft>
              <a:buClr>
                <a:srgbClr val="000000"/>
              </a:buClr>
              <a:buSzPts val="2500"/>
              <a:buFont typeface="Arial"/>
              <a:buNone/>
            </a:pPr>
            <a:r>
              <a:rPr lang="fr" sz="2500" dirty="0">
                <a:solidFill>
                  <a:srgbClr val="F3F3F3"/>
                </a:solidFill>
                <a:latin typeface="Montserrat"/>
                <a:sym typeface="Montserrat"/>
              </a:rPr>
              <a:t>Analyse du taux de marge</a:t>
            </a:r>
            <a:endParaRPr dirty="0"/>
          </a:p>
        </p:txBody>
      </p:sp>
      <p:sp>
        <p:nvSpPr>
          <p:cNvPr id="89" name="Google Shape;89;p7">
            <a:extLst>
              <a:ext uri="{FF2B5EF4-FFF2-40B4-BE49-F238E27FC236}">
                <a16:creationId xmlns:a16="http://schemas.microsoft.com/office/drawing/2014/main" id="{1482A724-BF9C-C2C7-079F-CB6D920CD1B1}"/>
              </a:ext>
            </a:extLst>
          </p:cNvPr>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pic>
        <p:nvPicPr>
          <p:cNvPr id="5" name="Image 4">
            <a:extLst>
              <a:ext uri="{FF2B5EF4-FFF2-40B4-BE49-F238E27FC236}">
                <a16:creationId xmlns:a16="http://schemas.microsoft.com/office/drawing/2014/main" id="{B3C6D740-B84A-984F-F194-7660C236CD29}"/>
              </a:ext>
            </a:extLst>
          </p:cNvPr>
          <p:cNvPicPr>
            <a:picLocks noChangeAspect="1"/>
          </p:cNvPicPr>
          <p:nvPr/>
        </p:nvPicPr>
        <p:blipFill>
          <a:blip r:embed="rId3"/>
          <a:stretch>
            <a:fillRect/>
          </a:stretch>
        </p:blipFill>
        <p:spPr>
          <a:xfrm>
            <a:off x="0" y="1941050"/>
            <a:ext cx="9144000" cy="2605549"/>
          </a:xfrm>
          <a:prstGeom prst="rect">
            <a:avLst/>
          </a:prstGeom>
        </p:spPr>
      </p:pic>
    </p:spTree>
    <p:extLst>
      <p:ext uri="{BB962C8B-B14F-4D97-AF65-F5344CB8AC3E}">
        <p14:creationId xmlns:p14="http://schemas.microsoft.com/office/powerpoint/2010/main" val="24273060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86">
          <a:extLst>
            <a:ext uri="{FF2B5EF4-FFF2-40B4-BE49-F238E27FC236}">
              <a16:creationId xmlns:a16="http://schemas.microsoft.com/office/drawing/2014/main" id="{F592E94E-A4D5-CFED-9558-F02E275BD925}"/>
            </a:ext>
          </a:extLst>
        </p:cNvPr>
        <p:cNvGrpSpPr/>
        <p:nvPr/>
      </p:nvGrpSpPr>
      <p:grpSpPr>
        <a:xfrm>
          <a:off x="0" y="0"/>
          <a:ext cx="0" cy="0"/>
          <a:chOff x="0" y="0"/>
          <a:chExt cx="0" cy="0"/>
        </a:xfrm>
      </p:grpSpPr>
      <p:sp>
        <p:nvSpPr>
          <p:cNvPr id="87" name="Google Shape;87;p7">
            <a:extLst>
              <a:ext uri="{FF2B5EF4-FFF2-40B4-BE49-F238E27FC236}">
                <a16:creationId xmlns:a16="http://schemas.microsoft.com/office/drawing/2014/main" id="{F32CF426-9317-DD41-E145-A50F86C6CD9C}"/>
              </a:ext>
            </a:extLst>
          </p:cNvPr>
          <p:cNvSpPr/>
          <p:nvPr/>
        </p:nvSpPr>
        <p:spPr>
          <a:xfrm>
            <a:off x="0" y="0"/>
            <a:ext cx="9144000" cy="1390200"/>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88" name="Google Shape;88;p7">
            <a:extLst>
              <a:ext uri="{FF2B5EF4-FFF2-40B4-BE49-F238E27FC236}">
                <a16:creationId xmlns:a16="http://schemas.microsoft.com/office/drawing/2014/main" id="{BBF338A9-CF1C-E258-ADDD-481EC979A0A3}"/>
              </a:ext>
            </a:extLst>
          </p:cNvPr>
          <p:cNvSpPr txBox="1"/>
          <p:nvPr/>
        </p:nvSpPr>
        <p:spPr>
          <a:xfrm>
            <a:off x="895525" y="337250"/>
            <a:ext cx="8520600" cy="572700"/>
          </a:xfrm>
          <a:prstGeom prst="rect">
            <a:avLst/>
          </a:prstGeom>
          <a:noFill/>
          <a:ln>
            <a:noFill/>
          </a:ln>
        </p:spPr>
        <p:txBody>
          <a:bodyPr spcFirstLastPara="1" wrap="square" lIns="91425" tIns="91425" rIns="91425" bIns="91425" anchor="t" anchorCtr="0">
            <a:normAutofit fontScale="55000" lnSpcReduction="20000"/>
          </a:bodyPr>
          <a:lstStyle/>
          <a:p>
            <a:pPr marL="0" marR="0" lvl="0" indent="0" algn="l" rtl="0">
              <a:lnSpc>
                <a:spcPct val="100000"/>
              </a:lnSpc>
              <a:spcBef>
                <a:spcPts val="0"/>
              </a:spcBef>
              <a:spcAft>
                <a:spcPts val="0"/>
              </a:spcAft>
              <a:buClr>
                <a:srgbClr val="000000"/>
              </a:buClr>
              <a:buSzPts val="2500"/>
              <a:buFont typeface="Arial"/>
              <a:buNone/>
            </a:pPr>
            <a:r>
              <a:rPr lang="fr" sz="2500" b="0" i="0" u="none" strike="noStrike" cap="none" dirty="0">
                <a:solidFill>
                  <a:srgbClr val="F3F3F3"/>
                </a:solidFill>
                <a:latin typeface="Montserrat"/>
                <a:ea typeface="Montserrat"/>
                <a:cs typeface="Montserrat"/>
                <a:sym typeface="Montserrat"/>
              </a:rPr>
              <a:t>Analyses complémentaires</a:t>
            </a:r>
          </a:p>
          <a:p>
            <a:pPr marL="0" marR="0" lvl="0" indent="0" algn="l" rtl="0">
              <a:lnSpc>
                <a:spcPct val="100000"/>
              </a:lnSpc>
              <a:spcBef>
                <a:spcPts val="0"/>
              </a:spcBef>
              <a:spcAft>
                <a:spcPts val="0"/>
              </a:spcAft>
              <a:buClr>
                <a:srgbClr val="000000"/>
              </a:buClr>
              <a:buSzPts val="2500"/>
              <a:buFont typeface="Arial"/>
              <a:buNone/>
            </a:pPr>
            <a:r>
              <a:rPr lang="fr" sz="2500" dirty="0">
                <a:solidFill>
                  <a:srgbClr val="F3F3F3"/>
                </a:solidFill>
                <a:latin typeface="Montserrat"/>
                <a:sym typeface="Montserrat"/>
              </a:rPr>
              <a:t>Analye des correlations entre les variables </a:t>
            </a:r>
            <a:r>
              <a:rPr lang="fr-FR" sz="2500" dirty="0">
                <a:solidFill>
                  <a:srgbClr val="F3F3F3"/>
                </a:solidFill>
                <a:latin typeface="Montserrat"/>
                <a:sym typeface="Montserrat"/>
              </a:rPr>
              <a:t>stock, ventes et prix</a:t>
            </a:r>
            <a:endParaRPr dirty="0"/>
          </a:p>
        </p:txBody>
      </p:sp>
      <p:sp>
        <p:nvSpPr>
          <p:cNvPr id="89" name="Google Shape;89;p7">
            <a:extLst>
              <a:ext uri="{FF2B5EF4-FFF2-40B4-BE49-F238E27FC236}">
                <a16:creationId xmlns:a16="http://schemas.microsoft.com/office/drawing/2014/main" id="{AA168760-C8E4-913E-91C5-45E4B2C6C4DA}"/>
              </a:ext>
            </a:extLst>
          </p:cNvPr>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pic>
        <p:nvPicPr>
          <p:cNvPr id="5" name="Image 4">
            <a:extLst>
              <a:ext uri="{FF2B5EF4-FFF2-40B4-BE49-F238E27FC236}">
                <a16:creationId xmlns:a16="http://schemas.microsoft.com/office/drawing/2014/main" id="{74DFF31E-6D7A-B600-45EF-4BECEA0923F4}"/>
              </a:ext>
            </a:extLst>
          </p:cNvPr>
          <p:cNvPicPr>
            <a:picLocks noChangeAspect="1"/>
          </p:cNvPicPr>
          <p:nvPr/>
        </p:nvPicPr>
        <p:blipFill>
          <a:blip r:embed="rId3"/>
          <a:stretch>
            <a:fillRect/>
          </a:stretch>
        </p:blipFill>
        <p:spPr>
          <a:xfrm>
            <a:off x="2461918" y="1628012"/>
            <a:ext cx="4220164" cy="3343742"/>
          </a:xfrm>
          <a:prstGeom prst="rect">
            <a:avLst/>
          </a:prstGeom>
        </p:spPr>
      </p:pic>
    </p:spTree>
    <p:extLst>
      <p:ext uri="{BB962C8B-B14F-4D97-AF65-F5344CB8AC3E}">
        <p14:creationId xmlns:p14="http://schemas.microsoft.com/office/powerpoint/2010/main" val="36892570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g13f9e8f1567_0_0"/>
          <p:cNvSpPr/>
          <p:nvPr/>
        </p:nvSpPr>
        <p:spPr>
          <a:xfrm>
            <a:off x="0" y="0"/>
            <a:ext cx="9144000" cy="1390200"/>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96" name="Google Shape;96;g13f9e8f1567_0_0"/>
          <p:cNvSpPr txBox="1"/>
          <p:nvPr/>
        </p:nvSpPr>
        <p:spPr>
          <a:xfrm>
            <a:off x="895525" y="337250"/>
            <a:ext cx="8520600" cy="572700"/>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Clr>
                <a:srgbClr val="000000"/>
              </a:buClr>
              <a:buSzPts val="2500"/>
              <a:buFont typeface="Arial"/>
              <a:buNone/>
            </a:pPr>
            <a:r>
              <a:rPr lang="fr" sz="2500">
                <a:solidFill>
                  <a:srgbClr val="F3F3F3"/>
                </a:solidFill>
                <a:latin typeface="Montserrat"/>
                <a:ea typeface="Montserrat"/>
                <a:cs typeface="Montserrat"/>
                <a:sym typeface="Montserrat"/>
              </a:rPr>
              <a:t>Actions pour la suite</a:t>
            </a:r>
            <a:endParaRPr dirty="0"/>
          </a:p>
        </p:txBody>
      </p:sp>
      <p:sp>
        <p:nvSpPr>
          <p:cNvPr id="97" name="Google Shape;97;g13f9e8f1567_0_0"/>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98" name="Google Shape;98;g13f9e8f1567_0_0"/>
          <p:cNvSpPr txBox="1">
            <a:spLocks noGrp="1"/>
          </p:cNvSpPr>
          <p:nvPr>
            <p:ph type="body" idx="1"/>
          </p:nvPr>
        </p:nvSpPr>
        <p:spPr>
          <a:xfrm>
            <a:off x="557274" y="1528600"/>
            <a:ext cx="8316000" cy="3416400"/>
          </a:xfrm>
          <a:prstGeom prst="rect">
            <a:avLst/>
          </a:prstGeom>
          <a:noFill/>
          <a:ln>
            <a:noFill/>
          </a:ln>
        </p:spPr>
        <p:txBody>
          <a:bodyPr spcFirstLastPara="1" wrap="square" lIns="91425" tIns="91425" rIns="91425" bIns="91425" anchor="t" anchorCtr="0">
            <a:normAutofit fontScale="92500" lnSpcReduction="20000"/>
          </a:bodyPr>
          <a:lstStyle/>
          <a:p>
            <a:pPr marL="400050" lvl="0" indent="-400050" algn="l" rtl="0">
              <a:lnSpc>
                <a:spcPct val="115000"/>
              </a:lnSpc>
              <a:spcBef>
                <a:spcPts val="0"/>
              </a:spcBef>
              <a:spcAft>
                <a:spcPts val="0"/>
              </a:spcAft>
              <a:buFont typeface="+mj-lt"/>
              <a:buAutoNum type="romanUcPeriod"/>
            </a:pPr>
            <a:r>
              <a:rPr lang="fr-FR" i="1" dirty="0">
                <a:solidFill>
                  <a:schemeClr val="tx1"/>
                </a:solidFill>
                <a:latin typeface="Montserrat"/>
                <a:ea typeface="Montserrat"/>
                <a:cs typeface="Montserrat"/>
                <a:sym typeface="Montserrat"/>
              </a:rPr>
              <a:t>Améliorer la collecte des données</a:t>
            </a:r>
          </a:p>
          <a:p>
            <a:pPr marL="400050" lvl="0" indent="-400050" algn="l" rtl="0">
              <a:lnSpc>
                <a:spcPct val="115000"/>
              </a:lnSpc>
              <a:spcBef>
                <a:spcPts val="0"/>
              </a:spcBef>
              <a:spcAft>
                <a:spcPts val="0"/>
              </a:spcAft>
              <a:buFont typeface="+mj-lt"/>
              <a:buAutoNum type="romanUcPeriod"/>
            </a:pPr>
            <a:endParaRPr lang="fr-FR" i="1" dirty="0">
              <a:solidFill>
                <a:schemeClr val="tx1"/>
              </a:solidFill>
              <a:latin typeface="Montserrat"/>
              <a:ea typeface="Montserrat"/>
              <a:cs typeface="Montserrat"/>
              <a:sym typeface="Montserrat"/>
            </a:endParaRPr>
          </a:p>
          <a:p>
            <a:pPr marL="857250" lvl="1" indent="-400050">
              <a:buFont typeface="+mj-lt"/>
              <a:buAutoNum type="alphaUcPeriod"/>
            </a:pPr>
            <a:r>
              <a:rPr lang="fr-FR" i="1" dirty="0">
                <a:solidFill>
                  <a:schemeClr val="tx1"/>
                </a:solidFill>
                <a:latin typeface="Montserrat"/>
                <a:ea typeface="Montserrat"/>
                <a:cs typeface="Montserrat"/>
                <a:sym typeface="Montserrat"/>
              </a:rPr>
              <a:t>Données ERP</a:t>
            </a:r>
          </a:p>
          <a:p>
            <a:pPr marL="857250" lvl="1" indent="-400050">
              <a:buFont typeface="+mj-lt"/>
              <a:buAutoNum type="alphaUcPeriod"/>
            </a:pPr>
            <a:endParaRPr lang="fr-FR" sz="1000" i="1" dirty="0">
              <a:solidFill>
                <a:schemeClr val="tx1"/>
              </a:solidFill>
              <a:latin typeface="Montserrat"/>
              <a:ea typeface="Montserrat"/>
              <a:cs typeface="Montserrat"/>
              <a:sym typeface="Montserrat"/>
            </a:endParaRPr>
          </a:p>
          <a:p>
            <a:pPr marL="1314450" lvl="2" indent="-400050">
              <a:buFont typeface="+mj-lt"/>
              <a:buAutoNum type="arabicPeriod"/>
            </a:pPr>
            <a:r>
              <a:rPr lang="fr-FR" i="1" dirty="0">
                <a:solidFill>
                  <a:schemeClr val="tx1"/>
                </a:solidFill>
                <a:latin typeface="Montserrat"/>
                <a:ea typeface="Montserrat"/>
                <a:cs typeface="Montserrat"/>
                <a:sym typeface="Montserrat"/>
              </a:rPr>
              <a:t>Automatiser stock_status en fonction du stock</a:t>
            </a:r>
          </a:p>
          <a:p>
            <a:pPr marL="1314450" lvl="2" indent="-400050">
              <a:buFont typeface="+mj-lt"/>
              <a:buAutoNum type="arabicPeriod"/>
            </a:pPr>
            <a:r>
              <a:rPr lang="fr-FR" i="1" dirty="0">
                <a:solidFill>
                  <a:schemeClr val="tx1"/>
                </a:solidFill>
                <a:latin typeface="Montserrat"/>
                <a:ea typeface="Montserrat"/>
                <a:cs typeface="Montserrat"/>
                <a:sym typeface="Montserrat"/>
              </a:rPr>
              <a:t>Interdire les valeurs négatives et non-numériques sur les stocks et les prix et forcer l’ajout d’une valeur (ne doit pas être vide)</a:t>
            </a:r>
          </a:p>
          <a:p>
            <a:pPr marL="1314450" lvl="2" indent="-400050">
              <a:buFont typeface="+mj-lt"/>
              <a:buAutoNum type="arabicPeriod"/>
            </a:pPr>
            <a:endParaRPr lang="fr-FR" i="1" dirty="0">
              <a:solidFill>
                <a:schemeClr val="tx1"/>
              </a:solidFill>
              <a:latin typeface="Montserrat"/>
              <a:ea typeface="Montserrat"/>
              <a:cs typeface="Montserrat"/>
              <a:sym typeface="Montserrat"/>
            </a:endParaRPr>
          </a:p>
          <a:p>
            <a:pPr marL="857250" lvl="1" indent="-400050">
              <a:buFont typeface="+mj-lt"/>
              <a:buAutoNum type="alphaUcPeriod"/>
            </a:pPr>
            <a:r>
              <a:rPr lang="fr-FR" i="1" dirty="0">
                <a:solidFill>
                  <a:schemeClr val="tx1"/>
                </a:solidFill>
                <a:latin typeface="Montserrat"/>
                <a:ea typeface="Montserrat"/>
                <a:cs typeface="Montserrat"/>
                <a:sym typeface="Montserrat"/>
              </a:rPr>
              <a:t>Données web</a:t>
            </a:r>
          </a:p>
          <a:p>
            <a:pPr marL="857250" lvl="1" indent="-400050">
              <a:buFont typeface="+mj-lt"/>
              <a:buAutoNum type="alphaUcPeriod"/>
            </a:pPr>
            <a:endParaRPr lang="fr-FR" sz="1000" i="1" dirty="0">
              <a:solidFill>
                <a:schemeClr val="tx1"/>
              </a:solidFill>
              <a:latin typeface="Montserrat"/>
              <a:ea typeface="Montserrat"/>
              <a:cs typeface="Montserrat"/>
              <a:sym typeface="Montserrat"/>
            </a:endParaRPr>
          </a:p>
          <a:p>
            <a:pPr marL="1314450" lvl="2" indent="-400050">
              <a:buFont typeface="+mj-lt"/>
              <a:buAutoNum type="arabicPeriod"/>
            </a:pPr>
            <a:r>
              <a:rPr lang="fr-FR" i="1" dirty="0">
                <a:solidFill>
                  <a:schemeClr val="tx1"/>
                </a:solidFill>
                <a:latin typeface="Montserrat"/>
                <a:ea typeface="Montserrat"/>
                <a:cs typeface="Montserrat"/>
                <a:sym typeface="Montserrat"/>
              </a:rPr>
              <a:t>Supprimer les colonnes qui sont toujours vides ou contenant 0</a:t>
            </a:r>
          </a:p>
          <a:p>
            <a:pPr marL="1314450" lvl="2" indent="-400050">
              <a:buFont typeface="+mj-lt"/>
              <a:buAutoNum type="arabicPeriod"/>
            </a:pPr>
            <a:r>
              <a:rPr lang="fr-FR" i="1" dirty="0">
                <a:solidFill>
                  <a:schemeClr val="tx1"/>
                </a:solidFill>
                <a:latin typeface="Montserrat"/>
                <a:ea typeface="Montserrat"/>
                <a:cs typeface="Montserrat"/>
                <a:sym typeface="Montserrat"/>
              </a:rPr>
              <a:t>Forcer la complétion de sku (id_web) pour chaque ligne, sku doit être numérique obligatoirement</a:t>
            </a:r>
          </a:p>
          <a:p>
            <a:pPr marL="1314450" lvl="2" indent="-400050">
              <a:buFont typeface="+mj-lt"/>
              <a:buAutoNum type="arabicPeriod"/>
            </a:pPr>
            <a:r>
              <a:rPr lang="fr-FR" i="1" dirty="0">
                <a:solidFill>
                  <a:schemeClr val="tx1"/>
                </a:solidFill>
                <a:latin typeface="Montserrat"/>
                <a:ea typeface="Montserrat"/>
                <a:cs typeface="Montserrat"/>
                <a:sym typeface="Montserrat"/>
              </a:rPr>
              <a:t>Importer seulement les lignes ou </a:t>
            </a:r>
            <a:r>
              <a:rPr lang="fr-FR" i="1" dirty="0" err="1">
                <a:solidFill>
                  <a:schemeClr val="tx1"/>
                </a:solidFill>
                <a:latin typeface="Montserrat"/>
                <a:ea typeface="Montserrat"/>
                <a:cs typeface="Montserrat"/>
                <a:sym typeface="Montserrat"/>
              </a:rPr>
              <a:t>post_type</a:t>
            </a:r>
            <a:r>
              <a:rPr lang="fr-FR" i="1" dirty="0">
                <a:solidFill>
                  <a:schemeClr val="tx1"/>
                </a:solidFill>
                <a:latin typeface="Montserrat"/>
                <a:ea typeface="Montserrat"/>
                <a:cs typeface="Montserrat"/>
                <a:sym typeface="Montserrat"/>
              </a:rPr>
              <a:t> est égale a </a:t>
            </a:r>
            <a:r>
              <a:rPr lang="fr-FR" i="1" dirty="0" err="1">
                <a:solidFill>
                  <a:schemeClr val="tx1"/>
                </a:solidFill>
                <a:latin typeface="Montserrat"/>
                <a:ea typeface="Montserrat"/>
                <a:cs typeface="Montserrat"/>
                <a:sym typeface="Montserrat"/>
              </a:rPr>
              <a:t>product</a:t>
            </a:r>
            <a:endParaRPr lang="fr-FR" i="1" dirty="0">
              <a:solidFill>
                <a:schemeClr val="tx1"/>
              </a:solidFill>
              <a:latin typeface="Montserrat"/>
              <a:ea typeface="Montserrat"/>
              <a:cs typeface="Montserrat"/>
              <a:sym typeface="Montserrat"/>
            </a:endParaRPr>
          </a:p>
          <a:p>
            <a:pPr marL="1314450" lvl="2" indent="-400050">
              <a:buFont typeface="+mj-lt"/>
              <a:buAutoNum type="arabicPeriod"/>
            </a:pPr>
            <a:r>
              <a:rPr lang="fr-FR" i="1" dirty="0" err="1">
                <a:solidFill>
                  <a:schemeClr val="tx1"/>
                </a:solidFill>
                <a:latin typeface="Montserrat"/>
                <a:ea typeface="Montserrat"/>
                <a:cs typeface="Montserrat"/>
                <a:sym typeface="Montserrat"/>
              </a:rPr>
              <a:t>Total_sales</a:t>
            </a:r>
            <a:r>
              <a:rPr lang="fr-FR" i="1" dirty="0">
                <a:solidFill>
                  <a:schemeClr val="tx1"/>
                </a:solidFill>
                <a:latin typeface="Montserrat"/>
                <a:ea typeface="Montserrat"/>
                <a:cs typeface="Montserrat"/>
                <a:sym typeface="Montserrat"/>
              </a:rPr>
              <a:t> ne peut être négatif et doit être numérique</a:t>
            </a:r>
          </a:p>
          <a:p>
            <a:pPr marL="1314450" lvl="2" indent="-400050">
              <a:buFont typeface="+mj-lt"/>
              <a:buAutoNum type="arabicPeriod"/>
            </a:pPr>
            <a:r>
              <a:rPr lang="fr-FR" i="1" dirty="0">
                <a:solidFill>
                  <a:schemeClr val="tx1"/>
                </a:solidFill>
                <a:latin typeface="Montserrat"/>
                <a:ea typeface="Montserrat"/>
                <a:cs typeface="Montserrat"/>
                <a:sym typeface="Montserrat"/>
              </a:rPr>
              <a:t>Renommé sku en id_web et post_title en nom_cuvée pour plus de clarté</a:t>
            </a:r>
          </a:p>
          <a:p>
            <a:pPr marL="857250" lvl="1" indent="-400050">
              <a:buFont typeface="+mj-lt"/>
              <a:buAutoNum type="alphaUcPeriod"/>
            </a:pPr>
            <a:endParaRPr i="1" dirty="0">
              <a:solidFill>
                <a:schemeClr val="tx1"/>
              </a:solidFill>
              <a:latin typeface="Montserrat"/>
              <a:ea typeface="Montserrat"/>
              <a:cs typeface="Montserrat"/>
              <a:sym typeface="Montserrat"/>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g13f9e8f1567_0_7"/>
          <p:cNvSpPr/>
          <p:nvPr/>
        </p:nvSpPr>
        <p:spPr>
          <a:xfrm>
            <a:off x="0" y="0"/>
            <a:ext cx="9144000" cy="1390200"/>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104" name="Google Shape;104;g13f9e8f1567_0_7"/>
          <p:cNvSpPr txBox="1"/>
          <p:nvPr/>
        </p:nvSpPr>
        <p:spPr>
          <a:xfrm>
            <a:off x="895525" y="337250"/>
            <a:ext cx="8520600" cy="572700"/>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Clr>
                <a:srgbClr val="000000"/>
              </a:buClr>
              <a:buSzPts val="2500"/>
              <a:buFont typeface="Arial"/>
              <a:buNone/>
            </a:pPr>
            <a:r>
              <a:rPr lang="fr" sz="2500">
                <a:solidFill>
                  <a:srgbClr val="F3F3F3"/>
                </a:solidFill>
                <a:latin typeface="Montserrat"/>
                <a:ea typeface="Montserrat"/>
                <a:cs typeface="Montserrat"/>
                <a:sym typeface="Montserrat"/>
              </a:rPr>
              <a:t>Point sur les compétences apprises</a:t>
            </a:r>
            <a:endParaRPr dirty="0"/>
          </a:p>
        </p:txBody>
      </p:sp>
      <p:sp>
        <p:nvSpPr>
          <p:cNvPr id="105" name="Google Shape;105;g13f9e8f1567_0_7"/>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106" name="Google Shape;106;g13f9e8f1567_0_7"/>
          <p:cNvSpPr txBox="1">
            <a:spLocks noGrp="1"/>
          </p:cNvSpPr>
          <p:nvPr>
            <p:ph type="body" idx="1"/>
          </p:nvPr>
        </p:nvSpPr>
        <p:spPr>
          <a:xfrm>
            <a:off x="557274" y="1528600"/>
            <a:ext cx="8316000" cy="3416400"/>
          </a:xfrm>
          <a:prstGeom prst="rect">
            <a:avLst/>
          </a:prstGeom>
          <a:noFill/>
          <a:ln>
            <a:noFill/>
          </a:ln>
        </p:spPr>
        <p:txBody>
          <a:bodyPr spcFirstLastPara="1" wrap="square" lIns="91425" tIns="91425" rIns="91425" bIns="91425" anchor="t" anchorCtr="0">
            <a:normAutofit/>
          </a:bodyPr>
          <a:lstStyle/>
          <a:p>
            <a:pPr marL="457200" lvl="0" indent="-342900" algn="l" rtl="0">
              <a:lnSpc>
                <a:spcPct val="100000"/>
              </a:lnSpc>
              <a:spcBef>
                <a:spcPts val="0"/>
              </a:spcBef>
              <a:spcAft>
                <a:spcPts val="0"/>
              </a:spcAft>
              <a:buClrTx/>
              <a:buSzPts val="1800"/>
              <a:buFont typeface="+mj-lt"/>
              <a:buAutoNum type="arabicPeriod"/>
            </a:pPr>
            <a:r>
              <a:rPr lang="fr" i="1" dirty="0">
                <a:solidFill>
                  <a:schemeClr val="tx1"/>
                </a:solidFill>
                <a:latin typeface="Montserrat"/>
                <a:ea typeface="Montserrat"/>
                <a:cs typeface="Montserrat"/>
                <a:sym typeface="Montserrat"/>
              </a:rPr>
              <a:t>Qu’est-ce qui s’est bien passé pour vous dans ce travail de nettoyage ?</a:t>
            </a:r>
          </a:p>
          <a:p>
            <a:pPr marL="457200" lvl="0" indent="-342900" algn="l" rtl="0">
              <a:lnSpc>
                <a:spcPct val="100000"/>
              </a:lnSpc>
              <a:spcBef>
                <a:spcPts val="0"/>
              </a:spcBef>
              <a:spcAft>
                <a:spcPts val="0"/>
              </a:spcAft>
              <a:buClrTx/>
              <a:buSzPts val="1800"/>
              <a:buFont typeface="+mj-lt"/>
              <a:buAutoNum type="arabicPeriod"/>
            </a:pPr>
            <a:endParaRPr lang="fr" i="1" dirty="0">
              <a:solidFill>
                <a:schemeClr val="tx1"/>
              </a:solidFill>
              <a:latin typeface="Montserrat"/>
              <a:ea typeface="Montserrat"/>
              <a:cs typeface="Montserrat"/>
              <a:sym typeface="Montserrat"/>
            </a:endParaRPr>
          </a:p>
          <a:p>
            <a:pPr lvl="1" indent="-342900">
              <a:lnSpc>
                <a:spcPct val="100000"/>
              </a:lnSpc>
              <a:buClrTx/>
              <a:buSzPts val="1800"/>
              <a:buFont typeface="Wingdings" panose="05000000000000000000" pitchFamily="2" charset="2"/>
              <a:buChar char="§"/>
            </a:pPr>
            <a:r>
              <a:rPr lang="fr-FR" i="1" dirty="0">
                <a:solidFill>
                  <a:schemeClr val="tx1"/>
                </a:solidFill>
                <a:latin typeface="Montserrat"/>
                <a:ea typeface="Montserrat"/>
                <a:cs typeface="Montserrat"/>
                <a:sym typeface="Montserrat"/>
              </a:rPr>
              <a:t>J’ai identifié les différentes erreurs</a:t>
            </a:r>
          </a:p>
          <a:p>
            <a:pPr lvl="1" indent="-342900">
              <a:lnSpc>
                <a:spcPct val="100000"/>
              </a:lnSpc>
              <a:buClrTx/>
              <a:buSzPts val="1800"/>
              <a:buFont typeface="Wingdings" panose="05000000000000000000" pitchFamily="2" charset="2"/>
              <a:buChar char="§"/>
            </a:pPr>
            <a:endParaRPr lang="fr-FR" i="1" dirty="0">
              <a:solidFill>
                <a:schemeClr val="tx1"/>
              </a:solidFill>
              <a:latin typeface="Montserrat"/>
              <a:ea typeface="Montserrat"/>
              <a:cs typeface="Montserrat"/>
              <a:sym typeface="Montserrat"/>
            </a:endParaRPr>
          </a:p>
          <a:p>
            <a:pPr lvl="1" indent="-342900">
              <a:lnSpc>
                <a:spcPct val="100000"/>
              </a:lnSpc>
              <a:buClrTx/>
              <a:buSzPts val="1800"/>
              <a:buFont typeface="Wingdings" panose="05000000000000000000" pitchFamily="2" charset="2"/>
              <a:buChar char="§"/>
            </a:pPr>
            <a:r>
              <a:rPr lang="fr-FR" i="1" dirty="0">
                <a:solidFill>
                  <a:schemeClr val="tx1"/>
                </a:solidFill>
                <a:latin typeface="Montserrat"/>
                <a:ea typeface="Montserrat"/>
                <a:cs typeface="Montserrat"/>
                <a:sym typeface="Montserrat"/>
              </a:rPr>
              <a:t>J’ai compris leur origine</a:t>
            </a:r>
          </a:p>
          <a:p>
            <a:pPr lvl="1" indent="-342900">
              <a:lnSpc>
                <a:spcPct val="100000"/>
              </a:lnSpc>
              <a:buClrTx/>
              <a:buSzPts val="1800"/>
              <a:buFont typeface="Wingdings" panose="05000000000000000000" pitchFamily="2" charset="2"/>
              <a:buChar char="§"/>
            </a:pPr>
            <a:endParaRPr lang="fr-FR" i="1" dirty="0">
              <a:solidFill>
                <a:schemeClr val="tx1"/>
              </a:solidFill>
              <a:latin typeface="Montserrat"/>
              <a:ea typeface="Montserrat"/>
              <a:cs typeface="Montserrat"/>
              <a:sym typeface="Montserrat"/>
            </a:endParaRPr>
          </a:p>
          <a:p>
            <a:pPr lvl="1" indent="-342900">
              <a:lnSpc>
                <a:spcPct val="100000"/>
              </a:lnSpc>
              <a:buClrTx/>
              <a:buSzPts val="1800"/>
              <a:buFont typeface="Wingdings" panose="05000000000000000000" pitchFamily="2" charset="2"/>
              <a:buChar char="§"/>
            </a:pPr>
            <a:r>
              <a:rPr lang="fr-FR" i="1" dirty="0">
                <a:solidFill>
                  <a:schemeClr val="tx1"/>
                </a:solidFill>
                <a:latin typeface="Montserrat"/>
                <a:ea typeface="Montserrat"/>
                <a:cs typeface="Montserrat"/>
                <a:sym typeface="Montserrat"/>
              </a:rPr>
              <a:t>Je les ai corrigés ou retirés si nécessaire</a:t>
            </a:r>
          </a:p>
          <a:p>
            <a:pPr marL="571500" lvl="1" indent="0">
              <a:lnSpc>
                <a:spcPct val="100000"/>
              </a:lnSpc>
              <a:buClrTx/>
              <a:buSzPts val="1800"/>
              <a:buNone/>
            </a:pPr>
            <a:endParaRPr lang="fr-FR" i="1" dirty="0">
              <a:solidFill>
                <a:schemeClr val="tx1"/>
              </a:solidFill>
              <a:latin typeface="Montserrat"/>
              <a:ea typeface="Montserrat"/>
              <a:cs typeface="Montserrat"/>
              <a:sym typeface="Montserrat"/>
            </a:endParaRPr>
          </a:p>
          <a:p>
            <a:pPr marL="571500" lvl="1" indent="0">
              <a:lnSpc>
                <a:spcPct val="100000"/>
              </a:lnSpc>
              <a:buClrTx/>
              <a:buSzPts val="1800"/>
              <a:buNone/>
            </a:pPr>
            <a:endParaRPr lang="fr-FR" i="1" dirty="0">
              <a:solidFill>
                <a:schemeClr val="tx1"/>
              </a:solidFill>
              <a:latin typeface="Montserrat"/>
              <a:ea typeface="Montserrat"/>
              <a:cs typeface="Montserrat"/>
              <a:sym typeface="Montserrat"/>
            </a:endParaRPr>
          </a:p>
          <a:p>
            <a:pPr lvl="0">
              <a:lnSpc>
                <a:spcPct val="100000"/>
              </a:lnSpc>
              <a:buClrTx/>
              <a:buFont typeface="+mj-lt"/>
              <a:buAutoNum type="arabicPeriod"/>
            </a:pPr>
            <a:r>
              <a:rPr lang="fr" i="1" dirty="0">
                <a:solidFill>
                  <a:schemeClr val="tx1"/>
                </a:solidFill>
                <a:latin typeface="Montserrat"/>
                <a:ea typeface="Montserrat"/>
                <a:cs typeface="Montserrat"/>
                <a:sym typeface="Montserrat"/>
              </a:rPr>
              <a:t>Qu’est-ce que vous avez trouvé le plus difficile ?</a:t>
            </a:r>
          </a:p>
          <a:p>
            <a:pPr lvl="1" indent="-342900">
              <a:lnSpc>
                <a:spcPct val="100000"/>
              </a:lnSpc>
              <a:buClrTx/>
              <a:buSzPts val="1800"/>
              <a:buFont typeface="Wingdings" panose="05000000000000000000" pitchFamily="2" charset="2"/>
              <a:buChar char="§"/>
            </a:pPr>
            <a:endParaRPr lang="fr-FR" i="1" dirty="0">
              <a:solidFill>
                <a:schemeClr val="tx1"/>
              </a:solidFill>
              <a:latin typeface="Montserrat"/>
              <a:ea typeface="Montserrat"/>
              <a:cs typeface="Montserrat"/>
              <a:sym typeface="Montserrat"/>
            </a:endParaRPr>
          </a:p>
          <a:p>
            <a:pPr lvl="1" indent="-342900">
              <a:lnSpc>
                <a:spcPct val="100000"/>
              </a:lnSpc>
              <a:buClrTx/>
              <a:buSzPts val="1800"/>
              <a:buFont typeface="Wingdings" panose="05000000000000000000" pitchFamily="2" charset="2"/>
              <a:buChar char="§"/>
            </a:pPr>
            <a:r>
              <a:rPr lang="fr-FR" i="1" dirty="0">
                <a:solidFill>
                  <a:schemeClr val="tx1"/>
                </a:solidFill>
                <a:latin typeface="Montserrat"/>
                <a:ea typeface="Montserrat"/>
                <a:cs typeface="Montserrat"/>
                <a:sym typeface="Montserrat"/>
              </a:rPr>
              <a:t>Savoir quoi faire avec les données erronées (corriger / supprimer)</a:t>
            </a:r>
          </a:p>
          <a:p>
            <a:pPr marL="571500" lvl="1" indent="0">
              <a:buClrTx/>
              <a:buSzPts val="1800"/>
              <a:buNone/>
            </a:pPr>
            <a:endParaRPr i="1" dirty="0">
              <a:solidFill>
                <a:schemeClr val="tx1"/>
              </a:solidFill>
              <a:latin typeface="Montserrat"/>
              <a:ea typeface="Montserrat"/>
              <a:cs typeface="Montserrat"/>
              <a:sym typeface="Montserrat"/>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2">
          <a:extLst>
            <a:ext uri="{FF2B5EF4-FFF2-40B4-BE49-F238E27FC236}">
              <a16:creationId xmlns:a16="http://schemas.microsoft.com/office/drawing/2014/main" id="{C98CBFAC-5042-08A5-6915-F812817A6E02}"/>
            </a:ext>
          </a:extLst>
        </p:cNvPr>
        <p:cNvGrpSpPr/>
        <p:nvPr/>
      </p:nvGrpSpPr>
      <p:grpSpPr>
        <a:xfrm>
          <a:off x="0" y="0"/>
          <a:ext cx="0" cy="0"/>
          <a:chOff x="0" y="0"/>
          <a:chExt cx="0" cy="0"/>
        </a:xfrm>
      </p:grpSpPr>
      <p:sp>
        <p:nvSpPr>
          <p:cNvPr id="103" name="Google Shape;103;g13f9e8f1567_0_7">
            <a:extLst>
              <a:ext uri="{FF2B5EF4-FFF2-40B4-BE49-F238E27FC236}">
                <a16:creationId xmlns:a16="http://schemas.microsoft.com/office/drawing/2014/main" id="{51E43C20-F07F-DCD8-4DE9-1275CFF10EFD}"/>
              </a:ext>
            </a:extLst>
          </p:cNvPr>
          <p:cNvSpPr/>
          <p:nvPr/>
        </p:nvSpPr>
        <p:spPr>
          <a:xfrm>
            <a:off x="0" y="0"/>
            <a:ext cx="9144000" cy="1390200"/>
          </a:xfrm>
          <a:prstGeom prst="rect">
            <a:avLst/>
          </a:prstGeom>
          <a:solidFill>
            <a:srgbClr val="004D4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104" name="Google Shape;104;g13f9e8f1567_0_7">
            <a:extLst>
              <a:ext uri="{FF2B5EF4-FFF2-40B4-BE49-F238E27FC236}">
                <a16:creationId xmlns:a16="http://schemas.microsoft.com/office/drawing/2014/main" id="{0FAA3EF7-B260-3C92-AB7C-608AFAAA9398}"/>
              </a:ext>
            </a:extLst>
          </p:cNvPr>
          <p:cNvSpPr txBox="1"/>
          <p:nvPr/>
        </p:nvSpPr>
        <p:spPr>
          <a:xfrm>
            <a:off x="895525" y="337250"/>
            <a:ext cx="8520600" cy="572700"/>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Clr>
                <a:srgbClr val="000000"/>
              </a:buClr>
              <a:buSzPts val="2500"/>
              <a:buFont typeface="Arial"/>
              <a:buNone/>
            </a:pPr>
            <a:r>
              <a:rPr lang="fr" sz="2500">
                <a:solidFill>
                  <a:srgbClr val="F3F3F3"/>
                </a:solidFill>
                <a:latin typeface="Montserrat"/>
                <a:ea typeface="Montserrat"/>
                <a:cs typeface="Montserrat"/>
                <a:sym typeface="Montserrat"/>
              </a:rPr>
              <a:t>Point sur les compétences apprises</a:t>
            </a:r>
            <a:endParaRPr dirty="0"/>
          </a:p>
        </p:txBody>
      </p:sp>
      <p:sp>
        <p:nvSpPr>
          <p:cNvPr id="105" name="Google Shape;105;g13f9e8f1567_0_7">
            <a:extLst>
              <a:ext uri="{FF2B5EF4-FFF2-40B4-BE49-F238E27FC236}">
                <a16:creationId xmlns:a16="http://schemas.microsoft.com/office/drawing/2014/main" id="{3FA7A370-EB0A-98CD-1E52-7CA77289D7EB}"/>
              </a:ext>
            </a:extLst>
          </p:cNvPr>
          <p:cNvSpPr/>
          <p:nvPr/>
        </p:nvSpPr>
        <p:spPr>
          <a:xfrm>
            <a:off x="1012175" y="993350"/>
            <a:ext cx="452700" cy="504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106" name="Google Shape;106;g13f9e8f1567_0_7">
            <a:extLst>
              <a:ext uri="{FF2B5EF4-FFF2-40B4-BE49-F238E27FC236}">
                <a16:creationId xmlns:a16="http://schemas.microsoft.com/office/drawing/2014/main" id="{7100FB48-FCA0-8718-9CC6-7D8BB5C06DA5}"/>
              </a:ext>
            </a:extLst>
          </p:cNvPr>
          <p:cNvSpPr txBox="1">
            <a:spLocks noGrp="1"/>
          </p:cNvSpPr>
          <p:nvPr>
            <p:ph type="body" idx="1"/>
          </p:nvPr>
        </p:nvSpPr>
        <p:spPr>
          <a:xfrm>
            <a:off x="557274" y="1528600"/>
            <a:ext cx="8316000" cy="3416400"/>
          </a:xfrm>
          <a:prstGeom prst="rect">
            <a:avLst/>
          </a:prstGeom>
          <a:noFill/>
          <a:ln>
            <a:noFill/>
          </a:ln>
        </p:spPr>
        <p:txBody>
          <a:bodyPr spcFirstLastPara="1" wrap="square" lIns="91425" tIns="91425" rIns="91425" bIns="91425" anchor="t" anchorCtr="0">
            <a:normAutofit/>
          </a:bodyPr>
          <a:lstStyle/>
          <a:p>
            <a:pPr marL="457200" lvl="0" indent="-342900" algn="l" rtl="0">
              <a:lnSpc>
                <a:spcPct val="115000"/>
              </a:lnSpc>
              <a:spcBef>
                <a:spcPts val="0"/>
              </a:spcBef>
              <a:spcAft>
                <a:spcPts val="0"/>
              </a:spcAft>
              <a:buClrTx/>
              <a:buSzPts val="1800"/>
              <a:buFont typeface="+mj-lt"/>
              <a:buAutoNum type="arabicPeriod"/>
            </a:pPr>
            <a:r>
              <a:rPr lang="fr" i="1" dirty="0">
                <a:solidFill>
                  <a:schemeClr val="tx1"/>
                </a:solidFill>
                <a:latin typeface="Montserrat"/>
                <a:ea typeface="Montserrat"/>
                <a:cs typeface="Montserrat"/>
                <a:sym typeface="Montserrat"/>
              </a:rPr>
              <a:t>Sur quelles tâches est-ce que vous pensez avoir besoin de plus d'entraînement ?</a:t>
            </a:r>
          </a:p>
          <a:p>
            <a:pPr lvl="1" indent="-342900">
              <a:buClrTx/>
              <a:buSzPts val="1800"/>
              <a:buFont typeface="Wingdings" panose="05000000000000000000" pitchFamily="2" charset="2"/>
              <a:buChar char="§"/>
            </a:pPr>
            <a:endParaRPr lang="fr" i="1" dirty="0">
              <a:solidFill>
                <a:schemeClr val="tx1"/>
              </a:solidFill>
              <a:latin typeface="Montserrat"/>
              <a:ea typeface="Montserrat"/>
              <a:cs typeface="Montserrat"/>
              <a:sym typeface="Montserrat"/>
            </a:endParaRPr>
          </a:p>
          <a:p>
            <a:pPr lvl="1" indent="-342900">
              <a:buClrTx/>
              <a:buSzPts val="1800"/>
              <a:buFont typeface="Wingdings" panose="05000000000000000000" pitchFamily="2" charset="2"/>
              <a:buChar char="§"/>
            </a:pPr>
            <a:r>
              <a:rPr lang="fr" i="1" dirty="0">
                <a:solidFill>
                  <a:schemeClr val="tx1"/>
                </a:solidFill>
                <a:latin typeface="Montserrat"/>
                <a:ea typeface="Montserrat"/>
                <a:cs typeface="Montserrat"/>
                <a:sym typeface="Montserrat"/>
              </a:rPr>
              <a:t>Prendre le plis sur comment identifier les erreurs</a:t>
            </a:r>
          </a:p>
          <a:p>
            <a:pPr lvl="1" indent="-342900">
              <a:buClrTx/>
              <a:buSzPts val="1800"/>
              <a:buFont typeface="Wingdings" panose="05000000000000000000" pitchFamily="2" charset="2"/>
              <a:buChar char="§"/>
            </a:pPr>
            <a:endParaRPr lang="fr" i="1" dirty="0">
              <a:solidFill>
                <a:schemeClr val="tx1"/>
              </a:solidFill>
              <a:latin typeface="Montserrat"/>
              <a:ea typeface="Montserrat"/>
              <a:cs typeface="Montserrat"/>
              <a:sym typeface="Montserrat"/>
            </a:endParaRPr>
          </a:p>
          <a:p>
            <a:pPr lvl="1" indent="-342900">
              <a:buClrTx/>
              <a:buSzPts val="1800"/>
              <a:buFont typeface="Wingdings" panose="05000000000000000000" pitchFamily="2" charset="2"/>
              <a:buChar char="§"/>
            </a:pPr>
            <a:r>
              <a:rPr lang="fr" i="1" dirty="0">
                <a:solidFill>
                  <a:schemeClr val="tx1"/>
                </a:solidFill>
                <a:latin typeface="Montserrat"/>
                <a:ea typeface="Montserrat"/>
                <a:cs typeface="Montserrat"/>
                <a:sym typeface="Montserrat"/>
              </a:rPr>
              <a:t>Developper des techniques de netttoyage des données comme vérifier les négatifs ou valeurs vides afin de rapidement pouvoir identifier les soucis dans les sets de données</a:t>
            </a:r>
          </a:p>
          <a:p>
            <a:pPr lvl="1" indent="-342900">
              <a:buClrTx/>
              <a:buSzPts val="1800"/>
              <a:buFont typeface="Wingdings" panose="05000000000000000000" pitchFamily="2" charset="2"/>
              <a:buChar char="§"/>
            </a:pPr>
            <a:endParaRPr lang="fr" i="1" dirty="0">
              <a:solidFill>
                <a:schemeClr val="tx1"/>
              </a:solidFill>
              <a:latin typeface="Montserrat"/>
              <a:ea typeface="Montserrat"/>
              <a:cs typeface="Montserrat"/>
              <a:sym typeface="Montserrat"/>
            </a:endParaRPr>
          </a:p>
          <a:p>
            <a:pPr lvl="1" indent="-342900">
              <a:buClrTx/>
              <a:buSzPts val="1800"/>
              <a:buFont typeface="Wingdings" panose="05000000000000000000" pitchFamily="2" charset="2"/>
              <a:buChar char="§"/>
            </a:pPr>
            <a:r>
              <a:rPr lang="fr" i="1" dirty="0">
                <a:solidFill>
                  <a:schemeClr val="tx1"/>
                </a:solidFill>
                <a:latin typeface="Montserrat"/>
                <a:ea typeface="Montserrat"/>
                <a:cs typeface="Montserrat"/>
                <a:sym typeface="Montserrat"/>
              </a:rPr>
              <a:t>Améliorer ma logique de gestion des erreurs en fonction de la situation</a:t>
            </a:r>
            <a:endParaRPr i="1" dirty="0">
              <a:solidFill>
                <a:schemeClr val="tx1"/>
              </a:solidFill>
              <a:latin typeface="Montserrat"/>
              <a:ea typeface="Montserrat"/>
              <a:cs typeface="Montserrat"/>
              <a:sym typeface="Montserrat"/>
            </a:endParaRPr>
          </a:p>
        </p:txBody>
      </p:sp>
    </p:spTree>
    <p:extLst>
      <p:ext uri="{BB962C8B-B14F-4D97-AF65-F5344CB8AC3E}">
        <p14:creationId xmlns:p14="http://schemas.microsoft.com/office/powerpoint/2010/main" val="1536997151"/>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2445</TotalTime>
  <Words>2413</Words>
  <Application>Microsoft Office PowerPoint</Application>
  <PresentationFormat>Affichage à l'écran (16:9)</PresentationFormat>
  <Paragraphs>273</Paragraphs>
  <Slides>24</Slides>
  <Notes>24</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24</vt:i4>
      </vt:variant>
    </vt:vector>
  </HeadingPairs>
  <TitlesOfParts>
    <vt:vector size="29" baseType="lpstr">
      <vt:lpstr>Wingdings</vt:lpstr>
      <vt:lpstr>Arial</vt:lpstr>
      <vt:lpstr>Montserrat</vt:lpstr>
      <vt:lpstr>Courier New</vt:lpstr>
      <vt:lpstr>Simple Light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cp:lastModifiedBy>evan fol</cp:lastModifiedBy>
  <cp:revision>37</cp:revision>
  <dcterms:modified xsi:type="dcterms:W3CDTF">2025-11-20T15:23:31Z</dcterms:modified>
</cp:coreProperties>
</file>